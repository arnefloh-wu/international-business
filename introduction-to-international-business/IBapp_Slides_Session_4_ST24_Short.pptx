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tags/tag7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ags/tag8.xml" ContentType="application/vnd.openxmlformats-officedocument.presentationml.tags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tags/tag9.xml" ContentType="application/vnd.openxmlformats-officedocument.presentationml.tags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tags/tag10.xml" ContentType="application/vnd.openxmlformats-officedocument.presentationml.tags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3657" r:id="rId1"/>
  </p:sldMasterIdLst>
  <p:notesMasterIdLst>
    <p:notesMasterId r:id="rId23"/>
  </p:notesMasterIdLst>
  <p:handoutMasterIdLst>
    <p:handoutMasterId r:id="rId24"/>
  </p:handoutMasterIdLst>
  <p:sldIdLst>
    <p:sldId id="750" r:id="rId2"/>
    <p:sldId id="749" r:id="rId3"/>
    <p:sldId id="694" r:id="rId4"/>
    <p:sldId id="713" r:id="rId5"/>
    <p:sldId id="695" r:id="rId6"/>
    <p:sldId id="671" r:id="rId7"/>
    <p:sldId id="674" r:id="rId8"/>
    <p:sldId id="697" r:id="rId9"/>
    <p:sldId id="698" r:id="rId10"/>
    <p:sldId id="678" r:id="rId11"/>
    <p:sldId id="728" r:id="rId12"/>
    <p:sldId id="729" r:id="rId13"/>
    <p:sldId id="730" r:id="rId14"/>
    <p:sldId id="731" r:id="rId15"/>
    <p:sldId id="700" r:id="rId16"/>
    <p:sldId id="682" r:id="rId17"/>
    <p:sldId id="683" r:id="rId18"/>
    <p:sldId id="712" r:id="rId19"/>
    <p:sldId id="744" r:id="rId20"/>
    <p:sldId id="745" r:id="rId21"/>
    <p:sldId id="687" r:id="rId22"/>
  </p:sldIdLst>
  <p:sldSz cx="9144000" cy="6858000" type="screen4x3"/>
  <p:notesSz cx="6742113" cy="9872663"/>
  <p:custDataLst>
    <p:tags r:id="rId25"/>
  </p:custData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400" kern="1200">
        <a:solidFill>
          <a:schemeClr val="tx1"/>
        </a:solidFill>
        <a:latin typeface="Verdana" pitchFamily="34" charset="0"/>
        <a:ea typeface="MS PGothic" pitchFamily="34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1400" kern="1200">
        <a:solidFill>
          <a:schemeClr val="tx1"/>
        </a:solidFill>
        <a:latin typeface="Verdana" pitchFamily="34" charset="0"/>
        <a:ea typeface="MS PGothic" pitchFamily="34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1400" kern="1200">
        <a:solidFill>
          <a:schemeClr val="tx1"/>
        </a:solidFill>
        <a:latin typeface="Verdana" pitchFamily="34" charset="0"/>
        <a:ea typeface="MS PGothic" pitchFamily="34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1400" kern="1200">
        <a:solidFill>
          <a:schemeClr val="tx1"/>
        </a:solidFill>
        <a:latin typeface="Verdana" pitchFamily="34" charset="0"/>
        <a:ea typeface="MS PGothic" pitchFamily="34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1400" kern="1200">
        <a:solidFill>
          <a:schemeClr val="tx1"/>
        </a:solidFill>
        <a:latin typeface="Verdana" pitchFamily="34" charset="0"/>
        <a:ea typeface="MS PGothic" pitchFamily="34" charset="-128"/>
        <a:cs typeface="+mn-cs"/>
      </a:defRPr>
    </a:lvl5pPr>
    <a:lvl6pPr marL="2286000" algn="l" defTabSz="914400" rtl="0" eaLnBrk="1" latinLnBrk="0" hangingPunct="1">
      <a:defRPr sz="1400" kern="1200">
        <a:solidFill>
          <a:schemeClr val="tx1"/>
        </a:solidFill>
        <a:latin typeface="Verdana" pitchFamily="34" charset="0"/>
        <a:ea typeface="MS PGothic" pitchFamily="34" charset="-128"/>
        <a:cs typeface="+mn-cs"/>
      </a:defRPr>
    </a:lvl6pPr>
    <a:lvl7pPr marL="2743200" algn="l" defTabSz="914400" rtl="0" eaLnBrk="1" latinLnBrk="0" hangingPunct="1">
      <a:defRPr sz="1400" kern="1200">
        <a:solidFill>
          <a:schemeClr val="tx1"/>
        </a:solidFill>
        <a:latin typeface="Verdana" pitchFamily="34" charset="0"/>
        <a:ea typeface="MS PGothic" pitchFamily="34" charset="-128"/>
        <a:cs typeface="+mn-cs"/>
      </a:defRPr>
    </a:lvl7pPr>
    <a:lvl8pPr marL="3200400" algn="l" defTabSz="914400" rtl="0" eaLnBrk="1" latinLnBrk="0" hangingPunct="1">
      <a:defRPr sz="1400" kern="1200">
        <a:solidFill>
          <a:schemeClr val="tx1"/>
        </a:solidFill>
        <a:latin typeface="Verdana" pitchFamily="34" charset="0"/>
        <a:ea typeface="MS PGothic" pitchFamily="34" charset="-128"/>
        <a:cs typeface="+mn-cs"/>
      </a:defRPr>
    </a:lvl8pPr>
    <a:lvl9pPr marL="3657600" algn="l" defTabSz="914400" rtl="0" eaLnBrk="1" latinLnBrk="0" hangingPunct="1">
      <a:defRPr sz="1400" kern="1200">
        <a:solidFill>
          <a:schemeClr val="tx1"/>
        </a:solidFill>
        <a:latin typeface="Verdana" pitchFamily="34" charset="0"/>
        <a:ea typeface="MS PGothic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2999" userDrawn="1">
          <p15:clr>
            <a:srgbClr val="A4A3A4"/>
          </p15:clr>
        </p15:guide>
        <p15:guide id="2" pos="1995" userDrawn="1">
          <p15:clr>
            <a:srgbClr val="A4A3A4"/>
          </p15:clr>
        </p15:guide>
        <p15:guide id="3" orient="horz" pos="3109" userDrawn="1">
          <p15:clr>
            <a:srgbClr val="A4A3A4"/>
          </p15:clr>
        </p15:guide>
        <p15:guide id="4" pos="2124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pklopf" initials="pk" lastIdx="1" clrIdx="0"/>
  <p:cmAuthor id="1" name="Puhr, Harald" initials="PH" lastIdx="3" clrIdx="1">
    <p:extLst>
      <p:ext uri="{19B8F6BF-5375-455C-9EA6-DF929625EA0E}">
        <p15:presenceInfo xmlns:p15="http://schemas.microsoft.com/office/powerpoint/2012/main" userId="S-1-5-21-2427019623-1759575026-195824430-19372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B9BD5"/>
    <a:srgbClr val="336699"/>
    <a:srgbClr val="F4DF84"/>
    <a:srgbClr val="8CA9D4"/>
    <a:srgbClr val="E28A8B"/>
    <a:srgbClr val="4D4D4D"/>
    <a:srgbClr val="44546A"/>
    <a:srgbClr val="A6A6A6"/>
    <a:srgbClr val="0070C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93D81CF-94F2-401A-BA57-92F5A7B2D0C5}" styleName="Mittlere Formatvorlag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5940675A-B579-460E-94D1-54222C63F5DA}" styleName="Keine Formatvorlage, Tabellenraster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269" autoAdjust="0"/>
    <p:restoredTop sz="78159" autoAdjust="0"/>
  </p:normalViewPr>
  <p:slideViewPr>
    <p:cSldViewPr>
      <p:cViewPr varScale="1">
        <p:scale>
          <a:sx n="126" d="100"/>
          <a:sy n="126" d="100"/>
        </p:scale>
        <p:origin x="2696" y="72"/>
      </p:cViewPr>
      <p:guideLst/>
    </p:cSldViewPr>
  </p:slideViewPr>
  <p:outlineViewPr>
    <p:cViewPr>
      <p:scale>
        <a:sx n="33" d="100"/>
        <a:sy n="33" d="100"/>
      </p:scale>
      <p:origin x="0" y="324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>
      <p:cViewPr>
        <p:scale>
          <a:sx n="130" d="100"/>
          <a:sy n="130" d="100"/>
        </p:scale>
        <p:origin x="-1242" y="642"/>
      </p:cViewPr>
      <p:guideLst>
        <p:guide orient="horz" pos="2999"/>
        <p:guide pos="1995"/>
        <p:guide orient="horz" pos="3109"/>
        <p:guide pos="212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gs" Target="tags/tag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13C5CE5-8A29-4D30-9ED9-FE46352FED29}" type="doc">
      <dgm:prSet loTypeId="urn:microsoft.com/office/officeart/2005/8/layout/pyramid3" loCatId="pyramid" qsTypeId="urn:microsoft.com/office/officeart/2005/8/quickstyle/simple1" qsCatId="simple" csTypeId="urn:microsoft.com/office/officeart/2005/8/colors/colorful1" csCatId="colorful" phldr="1"/>
      <dgm:spPr/>
    </dgm:pt>
    <dgm:pt modelId="{CE2D2141-48BC-4E99-92AB-978F260677E8}">
      <dgm:prSet phldrT="[Text]" custT="1"/>
      <dgm:spPr>
        <a:solidFill>
          <a:srgbClr val="336699"/>
        </a:solidFill>
      </dgm:spPr>
      <dgm:t>
        <a:bodyPr/>
        <a:lstStyle/>
        <a:p>
          <a:r>
            <a:rPr lang="de-AT" sz="32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rPr>
            <a:t>Supra-National</a:t>
          </a:r>
          <a:endParaRPr lang="de-AT" sz="3600" dirty="0">
            <a:solidFill>
              <a:schemeClr val="bg1"/>
            </a:solidFill>
            <a:latin typeface="Verdana" panose="020B0604030504040204" pitchFamily="34" charset="0"/>
            <a:ea typeface="Verdana" panose="020B0604030504040204" pitchFamily="34" charset="0"/>
            <a:cs typeface="Verdana" panose="020B0604030504040204" pitchFamily="34" charset="0"/>
          </a:endParaRPr>
        </a:p>
      </dgm:t>
    </dgm:pt>
    <dgm:pt modelId="{EF984903-6154-4C61-8260-05CCF74D5458}" type="parTrans" cxnId="{357FEA3F-525F-448C-AA95-FD7CFA07033B}">
      <dgm:prSet/>
      <dgm:spPr/>
      <dgm:t>
        <a:bodyPr/>
        <a:lstStyle/>
        <a:p>
          <a:endParaRPr lang="de-AT" sz="1400">
            <a:latin typeface="Verdana" panose="020B0604030504040204" pitchFamily="34" charset="0"/>
            <a:ea typeface="Verdana" panose="020B0604030504040204" pitchFamily="34" charset="0"/>
            <a:cs typeface="Verdana" panose="020B0604030504040204" pitchFamily="34" charset="0"/>
          </a:endParaRPr>
        </a:p>
      </dgm:t>
    </dgm:pt>
    <dgm:pt modelId="{237996EB-BCD5-4657-8FBC-82021817A926}" type="sibTrans" cxnId="{357FEA3F-525F-448C-AA95-FD7CFA07033B}">
      <dgm:prSet/>
      <dgm:spPr/>
      <dgm:t>
        <a:bodyPr/>
        <a:lstStyle/>
        <a:p>
          <a:endParaRPr lang="de-AT" sz="1400">
            <a:latin typeface="Verdana" panose="020B0604030504040204" pitchFamily="34" charset="0"/>
            <a:ea typeface="Verdana" panose="020B0604030504040204" pitchFamily="34" charset="0"/>
            <a:cs typeface="Verdana" panose="020B0604030504040204" pitchFamily="34" charset="0"/>
          </a:endParaRPr>
        </a:p>
      </dgm:t>
    </dgm:pt>
    <dgm:pt modelId="{EF0C1AE9-46D5-4861-A180-FE7DFCD8FB9D}">
      <dgm:prSet phldrT="[Text]" custT="1"/>
      <dgm:spPr>
        <a:solidFill>
          <a:srgbClr val="0070C0"/>
        </a:solidFill>
      </dgm:spPr>
      <dgm:t>
        <a:bodyPr/>
        <a:lstStyle/>
        <a:p>
          <a:r>
            <a:rPr lang="de-AT" sz="32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rPr>
            <a:t>National</a:t>
          </a:r>
          <a:endParaRPr lang="de-AT" sz="3600" dirty="0">
            <a:solidFill>
              <a:schemeClr val="bg1"/>
            </a:solidFill>
            <a:latin typeface="Verdana" panose="020B0604030504040204" pitchFamily="34" charset="0"/>
            <a:ea typeface="Verdana" panose="020B0604030504040204" pitchFamily="34" charset="0"/>
            <a:cs typeface="Verdana" panose="020B0604030504040204" pitchFamily="34" charset="0"/>
          </a:endParaRPr>
        </a:p>
      </dgm:t>
    </dgm:pt>
    <dgm:pt modelId="{74FFC09D-A4E2-4016-BBE8-A77D1FD6F1C0}" type="parTrans" cxnId="{97C32D11-D3E5-4293-8F46-6A26C6CC3843}">
      <dgm:prSet/>
      <dgm:spPr/>
      <dgm:t>
        <a:bodyPr/>
        <a:lstStyle/>
        <a:p>
          <a:endParaRPr lang="de-AT" sz="1400">
            <a:latin typeface="Verdana" panose="020B0604030504040204" pitchFamily="34" charset="0"/>
            <a:ea typeface="Verdana" panose="020B0604030504040204" pitchFamily="34" charset="0"/>
            <a:cs typeface="Verdana" panose="020B0604030504040204" pitchFamily="34" charset="0"/>
          </a:endParaRPr>
        </a:p>
      </dgm:t>
    </dgm:pt>
    <dgm:pt modelId="{B3CF89DF-0DB7-4DB8-9F36-EEAB9699BF86}" type="sibTrans" cxnId="{97C32D11-D3E5-4293-8F46-6A26C6CC3843}">
      <dgm:prSet/>
      <dgm:spPr/>
      <dgm:t>
        <a:bodyPr/>
        <a:lstStyle/>
        <a:p>
          <a:endParaRPr lang="de-AT" sz="1400">
            <a:latin typeface="Verdana" panose="020B0604030504040204" pitchFamily="34" charset="0"/>
            <a:ea typeface="Verdana" panose="020B0604030504040204" pitchFamily="34" charset="0"/>
            <a:cs typeface="Verdana" panose="020B0604030504040204" pitchFamily="34" charset="0"/>
          </a:endParaRPr>
        </a:p>
      </dgm:t>
    </dgm:pt>
    <dgm:pt modelId="{77F49580-4A17-4615-AE59-5A7F2F072514}">
      <dgm:prSet phldrT="[Text]" custT="1"/>
      <dgm:spPr>
        <a:solidFill>
          <a:srgbClr val="8CA9D4"/>
        </a:solidFill>
      </dgm:spPr>
      <dgm:t>
        <a:bodyPr/>
        <a:lstStyle/>
        <a:p>
          <a:r>
            <a:rPr lang="de-AT" sz="3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rPr>
            <a:t>Industry</a:t>
          </a:r>
          <a:endParaRPr lang="de-AT" sz="3600" dirty="0">
            <a:latin typeface="Verdana" panose="020B0604030504040204" pitchFamily="34" charset="0"/>
            <a:ea typeface="Verdana" panose="020B0604030504040204" pitchFamily="34" charset="0"/>
            <a:cs typeface="Verdana" panose="020B0604030504040204" pitchFamily="34" charset="0"/>
          </a:endParaRPr>
        </a:p>
      </dgm:t>
    </dgm:pt>
    <dgm:pt modelId="{2AD43F25-0136-46A2-976A-F1986CDF00A2}" type="parTrans" cxnId="{DAAD4A26-3ED5-465E-B28A-5B4861CD0CEA}">
      <dgm:prSet/>
      <dgm:spPr/>
      <dgm:t>
        <a:bodyPr/>
        <a:lstStyle/>
        <a:p>
          <a:endParaRPr lang="de-AT" sz="1400">
            <a:latin typeface="Verdana" panose="020B0604030504040204" pitchFamily="34" charset="0"/>
            <a:ea typeface="Verdana" panose="020B0604030504040204" pitchFamily="34" charset="0"/>
            <a:cs typeface="Verdana" panose="020B0604030504040204" pitchFamily="34" charset="0"/>
          </a:endParaRPr>
        </a:p>
      </dgm:t>
    </dgm:pt>
    <dgm:pt modelId="{B22C540E-8E06-4D3F-8072-E7DD1F80E38B}" type="sibTrans" cxnId="{DAAD4A26-3ED5-465E-B28A-5B4861CD0CEA}">
      <dgm:prSet/>
      <dgm:spPr/>
      <dgm:t>
        <a:bodyPr/>
        <a:lstStyle/>
        <a:p>
          <a:endParaRPr lang="de-AT" sz="1400">
            <a:latin typeface="Verdana" panose="020B0604030504040204" pitchFamily="34" charset="0"/>
            <a:ea typeface="Verdana" panose="020B0604030504040204" pitchFamily="34" charset="0"/>
            <a:cs typeface="Verdana" panose="020B0604030504040204" pitchFamily="34" charset="0"/>
          </a:endParaRPr>
        </a:p>
      </dgm:t>
    </dgm:pt>
    <dgm:pt modelId="{563EE1E3-CE4D-4628-A32E-A30A8AFEE626}">
      <dgm:prSet phldrT="[Text]" custT="1"/>
      <dgm:spPr>
        <a:solidFill>
          <a:schemeClr val="bg1">
            <a:lumMod val="85000"/>
          </a:schemeClr>
        </a:solidFill>
      </dgm:spPr>
      <dgm:t>
        <a:bodyPr/>
        <a:lstStyle/>
        <a:p>
          <a:endParaRPr lang="de-AT" sz="3600" dirty="0">
            <a:latin typeface="Verdana" panose="020B0604030504040204" pitchFamily="34" charset="0"/>
            <a:ea typeface="Verdana" panose="020B0604030504040204" pitchFamily="34" charset="0"/>
            <a:cs typeface="Verdana" panose="020B0604030504040204" pitchFamily="34" charset="0"/>
          </a:endParaRPr>
        </a:p>
      </dgm:t>
    </dgm:pt>
    <dgm:pt modelId="{C04C10DE-47CA-40EE-9CD8-3950C90DB2F3}" type="parTrans" cxnId="{021A3B49-7155-4335-A861-F43544251B80}">
      <dgm:prSet/>
      <dgm:spPr/>
      <dgm:t>
        <a:bodyPr/>
        <a:lstStyle/>
        <a:p>
          <a:endParaRPr lang="de-AT" sz="1400">
            <a:latin typeface="Verdana" panose="020B0604030504040204" pitchFamily="34" charset="0"/>
            <a:ea typeface="Verdana" panose="020B0604030504040204" pitchFamily="34" charset="0"/>
            <a:cs typeface="Verdana" panose="020B0604030504040204" pitchFamily="34" charset="0"/>
          </a:endParaRPr>
        </a:p>
      </dgm:t>
    </dgm:pt>
    <dgm:pt modelId="{67DA509B-B570-485A-AE12-418C4D7BFED3}" type="sibTrans" cxnId="{021A3B49-7155-4335-A861-F43544251B80}">
      <dgm:prSet/>
      <dgm:spPr/>
      <dgm:t>
        <a:bodyPr/>
        <a:lstStyle/>
        <a:p>
          <a:endParaRPr lang="de-AT" sz="1400">
            <a:latin typeface="Verdana" panose="020B0604030504040204" pitchFamily="34" charset="0"/>
            <a:ea typeface="Verdana" panose="020B0604030504040204" pitchFamily="34" charset="0"/>
            <a:cs typeface="Verdana" panose="020B0604030504040204" pitchFamily="34" charset="0"/>
          </a:endParaRPr>
        </a:p>
      </dgm:t>
    </dgm:pt>
    <dgm:pt modelId="{DDAD5642-6297-4B90-B235-8669C5A01F92}" type="pres">
      <dgm:prSet presAssocID="{A13C5CE5-8A29-4D30-9ED9-FE46352FED29}" presName="Name0" presStyleCnt="0">
        <dgm:presLayoutVars>
          <dgm:dir/>
          <dgm:animLvl val="lvl"/>
          <dgm:resizeHandles val="exact"/>
        </dgm:presLayoutVars>
      </dgm:prSet>
      <dgm:spPr/>
    </dgm:pt>
    <dgm:pt modelId="{AB51E85A-C4A7-418B-8427-637CC7911D34}" type="pres">
      <dgm:prSet presAssocID="{CE2D2141-48BC-4E99-92AB-978F260677E8}" presName="Name8" presStyleCnt="0"/>
      <dgm:spPr/>
    </dgm:pt>
    <dgm:pt modelId="{0BE2E72D-C8F3-4422-B8FE-9201EA5B982E}" type="pres">
      <dgm:prSet presAssocID="{CE2D2141-48BC-4E99-92AB-978F260677E8}" presName="level" presStyleLbl="node1" presStyleIdx="0" presStyleCnt="4">
        <dgm:presLayoutVars>
          <dgm:chMax val="1"/>
          <dgm:bulletEnabled val="1"/>
        </dgm:presLayoutVars>
      </dgm:prSet>
      <dgm:spPr/>
    </dgm:pt>
    <dgm:pt modelId="{CBBDE368-4C7D-42F2-BA64-D756EE17F3E1}" type="pres">
      <dgm:prSet presAssocID="{CE2D2141-48BC-4E99-92AB-978F260677E8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3552F543-F6EF-4280-B04B-0924748F448B}" type="pres">
      <dgm:prSet presAssocID="{EF0C1AE9-46D5-4861-A180-FE7DFCD8FB9D}" presName="Name8" presStyleCnt="0"/>
      <dgm:spPr/>
    </dgm:pt>
    <dgm:pt modelId="{24A19059-88DA-4016-B9C5-57A44936A818}" type="pres">
      <dgm:prSet presAssocID="{EF0C1AE9-46D5-4861-A180-FE7DFCD8FB9D}" presName="level" presStyleLbl="node1" presStyleIdx="1" presStyleCnt="4">
        <dgm:presLayoutVars>
          <dgm:chMax val="1"/>
          <dgm:bulletEnabled val="1"/>
        </dgm:presLayoutVars>
      </dgm:prSet>
      <dgm:spPr/>
    </dgm:pt>
    <dgm:pt modelId="{F4AEC27D-8FAE-49BE-ADC6-0FDE2C177106}" type="pres">
      <dgm:prSet presAssocID="{EF0C1AE9-46D5-4861-A180-FE7DFCD8FB9D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57B66A85-33C3-481F-9079-388460C245B6}" type="pres">
      <dgm:prSet presAssocID="{77F49580-4A17-4615-AE59-5A7F2F072514}" presName="Name8" presStyleCnt="0"/>
      <dgm:spPr/>
    </dgm:pt>
    <dgm:pt modelId="{68498604-AEF3-4688-8646-25EA418E8720}" type="pres">
      <dgm:prSet presAssocID="{77F49580-4A17-4615-AE59-5A7F2F072514}" presName="level" presStyleLbl="node1" presStyleIdx="2" presStyleCnt="4">
        <dgm:presLayoutVars>
          <dgm:chMax val="1"/>
          <dgm:bulletEnabled val="1"/>
        </dgm:presLayoutVars>
      </dgm:prSet>
      <dgm:spPr/>
    </dgm:pt>
    <dgm:pt modelId="{F84C4BEA-AE15-4D13-901C-BE114C06AB59}" type="pres">
      <dgm:prSet presAssocID="{77F49580-4A17-4615-AE59-5A7F2F072514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16812672-649C-49DE-B23C-8D4AF8159A0F}" type="pres">
      <dgm:prSet presAssocID="{563EE1E3-CE4D-4628-A32E-A30A8AFEE626}" presName="Name8" presStyleCnt="0"/>
      <dgm:spPr/>
    </dgm:pt>
    <dgm:pt modelId="{7BCB090B-2D06-4D04-B2BB-A63DAB34C9E9}" type="pres">
      <dgm:prSet presAssocID="{563EE1E3-CE4D-4628-A32E-A30A8AFEE626}" presName="level" presStyleLbl="node1" presStyleIdx="3" presStyleCnt="4">
        <dgm:presLayoutVars>
          <dgm:chMax val="1"/>
          <dgm:bulletEnabled val="1"/>
        </dgm:presLayoutVars>
      </dgm:prSet>
      <dgm:spPr/>
    </dgm:pt>
    <dgm:pt modelId="{37B07B4D-5643-4111-A50A-0746EBE82A53}" type="pres">
      <dgm:prSet presAssocID="{563EE1E3-CE4D-4628-A32E-A30A8AFEE626}" presName="levelTx" presStyleLbl="revTx" presStyleIdx="0" presStyleCnt="0">
        <dgm:presLayoutVars>
          <dgm:chMax val="1"/>
          <dgm:bulletEnabled val="1"/>
        </dgm:presLayoutVars>
      </dgm:prSet>
      <dgm:spPr/>
    </dgm:pt>
  </dgm:ptLst>
  <dgm:cxnLst>
    <dgm:cxn modelId="{218ABD06-2E8B-4E19-97EF-06A6DAC6A8EB}" type="presOf" srcId="{77F49580-4A17-4615-AE59-5A7F2F072514}" destId="{F84C4BEA-AE15-4D13-901C-BE114C06AB59}" srcOrd="1" destOrd="0" presId="urn:microsoft.com/office/officeart/2005/8/layout/pyramid3"/>
    <dgm:cxn modelId="{B65D5908-921F-4071-8348-C019C9A56DDF}" type="presOf" srcId="{CE2D2141-48BC-4E99-92AB-978F260677E8}" destId="{0BE2E72D-C8F3-4422-B8FE-9201EA5B982E}" srcOrd="0" destOrd="0" presId="urn:microsoft.com/office/officeart/2005/8/layout/pyramid3"/>
    <dgm:cxn modelId="{97C32D11-D3E5-4293-8F46-6A26C6CC3843}" srcId="{A13C5CE5-8A29-4D30-9ED9-FE46352FED29}" destId="{EF0C1AE9-46D5-4861-A180-FE7DFCD8FB9D}" srcOrd="1" destOrd="0" parTransId="{74FFC09D-A4E2-4016-BBE8-A77D1FD6F1C0}" sibTransId="{B3CF89DF-0DB7-4DB8-9F36-EEAB9699BF86}"/>
    <dgm:cxn modelId="{95AC9018-7EE3-4E20-A1E7-3CB77D276927}" type="presOf" srcId="{A13C5CE5-8A29-4D30-9ED9-FE46352FED29}" destId="{DDAD5642-6297-4B90-B235-8669C5A01F92}" srcOrd="0" destOrd="0" presId="urn:microsoft.com/office/officeart/2005/8/layout/pyramid3"/>
    <dgm:cxn modelId="{DAAD4A26-3ED5-465E-B28A-5B4861CD0CEA}" srcId="{A13C5CE5-8A29-4D30-9ED9-FE46352FED29}" destId="{77F49580-4A17-4615-AE59-5A7F2F072514}" srcOrd="2" destOrd="0" parTransId="{2AD43F25-0136-46A2-976A-F1986CDF00A2}" sibTransId="{B22C540E-8E06-4D3F-8072-E7DD1F80E38B}"/>
    <dgm:cxn modelId="{357FEA3F-525F-448C-AA95-FD7CFA07033B}" srcId="{A13C5CE5-8A29-4D30-9ED9-FE46352FED29}" destId="{CE2D2141-48BC-4E99-92AB-978F260677E8}" srcOrd="0" destOrd="0" parTransId="{EF984903-6154-4C61-8260-05CCF74D5458}" sibTransId="{237996EB-BCD5-4657-8FBC-82021817A926}"/>
    <dgm:cxn modelId="{FE335C5D-002A-403D-B243-B6705F5DC4E4}" type="presOf" srcId="{563EE1E3-CE4D-4628-A32E-A30A8AFEE626}" destId="{7BCB090B-2D06-4D04-B2BB-A63DAB34C9E9}" srcOrd="0" destOrd="0" presId="urn:microsoft.com/office/officeart/2005/8/layout/pyramid3"/>
    <dgm:cxn modelId="{021A3B49-7155-4335-A861-F43544251B80}" srcId="{A13C5CE5-8A29-4D30-9ED9-FE46352FED29}" destId="{563EE1E3-CE4D-4628-A32E-A30A8AFEE626}" srcOrd="3" destOrd="0" parTransId="{C04C10DE-47CA-40EE-9CD8-3950C90DB2F3}" sibTransId="{67DA509B-B570-485A-AE12-418C4D7BFED3}"/>
    <dgm:cxn modelId="{07DD6D6B-F2B8-4B17-A436-F68E1BA47DF6}" type="presOf" srcId="{563EE1E3-CE4D-4628-A32E-A30A8AFEE626}" destId="{37B07B4D-5643-4111-A50A-0746EBE82A53}" srcOrd="1" destOrd="0" presId="urn:microsoft.com/office/officeart/2005/8/layout/pyramid3"/>
    <dgm:cxn modelId="{5DF4DEA1-E408-41EA-9782-AD97F8BFFFC4}" type="presOf" srcId="{77F49580-4A17-4615-AE59-5A7F2F072514}" destId="{68498604-AEF3-4688-8646-25EA418E8720}" srcOrd="0" destOrd="0" presId="urn:microsoft.com/office/officeart/2005/8/layout/pyramid3"/>
    <dgm:cxn modelId="{238BDDC9-A48E-4DE7-A448-020A97466CFB}" type="presOf" srcId="{CE2D2141-48BC-4E99-92AB-978F260677E8}" destId="{CBBDE368-4C7D-42F2-BA64-D756EE17F3E1}" srcOrd="1" destOrd="0" presId="urn:microsoft.com/office/officeart/2005/8/layout/pyramid3"/>
    <dgm:cxn modelId="{9B1FB6D0-199F-4A93-8D86-FC4F7567312C}" type="presOf" srcId="{EF0C1AE9-46D5-4861-A180-FE7DFCD8FB9D}" destId="{24A19059-88DA-4016-B9C5-57A44936A818}" srcOrd="0" destOrd="0" presId="urn:microsoft.com/office/officeart/2005/8/layout/pyramid3"/>
    <dgm:cxn modelId="{D93191DB-98D0-4688-B638-10A6CC64958E}" type="presOf" srcId="{EF0C1AE9-46D5-4861-A180-FE7DFCD8FB9D}" destId="{F4AEC27D-8FAE-49BE-ADC6-0FDE2C177106}" srcOrd="1" destOrd="0" presId="urn:microsoft.com/office/officeart/2005/8/layout/pyramid3"/>
    <dgm:cxn modelId="{1D5C4FB9-0F61-48DC-A120-3D7ED6B70602}" type="presParOf" srcId="{DDAD5642-6297-4B90-B235-8669C5A01F92}" destId="{AB51E85A-C4A7-418B-8427-637CC7911D34}" srcOrd="0" destOrd="0" presId="urn:microsoft.com/office/officeart/2005/8/layout/pyramid3"/>
    <dgm:cxn modelId="{E20C990C-FED9-4368-B232-6FEC259E11A2}" type="presParOf" srcId="{AB51E85A-C4A7-418B-8427-637CC7911D34}" destId="{0BE2E72D-C8F3-4422-B8FE-9201EA5B982E}" srcOrd="0" destOrd="0" presId="urn:microsoft.com/office/officeart/2005/8/layout/pyramid3"/>
    <dgm:cxn modelId="{1FF9BC2F-0A84-4B15-8741-39E4E41CA08B}" type="presParOf" srcId="{AB51E85A-C4A7-418B-8427-637CC7911D34}" destId="{CBBDE368-4C7D-42F2-BA64-D756EE17F3E1}" srcOrd="1" destOrd="0" presId="urn:microsoft.com/office/officeart/2005/8/layout/pyramid3"/>
    <dgm:cxn modelId="{F9F1BA83-408C-48F5-A121-CF24E5CE98B5}" type="presParOf" srcId="{DDAD5642-6297-4B90-B235-8669C5A01F92}" destId="{3552F543-F6EF-4280-B04B-0924748F448B}" srcOrd="1" destOrd="0" presId="urn:microsoft.com/office/officeart/2005/8/layout/pyramid3"/>
    <dgm:cxn modelId="{F81F77B3-6ED5-4469-8F29-13980C2ECD93}" type="presParOf" srcId="{3552F543-F6EF-4280-B04B-0924748F448B}" destId="{24A19059-88DA-4016-B9C5-57A44936A818}" srcOrd="0" destOrd="0" presId="urn:microsoft.com/office/officeart/2005/8/layout/pyramid3"/>
    <dgm:cxn modelId="{7D9B3260-FE06-42B7-A28C-31BDFF7FA413}" type="presParOf" srcId="{3552F543-F6EF-4280-B04B-0924748F448B}" destId="{F4AEC27D-8FAE-49BE-ADC6-0FDE2C177106}" srcOrd="1" destOrd="0" presId="urn:microsoft.com/office/officeart/2005/8/layout/pyramid3"/>
    <dgm:cxn modelId="{BABAE528-762B-4EA6-B115-4B0A37FE4FB6}" type="presParOf" srcId="{DDAD5642-6297-4B90-B235-8669C5A01F92}" destId="{57B66A85-33C3-481F-9079-388460C245B6}" srcOrd="2" destOrd="0" presId="urn:microsoft.com/office/officeart/2005/8/layout/pyramid3"/>
    <dgm:cxn modelId="{542B8DE9-03AD-4AF6-9152-82BA59F1135E}" type="presParOf" srcId="{57B66A85-33C3-481F-9079-388460C245B6}" destId="{68498604-AEF3-4688-8646-25EA418E8720}" srcOrd="0" destOrd="0" presId="urn:microsoft.com/office/officeart/2005/8/layout/pyramid3"/>
    <dgm:cxn modelId="{8F31FAEC-6B61-4539-81F9-7A90D13775AD}" type="presParOf" srcId="{57B66A85-33C3-481F-9079-388460C245B6}" destId="{F84C4BEA-AE15-4D13-901C-BE114C06AB59}" srcOrd="1" destOrd="0" presId="urn:microsoft.com/office/officeart/2005/8/layout/pyramid3"/>
    <dgm:cxn modelId="{EEF8E690-99A2-4924-B3C4-55482388D3CF}" type="presParOf" srcId="{DDAD5642-6297-4B90-B235-8669C5A01F92}" destId="{16812672-649C-49DE-B23C-8D4AF8159A0F}" srcOrd="3" destOrd="0" presId="urn:microsoft.com/office/officeart/2005/8/layout/pyramid3"/>
    <dgm:cxn modelId="{A915DBBA-4AEF-46DD-A46C-A5AD77A8D57D}" type="presParOf" srcId="{16812672-649C-49DE-B23C-8D4AF8159A0F}" destId="{7BCB090B-2D06-4D04-B2BB-A63DAB34C9E9}" srcOrd="0" destOrd="0" presId="urn:microsoft.com/office/officeart/2005/8/layout/pyramid3"/>
    <dgm:cxn modelId="{A684C460-A0E3-4E75-80C3-A29923FC3FEF}" type="presParOf" srcId="{16812672-649C-49DE-B23C-8D4AF8159A0F}" destId="{37B07B4D-5643-4111-A50A-0746EBE82A53}" srcOrd="1" destOrd="0" presId="urn:microsoft.com/office/officeart/2005/8/layout/pyramid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BE2E72D-C8F3-4422-B8FE-9201EA5B982E}">
      <dsp:nvSpPr>
        <dsp:cNvPr id="0" name=""/>
        <dsp:cNvSpPr/>
      </dsp:nvSpPr>
      <dsp:spPr>
        <a:xfrm rot="10800000">
          <a:off x="0" y="0"/>
          <a:ext cx="6620395" cy="1170384"/>
        </a:xfrm>
        <a:prstGeom prst="trapezoid">
          <a:avLst>
            <a:gd name="adj" fmla="val 70707"/>
          </a:avLst>
        </a:prstGeom>
        <a:solidFill>
          <a:srgbClr val="336699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640" tIns="40640" rIns="40640" bIns="4064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AT" sz="3200" kern="12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rPr>
            <a:t>Supra-National</a:t>
          </a:r>
          <a:endParaRPr lang="de-AT" sz="3600" kern="1200" dirty="0">
            <a:solidFill>
              <a:schemeClr val="bg1"/>
            </a:solidFill>
            <a:latin typeface="Verdana" panose="020B0604030504040204" pitchFamily="34" charset="0"/>
            <a:ea typeface="Verdana" panose="020B0604030504040204" pitchFamily="34" charset="0"/>
            <a:cs typeface="Verdana" panose="020B0604030504040204" pitchFamily="34" charset="0"/>
          </a:endParaRPr>
        </a:p>
      </dsp:txBody>
      <dsp:txXfrm rot="-10800000">
        <a:off x="1158569" y="0"/>
        <a:ext cx="4303256" cy="1170384"/>
      </dsp:txXfrm>
    </dsp:sp>
    <dsp:sp modelId="{24A19059-88DA-4016-B9C5-57A44936A818}">
      <dsp:nvSpPr>
        <dsp:cNvPr id="0" name=""/>
        <dsp:cNvSpPr/>
      </dsp:nvSpPr>
      <dsp:spPr>
        <a:xfrm rot="10800000">
          <a:off x="827549" y="1170384"/>
          <a:ext cx="4965296" cy="1170384"/>
        </a:xfrm>
        <a:prstGeom prst="trapezoid">
          <a:avLst>
            <a:gd name="adj" fmla="val 70707"/>
          </a:avLst>
        </a:prstGeom>
        <a:solidFill>
          <a:srgbClr val="0070C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640" tIns="40640" rIns="40640" bIns="4064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AT" sz="3200" kern="12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rPr>
            <a:t>National</a:t>
          </a:r>
          <a:endParaRPr lang="de-AT" sz="3600" kern="1200" dirty="0">
            <a:solidFill>
              <a:schemeClr val="bg1"/>
            </a:solidFill>
            <a:latin typeface="Verdana" panose="020B0604030504040204" pitchFamily="34" charset="0"/>
            <a:ea typeface="Verdana" panose="020B0604030504040204" pitchFamily="34" charset="0"/>
            <a:cs typeface="Verdana" panose="020B0604030504040204" pitchFamily="34" charset="0"/>
          </a:endParaRPr>
        </a:p>
      </dsp:txBody>
      <dsp:txXfrm rot="-10800000">
        <a:off x="1696476" y="1170384"/>
        <a:ext cx="3227442" cy="1170384"/>
      </dsp:txXfrm>
    </dsp:sp>
    <dsp:sp modelId="{68498604-AEF3-4688-8646-25EA418E8720}">
      <dsp:nvSpPr>
        <dsp:cNvPr id="0" name=""/>
        <dsp:cNvSpPr/>
      </dsp:nvSpPr>
      <dsp:spPr>
        <a:xfrm rot="10800000">
          <a:off x="1655098" y="2340768"/>
          <a:ext cx="3310197" cy="1170384"/>
        </a:xfrm>
        <a:prstGeom prst="trapezoid">
          <a:avLst>
            <a:gd name="adj" fmla="val 70707"/>
          </a:avLst>
        </a:prstGeom>
        <a:solidFill>
          <a:srgbClr val="8CA9D4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640" tIns="40640" rIns="40640" bIns="4064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AT" sz="3200" kern="1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rPr>
            <a:t>Industry</a:t>
          </a:r>
          <a:endParaRPr lang="de-AT" sz="3600" kern="1200" dirty="0">
            <a:latin typeface="Verdana" panose="020B0604030504040204" pitchFamily="34" charset="0"/>
            <a:ea typeface="Verdana" panose="020B0604030504040204" pitchFamily="34" charset="0"/>
            <a:cs typeface="Verdana" panose="020B0604030504040204" pitchFamily="34" charset="0"/>
          </a:endParaRPr>
        </a:p>
      </dsp:txBody>
      <dsp:txXfrm rot="-10800000">
        <a:off x="2234383" y="2340768"/>
        <a:ext cx="2151628" cy="1170384"/>
      </dsp:txXfrm>
    </dsp:sp>
    <dsp:sp modelId="{7BCB090B-2D06-4D04-B2BB-A63DAB34C9E9}">
      <dsp:nvSpPr>
        <dsp:cNvPr id="0" name=""/>
        <dsp:cNvSpPr/>
      </dsp:nvSpPr>
      <dsp:spPr>
        <a:xfrm rot="10800000">
          <a:off x="2482648" y="3511152"/>
          <a:ext cx="1655098" cy="1170384"/>
        </a:xfrm>
        <a:prstGeom prst="trapezoid">
          <a:avLst>
            <a:gd name="adj" fmla="val 70707"/>
          </a:avLst>
        </a:prstGeom>
        <a:solidFill>
          <a:schemeClr val="bg1">
            <a:lumMod val="8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de-AT" sz="3600" kern="1200" dirty="0">
            <a:latin typeface="Verdana" panose="020B0604030504040204" pitchFamily="34" charset="0"/>
            <a:ea typeface="Verdana" panose="020B0604030504040204" pitchFamily="34" charset="0"/>
            <a:cs typeface="Verdana" panose="020B0604030504040204" pitchFamily="34" charset="0"/>
          </a:endParaRPr>
        </a:p>
      </dsp:txBody>
      <dsp:txXfrm rot="-10800000">
        <a:off x="2482648" y="3511152"/>
        <a:ext cx="1655098" cy="117038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yramid3">
  <dgm:title val=""/>
  <dgm:desc val=""/>
  <dgm:catLst>
    <dgm:cat type="pyramid" pri="2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pyra">
          <dgm:param type="linDir" val="fromT"/>
          <dgm:param type="txDir" val="fromT"/>
          <dgm:param type="pyraAcctPos" val="aft"/>
          <dgm:param type="pyraAcctTxMar" val="step"/>
          <dgm:param type="pyraAcctBkgdNode" val="acctBkgd"/>
          <dgm:param type="pyraAcctTxNode" val="acctTx"/>
          <dgm:param type="pyraLvlNode" val="level"/>
        </dgm:alg>
      </dgm:if>
      <dgm:else name="Name3">
        <dgm:alg type="pyra">
          <dgm:param type="linDir" val="fromT"/>
          <dgm:param type="txDir" val="fromT"/>
          <dgm:param type="pyraAcctPos" val="bef"/>
          <dgm:param type="pyraAcctTxMar" val="step"/>
          <dgm:param type="pyraAcctBkgdNode" val="acctBkgd"/>
          <dgm:param type="pyraAcctTxNode" val="acctTx"/>
          <dgm:param type="pyraLvlNode" val="level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ptType="all node" func="maxDepth" op="gte" val="2">
        <dgm:constrLst>
          <dgm:constr type="primFontSz" for="des" forName="levelTx" op="equ"/>
          <dgm:constr type="secFontSz" for="des" forName="acctTx" op="equ"/>
          <dgm:constr type="pyraAcctRatio" val="0.32"/>
        </dgm:constrLst>
      </dgm:if>
      <dgm:else name="Name6">
        <dgm:constrLst>
          <dgm:constr type="primFontSz" for="des" forName="levelTx" op="equ"/>
          <dgm:constr type="secFontSz" for="des" forName="acctTx" op="equ"/>
          <dgm:constr type="pyraAcctRatio"/>
        </dgm:constrLst>
      </dgm:else>
    </dgm:choose>
    <dgm:ruleLst/>
    <dgm:forEach name="Name7" axis="ch" ptType="node">
      <dgm:layoutNode name="Name8">
        <dgm:alg type="composite">
          <dgm:param type="horzAlign" val="none"/>
        </dgm:alg>
        <dgm:shape xmlns:r="http://schemas.openxmlformats.org/officeDocument/2006/relationships" r:blip="">
          <dgm:adjLst/>
        </dgm:shape>
        <dgm:presOf/>
        <dgm:choose name="Name9">
          <dgm:if name="Name10" axis="self" ptType="node" func="revPos" op="equ" val="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/>
              <dgm:constr type="h" for="ch" forName="levelTx" refType="h" refFor="ch" refForName="level"/>
            </dgm:constrLst>
          </dgm:if>
          <dgm:else name="Name1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 fact="0.65"/>
              <dgm:constr type="h" for="ch" forName="levelTx" refType="h" refFor="ch" refForName="level"/>
            </dgm:constrLst>
          </dgm:else>
        </dgm:choose>
        <dgm:ruleLst/>
        <dgm:choose name="Name12">
          <dgm:if name="Name13" axis="ch" ptType="node" func="cnt" op="gte" val="1">
            <dgm:layoutNode name="acctBkgd" styleLbl="alignAcc1">
              <dgm:alg type="sp"/>
              <dgm:shape xmlns:r="http://schemas.openxmlformats.org/officeDocument/2006/relationships" type="nonIsoscelesTrapezoid" r:blip="">
                <dgm:adjLst/>
              </dgm:shape>
              <dgm:presOf axis="des" ptType="node"/>
              <dgm:constrLst/>
              <dgm:ruleLst/>
            </dgm:layoutNode>
            <dgm:layoutNode name="acctTx" styleLbl="alignAcc1">
              <dgm:varLst>
                <dgm:bulletEnabled val="1"/>
              </dgm:varLst>
              <dgm:alg type="tx">
                <dgm:param type="stBulletLvl" val="1"/>
                <dgm:param type="txAnchorVertCh" val="t"/>
              </dgm:alg>
              <dgm:shape xmlns:r="http://schemas.openxmlformats.org/officeDocument/2006/relationships" type="nonIsoscelesTrapezoid" r:blip="" hideGeom="1">
                <dgm:adjLst/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3"/>
                <dgm:constr type="bMarg" refType="secFontSz" fact="0.3"/>
                <dgm:constr type="lMarg" refType="secFontSz" fact="0.3"/>
                <dgm:constr type="rMarg" refType="secFontSz" fact="0.3"/>
              </dgm:constrLst>
              <dgm:ruleLst>
                <dgm:rule type="secFontSz" val="5" fact="NaN" max="NaN"/>
              </dgm:ruleLst>
            </dgm:layoutNode>
          </dgm:if>
          <dgm:else name="Name14"/>
        </dgm:choose>
        <dgm:layoutNode name="level">
          <dgm:varLst>
            <dgm:chMax val="1"/>
            <dgm:bulletEnabled val="1"/>
          </dgm:varLst>
          <dgm:alg type="sp"/>
          <dgm:shape xmlns:r="http://schemas.openxmlformats.org/officeDocument/2006/relationships" type="trapezoid" r:blip="">
            <dgm:adjLst/>
          </dgm:shape>
          <dgm:presOf axis="self"/>
          <dgm:constrLst>
            <dgm:constr type="h" val="500"/>
            <dgm:constr type="w" val="1"/>
          </dgm:constrLst>
          <dgm:ruleLst/>
        </dgm:layoutNode>
        <dgm:layoutNode name="levelTx" styleLbl="revTx">
          <dgm:varLst>
            <dgm:chMax val="1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0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2"/>
            <a:ext cx="2922492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849" tIns="45422" rIns="90849" bIns="45422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latin typeface="Times New Roman" pitchFamily="18" charset="0"/>
                <a:ea typeface="ＭＳ Ｐゴシック" charset="-128"/>
                <a:cs typeface="+mn-cs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21401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18021" y="2"/>
            <a:ext cx="2922491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849" tIns="45422" rIns="90849" bIns="45422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latin typeface="Times New Roman" pitchFamily="18" charset="0"/>
                <a:ea typeface="ＭＳ Ｐゴシック" charset="-128"/>
                <a:cs typeface="+mn-cs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21402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377370"/>
            <a:ext cx="2922492" cy="4937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849" tIns="45422" rIns="90849" bIns="45422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latin typeface="Times New Roman" pitchFamily="18" charset="0"/>
                <a:ea typeface="ＭＳ Ｐゴシック" charset="-128"/>
                <a:cs typeface="+mn-cs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21402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18021" y="9377370"/>
            <a:ext cx="2922491" cy="4937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849" tIns="45422" rIns="90849" bIns="45422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latin typeface="Times New Roman" pitchFamily="18" charset="0"/>
                <a:ea typeface="ＭＳ Ｐゴシック" charset="-128"/>
                <a:cs typeface="+mn-cs"/>
              </a:defRPr>
            </a:lvl1pPr>
          </a:lstStyle>
          <a:p>
            <a:pPr>
              <a:defRPr/>
            </a:pPr>
            <a:fld id="{845D230D-95A1-4904-A4C2-AB5F1A58B97F}" type="slidenum">
              <a:rPr lang="de-DE"/>
              <a:pPr>
                <a:defRPr/>
              </a:pPr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9784636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6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4" y="2"/>
            <a:ext cx="2949774" cy="528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849" tIns="45422" rIns="90849" bIns="45422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latin typeface="Times New Roman" pitchFamily="18" charset="0"/>
                <a:ea typeface="ＭＳ Ｐゴシック" charset="-128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6486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784314" y="2"/>
            <a:ext cx="2948170" cy="528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849" tIns="45422" rIns="90849" bIns="45422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latin typeface="Times New Roman" pitchFamily="18" charset="0"/>
                <a:ea typeface="ＭＳ Ｐゴシック" charset="-128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734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89000" y="757238"/>
            <a:ext cx="4954588" cy="37147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486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08365" y="4699007"/>
            <a:ext cx="4915757" cy="44005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849" tIns="45422" rIns="90849" bIns="4542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dirty="0" err="1"/>
              <a:t>Klicken</a:t>
            </a:r>
            <a:r>
              <a:rPr lang="en-US" noProof="0" dirty="0"/>
              <a:t> </a:t>
            </a:r>
            <a:r>
              <a:rPr lang="en-US" noProof="0" dirty="0" err="1"/>
              <a:t>Sie</a:t>
            </a:r>
            <a:r>
              <a:rPr lang="en-US" noProof="0" dirty="0"/>
              <a:t>, um die </a:t>
            </a:r>
            <a:r>
              <a:rPr lang="en-US" noProof="0" dirty="0" err="1"/>
              <a:t>Textformatierung</a:t>
            </a:r>
            <a:r>
              <a:rPr lang="en-US" noProof="0" dirty="0"/>
              <a:t> des Masters </a:t>
            </a:r>
            <a:r>
              <a:rPr lang="en-US" noProof="0" dirty="0" err="1"/>
              <a:t>zu</a:t>
            </a:r>
            <a:r>
              <a:rPr lang="en-US" noProof="0" dirty="0"/>
              <a:t> </a:t>
            </a:r>
            <a:r>
              <a:rPr lang="en-US" noProof="0" dirty="0" err="1"/>
              <a:t>bearbeiten</a:t>
            </a:r>
            <a:r>
              <a:rPr lang="en-US" noProof="0" dirty="0"/>
              <a:t>.</a:t>
            </a:r>
          </a:p>
          <a:p>
            <a:pPr lvl="1"/>
            <a:r>
              <a:rPr lang="en-US" noProof="0" dirty="0" err="1"/>
              <a:t>Zweite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  <a:p>
            <a:pPr lvl="2"/>
            <a:r>
              <a:rPr lang="en-US" noProof="0" dirty="0" err="1"/>
              <a:t>Dritte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  <a:p>
            <a:pPr lvl="3"/>
            <a:r>
              <a:rPr lang="en-US" noProof="0" dirty="0" err="1"/>
              <a:t>Vierte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  <a:p>
            <a:pPr lvl="4"/>
            <a:r>
              <a:rPr lang="en-US" noProof="0" dirty="0" err="1"/>
              <a:t>Fünfte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</p:txBody>
      </p:sp>
      <p:sp>
        <p:nvSpPr>
          <p:cNvPr id="16487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4" y="9402770"/>
            <a:ext cx="2949774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849" tIns="45422" rIns="90849" bIns="45422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latin typeface="Times New Roman" pitchFamily="18" charset="0"/>
                <a:ea typeface="ＭＳ Ｐゴシック" charset="-128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6487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84314" y="9402770"/>
            <a:ext cx="2948170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849" tIns="45422" rIns="90849" bIns="45422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latin typeface="Times New Roman" pitchFamily="18" charset="0"/>
                <a:ea typeface="ＭＳ Ｐゴシック" charset="-128"/>
                <a:cs typeface="+mn-cs"/>
              </a:defRPr>
            </a:lvl1pPr>
          </a:lstStyle>
          <a:p>
            <a:pPr>
              <a:defRPr/>
            </a:pPr>
            <a:fld id="{8F335E7E-8C1E-4A6B-86FC-4151573B8E4F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897978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MS PGothic" pitchFamily="34" charset="-128"/>
        <a:cs typeface="ＭＳ Ｐゴシック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MS PGothic" pitchFamily="34" charset="-128"/>
        <a:cs typeface="ＭＳ Ｐゴシック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MS PGothic" pitchFamily="34" charset="-128"/>
        <a:cs typeface="ＭＳ Ｐゴシック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MS PGothic" pitchFamily="34" charset="-128"/>
        <a:cs typeface="ＭＳ Ｐゴシック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MS PGothic" pitchFamily="34" charset="-128"/>
        <a:cs typeface="ＭＳ Ｐゴシック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F335E7E-8C1E-4A6B-86FC-4151573B8E4F}" type="slidenum">
              <a:rPr lang="en-US" smtClean="0"/>
              <a:pPr>
                <a:defRPr/>
              </a:pPr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45968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Times New Roman" pitchFamily="18" charset="0"/>
                <a:ea typeface="MS PGothic" pitchFamily="34" charset="-128"/>
                <a:cs typeface="ＭＳ Ｐゴシック"/>
              </a:rPr>
              <a:t>The term “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Times New Roman" pitchFamily="18" charset="0"/>
                <a:ea typeface="MS PGothic" pitchFamily="34" charset="-128"/>
                <a:cs typeface="ＭＳ Ｐゴシック"/>
              </a:rPr>
              <a:t>business model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Times New Roman" pitchFamily="18" charset="0"/>
                <a:ea typeface="MS PGothic" pitchFamily="34" charset="-128"/>
                <a:cs typeface="ＭＳ Ｐゴシック"/>
              </a:rPr>
              <a:t>"</a:t>
            </a:r>
            <a:r>
              <a:rPr lang="en-US" sz="1200" dirty="0"/>
              <a:t> 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Times New Roman" pitchFamily="18" charset="0"/>
                <a:ea typeface="MS PGothic" pitchFamily="34" charset="-128"/>
                <a:cs typeface="ＭＳ Ｐゴシック"/>
              </a:rPr>
              <a:t>refers to a company's logic - how it operates, creates &amp; captures value in a competitive market</a:t>
            </a:r>
            <a:r>
              <a:rPr lang="en-US" sz="1200" dirty="0"/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Times New Roman" pitchFamily="18" charset="0"/>
                <a:ea typeface="MS PGothic" pitchFamily="34" charset="-128"/>
                <a:cs typeface="ＭＳ Ｐゴシック"/>
              </a:rPr>
              <a:t>The term "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Times New Roman" pitchFamily="18" charset="0"/>
                <a:ea typeface="MS PGothic" pitchFamily="34" charset="-128"/>
                <a:cs typeface="ＭＳ Ｐゴシック"/>
              </a:rPr>
              <a:t>strategy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Times New Roman" pitchFamily="18" charset="0"/>
                <a:ea typeface="MS PGothic" pitchFamily="34" charset="-128"/>
                <a:cs typeface="ＭＳ Ｐゴシック"/>
              </a:rPr>
              <a:t>"</a:t>
            </a:r>
            <a:r>
              <a:rPr lang="en-US" sz="1200" dirty="0"/>
              <a:t> is the plan to create a unique and valuable position involving a distinctive set of activities. </a:t>
            </a:r>
          </a:p>
          <a:p>
            <a:endParaRPr lang="en-US" sz="1200" dirty="0"/>
          </a:p>
          <a:p>
            <a:r>
              <a:rPr lang="en-US" sz="1200" dirty="0"/>
              <a:t>That definition implies that the enterprise has made a choice about how it wishes to compete in the marketplace. The system of choices and consequences is a reflection of the strategy, but it isn’t the strategy; it’s the business</a:t>
            </a:r>
            <a:r>
              <a:rPr lang="en-US" sz="1200" baseline="0" dirty="0"/>
              <a:t> model.</a:t>
            </a:r>
          </a:p>
          <a:p>
            <a:endParaRPr lang="en-US" sz="1200" baseline="0" dirty="0"/>
          </a:p>
          <a:p>
            <a:r>
              <a:rPr lang="en-US" sz="1200" baseline="0" dirty="0"/>
              <a:t>Strategy refers to the contingent plan about which business model to use. </a:t>
            </a:r>
          </a:p>
          <a:p>
            <a:endParaRPr lang="en-US" sz="1200" baseline="0" dirty="0"/>
          </a:p>
          <a:p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Times New Roman" pitchFamily="18" charset="0"/>
                <a:ea typeface="MS PGothic" pitchFamily="34" charset="-128"/>
                <a:cs typeface="ＭＳ Ｐゴシック"/>
              </a:rPr>
              <a:t>Tactics</a:t>
            </a:r>
            <a:r>
              <a:rPr lang="en-US" sz="1200" dirty="0"/>
              <a:t> are choices open to a company by virtue of the business</a:t>
            </a:r>
            <a:r>
              <a:rPr lang="en-US" sz="1200" baseline="0" dirty="0"/>
              <a:t> model. In other words, business model determines the tactics available to compete in the marketplace.</a:t>
            </a:r>
            <a:endParaRPr lang="en-US" sz="1200" dirty="0"/>
          </a:p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Times New Roman" pitchFamily="18" charset="0"/>
                <a:ea typeface="MS PGothic" pitchFamily="34" charset="-128"/>
                <a:cs typeface="ＭＳ Ｐゴシック"/>
              </a:rPr>
              <a:t>Strategy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effectLst/>
                <a:latin typeface="Times New Roman" pitchFamily="18" charset="0"/>
                <a:ea typeface="MS PGothic" pitchFamily="34" charset="-128"/>
                <a:cs typeface="ＭＳ Ｐゴシック"/>
              </a:rPr>
              <a:t> focuses on building </a:t>
            </a:r>
            <a:r>
              <a:rPr lang="en-US" sz="1200" b="1" i="0" u="none" strike="noStrike" kern="1200" baseline="0" dirty="0">
                <a:solidFill>
                  <a:schemeClr val="tx1"/>
                </a:solidFill>
                <a:effectLst/>
                <a:latin typeface="Times New Roman" pitchFamily="18" charset="0"/>
                <a:ea typeface="MS PGothic" pitchFamily="34" charset="-128"/>
                <a:cs typeface="ＭＳ Ｐゴシック"/>
              </a:rPr>
              <a:t>c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Times New Roman" pitchFamily="18" charset="0"/>
                <a:ea typeface="MS PGothic" pitchFamily="34" charset="-128"/>
                <a:cs typeface="ＭＳ Ｐゴシック"/>
              </a:rPr>
              <a:t>ompetitive advantage</a:t>
            </a:r>
            <a:r>
              <a:rPr lang="en-US" sz="1200" b="1" i="0" u="none" strike="noStrike" kern="1200" baseline="0" dirty="0">
                <a:solidFill>
                  <a:schemeClr val="tx1"/>
                </a:solidFill>
                <a:effectLst/>
                <a:latin typeface="Times New Roman" pitchFamily="18" charset="0"/>
                <a:ea typeface="MS PGothic" pitchFamily="34" charset="-128"/>
                <a:cs typeface="ＭＳ Ｐゴシック"/>
              </a:rPr>
              <a:t> 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effectLst/>
                <a:latin typeface="Times New Roman" pitchFamily="18" charset="0"/>
                <a:ea typeface="MS PGothic" pitchFamily="34" charset="-128"/>
                <a:cs typeface="ＭＳ Ｐゴシック"/>
              </a:rPr>
              <a:t>by defending a unique position or exploiting a valuable and idiosyncratic set of resources. </a:t>
            </a:r>
          </a:p>
          <a:p>
            <a:endParaRPr lang="en-US" sz="1200" b="0" i="0" u="none" strike="noStrike" kern="1200" baseline="0" dirty="0">
              <a:solidFill>
                <a:schemeClr val="tx1"/>
              </a:solidFill>
              <a:effectLst/>
              <a:latin typeface="Times New Roman" pitchFamily="18" charset="0"/>
              <a:ea typeface="MS PGothic" pitchFamily="34" charset="-128"/>
            </a:endParaRPr>
          </a:p>
          <a:p>
            <a:r>
              <a:rPr lang="en-US" sz="1200" b="1" dirty="0"/>
              <a:t>Mission</a:t>
            </a:r>
            <a:r>
              <a:rPr lang="en-US" sz="1200" dirty="0"/>
              <a:t> is a general </a:t>
            </a:r>
            <a:r>
              <a:rPr lang="en-US" sz="1200" b="1" dirty="0"/>
              <a:t>statement</a:t>
            </a:r>
            <a:r>
              <a:rPr lang="en-US" sz="1200" dirty="0"/>
              <a:t> of how you will achieve your </a:t>
            </a:r>
            <a:r>
              <a:rPr lang="en-US" sz="1200" b="1" dirty="0"/>
              <a:t>vision</a:t>
            </a:r>
            <a:r>
              <a:rPr lang="en-US" sz="1200" dirty="0"/>
              <a:t>. </a:t>
            </a:r>
            <a:r>
              <a:rPr lang="en-US" sz="1200" b="1" dirty="0"/>
              <a:t>Strategies</a:t>
            </a:r>
            <a:r>
              <a:rPr lang="en-US" sz="1200" dirty="0"/>
              <a:t> are a series of ways of using the </a:t>
            </a:r>
            <a:r>
              <a:rPr lang="en-US" sz="1200" b="1" dirty="0"/>
              <a:t>mission</a:t>
            </a:r>
            <a:r>
              <a:rPr lang="en-US" sz="1200" dirty="0"/>
              <a:t> to achieve the </a:t>
            </a:r>
            <a:r>
              <a:rPr lang="en-US" sz="1200" b="1" dirty="0"/>
              <a:t>vision</a:t>
            </a:r>
            <a:r>
              <a:rPr lang="en-US" sz="1200" dirty="0"/>
              <a:t>. Goals are statements of what needs to be accomplished to implement the </a:t>
            </a:r>
            <a:r>
              <a:rPr lang="en-US" sz="1200" b="1" dirty="0"/>
              <a:t>strategy</a:t>
            </a:r>
            <a:r>
              <a:rPr lang="en-US" sz="1200" dirty="0"/>
              <a:t>. Objectives are specific actions and timelines for achieving the goal</a:t>
            </a:r>
          </a:p>
          <a:p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F335E7E-8C1E-4A6B-86FC-4151573B8E4F}" type="slidenum">
              <a:rPr lang="en-US" smtClean="0"/>
              <a:pPr>
                <a:defRPr/>
              </a:pPr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13923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de-DE" dirty="0">
                <a:ea typeface="ＭＳ Ｐゴシック" pitchFamily="34" charset="-128"/>
              </a:rPr>
              <a:t>Strategy is about:</a:t>
            </a:r>
          </a:p>
          <a:p>
            <a:r>
              <a:rPr lang="en-US" altLang="de-DE" dirty="0">
                <a:ea typeface="ＭＳ Ｐゴシック" pitchFamily="34" charset="-128"/>
              </a:rPr>
              <a:t>How are we</a:t>
            </a:r>
            <a:r>
              <a:rPr lang="en-US" altLang="de-DE" baseline="0" dirty="0">
                <a:ea typeface="ＭＳ Ｐゴシック" pitchFamily="34" charset="-128"/>
              </a:rPr>
              <a:t> going to be unique?</a:t>
            </a:r>
          </a:p>
          <a:p>
            <a:r>
              <a:rPr lang="en-US" altLang="de-DE" baseline="0" dirty="0">
                <a:ea typeface="ＭＳ Ｐゴシック" pitchFamily="34" charset="-128"/>
              </a:rPr>
              <a:t>How are we creating an advantage?</a:t>
            </a:r>
          </a:p>
          <a:p>
            <a:r>
              <a:rPr lang="en-US" altLang="de-DE" baseline="0" dirty="0">
                <a:ea typeface="ＭＳ Ｐゴシック" pitchFamily="34" charset="-128"/>
              </a:rPr>
              <a:t>How will we sustain that advantage?</a:t>
            </a:r>
            <a:endParaRPr lang="en-US" altLang="de-DE" dirty="0">
              <a:ea typeface="ＭＳ Ｐゴシック" pitchFamily="34" charset="-128"/>
            </a:endParaRPr>
          </a:p>
          <a:p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F335E7E-8C1E-4A6B-86FC-4151573B8E4F}" type="slidenum">
              <a:rPr lang="en-US" smtClean="0"/>
              <a:pPr>
                <a:defRPr/>
              </a:pPr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44686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Short summary of corporate strategy vs business</a:t>
            </a:r>
            <a:r>
              <a:rPr lang="en-US" baseline="0" dirty="0"/>
              <a:t> strategy </a:t>
            </a:r>
            <a:r>
              <a:rPr lang="en-US" baseline="0" dirty="0">
                <a:sym typeface="Wingdings" panose="05000000000000000000" pitchFamily="2" charset="2"/>
              </a:rPr>
              <a:t> focus of course on corporate strategy  fit between the two essential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F335E7E-8C1E-4A6B-86FC-4151573B8E4F}" type="slidenum">
              <a:rPr lang="en-US" smtClean="0"/>
              <a:pPr>
                <a:defRPr/>
              </a:pPr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208938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Brief in-class discussion</a:t>
            </a:r>
          </a:p>
          <a:p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F335E7E-8C1E-4A6B-86FC-4151573B8E4F}" type="slidenum">
              <a:rPr lang="en-US" smtClean="0"/>
              <a:pPr>
                <a:defRPr/>
              </a:pPr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847709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de-DE" sz="1200" b="0" dirty="0">
                <a:ea typeface="ＭＳ Ｐゴシック" pitchFamily="34" charset="-128"/>
              </a:rPr>
              <a:t>Strategy</a:t>
            </a:r>
            <a:r>
              <a:rPr lang="en-US" altLang="de-DE" sz="1200" b="0" baseline="0" dirty="0">
                <a:ea typeface="ＭＳ Ｐゴシック" pitchFamily="34" charset="-128"/>
              </a:rPr>
              <a:t> is based on internal and external factors </a:t>
            </a:r>
            <a:r>
              <a:rPr lang="en-US" altLang="de-DE" sz="1200" b="0" baseline="0" dirty="0">
                <a:ea typeface="ＭＳ Ｐゴシック" pitchFamily="34" charset="-128"/>
                <a:sym typeface="Wingdings" panose="05000000000000000000" pitchFamily="2" charset="2"/>
              </a:rPr>
              <a:t> analysis is essential step of defining a strategy</a:t>
            </a:r>
            <a:endParaRPr lang="en-US" altLang="de-DE" sz="1200" b="0" dirty="0">
              <a:ea typeface="ＭＳ Ｐゴシック" pitchFamily="34" charset="-128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F335E7E-8C1E-4A6B-86FC-4151573B8E4F}" type="slidenum">
              <a:rPr lang="en-US" smtClean="0"/>
              <a:pPr>
                <a:defRPr/>
              </a:pPr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159671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b="0" dirty="0">
                <a:ea typeface="ＭＳ Ｐゴシック" pitchFamily="34" charset="-128"/>
              </a:rPr>
              <a:t>Brief</a:t>
            </a:r>
            <a:r>
              <a:rPr lang="en-US" b="0" baseline="0" dirty="0">
                <a:ea typeface="ＭＳ Ｐゴシック" pitchFamily="34" charset="-128"/>
              </a:rPr>
              <a:t> discussion how macro factors affect micro factors</a:t>
            </a:r>
            <a:endParaRPr lang="en-US" b="1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F335E7E-8C1E-4A6B-86FC-4151573B8E4F}" type="slidenum">
              <a:rPr lang="en-US" smtClean="0"/>
              <a:pPr>
                <a:defRPr/>
              </a:pPr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729168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Brief</a:t>
            </a:r>
            <a:r>
              <a:rPr lang="en-US" baseline="0" dirty="0"/>
              <a:t> summary of steps in strategic analysis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F335E7E-8C1E-4A6B-86FC-4151573B8E4F}" type="slidenum">
              <a:rPr lang="en-US" smtClean="0"/>
              <a:pPr>
                <a:defRPr/>
              </a:pPr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698325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F335E7E-8C1E-4A6B-86FC-4151573B8E4F}" type="slidenum">
              <a:rPr lang="en-US" smtClean="0"/>
              <a:pPr>
                <a:defRPr/>
              </a:pPr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017751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de-DE" sz="1200" dirty="0">
                <a:ea typeface="ＭＳ Ｐゴシック" pitchFamily="34" charset="-128"/>
              </a:rPr>
              <a:t>Very</a:t>
            </a:r>
            <a:r>
              <a:rPr lang="en-US" altLang="de-DE" sz="1200" baseline="0" dirty="0">
                <a:ea typeface="ＭＳ Ｐゴシック" pitchFamily="34" charset="-128"/>
              </a:rPr>
              <a:t> brief – mention that 5 forces are all forces that affect a firm‘s ability to demand higher margins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de-DE" sz="1200" baseline="0" dirty="0">
                <a:ea typeface="ＭＳ Ｐゴシック" pitchFamily="34" charset="-128"/>
              </a:rPr>
              <a:t>-&gt; Use FMCG industry (or even better sub-industry of FMCG) as example to explain 5 forces (first task on next slide)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de-DE" sz="1200" baseline="0" dirty="0">
                <a:ea typeface="ＭＳ Ｐゴシック" pitchFamily="34" charset="-128"/>
              </a:rPr>
              <a:t>-&gt; The two readings focus on macro factors that shape the 5 forces</a:t>
            </a:r>
            <a:endParaRPr lang="en-US" altLang="de-DE" sz="1200" dirty="0">
              <a:ea typeface="ＭＳ Ｐゴシック" pitchFamily="34" charset="-128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F335E7E-8C1E-4A6B-86FC-4151573B8E4F}" type="slidenum">
              <a:rPr lang="en-US" smtClean="0"/>
              <a:pPr>
                <a:defRPr/>
              </a:pPr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03468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F335E7E-8C1E-4A6B-86FC-4151573B8E4F}" type="slidenum">
              <a:rPr lang="en-US" smtClean="0"/>
              <a:pPr>
                <a:defRPr/>
              </a:pPr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953135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F335E7E-8C1E-4A6B-86FC-4151573B8E4F}" type="slidenum">
              <a:rPr lang="en-US" smtClean="0"/>
              <a:pPr>
                <a:defRPr/>
              </a:pPr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582877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F335E7E-8C1E-4A6B-86FC-4151573B8E4F}" type="slidenum">
              <a:rPr lang="en-US" smtClean="0"/>
              <a:pPr>
                <a:defRPr/>
              </a:pPr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397207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F335E7E-8C1E-4A6B-86FC-4151573B8E4F}" type="slidenum">
              <a:rPr lang="en-US" smtClean="0"/>
              <a:pPr>
                <a:defRPr/>
              </a:pPr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810085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de-DE" sz="1200" b="0" dirty="0">
                <a:ea typeface="ＭＳ Ｐゴシック" pitchFamily="34" charset="-128"/>
              </a:rPr>
              <a:t>Brief in-class discussion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F335E7E-8C1E-4A6B-86FC-4151573B8E4F}" type="slidenum">
              <a:rPr lang="en-US" smtClean="0"/>
              <a:pPr>
                <a:defRPr/>
              </a:pPr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159793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de-DE" sz="1200" b="0" dirty="0">
                <a:ea typeface="ＭＳ Ｐゴシック" pitchFamily="34" charset="-128"/>
              </a:rPr>
              <a:t>Main</a:t>
            </a:r>
            <a:r>
              <a:rPr lang="en-US" altLang="de-DE" sz="1200" b="0" baseline="0" dirty="0">
                <a:ea typeface="ＭＳ Ｐゴシック" pitchFamily="34" charset="-128"/>
              </a:rPr>
              <a:t> difference between „national“ strategy and „international“ strategy relates to different layers of analysis (countries, regions…) and how they interact</a:t>
            </a:r>
            <a:endParaRPr lang="en-US" altLang="de-DE" sz="1200" b="0" dirty="0">
              <a:ea typeface="ＭＳ Ｐゴシック" pitchFamily="34" charset="-128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F335E7E-8C1E-4A6B-86FC-4151573B8E4F}" type="slidenum">
              <a:rPr lang="en-US" smtClean="0"/>
              <a:pPr>
                <a:defRPr/>
              </a:pPr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708058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Discussion why MNCs from different regions behave</a:t>
            </a:r>
            <a:r>
              <a:rPr lang="en-US" baseline="0" dirty="0"/>
              <a:t> differently </a:t>
            </a:r>
            <a:r>
              <a:rPr lang="en-US" baseline="0" dirty="0">
                <a:sym typeface="Wingdings" panose="05000000000000000000" pitchFamily="2" charset="2"/>
              </a:rPr>
              <a:t> example emerging market MNCs</a:t>
            </a:r>
          </a:p>
          <a:p>
            <a:r>
              <a:rPr lang="en-US" dirty="0"/>
              <a:t>Result from analysis: Not only host</a:t>
            </a:r>
            <a:r>
              <a:rPr lang="en-US" baseline="0" dirty="0"/>
              <a:t> countries as layers in international strategy analysis, but also home country as very important layer affecting competitive advantages</a:t>
            </a:r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F335E7E-8C1E-4A6B-86FC-4151573B8E4F}" type="slidenum">
              <a:rPr lang="en-US" smtClean="0"/>
              <a:pPr>
                <a:defRPr/>
              </a:pPr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854129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de-DE" dirty="0">
                <a:ea typeface="ＭＳ Ｐゴシック" pitchFamily="34" charset="-128"/>
              </a:rPr>
              <a:t>Brief</a:t>
            </a:r>
            <a:r>
              <a:rPr lang="en-US" altLang="de-DE" baseline="0" dirty="0">
                <a:ea typeface="ＭＳ Ｐゴシック" pitchFamily="34" charset="-128"/>
              </a:rPr>
              <a:t> introduction to I/R logic:</a:t>
            </a:r>
            <a:endParaRPr lang="en-US" altLang="de-DE" dirty="0">
              <a:ea typeface="ＭＳ Ｐゴシック" pitchFamily="34" charset="-128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de-DE" dirty="0">
                <a:ea typeface="ＭＳ Ｐゴシック" pitchFamily="34" charset="-128"/>
              </a:rPr>
              <a:t>Multinationalism offers three distinct</a:t>
            </a:r>
            <a:r>
              <a:rPr lang="en-US" altLang="de-DE" baseline="0" dirty="0">
                <a:ea typeface="ＭＳ Ｐゴシック" pitchFamily="34" charset="-128"/>
              </a:rPr>
              <a:t> means to achieve strategic goals; firms have to achieve these goals simultaneously </a:t>
            </a:r>
            <a:r>
              <a:rPr lang="en-US" altLang="de-DE" baseline="0" dirty="0">
                <a:ea typeface="ＭＳ Ｐゴシック" pitchFamily="34" charset="-128"/>
                <a:sym typeface="Wingdings" panose="05000000000000000000" pitchFamily="2" charset="2"/>
              </a:rPr>
              <a:t></a:t>
            </a:r>
            <a:r>
              <a:rPr lang="en-US" altLang="de-DE" baseline="0" dirty="0">
                <a:ea typeface="ＭＳ Ｐゴシック" pitchFamily="34" charset="-128"/>
              </a:rPr>
              <a:t> </a:t>
            </a:r>
            <a:r>
              <a:rPr lang="en-US" altLang="de-DE" dirty="0">
                <a:ea typeface="ＭＳ Ｐゴシック" pitchFamily="34" charset="-128"/>
              </a:rPr>
              <a:t>In pursuit of these goals, MNCs face (contradicting) pressures for integration and responsiveness</a:t>
            </a:r>
            <a:r>
              <a:rPr lang="en-US" altLang="de-DE" baseline="0" dirty="0">
                <a:ea typeface="ＭＳ Ｐゴシック" pitchFamily="34" charset="-128"/>
              </a:rPr>
              <a:t> </a:t>
            </a:r>
            <a:r>
              <a:rPr lang="en-US" altLang="de-DE" baseline="0" dirty="0">
                <a:ea typeface="ＭＳ Ｐゴシック" pitchFamily="34" charset="-128"/>
                <a:sym typeface="Wingdings" panose="05000000000000000000" pitchFamily="2" charset="2"/>
              </a:rPr>
              <a:t> discussion about definition and examples</a:t>
            </a:r>
          </a:p>
          <a:p>
            <a:r>
              <a:rPr lang="en-US" altLang="de-DE" baseline="0" dirty="0">
                <a:ea typeface="ＭＳ Ｐゴシック" pitchFamily="34" charset="-128"/>
              </a:rPr>
              <a:t>Strategic goals can be derived from DCF model </a:t>
            </a:r>
            <a:r>
              <a:rPr lang="en-US" altLang="de-DE" baseline="0" dirty="0">
                <a:ea typeface="ＭＳ Ｐゴシック" pitchFamily="34" charset="-128"/>
                <a:sym typeface="Wingdings" panose="05000000000000000000" pitchFamily="2" charset="2"/>
              </a:rPr>
              <a:t> NPV of infinite rent = CF_t1 / (</a:t>
            </a:r>
            <a:r>
              <a:rPr lang="en-US" altLang="de-DE" baseline="0" dirty="0" err="1">
                <a:ea typeface="ＭＳ Ｐゴシック" pitchFamily="34" charset="-128"/>
                <a:sym typeface="Wingdings" panose="05000000000000000000" pitchFamily="2" charset="2"/>
              </a:rPr>
              <a:t>ir</a:t>
            </a:r>
            <a:r>
              <a:rPr lang="en-US" altLang="de-DE" baseline="0" dirty="0">
                <a:ea typeface="ＭＳ Ｐゴシック" pitchFamily="34" charset="-128"/>
                <a:sym typeface="Wingdings" panose="05000000000000000000" pitchFamily="2" charset="2"/>
              </a:rPr>
              <a:t> – gr)  efficiency affects CF, flexibility affects risk / interest rate, learning affects growth rate</a:t>
            </a:r>
            <a:endParaRPr lang="en-US" altLang="de-DE" dirty="0">
              <a:ea typeface="ＭＳ Ｐゴシック" pitchFamily="34" charset="-128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de-DE" baseline="0" dirty="0">
                <a:ea typeface="ＭＳ Ｐゴシック" pitchFamily="34" charset="-128"/>
                <a:sym typeface="Wingdings" panose="05000000000000000000" pitchFamily="2" charset="2"/>
              </a:rPr>
              <a:t>Result from this analysis: MNC strategy is not one-dimensional (integration OR responsiveness), but two-dimensional (degrees of integration AND responsiveness)</a:t>
            </a:r>
            <a:endParaRPr lang="en-US" altLang="de-DE" dirty="0">
              <a:ea typeface="ＭＳ Ｐゴシック" pitchFamily="34" charset="-128"/>
            </a:endParaRPr>
          </a:p>
          <a:p>
            <a:endParaRPr lang="en-US" dirty="0"/>
          </a:p>
          <a:p>
            <a:r>
              <a:rPr lang="en-US" dirty="0"/>
              <a:t>Efficiency: lowering</a:t>
            </a:r>
            <a:r>
              <a:rPr lang="en-US" baseline="0" dirty="0"/>
              <a:t> costs of firm operations and activities, how to organize R&amp;D, manufacturing, sourcing, production, customer service</a:t>
            </a:r>
            <a:endParaRPr lang="en-US" dirty="0"/>
          </a:p>
          <a:p>
            <a:r>
              <a:rPr lang="en-US" dirty="0"/>
              <a:t>Flexibility: accommodate</a:t>
            </a:r>
            <a:r>
              <a:rPr lang="en-US" baseline="0" dirty="0"/>
              <a:t> diverse country-specific risks and opportunities. Direct vs. indirect investments, adapt marketing and HR practices, exchange rate fluctuations</a:t>
            </a:r>
            <a:endParaRPr lang="en-US" dirty="0"/>
          </a:p>
          <a:p>
            <a:r>
              <a:rPr lang="en-US" dirty="0"/>
              <a:t>Learning: learn from operating in international environments and exploit</a:t>
            </a:r>
            <a:r>
              <a:rPr lang="en-US" baseline="0" dirty="0"/>
              <a:t> this learning on a worldwide basis; gain new technical and managerial know how, new product ideas, improved R&amp;D capabilities, skills -&gt; disseminate throughout corporation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F335E7E-8C1E-4A6B-86FC-4151573B8E4F}" type="slidenum">
              <a:rPr lang="en-US" smtClean="0"/>
              <a:pPr>
                <a:defRPr/>
              </a:pPr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930599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aseline="0" noProof="0" dirty="0"/>
              <a:t>What competitive forces push the industry towards integration?</a:t>
            </a:r>
          </a:p>
          <a:p>
            <a:r>
              <a:rPr lang="en-US" baseline="0" noProof="0" dirty="0"/>
              <a:t>-&gt; Discuss generally what pressures for I/R exist in the FMCG industry</a:t>
            </a:r>
          </a:p>
          <a:p>
            <a:r>
              <a:rPr lang="en-US" baseline="0" noProof="0" dirty="0"/>
              <a:t>-&gt; Consumer needs: allergies, clothing sizes, quickly changing trends</a:t>
            </a:r>
          </a:p>
          <a:p>
            <a:r>
              <a:rPr lang="en-US" baseline="0" noProof="0" dirty="0"/>
              <a:t>-&gt; These factors are in addition influenced by social / cultural factors -&gt; link to IB</a:t>
            </a:r>
          </a:p>
          <a:p>
            <a:r>
              <a:rPr lang="en-US" baseline="0" noProof="0" dirty="0"/>
              <a:t>What competitive forces push the industry towards integration?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noProof="0" dirty="0"/>
              <a:t>-&gt;</a:t>
            </a:r>
            <a:r>
              <a:rPr lang="en-US" baseline="0" noProof="0" dirty="0"/>
              <a:t> Aim is to link I/R framework to 5 Forces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baseline="0" noProof="0" dirty="0"/>
              <a:t>-&gt; Discuss in combination with next question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baseline="0" noProof="0" dirty="0"/>
              <a:t>How are technology and competition changing the pressures for I/R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baseline="0" noProof="0" dirty="0"/>
              <a:t>-&gt; Show that I/R is not static and influenced macro and micro factors</a:t>
            </a:r>
          </a:p>
          <a:p>
            <a:r>
              <a:rPr lang="en-US" baseline="0" noProof="0" dirty="0"/>
              <a:t>-&gt; Importance of economies of scale in production (supplier power) and retail (buyer power) result in pressures for integration</a:t>
            </a:r>
          </a:p>
          <a:p>
            <a:r>
              <a:rPr lang="en-US" baseline="0" noProof="0" dirty="0"/>
              <a:t>-&gt; Importance of data / flexibility in adaption to customers is increases pressure for responsiveness</a:t>
            </a:r>
          </a:p>
          <a:p>
            <a:r>
              <a:rPr lang="en-US" baseline="0" noProof="0" dirty="0"/>
              <a:t>-&gt; Smaller, more local competition increases pressure for responsiveness</a:t>
            </a:r>
          </a:p>
          <a:p>
            <a:r>
              <a:rPr lang="en-US" baseline="0" noProof="0" dirty="0"/>
              <a:t>-&gt; Smaller, more local suppliers increase pressure for responsiveness</a:t>
            </a:r>
          </a:p>
          <a:p>
            <a:r>
              <a:rPr lang="en-US" baseline="0" noProof="0" dirty="0"/>
              <a:t>-&gt; Decreasing importance of economies of scale decrease pressure for integration</a:t>
            </a:r>
          </a:p>
          <a:p>
            <a:endParaRPr lang="en-US" noProof="0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F335E7E-8C1E-4A6B-86FC-4151573B8E4F}" type="slidenum">
              <a:rPr lang="en-US" smtClean="0"/>
              <a:pPr>
                <a:defRPr/>
              </a:pPr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903871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noProof="0" dirty="0"/>
              <a:t>Pressures in</a:t>
            </a:r>
            <a:r>
              <a:rPr lang="en-US" baseline="0" noProof="0" dirty="0"/>
              <a:t> the industry that forced McDonald’s to reconsider their I/R position:</a:t>
            </a:r>
          </a:p>
          <a:p>
            <a:r>
              <a:rPr lang="en-US" baseline="0" noProof="0" dirty="0"/>
              <a:t>Current situation – McDonald’s engaged in a lot of responsiveness actions:</a:t>
            </a:r>
          </a:p>
          <a:p>
            <a:r>
              <a:rPr lang="en-US" baseline="0" noProof="0" dirty="0"/>
              <a:t>-&gt; Many items on the menu (that many could not afford)</a:t>
            </a:r>
          </a:p>
          <a:p>
            <a:r>
              <a:rPr lang="en-US" baseline="0" noProof="0" dirty="0"/>
              <a:t>-&gt; Some flawing int’l operations / lower franchise ratio back then (82% in 2015/ to 93% now)</a:t>
            </a:r>
          </a:p>
          <a:p>
            <a:r>
              <a:rPr lang="en-US" baseline="0" noProof="0" dirty="0"/>
              <a:t>-&gt; attempt to compete with innovative start-ups</a:t>
            </a:r>
          </a:p>
          <a:p>
            <a:r>
              <a:rPr lang="en-US" baseline="0" noProof="0" dirty="0"/>
              <a:t>-&gt; parasite on society (paying low wages/promoting obesity)</a:t>
            </a:r>
          </a:p>
          <a:p>
            <a:endParaRPr lang="en-US" baseline="0" noProof="0" dirty="0"/>
          </a:p>
          <a:p>
            <a:r>
              <a:rPr lang="en-US" baseline="0" noProof="0" dirty="0"/>
              <a:t>McDonald’s went back to basics -&gt; More tightly integrated their operations:</a:t>
            </a:r>
          </a:p>
          <a:p>
            <a:r>
              <a:rPr lang="en-US" baseline="0" noProof="0" dirty="0"/>
              <a:t>-&gt; streamlined sprawling int’l operations</a:t>
            </a:r>
          </a:p>
          <a:p>
            <a:r>
              <a:rPr lang="en-US" baseline="0" noProof="0" dirty="0"/>
              <a:t>-&gt; reduced the items on the menu (price/quality) (lower cost and faster service in the kitchen)</a:t>
            </a:r>
          </a:p>
          <a:p>
            <a:r>
              <a:rPr lang="en-US" baseline="0" noProof="0" dirty="0"/>
              <a:t>-&gt; increased the franchise share up to 93% (steadier income) </a:t>
            </a:r>
          </a:p>
          <a:p>
            <a:endParaRPr lang="en-US" noProof="0" dirty="0"/>
          </a:p>
          <a:p>
            <a:r>
              <a:rPr lang="en-US" noProof="0" dirty="0"/>
              <a:t>Shows how pursuing a more integrated (or responsive / transnational) strategy can lead a turnaround.</a:t>
            </a:r>
          </a:p>
          <a:p>
            <a:endParaRPr lang="en-US" noProof="0" dirty="0"/>
          </a:p>
          <a:p>
            <a:r>
              <a:rPr lang="en-US" noProof="0" dirty="0"/>
              <a:t>Transnational features: </a:t>
            </a:r>
          </a:p>
          <a:p>
            <a:r>
              <a:rPr lang="en-US" noProof="0" dirty="0"/>
              <a:t>-&gt; Bought</a:t>
            </a:r>
            <a:r>
              <a:rPr lang="en-US" baseline="0" noProof="0" dirty="0"/>
              <a:t> a tech firm, that personalizes the drive-through</a:t>
            </a:r>
          </a:p>
          <a:p>
            <a:r>
              <a:rPr lang="en-US" baseline="0" noProof="0" dirty="0"/>
              <a:t>-&gt; Customized menus with standardized products</a:t>
            </a:r>
            <a:endParaRPr lang="en-US" noProof="0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F335E7E-8C1E-4A6B-86FC-4151573B8E4F}" type="slidenum">
              <a:rPr lang="en-US" smtClean="0"/>
              <a:pPr>
                <a:defRPr/>
              </a:pPr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051159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I/R logic</a:t>
            </a:r>
            <a:r>
              <a:rPr lang="en-US" baseline="0" dirty="0"/>
              <a:t> can be broken down from industry level to task level – use example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F335E7E-8C1E-4A6B-86FC-4151573B8E4F}" type="slidenum">
              <a:rPr lang="en-US" smtClean="0"/>
              <a:pPr>
                <a:defRPr/>
              </a:pPr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23069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5.png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6" Type="http://schemas.openxmlformats.org/officeDocument/2006/relationships/image" Target="../media/image4.png"/><Relationship Id="rId5" Type="http://schemas.openxmlformats.org/officeDocument/2006/relationships/image" Target="../media/image1.emf"/><Relationship Id="rId10" Type="http://schemas.openxmlformats.org/officeDocument/2006/relationships/image" Target="../media/image8.png"/><Relationship Id="rId4" Type="http://schemas.openxmlformats.org/officeDocument/2006/relationships/oleObject" Target="../embeddings/oleObject2.bin"/><Relationship Id="rId9" Type="http://schemas.openxmlformats.org/officeDocument/2006/relationships/image" Target="../media/image7.jpe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Relationship Id="rId4" Type="http://schemas.openxmlformats.org/officeDocument/2006/relationships/image" Target="../media/image1.em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Relationship Id="rId4" Type="http://schemas.openxmlformats.org/officeDocument/2006/relationships/image" Target="../media/image1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477721146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235" imgH="235" progId="TCLayout.ActiveDocument.1">
                  <p:embed/>
                </p:oleObj>
              </mc:Choice>
              <mc:Fallback>
                <p:oleObj name="think-cell Slide" r:id="rId4" imgW="235" imgH="235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hteck 5" hidden="1"/>
          <p:cNvSpPr/>
          <p:nvPr userDrawn="1">
            <p:custDataLst>
              <p:tags r:id="rId2"/>
            </p:custDataLst>
          </p:nvPr>
        </p:nvSpPr>
        <p:spPr bwMode="auto">
          <a:xfrm>
            <a:off x="0" y="0"/>
            <a:ext cx="158750" cy="158750"/>
          </a:xfrm>
          <a:prstGeom prst="rect">
            <a:avLst/>
          </a:prstGeom>
          <a:solidFill>
            <a:srgbClr val="336699"/>
          </a:solidFill>
          <a:ln w="22225">
            <a:noFill/>
            <a:round/>
            <a:headEnd/>
            <a:tailEnd/>
          </a:ln>
        </p:spPr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l" eaLnBrk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endParaRPr kumimoji="1" lang="en-US" sz="1800" b="0" i="0" baseline="0" dirty="0">
              <a:solidFill>
                <a:schemeClr val="bg1"/>
              </a:solidFill>
              <a:latin typeface="Verdana" panose="020B0604030504040204" pitchFamily="34" charset="0"/>
              <a:ea typeface="MS PGothic" panose="020B0600070205080204" pitchFamily="34" charset="-128"/>
              <a:sym typeface="Verdana" panose="020B0604030504040204" pitchFamily="34" charset="0"/>
            </a:endParaRPr>
          </a:p>
        </p:txBody>
      </p:sp>
      <p:sp>
        <p:nvSpPr>
          <p:cNvPr id="3" name="Rectangle 6"/>
          <p:cNvSpPr>
            <a:spLocks noChangeArrowheads="1"/>
          </p:cNvSpPr>
          <p:nvPr userDrawn="1"/>
        </p:nvSpPr>
        <p:spPr bwMode="auto">
          <a:xfrm>
            <a:off x="0" y="3602038"/>
            <a:ext cx="9144000" cy="2347912"/>
          </a:xfrm>
          <a:prstGeom prst="rect">
            <a:avLst/>
          </a:prstGeom>
          <a:solidFill>
            <a:srgbClr val="3366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1400"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>
              <a:defRPr/>
            </a:pPr>
            <a:endParaRPr lang="en-US" altLang="de-DE" sz="1800" b="1" dirty="0">
              <a:solidFill>
                <a:schemeClr val="bg1"/>
              </a:solidFill>
              <a:latin typeface="Arial" charset="0"/>
              <a:cs typeface="Arial" charset="0"/>
            </a:endParaRPr>
          </a:p>
          <a:p>
            <a:pPr algn="ctr">
              <a:defRPr/>
            </a:pPr>
            <a:endParaRPr lang="en-US" altLang="de-DE" sz="1800" b="1" dirty="0">
              <a:solidFill>
                <a:schemeClr val="bg1"/>
              </a:solidFill>
              <a:latin typeface="Arial" charset="0"/>
              <a:cs typeface="Arial" charset="0"/>
            </a:endParaRPr>
          </a:p>
          <a:p>
            <a:pPr algn="ctr">
              <a:defRPr/>
            </a:pPr>
            <a:endParaRPr lang="en-US" altLang="de-DE" sz="2400" b="1" dirty="0">
              <a:solidFill>
                <a:schemeClr val="bg1"/>
              </a:solidFill>
              <a:latin typeface="Arial" charset="0"/>
              <a:cs typeface="Arial" charset="0"/>
            </a:endParaRPr>
          </a:p>
          <a:p>
            <a:pPr algn="ctr">
              <a:defRPr/>
            </a:pPr>
            <a:endParaRPr lang="en-US" altLang="de-DE" sz="1800" b="1" dirty="0">
              <a:solidFill>
                <a:schemeClr val="bg1"/>
              </a:solidFill>
              <a:latin typeface="Arial" charset="0"/>
              <a:cs typeface="Arial" charset="0"/>
            </a:endParaRPr>
          </a:p>
        </p:txBody>
      </p:sp>
      <p:sp>
        <p:nvSpPr>
          <p:cNvPr id="4" name="Text Box 8"/>
          <p:cNvSpPr txBox="1">
            <a:spLocks noChangeArrowheads="1"/>
          </p:cNvSpPr>
          <p:nvPr/>
        </p:nvSpPr>
        <p:spPr bwMode="auto">
          <a:xfrm>
            <a:off x="838200" y="6019800"/>
            <a:ext cx="184731" cy="40011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Verdana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Verdana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Verdana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Verdana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Verdana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Verdana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Verdana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Verdana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Verdana" pitchFamily="34" charset="0"/>
                <a:ea typeface="ＭＳ Ｐゴシック" pitchFamily="34" charset="-128"/>
              </a:defRPr>
            </a:lvl9pPr>
          </a:lstStyle>
          <a:p>
            <a:pPr eaLnBrk="0">
              <a:defRPr/>
            </a:pPr>
            <a:endParaRPr lang="en-US" sz="2000" dirty="0">
              <a:latin typeface="Arial" pitchFamily="34" charset="0"/>
            </a:endParaRPr>
          </a:p>
        </p:txBody>
      </p:sp>
      <p:pic>
        <p:nvPicPr>
          <p:cNvPr id="17" name="Grafik 16"/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101" y="1275807"/>
            <a:ext cx="3739313" cy="766916"/>
          </a:xfrm>
          <a:prstGeom prst="rect">
            <a:avLst/>
          </a:prstGeom>
        </p:spPr>
      </p:pic>
      <p:sp>
        <p:nvSpPr>
          <p:cNvPr id="25" name="Textplatzhalter 20"/>
          <p:cNvSpPr>
            <a:spLocks noGrp="1"/>
          </p:cNvSpPr>
          <p:nvPr>
            <p:ph type="body" sz="quarter" idx="12" hasCustomPrompt="1"/>
          </p:nvPr>
        </p:nvSpPr>
        <p:spPr>
          <a:xfrm>
            <a:off x="395288" y="3903147"/>
            <a:ext cx="8424862" cy="445824"/>
          </a:xfrm>
        </p:spPr>
        <p:txBody>
          <a:bodyPr lIns="0"/>
          <a:lstStyle>
            <a:lvl1pPr marL="0" indent="0">
              <a:buNone/>
              <a:defRPr sz="3000" b="1" baseline="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800"/>
            </a:lvl3pPr>
            <a:lvl4pPr marL="1371600" indent="0">
              <a:buNone/>
              <a:defRPr sz="2800"/>
            </a:lvl4pPr>
            <a:lvl5pPr marL="1828800" indent="0">
              <a:buNone/>
              <a:defRPr sz="2800"/>
            </a:lvl5pPr>
          </a:lstStyle>
          <a:p>
            <a:pPr lvl="0"/>
            <a:r>
              <a:rPr lang="en-US" noProof="0" dirty="0"/>
              <a:t>Click to add title</a:t>
            </a:r>
          </a:p>
        </p:txBody>
      </p:sp>
      <p:sp>
        <p:nvSpPr>
          <p:cNvPr id="23" name="Textplatzhalter 20"/>
          <p:cNvSpPr>
            <a:spLocks noGrp="1"/>
          </p:cNvSpPr>
          <p:nvPr>
            <p:ph type="body" sz="quarter" idx="10" hasCustomPrompt="1"/>
          </p:nvPr>
        </p:nvSpPr>
        <p:spPr>
          <a:xfrm>
            <a:off x="395288" y="4375013"/>
            <a:ext cx="8424862" cy="445824"/>
          </a:xfrm>
        </p:spPr>
        <p:txBody>
          <a:bodyPr lIns="0"/>
          <a:lstStyle>
            <a:lvl1pPr marL="0" indent="0">
              <a:buNone/>
              <a:defRPr sz="2000" baseline="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800"/>
            </a:lvl3pPr>
            <a:lvl4pPr marL="1371600" indent="0">
              <a:buNone/>
              <a:defRPr sz="2800"/>
            </a:lvl4pPr>
            <a:lvl5pPr marL="1828800" indent="0">
              <a:buNone/>
              <a:defRPr sz="2800"/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24" name="Textplatzhalter 20"/>
          <p:cNvSpPr>
            <a:spLocks noGrp="1"/>
          </p:cNvSpPr>
          <p:nvPr>
            <p:ph type="body" sz="quarter" idx="11" hasCustomPrompt="1"/>
          </p:nvPr>
        </p:nvSpPr>
        <p:spPr>
          <a:xfrm>
            <a:off x="395288" y="5071408"/>
            <a:ext cx="8424862" cy="445824"/>
          </a:xfrm>
        </p:spPr>
        <p:txBody>
          <a:bodyPr lIns="0"/>
          <a:lstStyle>
            <a:lvl1pPr marL="0" indent="0">
              <a:buNone/>
              <a:defRPr sz="2000" baseline="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800"/>
            </a:lvl3pPr>
            <a:lvl4pPr marL="1371600" indent="0">
              <a:buNone/>
              <a:defRPr sz="2800"/>
            </a:lvl4pPr>
            <a:lvl5pPr marL="1828800" indent="0">
              <a:buNone/>
              <a:defRPr sz="2800"/>
            </a:lvl5pPr>
          </a:lstStyle>
          <a:p>
            <a:pPr lvl="0"/>
            <a:r>
              <a:rPr lang="en-US" dirty="0"/>
              <a:t>Click to add place and date</a:t>
            </a:r>
          </a:p>
        </p:txBody>
      </p:sp>
      <p:pic>
        <p:nvPicPr>
          <p:cNvPr id="26" name="Grafik 25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845" y="2348928"/>
            <a:ext cx="600686" cy="432000"/>
          </a:xfrm>
          <a:prstGeom prst="rect">
            <a:avLst/>
          </a:prstGeom>
        </p:spPr>
      </p:pic>
      <p:pic>
        <p:nvPicPr>
          <p:cNvPr id="27" name="Grafik 26"/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23" t="23192" r="8436" b="24951"/>
          <a:stretch/>
        </p:blipFill>
        <p:spPr>
          <a:xfrm>
            <a:off x="1126082" y="2384928"/>
            <a:ext cx="1024550" cy="360000"/>
          </a:xfrm>
          <a:prstGeom prst="rect">
            <a:avLst/>
          </a:prstGeom>
        </p:spPr>
      </p:pic>
      <p:pic>
        <p:nvPicPr>
          <p:cNvPr id="28" name="Grafik 27"/>
          <p:cNvPicPr>
            <a:picLocks noChangeAspect="1"/>
          </p:cNvPicPr>
          <p:nvPr userDrawn="1"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26" t="7626" r="4854" b="11273"/>
          <a:stretch/>
        </p:blipFill>
        <p:spPr>
          <a:xfrm>
            <a:off x="2273183" y="2384928"/>
            <a:ext cx="1191365" cy="360000"/>
          </a:xfrm>
          <a:prstGeom prst="rect">
            <a:avLst/>
          </a:prstGeom>
        </p:spPr>
      </p:pic>
      <p:pic>
        <p:nvPicPr>
          <p:cNvPr id="29" name="Grafik 28"/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3587100" y="2384928"/>
            <a:ext cx="1289553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93747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182790789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35" imgH="235" progId="TCLayout.ActiveDocument.1">
                  <p:embed/>
                </p:oleObj>
              </mc:Choice>
              <mc:Fallback>
                <p:oleObj name="think-cell Slide" r:id="rId3" imgW="235" imgH="235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395288" y="1268412"/>
            <a:ext cx="8424862" cy="4681537"/>
          </a:xfrm>
        </p:spPr>
        <p:txBody>
          <a:bodyPr/>
          <a:lstStyle>
            <a:lvl1pPr>
              <a:defRPr sz="1600" b="0">
                <a:solidFill>
                  <a:schemeClr val="tx1"/>
                </a:solidFill>
              </a:defRPr>
            </a:lvl1pPr>
            <a:lvl2pPr>
              <a:defRPr sz="1600"/>
            </a:lvl2pPr>
            <a:lvl3pPr>
              <a:defRPr sz="1600"/>
            </a:lvl3pPr>
          </a:lstStyle>
          <a:p>
            <a:pPr lvl="0"/>
            <a:r>
              <a:rPr lang="en-US" noProof="0" dirty="0" err="1"/>
              <a:t>Textmasterformate</a:t>
            </a:r>
            <a:r>
              <a:rPr lang="en-US" noProof="0" dirty="0"/>
              <a:t> </a:t>
            </a:r>
            <a:r>
              <a:rPr lang="en-US" noProof="0" dirty="0" err="1"/>
              <a:t>durch</a:t>
            </a:r>
            <a:r>
              <a:rPr lang="en-US" noProof="0" dirty="0"/>
              <a:t> </a:t>
            </a:r>
            <a:r>
              <a:rPr lang="en-US" noProof="0" dirty="0" err="1"/>
              <a:t>Klicken</a:t>
            </a:r>
            <a:r>
              <a:rPr lang="en-US" noProof="0" dirty="0"/>
              <a:t> </a:t>
            </a:r>
            <a:r>
              <a:rPr lang="en-US" noProof="0" dirty="0" err="1"/>
              <a:t>bearbeiten</a:t>
            </a:r>
            <a:endParaRPr lang="en-US" noProof="0" dirty="0"/>
          </a:p>
          <a:p>
            <a:pPr lvl="1"/>
            <a:r>
              <a:rPr lang="en-US" noProof="0" dirty="0" err="1"/>
              <a:t>Zweite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  <a:p>
            <a:pPr lvl="2"/>
            <a:r>
              <a:rPr lang="en-US" noProof="0" dirty="0" err="1"/>
              <a:t>Dritte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</p:txBody>
      </p:sp>
      <p:sp>
        <p:nvSpPr>
          <p:cNvPr id="4" name="Rectangle 1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AA44501-30D4-4910-9B68-5231643A423F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1" name="Inhaltsplatzhalter 10"/>
          <p:cNvSpPr>
            <a:spLocks noGrp="1"/>
          </p:cNvSpPr>
          <p:nvPr>
            <p:ph sz="quarter" idx="11"/>
          </p:nvPr>
        </p:nvSpPr>
        <p:spPr>
          <a:xfrm>
            <a:off x="395288" y="222250"/>
            <a:ext cx="8424862" cy="830263"/>
          </a:xfrm>
        </p:spPr>
        <p:txBody>
          <a:bodyPr/>
          <a:lstStyle>
            <a:lvl1pPr marL="0">
              <a:spcBef>
                <a:spcPts val="0"/>
              </a:spcBef>
              <a:defRPr sz="2000" b="1">
                <a:solidFill>
                  <a:srgbClr val="336699"/>
                </a:solidFill>
              </a:defRPr>
            </a:lvl1pPr>
          </a:lstStyle>
          <a:p>
            <a:pPr lvl="0"/>
            <a:r>
              <a:rPr lang="en-US" dirty="0" err="1"/>
              <a:t>Textmasterformat</a:t>
            </a:r>
            <a:r>
              <a:rPr lang="en-US" dirty="0"/>
              <a:t> </a:t>
            </a:r>
            <a:r>
              <a:rPr lang="en-US" dirty="0" err="1"/>
              <a:t>bearbeiten</a:t>
            </a:r>
            <a:endParaRPr lang="en-US" dirty="0"/>
          </a:p>
        </p:txBody>
      </p:sp>
      <p:sp>
        <p:nvSpPr>
          <p:cNvPr id="6" name="Textplatzhalter 10"/>
          <p:cNvSpPr>
            <a:spLocks noGrp="1"/>
          </p:cNvSpPr>
          <p:nvPr>
            <p:ph type="body" sz="quarter" idx="13"/>
          </p:nvPr>
        </p:nvSpPr>
        <p:spPr>
          <a:xfrm>
            <a:off x="395288" y="5959709"/>
            <a:ext cx="8424862" cy="201600"/>
          </a:xfrm>
        </p:spPr>
        <p:txBody>
          <a:bodyPr lIns="0" anchor="ctr">
            <a:noAutofit/>
          </a:bodyPr>
          <a:lstStyle>
            <a:lvl1pPr marL="342000" indent="-342000">
              <a:buNone/>
              <a:defRPr sz="9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US" dirty="0" err="1"/>
              <a:t>Formatvorlagen</a:t>
            </a:r>
            <a:r>
              <a:rPr lang="en-US" dirty="0"/>
              <a:t> des </a:t>
            </a:r>
            <a:r>
              <a:rPr lang="en-US" dirty="0" err="1"/>
              <a:t>Textmasters</a:t>
            </a:r>
            <a:r>
              <a:rPr lang="en-US" dirty="0"/>
              <a:t> </a:t>
            </a:r>
            <a:r>
              <a:rPr lang="en-US" dirty="0" err="1"/>
              <a:t>bearbeiten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75567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kt 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04083143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35" imgH="235" progId="TCLayout.ActiveDocument.1">
                  <p:embed/>
                </p:oleObj>
              </mc:Choice>
              <mc:Fallback>
                <p:oleObj name="think-cell Slide" r:id="rId3" imgW="235" imgH="235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E80A3B9-6CBB-484C-AB81-AE89DDD95C4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66998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emf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oleObject" Target="../embeddings/oleObject1.bin"/><Relationship Id="rId5" Type="http://schemas.openxmlformats.org/officeDocument/2006/relationships/tags" Target="../tags/tag2.xml"/><Relationship Id="rId4" Type="http://schemas.openxmlformats.org/officeDocument/2006/relationships/theme" Target="../theme/theme1.xml"/><Relationship Id="rId9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 userDrawn="1">
            <p:custDataLst>
              <p:tags r:id="rId5"/>
            </p:custDataLst>
            <p:extLst>
              <p:ext uri="{D42A27DB-BD31-4B8C-83A1-F6EECF244321}">
                <p14:modId xmlns:p14="http://schemas.microsoft.com/office/powerpoint/2010/main" val="3947761856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" imgW="235" imgH="235" progId="TCLayout.ActiveDocument.1">
                  <p:embed/>
                </p:oleObj>
              </mc:Choice>
              <mc:Fallback>
                <p:oleObj name="think-cell Slide" r:id="rId6" imgW="235" imgH="235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95288" y="1268412"/>
            <a:ext cx="8424862" cy="4681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de-DE" dirty="0" err="1"/>
              <a:t>Hier</a:t>
            </a:r>
            <a:r>
              <a:rPr lang="en-US" altLang="de-DE" dirty="0"/>
              <a:t> </a:t>
            </a:r>
            <a:r>
              <a:rPr lang="en-US" altLang="de-DE" dirty="0" err="1"/>
              <a:t>klicken</a:t>
            </a:r>
            <a:r>
              <a:rPr lang="en-US" altLang="de-DE" dirty="0"/>
              <a:t>, um Master-</a:t>
            </a:r>
            <a:r>
              <a:rPr lang="en-US" altLang="de-DE" dirty="0" err="1"/>
              <a:t>Textformat</a:t>
            </a:r>
            <a:r>
              <a:rPr lang="en-US" altLang="de-DE" dirty="0"/>
              <a:t> </a:t>
            </a:r>
            <a:r>
              <a:rPr lang="en-US" altLang="de-DE" dirty="0" err="1"/>
              <a:t>zu</a:t>
            </a:r>
            <a:r>
              <a:rPr lang="en-US" altLang="de-DE" dirty="0"/>
              <a:t> </a:t>
            </a:r>
            <a:r>
              <a:rPr lang="en-US" altLang="de-DE" dirty="0" err="1"/>
              <a:t>bearbeiten</a:t>
            </a:r>
            <a:endParaRPr lang="en-US" altLang="de-DE" dirty="0"/>
          </a:p>
          <a:p>
            <a:pPr lvl="1"/>
            <a:r>
              <a:rPr lang="en-US" noProof="0" dirty="0" err="1"/>
              <a:t>Zweite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  <a:p>
            <a:pPr lvl="2"/>
            <a:r>
              <a:rPr lang="en-US" noProof="0" dirty="0" err="1"/>
              <a:t>Dritte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</p:txBody>
      </p:sp>
      <p:sp>
        <p:nvSpPr>
          <p:cNvPr id="1028" name="Text Box 8"/>
          <p:cNvSpPr txBox="1">
            <a:spLocks noChangeArrowheads="1"/>
          </p:cNvSpPr>
          <p:nvPr/>
        </p:nvSpPr>
        <p:spPr bwMode="auto">
          <a:xfrm>
            <a:off x="838200" y="6019800"/>
            <a:ext cx="184731" cy="40011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Verdana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Verdana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Verdana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Verdana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Verdana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Verdana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Verdana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Verdana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Verdana" pitchFamily="34" charset="0"/>
                <a:ea typeface="ＭＳ Ｐゴシック" pitchFamily="34" charset="-128"/>
              </a:defRPr>
            </a:lvl9pPr>
          </a:lstStyle>
          <a:p>
            <a:pPr eaLnBrk="0">
              <a:defRPr/>
            </a:pPr>
            <a:endParaRPr lang="en-US" sz="2000" dirty="0">
              <a:latin typeface="Arial" pitchFamily="34" charset="0"/>
            </a:endParaRPr>
          </a:p>
        </p:txBody>
      </p:sp>
      <p:sp>
        <p:nvSpPr>
          <p:cNvPr id="308238" name="Rectangle 1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482013" y="9525"/>
            <a:ext cx="647700" cy="43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4D4D4D"/>
                </a:solidFill>
                <a:latin typeface="Verdana" pitchFamily="34" charset="0"/>
                <a:ea typeface="ＭＳ Ｐゴシック" charset="-128"/>
                <a:cs typeface="+mn-cs"/>
              </a:defRPr>
            </a:lvl1pPr>
          </a:lstStyle>
          <a:p>
            <a:pPr>
              <a:defRPr/>
            </a:pPr>
            <a:fld id="{8494A21C-7139-4458-903E-933121433F1D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030" name="Line 10"/>
          <p:cNvSpPr>
            <a:spLocks noChangeShapeType="1"/>
          </p:cNvSpPr>
          <p:nvPr/>
        </p:nvSpPr>
        <p:spPr bwMode="auto">
          <a:xfrm>
            <a:off x="395288" y="6165850"/>
            <a:ext cx="84248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1"/>
            <a:endParaRPr lang="en-US" dirty="0"/>
          </a:p>
        </p:txBody>
      </p:sp>
      <p:pic>
        <p:nvPicPr>
          <p:cNvPr id="1032" name="Picture 2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288" y="6272213"/>
            <a:ext cx="890587" cy="455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4" name="Textfeld 11"/>
          <p:cNvSpPr txBox="1">
            <a:spLocks noChangeArrowheads="1"/>
          </p:cNvSpPr>
          <p:nvPr userDrawn="1"/>
        </p:nvSpPr>
        <p:spPr bwMode="auto">
          <a:xfrm>
            <a:off x="2714625" y="6376908"/>
            <a:ext cx="3729038" cy="246221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Verdana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Verdana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Verdana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Verdana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Verdana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Verdana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Verdana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Verdana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Verdana" pitchFamily="34" charset="0"/>
                <a:ea typeface="ＭＳ Ｐゴシック" pitchFamily="34" charset="-128"/>
              </a:defRPr>
            </a:lvl9pPr>
          </a:lstStyle>
          <a:p>
            <a:pPr algn="ctr" eaLnBrk="1" hangingPunct="1">
              <a:defRPr/>
            </a:pPr>
            <a:r>
              <a:rPr lang="en-US" sz="1000" dirty="0"/>
              <a:t>INSTITUTE FOR INTERNATIONAL BUSINESS</a:t>
            </a:r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9DB27540-BA36-424B-8F70-11086F282888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1612" y="6377898"/>
            <a:ext cx="1408538" cy="24424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5051" r:id="rId1"/>
    <p:sldLayoutId id="2147485039" r:id="rId2"/>
    <p:sldLayoutId id="2147485044" r:id="rId3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1100" b="0" baseline="0">
          <a:solidFill>
            <a:schemeClr val="tx1"/>
          </a:solidFill>
          <a:latin typeface="Verdana" pitchFamily="34" charset="0"/>
          <a:ea typeface="MS PGothic" pitchFamily="34" charset="-128"/>
          <a:cs typeface="ＭＳ Ｐゴシック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1600" b="1">
          <a:solidFill>
            <a:srgbClr val="4D4D4D"/>
          </a:solidFill>
          <a:latin typeface="Verdana" pitchFamily="34" charset="0"/>
          <a:ea typeface="MS PGothic" pitchFamily="34" charset="-128"/>
          <a:cs typeface="ＭＳ Ｐゴシック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1600" b="1">
          <a:solidFill>
            <a:srgbClr val="4D4D4D"/>
          </a:solidFill>
          <a:latin typeface="Verdana" pitchFamily="34" charset="0"/>
          <a:ea typeface="MS PGothic" pitchFamily="34" charset="-128"/>
          <a:cs typeface="ＭＳ Ｐゴシック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1600" b="1">
          <a:solidFill>
            <a:srgbClr val="4D4D4D"/>
          </a:solidFill>
          <a:latin typeface="Verdana" pitchFamily="34" charset="0"/>
          <a:ea typeface="MS PGothic" pitchFamily="34" charset="-128"/>
          <a:cs typeface="ＭＳ Ｐゴシック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1600" b="1">
          <a:solidFill>
            <a:srgbClr val="4D4D4D"/>
          </a:solidFill>
          <a:latin typeface="Verdana" pitchFamily="34" charset="0"/>
          <a:ea typeface="MS PGothic" pitchFamily="34" charset="-128"/>
          <a:cs typeface="ＭＳ Ｐゴシック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 Narrow" pitchFamily="34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 Narrow" pitchFamily="34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 Narrow" pitchFamily="34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 Narrow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Wingdings" pitchFamily="2" charset="2"/>
        <a:defRPr sz="1600" b="0">
          <a:solidFill>
            <a:schemeClr val="tx1"/>
          </a:solidFill>
          <a:latin typeface="Verdana" pitchFamily="34" charset="0"/>
          <a:ea typeface="MS PGothic" pitchFamily="34" charset="-128"/>
          <a:cs typeface="ＭＳ Ｐゴシック"/>
        </a:defRPr>
      </a:lvl1pPr>
      <a:lvl2pPr marL="269875" indent="-269875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1600">
          <a:solidFill>
            <a:schemeClr val="tx1"/>
          </a:solidFill>
          <a:latin typeface="Verdana" pitchFamily="34" charset="0"/>
          <a:ea typeface="MS PGothic" pitchFamily="34" charset="-128"/>
          <a:cs typeface="ＭＳ Ｐゴシック"/>
        </a:defRPr>
      </a:lvl2pPr>
      <a:lvl3pPr marL="539750" indent="-269875" algn="l" rtl="0" eaLnBrk="0" fontAlgn="base" hangingPunct="0">
        <a:spcBef>
          <a:spcPct val="20000"/>
        </a:spcBef>
        <a:spcAft>
          <a:spcPct val="0"/>
        </a:spcAft>
        <a:buSzPct val="90000"/>
        <a:buFont typeface="Symbol" panose="05050102010706020507" pitchFamily="18" charset="2"/>
        <a:buChar char="-"/>
        <a:defRPr sz="1600">
          <a:solidFill>
            <a:schemeClr val="tx1"/>
          </a:solidFill>
          <a:latin typeface="Verdana" pitchFamily="34" charset="0"/>
          <a:ea typeface="MS PGothic" pitchFamily="34" charset="-128"/>
          <a:cs typeface="ＭＳ Ｐゴシック"/>
        </a:defRPr>
      </a:lvl3pPr>
      <a:lvl4pPr marL="1644650" indent="-228600" algn="l" rtl="0" eaLnBrk="0" fontAlgn="base" hangingPunct="0">
        <a:spcBef>
          <a:spcPct val="20000"/>
        </a:spcBef>
        <a:spcAft>
          <a:spcPct val="0"/>
        </a:spcAft>
        <a:buFont typeface="Wingdings" pitchFamily="2" charset="2"/>
        <a:buChar char="§"/>
        <a:defRPr>
          <a:solidFill>
            <a:schemeClr val="tx1"/>
          </a:solidFill>
          <a:latin typeface="Verdana" pitchFamily="34" charset="0"/>
          <a:ea typeface="MS PGothic" pitchFamily="34" charset="-128"/>
          <a:cs typeface="ＭＳ Ｐゴシック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Wingdings" pitchFamily="2" charset="2"/>
        <a:buChar char="§"/>
        <a:defRPr sz="1600">
          <a:solidFill>
            <a:schemeClr val="tx1"/>
          </a:solidFill>
          <a:latin typeface="Verdana" pitchFamily="34" charset="0"/>
          <a:ea typeface="MS PGothic" pitchFamily="34" charset="-128"/>
          <a:cs typeface="ＭＳ Ｐゴシック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748" userDrawn="1">
          <p15:clr>
            <a:srgbClr val="F26B43"/>
          </p15:clr>
        </p15:guide>
        <p15:guide id="2" pos="249" userDrawn="1">
          <p15:clr>
            <a:srgbClr val="F26B43"/>
          </p15:clr>
        </p15:guide>
        <p15:guide id="3" pos="5556" userDrawn="1">
          <p15:clr>
            <a:srgbClr val="F26B43"/>
          </p15:clr>
        </p15:guide>
        <p15:guide id="4" orient="horz" pos="663" userDrawn="1">
          <p15:clr>
            <a:srgbClr val="F26B43"/>
          </p15:clr>
        </p15:guide>
        <p15:guide id="5" orient="horz" pos="2269" userDrawn="1">
          <p15:clr>
            <a:srgbClr val="F26B43"/>
          </p15:clr>
        </p15:guide>
        <p15:guide id="6" pos="2905" userDrawn="1">
          <p15:clr>
            <a:srgbClr val="F26B43"/>
          </p15:clr>
        </p15:guide>
        <p15:guide id="7" orient="horz" pos="140" userDrawn="1">
          <p15:clr>
            <a:srgbClr val="F26B43"/>
          </p15:clr>
        </p15:guide>
        <p15:guide id="8" orient="horz" pos="79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Relationship Id="rId5" Type="http://schemas.openxmlformats.org/officeDocument/2006/relationships/image" Target="../media/image9.emf"/><Relationship Id="rId4" Type="http://schemas.openxmlformats.org/officeDocument/2006/relationships/oleObject" Target="../embeddings/oleObject5.bin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jpeg"/><Relationship Id="rId5" Type="http://schemas.openxmlformats.org/officeDocument/2006/relationships/hyperlink" Target="https://www.youtube.com/watch?v=NY4myVa5Wkw" TargetMode="External"/><Relationship Id="rId4" Type="http://schemas.openxmlformats.org/officeDocument/2006/relationships/hyperlink" Target="http://youtu.be/mYF2_FBCvXw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Relationship Id="rId5" Type="http://schemas.openxmlformats.org/officeDocument/2006/relationships/image" Target="../media/image9.emf"/><Relationship Id="rId4" Type="http://schemas.openxmlformats.org/officeDocument/2006/relationships/oleObject" Target="../embeddings/oleObject5.bin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jpeg"/><Relationship Id="rId5" Type="http://schemas.openxmlformats.org/officeDocument/2006/relationships/hyperlink" Target="http://www.youtube.com/watch?v=mYF2_FBCvXw" TargetMode="External"/><Relationship Id="rId4" Type="http://schemas.openxmlformats.org/officeDocument/2006/relationships/hyperlink" Target="http://youtu.be/mYF2_FBCvXw" TargetMode="Externa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Relationship Id="rId5" Type="http://schemas.openxmlformats.org/officeDocument/2006/relationships/image" Target="../media/image9.emf"/><Relationship Id="rId4" Type="http://schemas.openxmlformats.org/officeDocument/2006/relationships/oleObject" Target="../embeddings/oleObject5.bin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Relationship Id="rId6" Type="http://schemas.openxmlformats.org/officeDocument/2006/relationships/image" Target="../media/image16.png"/><Relationship Id="rId5" Type="http://schemas.openxmlformats.org/officeDocument/2006/relationships/image" Target="../media/image15.emf"/><Relationship Id="rId4" Type="http://schemas.openxmlformats.org/officeDocument/2006/relationships/oleObject" Target="../embeddings/oleObject6.bin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AA44501-30D4-4910-9B68-5231643A423F}" type="slidenum">
              <a:rPr lang="en-US" smtClean="0"/>
              <a:pPr>
                <a:defRPr/>
              </a:pPr>
              <a:t>1</a:t>
            </a:fld>
            <a:endParaRPr lang="en-US" dirty="0"/>
          </a:p>
        </p:txBody>
      </p:sp>
      <p:sp>
        <p:nvSpPr>
          <p:cNvPr id="4" name="Inhaltsplatzhalter 3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dirty="0"/>
              <a:t>The impact of globalization can be felt on several levels</a:t>
            </a:r>
          </a:p>
        </p:txBody>
      </p:sp>
      <p:graphicFrame>
        <p:nvGraphicFramePr>
          <p:cNvPr id="6" name="Diagramm 5">
            <a:extLst>
              <a:ext uri="{FF2B5EF4-FFF2-40B4-BE49-F238E27FC236}">
                <a16:creationId xmlns:a16="http://schemas.microsoft.com/office/drawing/2014/main" id="{EB7252A1-23EB-4AEA-BD32-D42742380FDE}"/>
              </a:ext>
            </a:extLst>
          </p:cNvPr>
          <p:cNvGraphicFramePr/>
          <p:nvPr/>
        </p:nvGraphicFramePr>
        <p:xfrm>
          <a:off x="395287" y="1268413"/>
          <a:ext cx="6620395" cy="46815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7" name="Rechteck 6">
            <a:extLst>
              <a:ext uri="{FF2B5EF4-FFF2-40B4-BE49-F238E27FC236}">
                <a16:creationId xmlns:a16="http://schemas.microsoft.com/office/drawing/2014/main" id="{C8428190-502A-43CA-8D0C-09939139687F}"/>
              </a:ext>
            </a:extLst>
          </p:cNvPr>
          <p:cNvSpPr/>
          <p:nvPr/>
        </p:nvSpPr>
        <p:spPr bwMode="auto">
          <a:xfrm>
            <a:off x="6102555" y="1643225"/>
            <a:ext cx="2707978" cy="432048"/>
          </a:xfrm>
          <a:prstGeom prst="rect">
            <a:avLst/>
          </a:prstGeom>
          <a:solidFill>
            <a:schemeClr val="bg1"/>
          </a:solidFill>
          <a:ln w="38100">
            <a:solidFill>
              <a:schemeClr val="bg1">
                <a:lumMod val="50000"/>
              </a:schemeClr>
            </a:solidFill>
            <a:round/>
            <a:headEnd/>
            <a:tailEnd/>
          </a:ln>
        </p:spPr>
        <p:txBody>
          <a:bodyPr rtlCol="0" anchor="ctr" anchorCtr="0"/>
          <a:lstStyle/>
          <a:p>
            <a:pPr algn="ctr"/>
            <a:r>
              <a:rPr kumimoji="1" lang="en-US" sz="2400" dirty="0">
                <a:latin typeface="Arial" pitchFamily="34" charset="0"/>
              </a:rPr>
              <a:t>Unit #1</a:t>
            </a: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2ED13E91-BCC1-4519-8F03-1295423A3783}"/>
              </a:ext>
            </a:extLst>
          </p:cNvPr>
          <p:cNvSpPr/>
          <p:nvPr/>
        </p:nvSpPr>
        <p:spPr bwMode="auto">
          <a:xfrm>
            <a:off x="6102555" y="2790545"/>
            <a:ext cx="2707978" cy="432048"/>
          </a:xfrm>
          <a:prstGeom prst="rect">
            <a:avLst/>
          </a:prstGeom>
          <a:solidFill>
            <a:schemeClr val="bg1"/>
          </a:solidFill>
          <a:ln w="38100">
            <a:solidFill>
              <a:schemeClr val="bg1">
                <a:lumMod val="50000"/>
              </a:schemeClr>
            </a:solidFill>
            <a:round/>
            <a:headEnd/>
            <a:tailEnd/>
          </a:ln>
        </p:spPr>
        <p:txBody>
          <a:bodyPr rtlCol="0" anchor="ctr" anchorCtr="0"/>
          <a:lstStyle/>
          <a:p>
            <a:pPr algn="ctr"/>
            <a:r>
              <a:rPr kumimoji="1" lang="en-US" sz="2400" dirty="0">
                <a:latin typeface="Arial" pitchFamily="34" charset="0"/>
              </a:rPr>
              <a:t>Units #2-3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24E14695-E9B6-425E-9BE9-AAEE08D76D40}"/>
              </a:ext>
            </a:extLst>
          </p:cNvPr>
          <p:cNvSpPr/>
          <p:nvPr/>
        </p:nvSpPr>
        <p:spPr bwMode="auto">
          <a:xfrm>
            <a:off x="6102555" y="3937865"/>
            <a:ext cx="2707978" cy="432048"/>
          </a:xfrm>
          <a:prstGeom prst="rect">
            <a:avLst/>
          </a:prstGeom>
          <a:solidFill>
            <a:schemeClr val="bg1"/>
          </a:solidFill>
          <a:ln w="38100">
            <a:solidFill>
              <a:schemeClr val="bg1">
                <a:lumMod val="50000"/>
              </a:schemeClr>
            </a:solidFill>
            <a:round/>
            <a:headEnd/>
            <a:tailEnd/>
          </a:ln>
        </p:spPr>
        <p:txBody>
          <a:bodyPr rtlCol="0" anchor="ctr" anchorCtr="0"/>
          <a:lstStyle/>
          <a:p>
            <a:pPr algn="ctr"/>
            <a:r>
              <a:rPr kumimoji="1" lang="en-US" sz="2400" dirty="0">
                <a:latin typeface="Arial" pitchFamily="34" charset="0"/>
              </a:rPr>
              <a:t>Units #4-5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3F1E9A06-A61A-4652-B8CC-A8AA111672EF}"/>
              </a:ext>
            </a:extLst>
          </p:cNvPr>
          <p:cNvSpPr/>
          <p:nvPr/>
        </p:nvSpPr>
        <p:spPr bwMode="auto">
          <a:xfrm>
            <a:off x="6102555" y="5085184"/>
            <a:ext cx="2707978" cy="432048"/>
          </a:xfrm>
          <a:prstGeom prst="rect">
            <a:avLst/>
          </a:prstGeom>
          <a:solidFill>
            <a:schemeClr val="bg1"/>
          </a:solidFill>
          <a:ln w="38100">
            <a:solidFill>
              <a:schemeClr val="bg1">
                <a:lumMod val="50000"/>
              </a:schemeClr>
            </a:solidFill>
            <a:round/>
            <a:headEnd/>
            <a:tailEnd/>
          </a:ln>
        </p:spPr>
        <p:txBody>
          <a:bodyPr rtlCol="0" anchor="ctr" anchorCtr="0"/>
          <a:lstStyle/>
          <a:p>
            <a:pPr algn="ctr"/>
            <a:r>
              <a:rPr kumimoji="1" lang="en-US" sz="2400" dirty="0">
                <a:latin typeface="Arial" pitchFamily="34" charset="0"/>
              </a:rPr>
              <a:t>Units #6-8</a:t>
            </a:r>
          </a:p>
        </p:txBody>
      </p:sp>
      <p:sp>
        <p:nvSpPr>
          <p:cNvPr id="11" name="Textfeld 10"/>
          <p:cNvSpPr txBox="1"/>
          <p:nvPr/>
        </p:nvSpPr>
        <p:spPr>
          <a:xfrm>
            <a:off x="3074043" y="4773632"/>
            <a:ext cx="126288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Firm</a:t>
            </a:r>
          </a:p>
        </p:txBody>
      </p:sp>
      <p:sp>
        <p:nvSpPr>
          <p:cNvPr id="2" name="Rechteck 1"/>
          <p:cNvSpPr/>
          <p:nvPr/>
        </p:nvSpPr>
        <p:spPr bwMode="auto">
          <a:xfrm>
            <a:off x="323529" y="3602038"/>
            <a:ext cx="8568952" cy="1171594"/>
          </a:xfrm>
          <a:prstGeom prst="rect">
            <a:avLst/>
          </a:prstGeom>
          <a:noFill/>
          <a:ln w="22225">
            <a:solidFill>
              <a:srgbClr val="C00000"/>
            </a:solidFill>
            <a:round/>
            <a:headEnd/>
            <a:tailEnd/>
          </a:ln>
        </p:spPr>
        <p:txBody>
          <a:bodyPr rtlCol="0" anchor="ctr" anchorCtr="0"/>
          <a:lstStyle/>
          <a:p>
            <a:pPr algn="l">
              <a:lnSpc>
                <a:spcPts val="1800"/>
              </a:lnSpc>
            </a:pPr>
            <a:endParaRPr kumimoji="1" lang="en-US" sz="1800" dirty="0">
              <a:solidFill>
                <a:schemeClr val="bg1"/>
              </a:solidFill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13550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60" imgH="360" progId="TCLayout.ActiveDocument.1">
                  <p:embed/>
                </p:oleObj>
              </mc:Choice>
              <mc:Fallback>
                <p:oleObj name="think-cell Slide" r:id="rId4" imgW="360" imgH="360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AA44501-30D4-4910-9B68-5231643A423F}" type="slidenum">
              <a:rPr lang="en-US" smtClean="0"/>
              <a:pPr>
                <a:defRPr/>
              </a:pPr>
              <a:t>2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dirty="0"/>
              <a:t>Firm strategy</a:t>
            </a:r>
          </a:p>
        </p:txBody>
      </p:sp>
      <p:sp>
        <p:nvSpPr>
          <p:cNvPr id="7" name="AutoShape 9"/>
          <p:cNvSpPr>
            <a:spLocks noChangeArrowheads="1"/>
          </p:cNvSpPr>
          <p:nvPr/>
        </p:nvSpPr>
        <p:spPr bwMode="auto">
          <a:xfrm>
            <a:off x="1151731" y="1052513"/>
            <a:ext cx="6911975" cy="2160588"/>
          </a:xfrm>
          <a:prstGeom prst="roundRect">
            <a:avLst>
              <a:gd name="adj" fmla="val 6787"/>
            </a:avLst>
          </a:prstGeom>
          <a:solidFill>
            <a:srgbClr val="336699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222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 anchorCtr="1"/>
          <a:lstStyle>
            <a:lvl1pPr eaLnBrk="0" hangingPunct="0">
              <a:spcBef>
                <a:spcPct val="20000"/>
              </a:spcBef>
              <a:buFont typeface="Wingdings" pitchFamily="2" charset="2"/>
              <a:defRPr sz="2000" b="1">
                <a:solidFill>
                  <a:srgbClr val="336699"/>
                </a:solidFill>
                <a:latin typeface="Verdana" pitchFamily="34" charset="0"/>
                <a:ea typeface="ＭＳ Ｐゴシック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Font typeface="Wingdings" pitchFamily="2" charset="2"/>
              <a:buChar char="§"/>
              <a:defRPr>
                <a:solidFill>
                  <a:schemeClr val="tx1"/>
                </a:solidFill>
                <a:latin typeface="Verdana" pitchFamily="34" charset="0"/>
                <a:ea typeface="ＭＳ Ｐゴシック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Font typeface="Wingdings" pitchFamily="2" charset="2"/>
              <a:buChar char="§"/>
              <a:defRPr>
                <a:solidFill>
                  <a:schemeClr val="tx1"/>
                </a:solidFill>
                <a:latin typeface="Verdana" pitchFamily="34" charset="0"/>
                <a:ea typeface="ＭＳ Ｐゴシック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Font typeface="Wingdings" pitchFamily="2" charset="2"/>
              <a:buChar char="§"/>
              <a:defRPr>
                <a:solidFill>
                  <a:schemeClr val="tx1"/>
                </a:solidFill>
                <a:latin typeface="Verdana" pitchFamily="34" charset="0"/>
                <a:ea typeface="ＭＳ Ｐゴシック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Verdana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Verdana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Verdana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Verdana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Verdana" pitchFamily="34" charset="0"/>
                <a:ea typeface="ＭＳ Ｐゴシック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1" lang="en-US" altLang="de-DE" sz="3200" dirty="0">
                <a:solidFill>
                  <a:schemeClr val="bg1"/>
                </a:solidFill>
              </a:rPr>
              <a:t>What is strategy? </a:t>
            </a:r>
            <a:endParaRPr kumimoji="1" lang="en-US" altLang="de-DE" sz="2400" dirty="0">
              <a:solidFill>
                <a:schemeClr val="bg1"/>
              </a:solidFill>
            </a:endParaRPr>
          </a:p>
        </p:txBody>
      </p:sp>
      <p:sp>
        <p:nvSpPr>
          <p:cNvPr id="6" name="AutoShape 9"/>
          <p:cNvSpPr>
            <a:spLocks noChangeArrowheads="1"/>
          </p:cNvSpPr>
          <p:nvPr/>
        </p:nvSpPr>
        <p:spPr bwMode="auto">
          <a:xfrm>
            <a:off x="1155700" y="3356992"/>
            <a:ext cx="6911975" cy="2160588"/>
          </a:xfrm>
          <a:prstGeom prst="roundRect">
            <a:avLst>
              <a:gd name="adj" fmla="val 6787"/>
            </a:avLst>
          </a:prstGeom>
          <a:noFill/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 anchorCtr="1"/>
          <a:lstStyle>
            <a:lvl1pPr eaLnBrk="0" hangingPunct="0">
              <a:spcBef>
                <a:spcPct val="20000"/>
              </a:spcBef>
              <a:buFont typeface="Wingdings" pitchFamily="2" charset="2"/>
              <a:defRPr sz="2000" b="1">
                <a:solidFill>
                  <a:srgbClr val="336699"/>
                </a:solidFill>
                <a:latin typeface="Verdana" pitchFamily="34" charset="0"/>
                <a:ea typeface="ＭＳ Ｐゴシック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Font typeface="Wingdings" pitchFamily="2" charset="2"/>
              <a:buChar char="§"/>
              <a:defRPr>
                <a:solidFill>
                  <a:schemeClr val="tx1"/>
                </a:solidFill>
                <a:latin typeface="Verdana" pitchFamily="34" charset="0"/>
                <a:ea typeface="ＭＳ Ｐゴシック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Font typeface="Wingdings" pitchFamily="2" charset="2"/>
              <a:buChar char="§"/>
              <a:defRPr>
                <a:solidFill>
                  <a:schemeClr val="tx1"/>
                </a:solidFill>
                <a:latin typeface="Verdana" pitchFamily="34" charset="0"/>
                <a:ea typeface="ＭＳ Ｐゴシック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Font typeface="Wingdings" pitchFamily="2" charset="2"/>
              <a:buChar char="§"/>
              <a:defRPr>
                <a:solidFill>
                  <a:schemeClr val="tx1"/>
                </a:solidFill>
                <a:latin typeface="Verdana" pitchFamily="34" charset="0"/>
                <a:ea typeface="ＭＳ Ｐゴシック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Verdana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Verdana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Verdana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Verdana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Verdana" pitchFamily="34" charset="0"/>
                <a:ea typeface="ＭＳ Ｐゴシック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1" lang="en-US" altLang="de-DE" sz="2400" b="0" dirty="0">
                <a:solidFill>
                  <a:sysClr val="windowText" lastClr="000000"/>
                </a:solidFill>
              </a:rPr>
              <a:t>“</a:t>
            </a:r>
            <a:r>
              <a:rPr kumimoji="1" lang="en-US" altLang="de-DE" sz="2400" dirty="0">
                <a:solidFill>
                  <a:sysClr val="windowText" lastClr="000000"/>
                </a:solidFill>
              </a:rPr>
              <a:t>A planned set of actions </a:t>
            </a:r>
            <a:r>
              <a:rPr kumimoji="1" lang="en-US" altLang="de-DE" sz="2400" b="0" dirty="0">
                <a:solidFill>
                  <a:sysClr val="windowText" lastClr="000000"/>
                </a:solidFill>
              </a:rPr>
              <a:t>that managers employ to make best use of the </a:t>
            </a:r>
            <a:r>
              <a:rPr kumimoji="1" lang="en-US" altLang="de-DE" sz="2400" dirty="0">
                <a:solidFill>
                  <a:sysClr val="windowText" lastClr="000000"/>
                </a:solidFill>
              </a:rPr>
              <a:t>firm’s resources and core competencies</a:t>
            </a:r>
            <a:r>
              <a:rPr kumimoji="1" lang="en-US" altLang="de-DE" sz="2400" b="0" dirty="0">
                <a:solidFill>
                  <a:sysClr val="windowText" lastClr="000000"/>
                </a:solidFill>
              </a:rPr>
              <a:t> to gain </a:t>
            </a:r>
            <a:r>
              <a:rPr kumimoji="1" lang="en-US" altLang="de-DE" sz="2400" dirty="0">
                <a:solidFill>
                  <a:sysClr val="windowText" lastClr="000000"/>
                </a:solidFill>
              </a:rPr>
              <a:t>competitive advantage</a:t>
            </a:r>
            <a:r>
              <a:rPr kumimoji="1" lang="en-US" altLang="de-DE" sz="2400" b="0" dirty="0">
                <a:solidFill>
                  <a:sysClr val="windowText" lastClr="000000"/>
                </a:solidFill>
              </a:rPr>
              <a:t>.”</a:t>
            </a:r>
          </a:p>
        </p:txBody>
      </p:sp>
    </p:spTree>
    <p:extLst>
      <p:ext uri="{BB962C8B-B14F-4D97-AF65-F5344CB8AC3E}">
        <p14:creationId xmlns:p14="http://schemas.microsoft.com/office/powerpoint/2010/main" val="31382738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AA44501-30D4-4910-9B68-5231643A423F}" type="slidenum">
              <a:rPr lang="en-US" smtClean="0"/>
              <a:pPr>
                <a:defRPr/>
              </a:pPr>
              <a:t>3</a:t>
            </a:fld>
            <a:endParaRPr lang="en-US" dirty="0"/>
          </a:p>
        </p:txBody>
      </p:sp>
      <p:sp>
        <p:nvSpPr>
          <p:cNvPr id="4" name="Inhaltsplatzhalter 3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altLang="de-DE" dirty="0">
                <a:ea typeface="ＭＳ Ｐゴシック" pitchFamily="34" charset="-128"/>
              </a:rPr>
              <a:t>Video: Michael Porter on “What is strategy?”</a:t>
            </a:r>
          </a:p>
        </p:txBody>
      </p:sp>
      <p:sp>
        <p:nvSpPr>
          <p:cNvPr id="8" name="Textplatzhalter 7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de-DE"/>
          </a:p>
        </p:txBody>
      </p:sp>
      <p:pic>
        <p:nvPicPr>
          <p:cNvPr id="5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363" y="1422400"/>
            <a:ext cx="8423275" cy="4743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hteck 5">
            <a:hlinkClick r:id="rId4"/>
          </p:cNvPr>
          <p:cNvSpPr>
            <a:spLocks noChangeArrowheads="1"/>
          </p:cNvSpPr>
          <p:nvPr/>
        </p:nvSpPr>
        <p:spPr bwMode="auto">
          <a:xfrm>
            <a:off x="1187450" y="1268760"/>
            <a:ext cx="6840538" cy="276999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de-DE" sz="1200" dirty="0">
                <a:hlinkClick r:id="rId5"/>
              </a:rPr>
              <a:t>https://www.youtube.com/watch?v=NY4myVa5Wkw</a:t>
            </a:r>
            <a:endParaRPr lang="en-US" altLang="de-DE" sz="1200" dirty="0"/>
          </a:p>
        </p:txBody>
      </p:sp>
      <p:pic>
        <p:nvPicPr>
          <p:cNvPr id="9" name="Picture 2" descr="http://suhaibahsan.com/wp-content/uploads/2015/04/michael_e_porter_5_forces.jpg"/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40" r="12600"/>
          <a:stretch/>
        </p:blipFill>
        <p:spPr bwMode="auto">
          <a:xfrm>
            <a:off x="1800522" y="1940360"/>
            <a:ext cx="5688632" cy="32998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369092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AA44501-30D4-4910-9B68-5231643A423F}" type="slidenum">
              <a:rPr lang="en-US" smtClean="0"/>
              <a:pPr>
                <a:defRPr/>
              </a:pPr>
              <a:t>4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dirty="0"/>
              <a:t>Two major areas of firm strategy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395288" y="5959709"/>
            <a:ext cx="8424862" cy="201600"/>
          </a:xfrm>
        </p:spPr>
        <p:txBody>
          <a:bodyPr/>
          <a:lstStyle/>
          <a:p>
            <a:r>
              <a:rPr lang="en-US" b="1" dirty="0"/>
              <a:t>Source: </a:t>
            </a:r>
            <a:r>
              <a:rPr lang="en-US" dirty="0"/>
              <a:t>Grant, 2010</a:t>
            </a:r>
          </a:p>
        </p:txBody>
      </p:sp>
      <p:sp>
        <p:nvSpPr>
          <p:cNvPr id="7" name="Abgerundetes Rechteck 2"/>
          <p:cNvSpPr/>
          <p:nvPr/>
        </p:nvSpPr>
        <p:spPr bwMode="auto">
          <a:xfrm>
            <a:off x="683568" y="2888940"/>
            <a:ext cx="1800000" cy="720000"/>
          </a:xfrm>
          <a:prstGeom prst="roundRect">
            <a:avLst/>
          </a:prstGeom>
          <a:solidFill>
            <a:srgbClr val="336699"/>
          </a:solidFill>
          <a:ln w="22225">
            <a:noFill/>
            <a:round/>
            <a:headEnd/>
            <a:tailEnd/>
          </a:ln>
        </p:spPr>
        <p:txBody>
          <a:bodyPr rtlCol="0" anchor="ctr" anchorCtr="0"/>
          <a:lstStyle/>
          <a:p>
            <a:pPr algn="ctr">
              <a:lnSpc>
                <a:spcPts val="1800"/>
              </a:lnSpc>
            </a:pPr>
            <a:r>
              <a:rPr kumimoji="1" lang="en-US" sz="1800" dirty="0">
                <a:solidFill>
                  <a:schemeClr val="bg1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Firm strategy</a:t>
            </a:r>
          </a:p>
        </p:txBody>
      </p:sp>
      <p:sp>
        <p:nvSpPr>
          <p:cNvPr id="8" name="Abgerundetes Rechteck 2"/>
          <p:cNvSpPr/>
          <p:nvPr/>
        </p:nvSpPr>
        <p:spPr bwMode="auto">
          <a:xfrm>
            <a:off x="3275856" y="1484784"/>
            <a:ext cx="1800000" cy="720000"/>
          </a:xfrm>
          <a:prstGeom prst="roundRect">
            <a:avLst/>
          </a:prstGeom>
          <a:solidFill>
            <a:schemeClr val="bg1">
              <a:lumMod val="50000"/>
            </a:schemeClr>
          </a:solidFill>
          <a:ln w="22225">
            <a:noFill/>
            <a:round/>
            <a:headEnd/>
            <a:tailEnd/>
          </a:ln>
        </p:spPr>
        <p:txBody>
          <a:bodyPr rtlCol="0" anchor="ctr" anchorCtr="0"/>
          <a:lstStyle/>
          <a:p>
            <a:pPr algn="ctr">
              <a:lnSpc>
                <a:spcPts val="1800"/>
              </a:lnSpc>
            </a:pPr>
            <a:r>
              <a:rPr kumimoji="1" lang="en-US" sz="1800" dirty="0">
                <a:solidFill>
                  <a:schemeClr val="bg1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Corporate strategy</a:t>
            </a:r>
          </a:p>
        </p:txBody>
      </p:sp>
      <p:sp>
        <p:nvSpPr>
          <p:cNvPr id="9" name="Abgerundetes Rechteck 2"/>
          <p:cNvSpPr/>
          <p:nvPr/>
        </p:nvSpPr>
        <p:spPr bwMode="auto">
          <a:xfrm>
            <a:off x="3275856" y="4293096"/>
            <a:ext cx="1800000" cy="720000"/>
          </a:xfrm>
          <a:prstGeom prst="roundRect">
            <a:avLst/>
          </a:prstGeom>
          <a:solidFill>
            <a:schemeClr val="bg1">
              <a:lumMod val="50000"/>
            </a:schemeClr>
          </a:solidFill>
          <a:ln w="22225">
            <a:noFill/>
            <a:round/>
            <a:headEnd/>
            <a:tailEnd/>
          </a:ln>
        </p:spPr>
        <p:txBody>
          <a:bodyPr rtlCol="0" anchor="ctr" anchorCtr="0"/>
          <a:lstStyle/>
          <a:p>
            <a:pPr algn="ctr">
              <a:lnSpc>
                <a:spcPts val="1800"/>
              </a:lnSpc>
            </a:pPr>
            <a:r>
              <a:rPr kumimoji="1" lang="en-US" sz="1800" dirty="0">
                <a:solidFill>
                  <a:schemeClr val="bg1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Business strategy</a:t>
            </a:r>
          </a:p>
        </p:txBody>
      </p:sp>
      <p:sp>
        <p:nvSpPr>
          <p:cNvPr id="10" name="Rechteck 24"/>
          <p:cNvSpPr/>
          <p:nvPr/>
        </p:nvSpPr>
        <p:spPr bwMode="auto">
          <a:xfrm>
            <a:off x="3275856" y="2251584"/>
            <a:ext cx="1800200" cy="360000"/>
          </a:xfrm>
          <a:prstGeom prst="rect">
            <a:avLst/>
          </a:prstGeom>
          <a:noFill/>
          <a:ln w="22225">
            <a:noFill/>
            <a:round/>
            <a:headEnd/>
            <a:tailEnd/>
          </a:ln>
        </p:spPr>
        <p:txBody>
          <a:bodyPr lIns="0" tIns="0" rIns="0" bIns="0" rtlCol="0" anchor="ctr" anchorCtr="0"/>
          <a:lstStyle/>
          <a:p>
            <a:pPr algn="ctr">
              <a:lnSpc>
                <a:spcPts val="1800"/>
              </a:lnSpc>
            </a:pPr>
            <a:r>
              <a:rPr kumimoji="1" lang="en-US" dirty="0">
                <a:ea typeface="Verdana" panose="020B0604030504040204" pitchFamily="34" charset="0"/>
                <a:cs typeface="Verdana" panose="020B0604030504040204" pitchFamily="34" charset="0"/>
              </a:rPr>
              <a:t>Where to compete?</a:t>
            </a:r>
          </a:p>
        </p:txBody>
      </p:sp>
      <p:sp>
        <p:nvSpPr>
          <p:cNvPr id="11" name="Rechteck 24"/>
          <p:cNvSpPr/>
          <p:nvPr/>
        </p:nvSpPr>
        <p:spPr bwMode="auto">
          <a:xfrm>
            <a:off x="3275856" y="5070974"/>
            <a:ext cx="1800200" cy="360000"/>
          </a:xfrm>
          <a:prstGeom prst="rect">
            <a:avLst/>
          </a:prstGeom>
          <a:noFill/>
          <a:ln w="22225">
            <a:noFill/>
            <a:round/>
            <a:headEnd/>
            <a:tailEnd/>
          </a:ln>
        </p:spPr>
        <p:txBody>
          <a:bodyPr lIns="0" tIns="0" rIns="0" bIns="0" rtlCol="0" anchor="ctr" anchorCtr="0"/>
          <a:lstStyle/>
          <a:p>
            <a:pPr algn="ctr">
              <a:lnSpc>
                <a:spcPts val="1800"/>
              </a:lnSpc>
            </a:pPr>
            <a:r>
              <a:rPr kumimoji="1" lang="en-US" dirty="0">
                <a:ea typeface="Verdana" panose="020B0604030504040204" pitchFamily="34" charset="0"/>
                <a:cs typeface="Verdana" panose="020B0604030504040204" pitchFamily="34" charset="0"/>
              </a:rPr>
              <a:t>How to compete?</a:t>
            </a:r>
          </a:p>
        </p:txBody>
      </p:sp>
      <p:sp>
        <p:nvSpPr>
          <p:cNvPr id="12" name="Rechteck 8"/>
          <p:cNvSpPr/>
          <p:nvPr/>
        </p:nvSpPr>
        <p:spPr bwMode="auto">
          <a:xfrm>
            <a:off x="5436095" y="1484784"/>
            <a:ext cx="3045917" cy="720000"/>
          </a:xfrm>
          <a:prstGeom prst="rect">
            <a:avLst/>
          </a:prstGeom>
          <a:solidFill>
            <a:schemeClr val="bg1">
              <a:lumMod val="85000"/>
            </a:schemeClr>
          </a:solidFill>
          <a:ln w="22225">
            <a:noFill/>
            <a:round/>
            <a:headEnd/>
            <a:tailEnd/>
          </a:ln>
        </p:spPr>
        <p:txBody>
          <a:bodyPr rtlCol="0" anchor="ctr" anchorCtr="0"/>
          <a:lstStyle/>
          <a:p>
            <a:pPr algn="ctr">
              <a:lnSpc>
                <a:spcPts val="1800"/>
              </a:lnSpc>
            </a:pPr>
            <a:r>
              <a:rPr kumimoji="1" lang="en-US" sz="1600" dirty="0">
                <a:ea typeface="Verdana" panose="020B0604030504040204" pitchFamily="34" charset="0"/>
                <a:cs typeface="Verdana" panose="020B0604030504040204" pitchFamily="34" charset="0"/>
              </a:rPr>
              <a:t>Scope of firm in terms of industries and markets</a:t>
            </a:r>
          </a:p>
        </p:txBody>
      </p:sp>
      <p:sp>
        <p:nvSpPr>
          <p:cNvPr id="13" name="Rechteck 8"/>
          <p:cNvSpPr/>
          <p:nvPr/>
        </p:nvSpPr>
        <p:spPr bwMode="auto">
          <a:xfrm>
            <a:off x="5436095" y="4293096"/>
            <a:ext cx="3045917" cy="720000"/>
          </a:xfrm>
          <a:prstGeom prst="rect">
            <a:avLst/>
          </a:prstGeom>
          <a:solidFill>
            <a:schemeClr val="bg1">
              <a:lumMod val="85000"/>
            </a:schemeClr>
          </a:solidFill>
          <a:ln w="22225">
            <a:noFill/>
            <a:round/>
            <a:headEnd/>
            <a:tailEnd/>
          </a:ln>
        </p:spPr>
        <p:txBody>
          <a:bodyPr rtlCol="0" anchor="ctr" anchorCtr="0"/>
          <a:lstStyle/>
          <a:p>
            <a:pPr algn="ctr">
              <a:lnSpc>
                <a:spcPts val="1800"/>
              </a:lnSpc>
            </a:pPr>
            <a:r>
              <a:rPr kumimoji="1" lang="en-US" sz="1600" dirty="0">
                <a:ea typeface="Verdana" panose="020B0604030504040204" pitchFamily="34" charset="0"/>
                <a:cs typeface="Verdana" panose="020B0604030504040204" pitchFamily="34" charset="0"/>
              </a:rPr>
              <a:t>Competitive approach in industries and markets</a:t>
            </a:r>
          </a:p>
        </p:txBody>
      </p:sp>
      <p:cxnSp>
        <p:nvCxnSpPr>
          <p:cNvPr id="14" name="Gerade Verbindung mit Pfeil 13"/>
          <p:cNvCxnSpPr>
            <a:stCxn id="7" idx="0"/>
            <a:endCxn id="8" idx="1"/>
          </p:cNvCxnSpPr>
          <p:nvPr/>
        </p:nvCxnSpPr>
        <p:spPr bwMode="auto">
          <a:xfrm flipV="1">
            <a:off x="1583568" y="1844784"/>
            <a:ext cx="1692288" cy="1044156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6" name="Gerade Verbindung mit Pfeil 15"/>
          <p:cNvCxnSpPr>
            <a:stCxn id="7" idx="2"/>
            <a:endCxn id="9" idx="1"/>
          </p:cNvCxnSpPr>
          <p:nvPr/>
        </p:nvCxnSpPr>
        <p:spPr bwMode="auto">
          <a:xfrm>
            <a:off x="1583568" y="3608940"/>
            <a:ext cx="1692288" cy="1044156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624014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60" imgH="360" progId="TCLayout.ActiveDocument.1">
                  <p:embed/>
                </p:oleObj>
              </mc:Choice>
              <mc:Fallback>
                <p:oleObj name="think-cell Slide" r:id="rId4" imgW="360" imgH="360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AA44501-30D4-4910-9B68-5231643A423F}" type="slidenum">
              <a:rPr lang="en-US" smtClean="0"/>
              <a:pPr>
                <a:defRPr/>
              </a:pPr>
              <a:t>5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dirty="0"/>
              <a:t>In-class discussion</a:t>
            </a:r>
          </a:p>
        </p:txBody>
      </p:sp>
      <p:sp>
        <p:nvSpPr>
          <p:cNvPr id="7" name="AutoShape 9"/>
          <p:cNvSpPr>
            <a:spLocks noChangeArrowheads="1"/>
          </p:cNvSpPr>
          <p:nvPr/>
        </p:nvSpPr>
        <p:spPr bwMode="auto">
          <a:xfrm>
            <a:off x="1159842" y="2511598"/>
            <a:ext cx="6911975" cy="2160588"/>
          </a:xfrm>
          <a:prstGeom prst="roundRect">
            <a:avLst>
              <a:gd name="adj" fmla="val 6787"/>
            </a:avLst>
          </a:prstGeom>
          <a:solidFill>
            <a:srgbClr val="336699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222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 anchorCtr="1"/>
          <a:lstStyle>
            <a:lvl1pPr eaLnBrk="0" hangingPunct="0">
              <a:spcBef>
                <a:spcPct val="20000"/>
              </a:spcBef>
              <a:buFont typeface="Wingdings" pitchFamily="2" charset="2"/>
              <a:defRPr sz="2000" b="1">
                <a:solidFill>
                  <a:srgbClr val="336699"/>
                </a:solidFill>
                <a:latin typeface="Verdana" pitchFamily="34" charset="0"/>
                <a:ea typeface="ＭＳ Ｐゴシック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Font typeface="Wingdings" pitchFamily="2" charset="2"/>
              <a:buChar char="§"/>
              <a:defRPr>
                <a:solidFill>
                  <a:schemeClr val="tx1"/>
                </a:solidFill>
                <a:latin typeface="Verdana" pitchFamily="34" charset="0"/>
                <a:ea typeface="ＭＳ Ｐゴシック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Font typeface="Wingdings" pitchFamily="2" charset="2"/>
              <a:buChar char="§"/>
              <a:defRPr>
                <a:solidFill>
                  <a:schemeClr val="tx1"/>
                </a:solidFill>
                <a:latin typeface="Verdana" pitchFamily="34" charset="0"/>
                <a:ea typeface="ＭＳ Ｐゴシック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Font typeface="Wingdings" pitchFamily="2" charset="2"/>
              <a:buChar char="§"/>
              <a:defRPr>
                <a:solidFill>
                  <a:schemeClr val="tx1"/>
                </a:solidFill>
                <a:latin typeface="Verdana" pitchFamily="34" charset="0"/>
                <a:ea typeface="ＭＳ Ｐゴシック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Verdana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Verdana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Verdana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Verdana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Verdana" pitchFamily="34" charset="0"/>
                <a:ea typeface="ＭＳ Ｐゴシック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1" lang="en-US" altLang="de-DE" sz="3200" dirty="0">
                <a:solidFill>
                  <a:schemeClr val="bg1"/>
                </a:solidFill>
              </a:rPr>
              <a:t>What is the basis for defining strategy?</a:t>
            </a:r>
          </a:p>
        </p:txBody>
      </p:sp>
    </p:spTree>
    <p:extLst>
      <p:ext uri="{BB962C8B-B14F-4D97-AF65-F5344CB8AC3E}">
        <p14:creationId xmlns:p14="http://schemas.microsoft.com/office/powerpoint/2010/main" val="29821872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AA44501-30D4-4910-9B68-5231643A423F}" type="slidenum">
              <a:rPr lang="en-US" smtClean="0"/>
              <a:pPr>
                <a:defRPr/>
              </a:pPr>
              <a:t>6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dirty="0"/>
              <a:t>What is the basis for defining strategy?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b="1" dirty="0"/>
              <a:t>Source: </a:t>
            </a:r>
            <a:r>
              <a:rPr lang="en-US" dirty="0"/>
              <a:t>Grant, 2010</a:t>
            </a:r>
          </a:p>
        </p:txBody>
      </p:sp>
      <p:sp>
        <p:nvSpPr>
          <p:cNvPr id="6" name="Abgerundetes Rechteck 2"/>
          <p:cNvSpPr/>
          <p:nvPr/>
        </p:nvSpPr>
        <p:spPr bwMode="auto">
          <a:xfrm>
            <a:off x="3672000" y="2458104"/>
            <a:ext cx="1800000" cy="720000"/>
          </a:xfrm>
          <a:prstGeom prst="roundRect">
            <a:avLst/>
          </a:prstGeom>
          <a:solidFill>
            <a:srgbClr val="336699"/>
          </a:solidFill>
          <a:ln w="22225">
            <a:noFill/>
            <a:round/>
            <a:headEnd/>
            <a:tailEnd/>
          </a:ln>
        </p:spPr>
        <p:txBody>
          <a:bodyPr rtlCol="0" anchor="ctr" anchorCtr="0"/>
          <a:lstStyle/>
          <a:p>
            <a:pPr algn="ctr">
              <a:lnSpc>
                <a:spcPts val="1800"/>
              </a:lnSpc>
            </a:pPr>
            <a:r>
              <a:rPr kumimoji="1" lang="en-US" sz="1800" dirty="0">
                <a:solidFill>
                  <a:schemeClr val="bg1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Competitive advantage</a:t>
            </a:r>
          </a:p>
        </p:txBody>
      </p:sp>
      <p:cxnSp>
        <p:nvCxnSpPr>
          <p:cNvPr id="7" name="Gerade Verbindung mit Pfeil 6"/>
          <p:cNvCxnSpPr>
            <a:stCxn id="10" idx="3"/>
          </p:cNvCxnSpPr>
          <p:nvPr/>
        </p:nvCxnSpPr>
        <p:spPr bwMode="auto">
          <a:xfrm>
            <a:off x="2627784" y="2025976"/>
            <a:ext cx="936104" cy="360000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8" name="Gerade Verbindung mit Pfeil 10"/>
          <p:cNvCxnSpPr>
            <a:stCxn id="12" idx="1"/>
          </p:cNvCxnSpPr>
          <p:nvPr/>
        </p:nvCxnSpPr>
        <p:spPr bwMode="auto">
          <a:xfrm flipH="1">
            <a:off x="5580112" y="1809952"/>
            <a:ext cx="648072" cy="576024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9" name="Gerade Verbindung mit Pfeil 12"/>
          <p:cNvCxnSpPr>
            <a:stCxn id="11" idx="0"/>
          </p:cNvCxnSpPr>
          <p:nvPr/>
        </p:nvCxnSpPr>
        <p:spPr bwMode="auto">
          <a:xfrm flipH="1" flipV="1">
            <a:off x="4788024" y="3250152"/>
            <a:ext cx="1332148" cy="864096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0" name="Rechteck 7"/>
          <p:cNvSpPr/>
          <p:nvPr/>
        </p:nvSpPr>
        <p:spPr bwMode="auto">
          <a:xfrm>
            <a:off x="827584" y="1665976"/>
            <a:ext cx="1800200" cy="720000"/>
          </a:xfrm>
          <a:prstGeom prst="rect">
            <a:avLst/>
          </a:prstGeom>
          <a:solidFill>
            <a:schemeClr val="bg1">
              <a:lumMod val="85000"/>
            </a:schemeClr>
          </a:solidFill>
          <a:ln w="22225">
            <a:noFill/>
            <a:round/>
            <a:headEnd/>
            <a:tailEnd/>
          </a:ln>
        </p:spPr>
        <p:txBody>
          <a:bodyPr rtlCol="0" anchor="ctr" anchorCtr="0"/>
          <a:lstStyle/>
          <a:p>
            <a:pPr algn="ctr">
              <a:lnSpc>
                <a:spcPts val="1800"/>
              </a:lnSpc>
            </a:pPr>
            <a:r>
              <a:rPr kumimoji="1" lang="en-US" sz="1600" dirty="0">
                <a:ea typeface="Verdana" panose="020B0604030504040204" pitchFamily="34" charset="0"/>
                <a:cs typeface="Verdana" panose="020B0604030504040204" pitchFamily="34" charset="0"/>
              </a:rPr>
              <a:t>Firm resources &amp; capabilities</a:t>
            </a:r>
          </a:p>
        </p:txBody>
      </p:sp>
      <p:sp>
        <p:nvSpPr>
          <p:cNvPr id="11" name="Rechteck 8"/>
          <p:cNvSpPr/>
          <p:nvPr/>
        </p:nvSpPr>
        <p:spPr bwMode="auto">
          <a:xfrm>
            <a:off x="5220072" y="4114248"/>
            <a:ext cx="1800200" cy="720000"/>
          </a:xfrm>
          <a:prstGeom prst="rect">
            <a:avLst/>
          </a:prstGeom>
          <a:solidFill>
            <a:schemeClr val="bg1">
              <a:lumMod val="85000"/>
            </a:schemeClr>
          </a:solidFill>
          <a:ln w="22225">
            <a:noFill/>
            <a:round/>
            <a:headEnd/>
            <a:tailEnd/>
          </a:ln>
        </p:spPr>
        <p:txBody>
          <a:bodyPr rtlCol="0" anchor="ctr" anchorCtr="0"/>
          <a:lstStyle/>
          <a:p>
            <a:pPr algn="ctr">
              <a:lnSpc>
                <a:spcPts val="1800"/>
              </a:lnSpc>
            </a:pPr>
            <a:r>
              <a:rPr kumimoji="1" lang="en-US" sz="1600" dirty="0">
                <a:ea typeface="Verdana" panose="020B0604030504040204" pitchFamily="34" charset="0"/>
                <a:cs typeface="Verdana" panose="020B0604030504040204" pitchFamily="34" charset="0"/>
              </a:rPr>
              <a:t>National environment</a:t>
            </a:r>
          </a:p>
        </p:txBody>
      </p:sp>
      <p:sp>
        <p:nvSpPr>
          <p:cNvPr id="12" name="Rechteck 3"/>
          <p:cNvSpPr/>
          <p:nvPr/>
        </p:nvSpPr>
        <p:spPr bwMode="auto">
          <a:xfrm>
            <a:off x="6228184" y="1449952"/>
            <a:ext cx="1800200" cy="720000"/>
          </a:xfrm>
          <a:prstGeom prst="rect">
            <a:avLst/>
          </a:prstGeom>
          <a:solidFill>
            <a:schemeClr val="bg1">
              <a:lumMod val="85000"/>
            </a:schemeClr>
          </a:solidFill>
          <a:ln w="22225">
            <a:noFill/>
            <a:round/>
            <a:headEnd/>
            <a:tailEnd/>
          </a:ln>
        </p:spPr>
        <p:txBody>
          <a:bodyPr rtlCol="0" anchor="ctr" anchorCtr="0"/>
          <a:lstStyle/>
          <a:p>
            <a:pPr algn="ctr">
              <a:lnSpc>
                <a:spcPts val="1800"/>
              </a:lnSpc>
            </a:pPr>
            <a:r>
              <a:rPr kumimoji="1" lang="en-US" sz="1600" dirty="0">
                <a:ea typeface="Verdana" panose="020B0604030504040204" pitchFamily="34" charset="0"/>
                <a:cs typeface="Verdana" panose="020B0604030504040204" pitchFamily="34" charset="0"/>
              </a:rPr>
              <a:t>Industry environment</a:t>
            </a:r>
          </a:p>
        </p:txBody>
      </p:sp>
      <p:sp>
        <p:nvSpPr>
          <p:cNvPr id="13" name="Rechteck 23"/>
          <p:cNvSpPr/>
          <p:nvPr/>
        </p:nvSpPr>
        <p:spPr bwMode="auto">
          <a:xfrm>
            <a:off x="827585" y="2393613"/>
            <a:ext cx="1800199" cy="720000"/>
          </a:xfrm>
          <a:prstGeom prst="rect">
            <a:avLst/>
          </a:prstGeom>
          <a:noFill/>
          <a:ln w="22225">
            <a:noFill/>
            <a:round/>
            <a:headEnd/>
            <a:tailEnd/>
          </a:ln>
        </p:spPr>
        <p:txBody>
          <a:bodyPr lIns="0" tIns="0" rIns="0" bIns="0" rtlCol="0" anchor="ctr" anchorCtr="0"/>
          <a:lstStyle/>
          <a:p>
            <a:pPr algn="ctr">
              <a:lnSpc>
                <a:spcPts val="1800"/>
              </a:lnSpc>
            </a:pPr>
            <a:r>
              <a:rPr kumimoji="1" lang="en-US" dirty="0">
                <a:ea typeface="Verdana" panose="020B0604030504040204" pitchFamily="34" charset="0"/>
                <a:cs typeface="Verdana" panose="020B0604030504040204" pitchFamily="34" charset="0"/>
              </a:rPr>
              <a:t>How do we create customer value?</a:t>
            </a:r>
          </a:p>
        </p:txBody>
      </p:sp>
      <p:sp>
        <p:nvSpPr>
          <p:cNvPr id="14" name="Rechteck 24"/>
          <p:cNvSpPr/>
          <p:nvPr/>
        </p:nvSpPr>
        <p:spPr bwMode="auto">
          <a:xfrm>
            <a:off x="6228184" y="2177589"/>
            <a:ext cx="1800200" cy="720000"/>
          </a:xfrm>
          <a:prstGeom prst="rect">
            <a:avLst/>
          </a:prstGeom>
          <a:noFill/>
          <a:ln w="22225">
            <a:noFill/>
            <a:round/>
            <a:headEnd/>
            <a:tailEnd/>
          </a:ln>
        </p:spPr>
        <p:txBody>
          <a:bodyPr lIns="0" tIns="0" rIns="0" bIns="0" rtlCol="0" anchor="ctr" anchorCtr="0"/>
          <a:lstStyle/>
          <a:p>
            <a:pPr algn="ctr">
              <a:lnSpc>
                <a:spcPts val="1800"/>
              </a:lnSpc>
            </a:pPr>
            <a:r>
              <a:rPr kumimoji="1" lang="en-US" dirty="0">
                <a:ea typeface="Verdana" panose="020B0604030504040204" pitchFamily="34" charset="0"/>
                <a:cs typeface="Verdana" panose="020B0604030504040204" pitchFamily="34" charset="0"/>
              </a:rPr>
              <a:t>Who are our business partners?</a:t>
            </a:r>
          </a:p>
        </p:txBody>
      </p:sp>
      <p:sp>
        <p:nvSpPr>
          <p:cNvPr id="15" name="Rechteck 25"/>
          <p:cNvSpPr/>
          <p:nvPr/>
        </p:nvSpPr>
        <p:spPr bwMode="auto">
          <a:xfrm>
            <a:off x="3420072" y="4114248"/>
            <a:ext cx="1800000" cy="720000"/>
          </a:xfrm>
          <a:prstGeom prst="rect">
            <a:avLst/>
          </a:prstGeom>
          <a:noFill/>
          <a:ln w="22225">
            <a:noFill/>
            <a:round/>
            <a:headEnd/>
            <a:tailEnd/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ts val="1800"/>
              </a:lnSpc>
            </a:pPr>
            <a:r>
              <a:rPr kumimoji="1" lang="en-US" dirty="0">
                <a:ea typeface="Verdana" panose="020B0604030504040204" pitchFamily="34" charset="0"/>
                <a:cs typeface="Verdana" panose="020B0604030504040204" pitchFamily="34" charset="0"/>
              </a:rPr>
              <a:t>What is our extended business domain?</a:t>
            </a:r>
          </a:p>
        </p:txBody>
      </p:sp>
      <p:sp>
        <p:nvSpPr>
          <p:cNvPr id="16" name="Rectangle 9"/>
          <p:cNvSpPr>
            <a:spLocks noChangeArrowheads="1"/>
          </p:cNvSpPr>
          <p:nvPr/>
        </p:nvSpPr>
        <p:spPr bwMode="auto">
          <a:xfrm>
            <a:off x="395288" y="5312429"/>
            <a:ext cx="8424862" cy="630067"/>
          </a:xfrm>
          <a:prstGeom prst="rect">
            <a:avLst/>
          </a:prstGeom>
          <a:solidFill>
            <a:srgbClr val="336699"/>
          </a:solidFill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 lIns="108000" rIns="108000" anchor="ctr"/>
          <a:lstStyle/>
          <a:p>
            <a:pPr algn="ctr" defTabSz="977900" eaLnBrk="0" hangingPunct="0">
              <a:spcBef>
                <a:spcPct val="50000"/>
              </a:spcBef>
              <a:buClr>
                <a:srgbClr val="FF0000"/>
              </a:buClr>
              <a:tabLst>
                <a:tab pos="2759075" algn="l"/>
                <a:tab pos="6286500" algn="l"/>
              </a:tabLst>
            </a:pPr>
            <a:r>
              <a:rPr lang="en-US" sz="1600" b="1" dirty="0">
                <a:solidFill>
                  <a:schemeClr val="bg1"/>
                </a:solidFill>
              </a:rPr>
              <a:t>Strategy definition is based on internal &amp; external analysis</a:t>
            </a:r>
          </a:p>
        </p:txBody>
      </p:sp>
      <p:sp>
        <p:nvSpPr>
          <p:cNvPr id="17" name="Bogen 22"/>
          <p:cNvSpPr/>
          <p:nvPr/>
        </p:nvSpPr>
        <p:spPr bwMode="auto">
          <a:xfrm>
            <a:off x="3131840" y="1339823"/>
            <a:ext cx="2592288" cy="1142347"/>
          </a:xfrm>
          <a:prstGeom prst="arc">
            <a:avLst>
              <a:gd name="adj1" fmla="val 11605031"/>
              <a:gd name="adj2" fmla="val 20693510"/>
            </a:avLst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triangl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18" name="Bogen 28"/>
          <p:cNvSpPr/>
          <p:nvPr/>
        </p:nvSpPr>
        <p:spPr bwMode="auto">
          <a:xfrm>
            <a:off x="1496172" y="2489306"/>
            <a:ext cx="2592288" cy="2107022"/>
          </a:xfrm>
          <a:prstGeom prst="arc">
            <a:avLst>
              <a:gd name="adj1" fmla="val 5979518"/>
              <a:gd name="adj2" fmla="val 10943116"/>
            </a:avLst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triangl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19" name="Bogen 29"/>
          <p:cNvSpPr/>
          <p:nvPr/>
        </p:nvSpPr>
        <p:spPr bwMode="auto">
          <a:xfrm>
            <a:off x="5659877" y="2539189"/>
            <a:ext cx="2592288" cy="1728909"/>
          </a:xfrm>
          <a:prstGeom prst="arc">
            <a:avLst>
              <a:gd name="adj1" fmla="val 21474016"/>
              <a:gd name="adj2" fmla="val 3593373"/>
            </a:avLst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triangl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20" name="Rectangle 9"/>
          <p:cNvSpPr>
            <a:spLocks noChangeArrowheads="1"/>
          </p:cNvSpPr>
          <p:nvPr/>
        </p:nvSpPr>
        <p:spPr bwMode="auto">
          <a:xfrm>
            <a:off x="395288" y="1161697"/>
            <a:ext cx="8424862" cy="4024335"/>
          </a:xfrm>
          <a:prstGeom prst="rect">
            <a:avLst/>
          </a:prstGeom>
          <a:noFill/>
          <a:ln w="19050">
            <a:solidFill>
              <a:schemeClr val="bg1">
                <a:lumMod val="85000"/>
              </a:schemeClr>
            </a:solidFill>
            <a:miter lim="800000"/>
            <a:headEnd type="none" w="sm" len="sm"/>
            <a:tailEnd type="none" w="sm" len="sm"/>
          </a:ln>
        </p:spPr>
        <p:txBody>
          <a:bodyPr wrap="square" lIns="108000" rIns="108000" anchor="ctr"/>
          <a:lstStyle/>
          <a:p>
            <a:pPr algn="ctr" defTabSz="977900" eaLnBrk="0" hangingPunct="0">
              <a:spcBef>
                <a:spcPct val="50000"/>
              </a:spcBef>
              <a:buClr>
                <a:srgbClr val="FF0000"/>
              </a:buClr>
              <a:tabLst>
                <a:tab pos="2759075" algn="l"/>
                <a:tab pos="6286500" algn="l"/>
              </a:tabLst>
            </a:pPr>
            <a:endParaRPr lang="en-US" sz="16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975371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AA44501-30D4-4910-9B68-5231643A423F}" type="slidenum">
              <a:rPr lang="en-US" smtClean="0"/>
              <a:pPr>
                <a:defRPr/>
              </a:pPr>
              <a:t>7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altLang="de-DE" dirty="0">
                <a:ea typeface="ＭＳ Ｐゴシック" pitchFamily="34" charset="-128"/>
              </a:rPr>
              <a:t>Approaches for external strategic analysis</a:t>
            </a:r>
          </a:p>
          <a:p>
            <a:endParaRPr lang="en-US" dirty="0"/>
          </a:p>
        </p:txBody>
      </p:sp>
      <p:sp>
        <p:nvSpPr>
          <p:cNvPr id="6" name="Ellipse 5"/>
          <p:cNvSpPr>
            <a:spLocks noChangeArrowheads="1"/>
          </p:cNvSpPr>
          <p:nvPr/>
        </p:nvSpPr>
        <p:spPr bwMode="auto">
          <a:xfrm flipV="1">
            <a:off x="2339752" y="2147888"/>
            <a:ext cx="4547840" cy="3333750"/>
          </a:xfrm>
          <a:prstGeom prst="ellipse">
            <a:avLst/>
          </a:prstGeom>
          <a:solidFill>
            <a:srgbClr val="75A3D1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222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Font typeface="Wingdings" pitchFamily="2" charset="2"/>
              <a:defRPr sz="2000" b="1">
                <a:solidFill>
                  <a:srgbClr val="336699"/>
                </a:solidFill>
                <a:latin typeface="Verdana" pitchFamily="34" charset="0"/>
                <a:ea typeface="ＭＳ Ｐゴシック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Font typeface="Wingdings" pitchFamily="2" charset="2"/>
              <a:buChar char="§"/>
              <a:defRPr>
                <a:solidFill>
                  <a:schemeClr val="tx1"/>
                </a:solidFill>
                <a:latin typeface="Verdana" pitchFamily="34" charset="0"/>
                <a:ea typeface="ＭＳ Ｐゴシック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Font typeface="Wingdings" pitchFamily="2" charset="2"/>
              <a:buChar char="§"/>
              <a:defRPr>
                <a:solidFill>
                  <a:schemeClr val="tx1"/>
                </a:solidFill>
                <a:latin typeface="Verdana" pitchFamily="34" charset="0"/>
                <a:ea typeface="ＭＳ Ｐゴシック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Font typeface="Wingdings" pitchFamily="2" charset="2"/>
              <a:buChar char="§"/>
              <a:defRPr>
                <a:solidFill>
                  <a:schemeClr val="tx1"/>
                </a:solidFill>
                <a:latin typeface="Verdana" pitchFamily="34" charset="0"/>
                <a:ea typeface="ＭＳ Ｐゴシック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Verdana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Verdana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Verdana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Verdana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Verdana" pitchFamily="34" charset="0"/>
                <a:ea typeface="ＭＳ Ｐゴシック" pitchFamily="34" charset="-128"/>
              </a:defRPr>
            </a:lvl9pPr>
          </a:lstStyle>
          <a:p>
            <a:pPr eaLnBrk="1" hangingPunct="1">
              <a:lnSpc>
                <a:spcPts val="1800"/>
              </a:lnSpc>
              <a:spcBef>
                <a:spcPct val="0"/>
              </a:spcBef>
              <a:buFontTx/>
              <a:buNone/>
              <a:defRPr/>
            </a:pPr>
            <a:endParaRPr kumimoji="1" lang="en-US" altLang="de-DE" sz="1800" b="0" dirty="0">
              <a:solidFill>
                <a:schemeClr val="bg1"/>
              </a:solidFill>
              <a:latin typeface="Arial" pitchFamily="34" charset="0"/>
            </a:endParaRPr>
          </a:p>
        </p:txBody>
      </p:sp>
      <p:sp>
        <p:nvSpPr>
          <p:cNvPr id="7" name="Ellipse 4"/>
          <p:cNvSpPr>
            <a:spLocks noChangeArrowheads="1"/>
          </p:cNvSpPr>
          <p:nvPr/>
        </p:nvSpPr>
        <p:spPr bwMode="auto">
          <a:xfrm>
            <a:off x="3668713" y="3305795"/>
            <a:ext cx="1778000" cy="1203325"/>
          </a:xfrm>
          <a:prstGeom prst="ellipse">
            <a:avLst/>
          </a:prstGeom>
          <a:solidFill>
            <a:srgbClr val="336699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222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Font typeface="Wingdings" pitchFamily="2" charset="2"/>
              <a:defRPr sz="2000" b="1">
                <a:solidFill>
                  <a:srgbClr val="336699"/>
                </a:solidFill>
                <a:latin typeface="Verdana" pitchFamily="34" charset="0"/>
                <a:ea typeface="ＭＳ Ｐゴシック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Font typeface="Wingdings" pitchFamily="2" charset="2"/>
              <a:buChar char="§"/>
              <a:defRPr>
                <a:solidFill>
                  <a:schemeClr val="tx1"/>
                </a:solidFill>
                <a:latin typeface="Verdana" pitchFamily="34" charset="0"/>
                <a:ea typeface="ＭＳ Ｐゴシック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Font typeface="Wingdings" pitchFamily="2" charset="2"/>
              <a:buChar char="§"/>
              <a:defRPr>
                <a:solidFill>
                  <a:schemeClr val="tx1"/>
                </a:solidFill>
                <a:latin typeface="Verdana" pitchFamily="34" charset="0"/>
                <a:ea typeface="ＭＳ Ｐゴシック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Font typeface="Wingdings" pitchFamily="2" charset="2"/>
              <a:buChar char="§"/>
              <a:defRPr>
                <a:solidFill>
                  <a:schemeClr val="tx1"/>
                </a:solidFill>
                <a:latin typeface="Verdana" pitchFamily="34" charset="0"/>
                <a:ea typeface="ＭＳ Ｐゴシック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Verdana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Verdana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Verdana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Verdana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Verdana" pitchFamily="34" charset="0"/>
                <a:ea typeface="ＭＳ Ｐゴシック" pitchFamily="34" charset="-128"/>
              </a:defRPr>
            </a:lvl9pPr>
          </a:lstStyle>
          <a:p>
            <a:pPr algn="ctr" eaLnBrk="1" hangingPunct="1">
              <a:lnSpc>
                <a:spcPts val="1800"/>
              </a:lnSpc>
              <a:spcBef>
                <a:spcPct val="0"/>
              </a:spcBef>
              <a:buFontTx/>
              <a:buNone/>
              <a:defRPr/>
            </a:pPr>
            <a:r>
              <a:rPr kumimoji="1" lang="en-US" altLang="de-DE" sz="1800" dirty="0">
                <a:solidFill>
                  <a:schemeClr val="bg1"/>
                </a:solidFill>
              </a:rPr>
              <a:t>MICRO</a:t>
            </a:r>
          </a:p>
        </p:txBody>
      </p:sp>
      <p:sp>
        <p:nvSpPr>
          <p:cNvPr id="8" name="Textfeld 6"/>
          <p:cNvSpPr txBox="1">
            <a:spLocks noChangeArrowheads="1"/>
          </p:cNvSpPr>
          <p:nvPr/>
        </p:nvSpPr>
        <p:spPr bwMode="auto">
          <a:xfrm>
            <a:off x="3275856" y="2636912"/>
            <a:ext cx="1125629" cy="369332"/>
          </a:xfrm>
          <a:prstGeom prst="rect">
            <a:avLst/>
          </a:prstGeom>
          <a:solidFill>
            <a:srgbClr val="75A3D1"/>
          </a:solidFill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Font typeface="Wingdings" pitchFamily="2" charset="2"/>
              <a:defRPr sz="2000" b="1">
                <a:solidFill>
                  <a:srgbClr val="336699"/>
                </a:solidFill>
                <a:latin typeface="Verdana" pitchFamily="34" charset="0"/>
                <a:ea typeface="ＭＳ Ｐゴシック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Font typeface="Wingdings" pitchFamily="2" charset="2"/>
              <a:buChar char="§"/>
              <a:defRPr>
                <a:solidFill>
                  <a:schemeClr val="tx1"/>
                </a:solidFill>
                <a:latin typeface="Verdana" pitchFamily="34" charset="0"/>
                <a:ea typeface="ＭＳ Ｐゴシック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Font typeface="Wingdings" pitchFamily="2" charset="2"/>
              <a:buChar char="§"/>
              <a:defRPr>
                <a:solidFill>
                  <a:schemeClr val="tx1"/>
                </a:solidFill>
                <a:latin typeface="Verdana" pitchFamily="34" charset="0"/>
                <a:ea typeface="ＭＳ Ｐゴシック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Font typeface="Wingdings" pitchFamily="2" charset="2"/>
              <a:buChar char="§"/>
              <a:defRPr>
                <a:solidFill>
                  <a:schemeClr val="tx1"/>
                </a:solidFill>
                <a:latin typeface="Verdana" pitchFamily="34" charset="0"/>
                <a:ea typeface="ＭＳ Ｐゴシック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Verdana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Verdana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Verdana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Verdana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Verdana" pitchFamily="34" charset="0"/>
                <a:ea typeface="ＭＳ Ｐゴシック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de-DE" sz="1800" dirty="0">
                <a:solidFill>
                  <a:schemeClr val="bg1"/>
                </a:solidFill>
              </a:rPr>
              <a:t>MACRO</a:t>
            </a:r>
          </a:p>
        </p:txBody>
      </p:sp>
      <p:sp>
        <p:nvSpPr>
          <p:cNvPr id="9" name="Abgerundetes Rechteck 16"/>
          <p:cNvSpPr>
            <a:spLocks noChangeArrowheads="1"/>
          </p:cNvSpPr>
          <p:nvPr/>
        </p:nvSpPr>
        <p:spPr bwMode="auto">
          <a:xfrm>
            <a:off x="395288" y="1265238"/>
            <a:ext cx="1868488" cy="1657350"/>
          </a:xfrm>
          <a:prstGeom prst="roundRect">
            <a:avLst>
              <a:gd name="adj" fmla="val 16667"/>
            </a:avLst>
          </a:prstGeom>
          <a:solidFill>
            <a:srgbClr val="75A3D1"/>
          </a:solidFill>
          <a:ln>
            <a:noFill/>
          </a:ln>
        </p:spPr>
        <p:txBody>
          <a:bodyPr anchor="ctr"/>
          <a:lstStyle>
            <a:lvl1pPr eaLnBrk="0" hangingPunct="0">
              <a:spcBef>
                <a:spcPct val="20000"/>
              </a:spcBef>
              <a:buFont typeface="Wingdings" pitchFamily="2" charset="2"/>
              <a:defRPr sz="2000" b="1">
                <a:solidFill>
                  <a:srgbClr val="336699"/>
                </a:solidFill>
                <a:latin typeface="Verdana" pitchFamily="34" charset="0"/>
                <a:ea typeface="ＭＳ Ｐゴシック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Font typeface="Wingdings" pitchFamily="2" charset="2"/>
              <a:buChar char="§"/>
              <a:defRPr>
                <a:solidFill>
                  <a:schemeClr val="tx1"/>
                </a:solidFill>
                <a:latin typeface="Verdana" pitchFamily="34" charset="0"/>
                <a:ea typeface="ＭＳ Ｐゴシック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Font typeface="Wingdings" pitchFamily="2" charset="2"/>
              <a:buChar char="§"/>
              <a:defRPr>
                <a:solidFill>
                  <a:schemeClr val="tx1"/>
                </a:solidFill>
                <a:latin typeface="Verdana" pitchFamily="34" charset="0"/>
                <a:ea typeface="ＭＳ Ｐゴシック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Font typeface="Wingdings" pitchFamily="2" charset="2"/>
              <a:buChar char="§"/>
              <a:defRPr>
                <a:solidFill>
                  <a:schemeClr val="tx1"/>
                </a:solidFill>
                <a:latin typeface="Verdana" pitchFamily="34" charset="0"/>
                <a:ea typeface="ＭＳ Ｐゴシック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Verdana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Verdana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Verdana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Verdana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Verdana" pitchFamily="34" charset="0"/>
                <a:ea typeface="ＭＳ Ｐゴシック" pitchFamily="34" charset="-128"/>
              </a:defRPr>
            </a:lvl9pPr>
          </a:lstStyle>
          <a:p>
            <a:pPr eaLnBrk="1" hangingPunct="1">
              <a:lnSpc>
                <a:spcPts val="1800"/>
              </a:lnSpc>
              <a:spcBef>
                <a:spcPct val="0"/>
              </a:spcBef>
              <a:buFontTx/>
              <a:buNone/>
              <a:defRPr/>
            </a:pPr>
            <a:r>
              <a:rPr kumimoji="1" lang="en-US" altLang="de-DE" sz="1600" u="sng" dirty="0">
                <a:solidFill>
                  <a:schemeClr val="bg1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P</a:t>
            </a:r>
            <a:r>
              <a:rPr kumimoji="1" lang="en-US" altLang="de-DE" sz="1600" b="0" dirty="0">
                <a:solidFill>
                  <a:schemeClr val="bg1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olitical</a:t>
            </a:r>
          </a:p>
          <a:p>
            <a:pPr eaLnBrk="1" hangingPunct="1">
              <a:lnSpc>
                <a:spcPts val="1800"/>
              </a:lnSpc>
              <a:spcBef>
                <a:spcPct val="0"/>
              </a:spcBef>
              <a:buFontTx/>
              <a:buNone/>
              <a:defRPr/>
            </a:pPr>
            <a:r>
              <a:rPr kumimoji="1" lang="en-US" altLang="de-DE" sz="1600" u="sng" dirty="0">
                <a:solidFill>
                  <a:schemeClr val="bg1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E</a:t>
            </a:r>
            <a:r>
              <a:rPr kumimoji="1" lang="en-US" altLang="de-DE" sz="1600" b="0" dirty="0">
                <a:solidFill>
                  <a:schemeClr val="bg1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conomic</a:t>
            </a:r>
          </a:p>
          <a:p>
            <a:pPr eaLnBrk="1" hangingPunct="1">
              <a:lnSpc>
                <a:spcPts val="1800"/>
              </a:lnSpc>
              <a:spcBef>
                <a:spcPct val="0"/>
              </a:spcBef>
              <a:buFontTx/>
              <a:buNone/>
              <a:defRPr/>
            </a:pPr>
            <a:r>
              <a:rPr kumimoji="1" lang="en-US" altLang="de-DE" sz="1600" u="sng" dirty="0">
                <a:solidFill>
                  <a:schemeClr val="bg1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S</a:t>
            </a:r>
            <a:r>
              <a:rPr kumimoji="1" lang="en-US" altLang="de-DE" sz="1600" b="0" dirty="0">
                <a:solidFill>
                  <a:schemeClr val="bg1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ocietal</a:t>
            </a:r>
          </a:p>
          <a:p>
            <a:pPr eaLnBrk="1" hangingPunct="1">
              <a:lnSpc>
                <a:spcPts val="1800"/>
              </a:lnSpc>
              <a:spcBef>
                <a:spcPct val="0"/>
              </a:spcBef>
              <a:buFontTx/>
              <a:buNone/>
              <a:defRPr/>
            </a:pPr>
            <a:r>
              <a:rPr kumimoji="1" lang="en-US" altLang="de-DE" sz="1600" u="sng" dirty="0">
                <a:solidFill>
                  <a:schemeClr val="bg1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T</a:t>
            </a:r>
            <a:r>
              <a:rPr kumimoji="1" lang="en-US" altLang="de-DE" sz="1600" b="0" dirty="0">
                <a:solidFill>
                  <a:schemeClr val="bg1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echnological</a:t>
            </a:r>
          </a:p>
          <a:p>
            <a:pPr eaLnBrk="1" hangingPunct="1">
              <a:lnSpc>
                <a:spcPts val="1800"/>
              </a:lnSpc>
              <a:spcBef>
                <a:spcPct val="0"/>
              </a:spcBef>
              <a:buFontTx/>
              <a:buNone/>
              <a:defRPr/>
            </a:pPr>
            <a:r>
              <a:rPr kumimoji="1" lang="en-US" altLang="de-DE" sz="1600" b="0" dirty="0">
                <a:solidFill>
                  <a:schemeClr val="bg1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(+ </a:t>
            </a:r>
            <a:r>
              <a:rPr kumimoji="1" lang="en-US" altLang="de-DE" sz="1600" u="sng" dirty="0" err="1">
                <a:solidFill>
                  <a:schemeClr val="bg1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E</a:t>
            </a:r>
            <a:r>
              <a:rPr kumimoji="1" lang="en-US" altLang="de-DE" sz="1600" b="0" dirty="0" err="1">
                <a:solidFill>
                  <a:schemeClr val="bg1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nvironm</a:t>
            </a:r>
            <a:r>
              <a:rPr kumimoji="1" lang="en-US" altLang="de-DE" sz="1600" b="0" dirty="0">
                <a:solidFill>
                  <a:schemeClr val="bg1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.)</a:t>
            </a:r>
          </a:p>
          <a:p>
            <a:pPr eaLnBrk="1" hangingPunct="1">
              <a:lnSpc>
                <a:spcPts val="1800"/>
              </a:lnSpc>
              <a:spcBef>
                <a:spcPct val="0"/>
              </a:spcBef>
              <a:buFontTx/>
              <a:buNone/>
              <a:defRPr/>
            </a:pPr>
            <a:r>
              <a:rPr kumimoji="1" lang="en-US" altLang="de-DE" sz="1600" b="0" dirty="0">
                <a:solidFill>
                  <a:schemeClr val="bg1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(+ </a:t>
            </a:r>
            <a:r>
              <a:rPr kumimoji="1" lang="en-US" altLang="de-DE" sz="1600" u="sng" dirty="0">
                <a:solidFill>
                  <a:schemeClr val="bg1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L</a:t>
            </a:r>
            <a:r>
              <a:rPr kumimoji="1" lang="en-US" altLang="de-DE" sz="1600" b="0" dirty="0">
                <a:solidFill>
                  <a:schemeClr val="bg1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egal)</a:t>
            </a:r>
          </a:p>
        </p:txBody>
      </p:sp>
      <p:grpSp>
        <p:nvGrpSpPr>
          <p:cNvPr id="10" name="Gruppieren 17"/>
          <p:cNvGrpSpPr>
            <a:grpSpLocks/>
          </p:cNvGrpSpPr>
          <p:nvPr/>
        </p:nvGrpSpPr>
        <p:grpSpPr bwMode="auto">
          <a:xfrm rot="2086399" flipH="1">
            <a:off x="2115268" y="2161080"/>
            <a:ext cx="1655366" cy="213669"/>
            <a:chOff x="6081987" y="2061036"/>
            <a:chExt cx="1080100" cy="144389"/>
          </a:xfrm>
        </p:grpSpPr>
        <p:cxnSp>
          <p:nvCxnSpPr>
            <p:cNvPr id="11" name="Gerade Verbindung 10"/>
            <p:cNvCxnSpPr>
              <a:cxnSpLocks noChangeShapeType="1"/>
            </p:cNvCxnSpPr>
            <p:nvPr/>
          </p:nvCxnSpPr>
          <p:spPr bwMode="auto">
            <a:xfrm flipV="1">
              <a:off x="6081987" y="2061036"/>
              <a:ext cx="864522" cy="273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2" name="Gerade Verbindung 12"/>
            <p:cNvCxnSpPr>
              <a:cxnSpLocks noChangeShapeType="1"/>
            </p:cNvCxnSpPr>
            <p:nvPr/>
          </p:nvCxnSpPr>
          <p:spPr bwMode="auto">
            <a:xfrm>
              <a:off x="6946509" y="2061036"/>
              <a:ext cx="215578" cy="144389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13" name="Abgerundetes Rechteck 15"/>
          <p:cNvSpPr>
            <a:spLocks noChangeArrowheads="1"/>
          </p:cNvSpPr>
          <p:nvPr/>
        </p:nvSpPr>
        <p:spPr bwMode="auto">
          <a:xfrm>
            <a:off x="401470" y="3009628"/>
            <a:ext cx="1862306" cy="720725"/>
          </a:xfrm>
          <a:prstGeom prst="roundRect">
            <a:avLst>
              <a:gd name="adj" fmla="val 16667"/>
            </a:avLst>
          </a:prstGeom>
          <a:solidFill>
            <a:schemeClr val="bg1">
              <a:lumMod val="95000"/>
            </a:schemeClr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222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Font typeface="Wingdings" pitchFamily="2" charset="2"/>
              <a:defRPr sz="2000" b="1">
                <a:solidFill>
                  <a:srgbClr val="336699"/>
                </a:solidFill>
                <a:latin typeface="Verdana" pitchFamily="34" charset="0"/>
                <a:ea typeface="ＭＳ Ｐゴシック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Font typeface="Wingdings" pitchFamily="2" charset="2"/>
              <a:buChar char="§"/>
              <a:defRPr>
                <a:solidFill>
                  <a:schemeClr val="tx1"/>
                </a:solidFill>
                <a:latin typeface="Verdana" pitchFamily="34" charset="0"/>
                <a:ea typeface="ＭＳ Ｐゴシック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Font typeface="Wingdings" pitchFamily="2" charset="2"/>
              <a:buChar char="§"/>
              <a:defRPr>
                <a:solidFill>
                  <a:schemeClr val="tx1"/>
                </a:solidFill>
                <a:latin typeface="Verdana" pitchFamily="34" charset="0"/>
                <a:ea typeface="ＭＳ Ｐゴシック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Font typeface="Wingdings" pitchFamily="2" charset="2"/>
              <a:buChar char="§"/>
              <a:defRPr>
                <a:solidFill>
                  <a:schemeClr val="tx1"/>
                </a:solidFill>
                <a:latin typeface="Verdana" pitchFamily="34" charset="0"/>
                <a:ea typeface="ＭＳ Ｐゴシック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Verdana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Verdana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Verdana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Verdana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Verdana" pitchFamily="34" charset="0"/>
                <a:ea typeface="ＭＳ Ｐゴシック" pitchFamily="34" charset="-128"/>
              </a:defRPr>
            </a:lvl9pPr>
          </a:lstStyle>
          <a:p>
            <a:pPr algn="ctr" eaLnBrk="1" hangingPunct="1">
              <a:lnSpc>
                <a:spcPts val="1800"/>
              </a:lnSpc>
              <a:spcBef>
                <a:spcPct val="0"/>
              </a:spcBef>
              <a:buFontTx/>
              <a:buNone/>
            </a:pPr>
            <a:r>
              <a:rPr kumimoji="1" lang="en-US" altLang="de-DE" sz="1600" dirty="0">
                <a:solidFill>
                  <a:srgbClr val="75A3D1"/>
                </a:solidFill>
              </a:rPr>
              <a:t>Tool:</a:t>
            </a:r>
          </a:p>
          <a:p>
            <a:pPr algn="ctr" eaLnBrk="1" hangingPunct="1">
              <a:lnSpc>
                <a:spcPts val="1800"/>
              </a:lnSpc>
              <a:spcBef>
                <a:spcPct val="0"/>
              </a:spcBef>
              <a:buFontTx/>
              <a:buNone/>
            </a:pPr>
            <a:r>
              <a:rPr kumimoji="1" lang="en-US" altLang="de-DE" sz="1600" dirty="0">
                <a:solidFill>
                  <a:srgbClr val="75A3D1"/>
                </a:solidFill>
              </a:rPr>
              <a:t>“PEST(-EL)”</a:t>
            </a:r>
          </a:p>
        </p:txBody>
      </p:sp>
      <p:sp>
        <p:nvSpPr>
          <p:cNvPr id="14" name="Abgerundetes Rechteck 27"/>
          <p:cNvSpPr>
            <a:spLocks noChangeArrowheads="1"/>
          </p:cNvSpPr>
          <p:nvPr/>
        </p:nvSpPr>
        <p:spPr bwMode="auto">
          <a:xfrm>
            <a:off x="6986646" y="1530974"/>
            <a:ext cx="1833563" cy="1081088"/>
          </a:xfrm>
          <a:prstGeom prst="roundRect">
            <a:avLst>
              <a:gd name="adj" fmla="val 16667"/>
            </a:avLst>
          </a:prstGeom>
          <a:solidFill>
            <a:srgbClr val="336699"/>
          </a:solidFill>
          <a:ln>
            <a:noFill/>
          </a:ln>
        </p:spPr>
        <p:txBody>
          <a:bodyPr anchor="ctr"/>
          <a:lstStyle>
            <a:lvl1pPr eaLnBrk="0" hangingPunct="0">
              <a:spcBef>
                <a:spcPct val="20000"/>
              </a:spcBef>
              <a:buFont typeface="Wingdings" pitchFamily="2" charset="2"/>
              <a:defRPr sz="2000" b="1">
                <a:solidFill>
                  <a:srgbClr val="336699"/>
                </a:solidFill>
                <a:latin typeface="Verdana" pitchFamily="34" charset="0"/>
                <a:ea typeface="ＭＳ Ｐゴシック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Font typeface="Wingdings" pitchFamily="2" charset="2"/>
              <a:buChar char="§"/>
              <a:defRPr>
                <a:solidFill>
                  <a:schemeClr val="tx1"/>
                </a:solidFill>
                <a:latin typeface="Verdana" pitchFamily="34" charset="0"/>
                <a:ea typeface="ＭＳ Ｐゴシック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Font typeface="Wingdings" pitchFamily="2" charset="2"/>
              <a:buChar char="§"/>
              <a:defRPr>
                <a:solidFill>
                  <a:schemeClr val="tx1"/>
                </a:solidFill>
                <a:latin typeface="Verdana" pitchFamily="34" charset="0"/>
                <a:ea typeface="ＭＳ Ｐゴシック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Font typeface="Wingdings" pitchFamily="2" charset="2"/>
              <a:buChar char="§"/>
              <a:defRPr>
                <a:solidFill>
                  <a:schemeClr val="tx1"/>
                </a:solidFill>
                <a:latin typeface="Verdana" pitchFamily="34" charset="0"/>
                <a:ea typeface="ＭＳ Ｐゴシック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Verdana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Verdana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Verdana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Verdana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Verdana" pitchFamily="34" charset="0"/>
                <a:ea typeface="ＭＳ Ｐゴシック" pitchFamily="34" charset="-128"/>
              </a:defRPr>
            </a:lvl9pPr>
          </a:lstStyle>
          <a:p>
            <a:pPr algn="ctr" eaLnBrk="1" hangingPunct="1">
              <a:lnSpc>
                <a:spcPts val="1800"/>
              </a:lnSpc>
              <a:spcBef>
                <a:spcPct val="0"/>
              </a:spcBef>
              <a:buFontTx/>
              <a:buNone/>
              <a:defRPr/>
            </a:pPr>
            <a:r>
              <a:rPr kumimoji="1" lang="en-US" altLang="de-DE" sz="1800" dirty="0">
                <a:solidFill>
                  <a:schemeClr val="bg1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Industry analysis</a:t>
            </a:r>
          </a:p>
        </p:txBody>
      </p:sp>
      <p:grpSp>
        <p:nvGrpSpPr>
          <p:cNvPr id="15" name="Gruppieren 30"/>
          <p:cNvGrpSpPr>
            <a:grpSpLocks/>
          </p:cNvGrpSpPr>
          <p:nvPr/>
        </p:nvGrpSpPr>
        <p:grpSpPr bwMode="auto">
          <a:xfrm flipH="1">
            <a:off x="5148063" y="2060849"/>
            <a:ext cx="2085975" cy="1800200"/>
            <a:chOff x="1979712" y="1916832"/>
            <a:chExt cx="1872208" cy="936104"/>
          </a:xfrm>
        </p:grpSpPr>
        <p:cxnSp>
          <p:nvCxnSpPr>
            <p:cNvPr id="16" name="Gerade Verbindung 22"/>
            <p:cNvCxnSpPr>
              <a:cxnSpLocks noChangeShapeType="1"/>
            </p:cNvCxnSpPr>
            <p:nvPr/>
          </p:nvCxnSpPr>
          <p:spPr bwMode="auto">
            <a:xfrm rot="10800000">
              <a:off x="2195736" y="1916832"/>
              <a:ext cx="1656184" cy="936104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7" name="Gerade Verbindung 24"/>
            <p:cNvCxnSpPr>
              <a:cxnSpLocks noChangeShapeType="1"/>
            </p:cNvCxnSpPr>
            <p:nvPr/>
          </p:nvCxnSpPr>
          <p:spPr bwMode="auto">
            <a:xfrm rot="10800000">
              <a:off x="1979712" y="1916832"/>
              <a:ext cx="216024" cy="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18" name="Abgerundetes Rechteck 27"/>
          <p:cNvSpPr>
            <a:spLocks noChangeArrowheads="1"/>
          </p:cNvSpPr>
          <p:nvPr/>
        </p:nvSpPr>
        <p:spPr bwMode="auto">
          <a:xfrm>
            <a:off x="6986647" y="2714517"/>
            <a:ext cx="1833504" cy="720725"/>
          </a:xfrm>
          <a:prstGeom prst="roundRect">
            <a:avLst>
              <a:gd name="adj" fmla="val 16667"/>
            </a:avLst>
          </a:prstGeom>
          <a:solidFill>
            <a:schemeClr val="bg1">
              <a:lumMod val="95000"/>
            </a:schemeClr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222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Font typeface="Wingdings" pitchFamily="2" charset="2"/>
              <a:defRPr sz="2000" b="1">
                <a:solidFill>
                  <a:srgbClr val="336699"/>
                </a:solidFill>
                <a:latin typeface="Verdana" pitchFamily="34" charset="0"/>
                <a:ea typeface="ＭＳ Ｐゴシック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Font typeface="Wingdings" pitchFamily="2" charset="2"/>
              <a:buChar char="§"/>
              <a:defRPr>
                <a:solidFill>
                  <a:schemeClr val="tx1"/>
                </a:solidFill>
                <a:latin typeface="Verdana" pitchFamily="34" charset="0"/>
                <a:ea typeface="ＭＳ Ｐゴシック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Font typeface="Wingdings" pitchFamily="2" charset="2"/>
              <a:buChar char="§"/>
              <a:defRPr>
                <a:solidFill>
                  <a:schemeClr val="tx1"/>
                </a:solidFill>
                <a:latin typeface="Verdana" pitchFamily="34" charset="0"/>
                <a:ea typeface="ＭＳ Ｐゴシック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Font typeface="Wingdings" pitchFamily="2" charset="2"/>
              <a:buChar char="§"/>
              <a:defRPr>
                <a:solidFill>
                  <a:schemeClr val="tx1"/>
                </a:solidFill>
                <a:latin typeface="Verdana" pitchFamily="34" charset="0"/>
                <a:ea typeface="ＭＳ Ｐゴシック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Verdana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Verdana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Verdana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Verdana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Verdana" pitchFamily="34" charset="0"/>
                <a:ea typeface="ＭＳ Ｐゴシック" pitchFamily="34" charset="-128"/>
              </a:defRPr>
            </a:lvl9pPr>
          </a:lstStyle>
          <a:p>
            <a:pPr algn="ctr" eaLnBrk="1" hangingPunct="1">
              <a:lnSpc>
                <a:spcPts val="1800"/>
              </a:lnSpc>
              <a:spcBef>
                <a:spcPct val="0"/>
              </a:spcBef>
              <a:buFontTx/>
              <a:buNone/>
            </a:pPr>
            <a:r>
              <a:rPr kumimoji="1" lang="en-US" altLang="de-DE" sz="1600" dirty="0">
                <a:solidFill>
                  <a:srgbClr val="75A3D1"/>
                </a:solidFill>
              </a:rPr>
              <a:t>Tool:</a:t>
            </a:r>
          </a:p>
          <a:p>
            <a:pPr algn="ctr" eaLnBrk="1" hangingPunct="1">
              <a:lnSpc>
                <a:spcPts val="1800"/>
              </a:lnSpc>
              <a:spcBef>
                <a:spcPct val="0"/>
              </a:spcBef>
              <a:buFontTx/>
              <a:buNone/>
            </a:pPr>
            <a:r>
              <a:rPr kumimoji="1" lang="en-US" altLang="de-DE" sz="1600" dirty="0">
                <a:solidFill>
                  <a:srgbClr val="75A3D1"/>
                </a:solidFill>
              </a:rPr>
              <a:t>“Porter Five Forces”</a:t>
            </a:r>
          </a:p>
        </p:txBody>
      </p:sp>
      <p:cxnSp>
        <p:nvCxnSpPr>
          <p:cNvPr id="19" name="Gekrümmter Verbinder 3"/>
          <p:cNvCxnSpPr>
            <a:stCxn id="8" idx="3"/>
            <a:endCxn id="7" idx="7"/>
          </p:cNvCxnSpPr>
          <p:nvPr/>
        </p:nvCxnSpPr>
        <p:spPr bwMode="auto">
          <a:xfrm>
            <a:off x="4401485" y="2821578"/>
            <a:ext cx="784846" cy="660440"/>
          </a:xfrm>
          <a:prstGeom prst="curved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0" name="Gekrümmter Verbinder 5"/>
          <p:cNvCxnSpPr>
            <a:stCxn id="8" idx="1"/>
            <a:endCxn id="7" idx="3"/>
          </p:cNvCxnSpPr>
          <p:nvPr/>
        </p:nvCxnSpPr>
        <p:spPr bwMode="auto">
          <a:xfrm rot="10800000" flipH="1" flipV="1">
            <a:off x="3275855" y="2821577"/>
            <a:ext cx="653239" cy="1511319"/>
          </a:xfrm>
          <a:prstGeom prst="curvedConnector4">
            <a:avLst>
              <a:gd name="adj1" fmla="val -34995"/>
              <a:gd name="adj2" fmla="val 126786"/>
            </a:avLst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1" name="Gekrümmter Verbinder 7"/>
          <p:cNvCxnSpPr>
            <a:stCxn id="8" idx="2"/>
            <a:endCxn id="7" idx="0"/>
          </p:cNvCxnSpPr>
          <p:nvPr/>
        </p:nvCxnSpPr>
        <p:spPr bwMode="auto">
          <a:xfrm rot="16200000" flipH="1">
            <a:off x="4048417" y="2796498"/>
            <a:ext cx="299551" cy="719042"/>
          </a:xfrm>
          <a:prstGeom prst="curvedConnector3">
            <a:avLst>
              <a:gd name="adj1" fmla="val 50000"/>
            </a:avLst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2" name="Gekrümmter Verbinder 9"/>
          <p:cNvCxnSpPr>
            <a:stCxn id="8" idx="2"/>
            <a:endCxn id="7" idx="2"/>
          </p:cNvCxnSpPr>
          <p:nvPr/>
        </p:nvCxnSpPr>
        <p:spPr bwMode="auto">
          <a:xfrm rot="5400000">
            <a:off x="3303085" y="3371872"/>
            <a:ext cx="901214" cy="169958"/>
          </a:xfrm>
          <a:prstGeom prst="curvedConnector4">
            <a:avLst>
              <a:gd name="adj1" fmla="val 16619"/>
              <a:gd name="adj2" fmla="val 234504"/>
            </a:avLst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3" name="Rechteck 11"/>
          <p:cNvSpPr/>
          <p:nvPr/>
        </p:nvSpPr>
        <p:spPr bwMode="auto">
          <a:xfrm>
            <a:off x="2843808" y="2996951"/>
            <a:ext cx="2602905" cy="216025"/>
          </a:xfrm>
          <a:prstGeom prst="rect">
            <a:avLst/>
          </a:prstGeom>
          <a:solidFill>
            <a:srgbClr val="75A3D1">
              <a:alpha val="50196"/>
            </a:srgbClr>
          </a:solidFill>
          <a:ln w="22225">
            <a:noFill/>
            <a:round/>
            <a:headEnd/>
            <a:tailEnd/>
          </a:ln>
        </p:spPr>
        <p:txBody>
          <a:bodyPr rtlCol="0" anchor="ctr" anchorCtr="0"/>
          <a:lstStyle/>
          <a:p>
            <a:pPr algn="ctr">
              <a:lnSpc>
                <a:spcPts val="1800"/>
              </a:lnSpc>
            </a:pPr>
            <a:r>
              <a:rPr kumimoji="1" lang="en-US" dirty="0">
                <a:solidFill>
                  <a:schemeClr val="bg1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INFLUENCES</a:t>
            </a:r>
          </a:p>
        </p:txBody>
      </p:sp>
    </p:spTree>
    <p:extLst>
      <p:ext uri="{BB962C8B-B14F-4D97-AF65-F5344CB8AC3E}">
        <p14:creationId xmlns:p14="http://schemas.microsoft.com/office/powerpoint/2010/main" val="15015266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AA44501-30D4-4910-9B68-5231643A423F}" type="slidenum">
              <a:rPr lang="en-US" smtClean="0"/>
              <a:pPr>
                <a:defRPr/>
              </a:pPr>
              <a:t>8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altLang="de-DE" dirty="0">
                <a:ea typeface="ＭＳ Ｐゴシック" pitchFamily="34" charset="-128"/>
              </a:rPr>
              <a:t>Strategy links the firm and its external environment</a:t>
            </a:r>
          </a:p>
          <a:p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b="1" dirty="0"/>
              <a:t>Source: </a:t>
            </a:r>
            <a:r>
              <a:rPr lang="en-US" dirty="0"/>
              <a:t>Grant, 2010</a:t>
            </a:r>
          </a:p>
        </p:txBody>
      </p:sp>
      <p:sp>
        <p:nvSpPr>
          <p:cNvPr id="6" name="Abgerundetes Rechteck 44"/>
          <p:cNvSpPr/>
          <p:nvPr/>
        </p:nvSpPr>
        <p:spPr bwMode="auto">
          <a:xfrm>
            <a:off x="611560" y="1284371"/>
            <a:ext cx="2520000" cy="36000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22225">
            <a:noFill/>
            <a:round/>
            <a:headEnd/>
            <a:tailEnd/>
          </a:ln>
        </p:spPr>
        <p:txBody>
          <a:bodyPr rtlCol="0" anchor="ctr" anchorCtr="0"/>
          <a:lstStyle/>
          <a:p>
            <a:pPr algn="ctr">
              <a:lnSpc>
                <a:spcPts val="1800"/>
              </a:lnSpc>
            </a:pPr>
            <a:r>
              <a:rPr kumimoji="1" lang="en-US" dirty="0">
                <a:ea typeface="Verdana" panose="020B0604030504040204" pitchFamily="34" charset="0"/>
                <a:cs typeface="Verdana" panose="020B0604030504040204" pitchFamily="34" charset="0"/>
              </a:rPr>
              <a:t>Focal firm</a:t>
            </a:r>
          </a:p>
        </p:txBody>
      </p:sp>
      <p:grpSp>
        <p:nvGrpSpPr>
          <p:cNvPr id="7" name="Gruppieren 3"/>
          <p:cNvGrpSpPr/>
          <p:nvPr/>
        </p:nvGrpSpPr>
        <p:grpSpPr>
          <a:xfrm>
            <a:off x="3490582" y="2221619"/>
            <a:ext cx="3240000" cy="2160000"/>
            <a:chOff x="709038" y="2780928"/>
            <a:chExt cx="3240000" cy="2160000"/>
          </a:xfrm>
        </p:grpSpPr>
        <p:sp>
          <p:nvSpPr>
            <p:cNvPr id="8" name="Rechteck 1"/>
            <p:cNvSpPr/>
            <p:nvPr/>
          </p:nvSpPr>
          <p:spPr bwMode="auto">
            <a:xfrm>
              <a:off x="2329038" y="2780928"/>
              <a:ext cx="1620000" cy="1080000"/>
            </a:xfrm>
            <a:prstGeom prst="rect">
              <a:avLst/>
            </a:prstGeom>
            <a:solidFill>
              <a:srgbClr val="75A3D1"/>
            </a:solidFill>
            <a:ln w="22225">
              <a:noFill/>
              <a:round/>
              <a:headEnd/>
              <a:tailEnd/>
            </a:ln>
          </p:spPr>
          <p:txBody>
            <a:bodyPr rtlCol="0" anchor="ctr" anchorCtr="0"/>
            <a:lstStyle/>
            <a:p>
              <a:pPr algn="ctr">
                <a:lnSpc>
                  <a:spcPts val="1800"/>
                </a:lnSpc>
              </a:pPr>
              <a:r>
                <a:rPr kumimoji="1" lang="en-US" sz="1600" dirty="0">
                  <a:solidFill>
                    <a:schemeClr val="bg1"/>
                  </a:solidFill>
                  <a:ea typeface="Verdana" panose="020B0604030504040204" pitchFamily="34" charset="0"/>
                  <a:cs typeface="Verdana" panose="020B0604030504040204" pitchFamily="34" charset="0"/>
                </a:rPr>
                <a:t>Weaknesses</a:t>
              </a:r>
            </a:p>
          </p:txBody>
        </p:sp>
        <p:sp>
          <p:nvSpPr>
            <p:cNvPr id="9" name="Rechteck 15"/>
            <p:cNvSpPr/>
            <p:nvPr/>
          </p:nvSpPr>
          <p:spPr bwMode="auto">
            <a:xfrm>
              <a:off x="709038" y="2780928"/>
              <a:ext cx="1620000" cy="1080000"/>
            </a:xfrm>
            <a:prstGeom prst="rect">
              <a:avLst/>
            </a:prstGeom>
            <a:solidFill>
              <a:srgbClr val="336699"/>
            </a:solidFill>
            <a:ln w="22225">
              <a:noFill/>
              <a:round/>
              <a:headEnd/>
              <a:tailEnd/>
            </a:ln>
          </p:spPr>
          <p:txBody>
            <a:bodyPr rtlCol="0" anchor="ctr" anchorCtr="0"/>
            <a:lstStyle/>
            <a:p>
              <a:pPr algn="ctr">
                <a:lnSpc>
                  <a:spcPts val="1800"/>
                </a:lnSpc>
              </a:pPr>
              <a:r>
                <a:rPr kumimoji="1" lang="en-US" sz="1600" dirty="0">
                  <a:solidFill>
                    <a:schemeClr val="bg1"/>
                  </a:solidFill>
                  <a:ea typeface="Verdana" panose="020B0604030504040204" pitchFamily="34" charset="0"/>
                  <a:cs typeface="Verdana" panose="020B0604030504040204" pitchFamily="34" charset="0"/>
                </a:rPr>
                <a:t>Strengths</a:t>
              </a:r>
            </a:p>
          </p:txBody>
        </p:sp>
        <p:sp>
          <p:nvSpPr>
            <p:cNvPr id="10" name="Rechteck 17"/>
            <p:cNvSpPr/>
            <p:nvPr/>
          </p:nvSpPr>
          <p:spPr bwMode="auto">
            <a:xfrm>
              <a:off x="709038" y="3860928"/>
              <a:ext cx="1620000" cy="1080000"/>
            </a:xfrm>
            <a:prstGeom prst="rect">
              <a:avLst/>
            </a:prstGeom>
            <a:solidFill>
              <a:srgbClr val="75A3D1"/>
            </a:solidFill>
            <a:ln w="22225">
              <a:noFill/>
              <a:round/>
              <a:headEnd/>
              <a:tailEnd/>
            </a:ln>
          </p:spPr>
          <p:txBody>
            <a:bodyPr rtlCol="0" anchor="ctr" anchorCtr="0"/>
            <a:lstStyle/>
            <a:p>
              <a:pPr algn="ctr">
                <a:lnSpc>
                  <a:spcPts val="1800"/>
                </a:lnSpc>
              </a:pPr>
              <a:r>
                <a:rPr kumimoji="1" lang="en-US" sz="1600" dirty="0">
                  <a:solidFill>
                    <a:schemeClr val="bg1"/>
                  </a:solidFill>
                  <a:ea typeface="Verdana" panose="020B0604030504040204" pitchFamily="34" charset="0"/>
                  <a:cs typeface="Verdana" panose="020B0604030504040204" pitchFamily="34" charset="0"/>
                </a:rPr>
                <a:t>Opportunities</a:t>
              </a:r>
            </a:p>
          </p:txBody>
        </p:sp>
        <p:sp>
          <p:nvSpPr>
            <p:cNvPr id="11" name="Rechteck 18"/>
            <p:cNvSpPr/>
            <p:nvPr/>
          </p:nvSpPr>
          <p:spPr bwMode="auto">
            <a:xfrm>
              <a:off x="2329038" y="3860928"/>
              <a:ext cx="1620000" cy="1080000"/>
            </a:xfrm>
            <a:prstGeom prst="rect">
              <a:avLst/>
            </a:prstGeom>
            <a:solidFill>
              <a:srgbClr val="336699"/>
            </a:solidFill>
            <a:ln w="22225">
              <a:noFill/>
              <a:round/>
              <a:headEnd/>
              <a:tailEnd/>
            </a:ln>
          </p:spPr>
          <p:txBody>
            <a:bodyPr rtlCol="0" anchor="ctr" anchorCtr="0"/>
            <a:lstStyle/>
            <a:p>
              <a:pPr algn="ctr">
                <a:lnSpc>
                  <a:spcPts val="1800"/>
                </a:lnSpc>
              </a:pPr>
              <a:r>
                <a:rPr kumimoji="1" lang="en-US" sz="1600" dirty="0">
                  <a:solidFill>
                    <a:schemeClr val="bg1"/>
                  </a:solidFill>
                  <a:ea typeface="Verdana" panose="020B0604030504040204" pitchFamily="34" charset="0"/>
                  <a:cs typeface="Verdana" panose="020B0604030504040204" pitchFamily="34" charset="0"/>
                </a:rPr>
                <a:t>Threats</a:t>
              </a:r>
            </a:p>
          </p:txBody>
        </p:sp>
      </p:grpSp>
      <p:sp>
        <p:nvSpPr>
          <p:cNvPr id="12" name="Rechteck 4"/>
          <p:cNvSpPr/>
          <p:nvPr/>
        </p:nvSpPr>
        <p:spPr bwMode="auto">
          <a:xfrm>
            <a:off x="7236296" y="2221619"/>
            <a:ext cx="1583854" cy="2160000"/>
          </a:xfrm>
          <a:prstGeom prst="rect">
            <a:avLst/>
          </a:prstGeom>
          <a:noFill/>
          <a:ln w="22225">
            <a:noFill/>
            <a:round/>
            <a:headEnd/>
            <a:tailEnd/>
          </a:ln>
        </p:spPr>
        <p:txBody>
          <a:bodyPr rtlCol="0" anchor="ctr" anchorCtr="0"/>
          <a:lstStyle/>
          <a:p>
            <a:pPr algn="ctr">
              <a:lnSpc>
                <a:spcPts val="1800"/>
              </a:lnSpc>
            </a:pPr>
            <a:r>
              <a:rPr kumimoji="1" lang="en-US" sz="1600" dirty="0">
                <a:ea typeface="Verdana" panose="020B0604030504040204" pitchFamily="34" charset="0"/>
                <a:cs typeface="Verdana" panose="020B0604030504040204" pitchFamily="34" charset="0"/>
              </a:rPr>
              <a:t>Strategy to build and sustain competitive advantage</a:t>
            </a:r>
          </a:p>
        </p:txBody>
      </p:sp>
      <p:sp>
        <p:nvSpPr>
          <p:cNvPr id="13" name="Gleichschenkliges Dreieck 5"/>
          <p:cNvSpPr/>
          <p:nvPr/>
        </p:nvSpPr>
        <p:spPr bwMode="auto">
          <a:xfrm rot="5400000">
            <a:off x="5904088" y="3211619"/>
            <a:ext cx="2160000" cy="180000"/>
          </a:xfrm>
          <a:prstGeom prst="triangle">
            <a:avLst/>
          </a:prstGeom>
          <a:solidFill>
            <a:srgbClr val="B4CDE6"/>
          </a:solidFill>
          <a:ln w="22225">
            <a:noFill/>
            <a:round/>
            <a:headEnd/>
            <a:tailEnd/>
          </a:ln>
        </p:spPr>
        <p:txBody>
          <a:bodyPr rtlCol="0" anchor="ctr" anchorCtr="0"/>
          <a:lstStyle/>
          <a:p>
            <a:pPr algn="l">
              <a:lnSpc>
                <a:spcPts val="1800"/>
              </a:lnSpc>
            </a:pPr>
            <a:endParaRPr kumimoji="1" lang="en-US" sz="1800" dirty="0">
              <a:solidFill>
                <a:schemeClr val="bg1"/>
              </a:solidFill>
              <a:latin typeface="Arial" pitchFamily="34" charset="0"/>
            </a:endParaRPr>
          </a:p>
        </p:txBody>
      </p:sp>
      <p:cxnSp>
        <p:nvCxnSpPr>
          <p:cNvPr id="14" name="Gerade Verbindung mit Pfeil 12"/>
          <p:cNvCxnSpPr/>
          <p:nvPr/>
        </p:nvCxnSpPr>
        <p:spPr bwMode="auto">
          <a:xfrm>
            <a:off x="3131560" y="1464371"/>
            <a:ext cx="720320" cy="0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5" name="Gerade Verbindung mit Pfeil 14"/>
          <p:cNvCxnSpPr/>
          <p:nvPr/>
        </p:nvCxnSpPr>
        <p:spPr bwMode="auto">
          <a:xfrm>
            <a:off x="3131560" y="4868867"/>
            <a:ext cx="719022" cy="180000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6" name="Gerade Verbindung mit Pfeil 37"/>
          <p:cNvCxnSpPr/>
          <p:nvPr/>
        </p:nvCxnSpPr>
        <p:spPr bwMode="auto">
          <a:xfrm flipV="1">
            <a:off x="3129626" y="5228867"/>
            <a:ext cx="720956" cy="182567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7" name="Gleichschenkliges Dreieck 42"/>
          <p:cNvSpPr/>
          <p:nvPr/>
        </p:nvSpPr>
        <p:spPr bwMode="auto">
          <a:xfrm rot="10800000">
            <a:off x="4031880" y="1887995"/>
            <a:ext cx="2160000" cy="180000"/>
          </a:xfrm>
          <a:prstGeom prst="triangle">
            <a:avLst/>
          </a:prstGeom>
          <a:solidFill>
            <a:srgbClr val="B4CDE6"/>
          </a:solidFill>
          <a:ln w="22225">
            <a:noFill/>
            <a:round/>
            <a:headEnd/>
            <a:tailEnd/>
          </a:ln>
        </p:spPr>
        <p:txBody>
          <a:bodyPr rtlCol="0" anchor="ctr" anchorCtr="0"/>
          <a:lstStyle/>
          <a:p>
            <a:pPr algn="l">
              <a:lnSpc>
                <a:spcPts val="1800"/>
              </a:lnSpc>
            </a:pPr>
            <a:endParaRPr kumimoji="1" lang="en-US" sz="1800" dirty="0">
              <a:solidFill>
                <a:schemeClr val="bg1"/>
              </a:solidFill>
              <a:latin typeface="Arial" pitchFamily="34" charset="0"/>
            </a:endParaRPr>
          </a:p>
        </p:txBody>
      </p:sp>
      <p:sp>
        <p:nvSpPr>
          <p:cNvPr id="18" name="Gleichschenkliges Dreieck 43"/>
          <p:cNvSpPr/>
          <p:nvPr/>
        </p:nvSpPr>
        <p:spPr bwMode="auto">
          <a:xfrm rot="10800000" flipV="1">
            <a:off x="4031881" y="4535243"/>
            <a:ext cx="2160000" cy="180000"/>
          </a:xfrm>
          <a:prstGeom prst="triangle">
            <a:avLst/>
          </a:prstGeom>
          <a:solidFill>
            <a:srgbClr val="B4CDE6"/>
          </a:solidFill>
          <a:ln w="22225">
            <a:noFill/>
            <a:round/>
            <a:headEnd/>
            <a:tailEnd/>
          </a:ln>
        </p:spPr>
        <p:txBody>
          <a:bodyPr rtlCol="0" anchor="ctr" anchorCtr="0"/>
          <a:lstStyle/>
          <a:p>
            <a:pPr algn="l">
              <a:lnSpc>
                <a:spcPts val="1800"/>
              </a:lnSpc>
            </a:pPr>
            <a:endParaRPr kumimoji="1" lang="en-US" sz="1800" dirty="0">
              <a:solidFill>
                <a:schemeClr val="bg1"/>
              </a:solidFill>
              <a:latin typeface="Arial" pitchFamily="34" charset="0"/>
            </a:endParaRPr>
          </a:p>
        </p:txBody>
      </p:sp>
      <p:sp>
        <p:nvSpPr>
          <p:cNvPr id="19" name="Rechteck 45"/>
          <p:cNvSpPr/>
          <p:nvPr/>
        </p:nvSpPr>
        <p:spPr bwMode="auto">
          <a:xfrm>
            <a:off x="603770" y="1648536"/>
            <a:ext cx="2520000" cy="828000"/>
          </a:xfrm>
          <a:prstGeom prst="rect">
            <a:avLst/>
          </a:prstGeom>
          <a:noFill/>
          <a:ln w="22225">
            <a:noFill/>
            <a:round/>
            <a:headEnd/>
            <a:tailEnd/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ts val="1800"/>
              </a:lnSpc>
            </a:pPr>
            <a:r>
              <a:rPr kumimoji="1" lang="en-US" dirty="0">
                <a:ea typeface="Verdana" panose="020B0604030504040204" pitchFamily="34" charset="0"/>
                <a:cs typeface="Verdana" panose="020B0604030504040204" pitchFamily="34" charset="0"/>
              </a:rPr>
              <a:t>Goals &amp; values</a:t>
            </a:r>
          </a:p>
          <a:p>
            <a:pPr algn="ctr">
              <a:lnSpc>
                <a:spcPts val="1800"/>
              </a:lnSpc>
            </a:pPr>
            <a:r>
              <a:rPr kumimoji="1" lang="en-US" dirty="0">
                <a:ea typeface="Verdana" panose="020B0604030504040204" pitchFamily="34" charset="0"/>
                <a:cs typeface="Verdana" panose="020B0604030504040204" pitchFamily="34" charset="0"/>
              </a:rPr>
              <a:t>Resources &amp; capabilities</a:t>
            </a:r>
          </a:p>
          <a:p>
            <a:pPr algn="ctr">
              <a:lnSpc>
                <a:spcPts val="1800"/>
              </a:lnSpc>
            </a:pPr>
            <a:r>
              <a:rPr kumimoji="1" lang="en-US" dirty="0">
                <a:ea typeface="Verdana" panose="020B0604030504040204" pitchFamily="34" charset="0"/>
                <a:cs typeface="Verdana" panose="020B0604030504040204" pitchFamily="34" charset="0"/>
              </a:rPr>
              <a:t>Structure &amp; systems</a:t>
            </a:r>
          </a:p>
        </p:txBody>
      </p:sp>
      <p:sp>
        <p:nvSpPr>
          <p:cNvPr id="20" name="Rechteck 46"/>
          <p:cNvSpPr/>
          <p:nvPr/>
        </p:nvSpPr>
        <p:spPr bwMode="auto">
          <a:xfrm>
            <a:off x="603770" y="3861202"/>
            <a:ext cx="2520000" cy="828000"/>
          </a:xfrm>
          <a:prstGeom prst="rect">
            <a:avLst/>
          </a:prstGeom>
          <a:noFill/>
          <a:ln w="22225">
            <a:noFill/>
            <a:round/>
            <a:headEnd/>
            <a:tailEnd/>
          </a:ln>
        </p:spPr>
        <p:txBody>
          <a:bodyPr lIns="0" tIns="0" rIns="0" bIns="0" rtlCol="0" anchor="ctr" anchorCtr="0"/>
          <a:lstStyle/>
          <a:p>
            <a:pPr algn="ctr">
              <a:lnSpc>
                <a:spcPts val="1800"/>
              </a:lnSpc>
            </a:pPr>
            <a:r>
              <a:rPr kumimoji="1" lang="en-US" dirty="0">
                <a:ea typeface="Verdana" panose="020B0604030504040204" pitchFamily="34" charset="0"/>
                <a:cs typeface="Verdana" panose="020B0604030504040204" pitchFamily="34" charset="0"/>
              </a:rPr>
              <a:t>Competitors</a:t>
            </a:r>
          </a:p>
          <a:p>
            <a:pPr algn="ctr">
              <a:lnSpc>
                <a:spcPts val="1800"/>
              </a:lnSpc>
            </a:pPr>
            <a:r>
              <a:rPr kumimoji="1" lang="en-US" dirty="0">
                <a:ea typeface="Verdana" panose="020B0604030504040204" pitchFamily="34" charset="0"/>
                <a:cs typeface="Verdana" panose="020B0604030504040204" pitchFamily="34" charset="0"/>
              </a:rPr>
              <a:t>Customers</a:t>
            </a:r>
          </a:p>
          <a:p>
            <a:pPr algn="ctr">
              <a:lnSpc>
                <a:spcPts val="1800"/>
              </a:lnSpc>
            </a:pPr>
            <a:r>
              <a:rPr kumimoji="1" lang="en-US" dirty="0">
                <a:ea typeface="Verdana" panose="020B0604030504040204" pitchFamily="34" charset="0"/>
                <a:cs typeface="Verdana" panose="020B0604030504040204" pitchFamily="34" charset="0"/>
              </a:rPr>
              <a:t>Suppliers</a:t>
            </a:r>
          </a:p>
        </p:txBody>
      </p:sp>
      <p:sp>
        <p:nvSpPr>
          <p:cNvPr id="21" name="Abgerundetes Rechteck 48"/>
          <p:cNvSpPr/>
          <p:nvPr/>
        </p:nvSpPr>
        <p:spPr bwMode="auto">
          <a:xfrm>
            <a:off x="611560" y="4688867"/>
            <a:ext cx="2520000" cy="36000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22225">
            <a:noFill/>
            <a:round/>
            <a:headEnd/>
            <a:tailEnd/>
          </a:ln>
        </p:spPr>
        <p:txBody>
          <a:bodyPr rtlCol="0" anchor="ctr" anchorCtr="0"/>
          <a:lstStyle/>
          <a:p>
            <a:pPr algn="ctr">
              <a:lnSpc>
                <a:spcPts val="1800"/>
              </a:lnSpc>
            </a:pPr>
            <a:r>
              <a:rPr kumimoji="1" lang="en-US" dirty="0">
                <a:ea typeface="Verdana" panose="020B0604030504040204" pitchFamily="34" charset="0"/>
                <a:cs typeface="Verdana" panose="020B0604030504040204" pitchFamily="34" charset="0"/>
              </a:rPr>
              <a:t>Micro environment</a:t>
            </a:r>
          </a:p>
        </p:txBody>
      </p:sp>
      <p:sp>
        <p:nvSpPr>
          <p:cNvPr id="22" name="Abgerundetes Rechteck 49"/>
          <p:cNvSpPr/>
          <p:nvPr/>
        </p:nvSpPr>
        <p:spPr bwMode="auto">
          <a:xfrm>
            <a:off x="611560" y="5228867"/>
            <a:ext cx="2520000" cy="36000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22225">
            <a:noFill/>
            <a:round/>
            <a:headEnd/>
            <a:tailEnd/>
          </a:ln>
        </p:spPr>
        <p:txBody>
          <a:bodyPr rtlCol="0" anchor="ctr" anchorCtr="0"/>
          <a:lstStyle/>
          <a:p>
            <a:pPr algn="ctr">
              <a:lnSpc>
                <a:spcPts val="1800"/>
              </a:lnSpc>
            </a:pPr>
            <a:r>
              <a:rPr kumimoji="1" lang="en-US" dirty="0">
                <a:ea typeface="Verdana" panose="020B0604030504040204" pitchFamily="34" charset="0"/>
                <a:cs typeface="Verdana" panose="020B0604030504040204" pitchFamily="34" charset="0"/>
              </a:rPr>
              <a:t>Macro environment</a:t>
            </a:r>
          </a:p>
        </p:txBody>
      </p:sp>
      <p:sp>
        <p:nvSpPr>
          <p:cNvPr id="23" name="Abgerundetes Rechteck 47"/>
          <p:cNvSpPr/>
          <p:nvPr/>
        </p:nvSpPr>
        <p:spPr bwMode="auto">
          <a:xfrm>
            <a:off x="3850582" y="1194371"/>
            <a:ext cx="2520000" cy="540000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22225">
            <a:noFill/>
            <a:round/>
            <a:headEnd/>
            <a:tailEnd/>
          </a:ln>
        </p:spPr>
        <p:txBody>
          <a:bodyPr rtlCol="0" anchor="ctr" anchorCtr="0"/>
          <a:lstStyle/>
          <a:p>
            <a:pPr algn="ctr">
              <a:lnSpc>
                <a:spcPts val="1800"/>
              </a:lnSpc>
            </a:pPr>
            <a:r>
              <a:rPr kumimoji="1" lang="en-US" sz="1800" dirty="0">
                <a:ea typeface="Verdana" panose="020B0604030504040204" pitchFamily="34" charset="0"/>
                <a:cs typeface="Verdana" panose="020B0604030504040204" pitchFamily="34" charset="0"/>
              </a:rPr>
              <a:t>Internal analysis</a:t>
            </a:r>
          </a:p>
        </p:txBody>
      </p:sp>
      <p:sp>
        <p:nvSpPr>
          <p:cNvPr id="24" name="Abgerundetes Rechteck 51"/>
          <p:cNvSpPr/>
          <p:nvPr/>
        </p:nvSpPr>
        <p:spPr bwMode="auto">
          <a:xfrm>
            <a:off x="3850582" y="4873273"/>
            <a:ext cx="2520000" cy="540000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22225">
            <a:noFill/>
            <a:round/>
            <a:headEnd/>
            <a:tailEnd/>
          </a:ln>
        </p:spPr>
        <p:txBody>
          <a:bodyPr rtlCol="0" anchor="ctr" anchorCtr="0"/>
          <a:lstStyle/>
          <a:p>
            <a:pPr algn="ctr">
              <a:lnSpc>
                <a:spcPts val="1800"/>
              </a:lnSpc>
            </a:pPr>
            <a:r>
              <a:rPr kumimoji="1" lang="en-US" sz="1800" dirty="0">
                <a:ea typeface="Verdana" panose="020B0604030504040204" pitchFamily="34" charset="0"/>
                <a:cs typeface="Verdana" panose="020B0604030504040204" pitchFamily="34" charset="0"/>
              </a:rPr>
              <a:t>External analysis</a:t>
            </a:r>
          </a:p>
        </p:txBody>
      </p:sp>
    </p:spTree>
    <p:extLst>
      <p:ext uri="{BB962C8B-B14F-4D97-AF65-F5344CB8AC3E}">
        <p14:creationId xmlns:p14="http://schemas.microsoft.com/office/powerpoint/2010/main" val="7943978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AA44501-30D4-4910-9B68-5231643A423F}" type="slidenum">
              <a:rPr lang="en-US" smtClean="0"/>
              <a:pPr>
                <a:defRPr/>
              </a:pPr>
              <a:t>9</a:t>
            </a:fld>
            <a:endParaRPr lang="en-US" dirty="0"/>
          </a:p>
        </p:txBody>
      </p:sp>
      <p:sp>
        <p:nvSpPr>
          <p:cNvPr id="4" name="Inhaltsplatzhalter 3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altLang="de-DE" dirty="0">
                <a:ea typeface="ＭＳ Ｐゴシック" pitchFamily="34" charset="-128"/>
              </a:rPr>
              <a:t>Video: “The Five Competitive Forces that Shape Strategy”</a:t>
            </a:r>
          </a:p>
        </p:txBody>
      </p:sp>
      <p:sp>
        <p:nvSpPr>
          <p:cNvPr id="8" name="Textplatzhalter 7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de-DE"/>
          </a:p>
        </p:txBody>
      </p:sp>
      <p:pic>
        <p:nvPicPr>
          <p:cNvPr id="5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363" y="1422400"/>
            <a:ext cx="8423275" cy="4743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hteck 5">
            <a:hlinkClick r:id="rId4"/>
          </p:cNvPr>
          <p:cNvSpPr>
            <a:spLocks noChangeArrowheads="1"/>
          </p:cNvSpPr>
          <p:nvPr/>
        </p:nvSpPr>
        <p:spPr bwMode="auto">
          <a:xfrm>
            <a:off x="1187450" y="1268760"/>
            <a:ext cx="6840538" cy="276999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200" dirty="0">
                <a:hlinkClick r:id="rId5"/>
              </a:rPr>
              <a:t>http://www.youtube.com/watch?v=mYF2_FBCvXw</a:t>
            </a:r>
            <a:endParaRPr lang="en-US" altLang="de-DE" sz="1200" dirty="0"/>
          </a:p>
        </p:txBody>
      </p:sp>
      <p:pic>
        <p:nvPicPr>
          <p:cNvPr id="9" name="Picture 2" descr="https://i.ytimg.com/vi/AbHi2-3ad5A/maxresdefault.jpg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2048" y="2072801"/>
            <a:ext cx="5544616" cy="31188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591877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/>
            <a:r>
              <a:rPr lang="en-US" altLang="de-DE" dirty="0">
                <a:ea typeface="ＭＳ Ｐゴシック" pitchFamily="34" charset="-128"/>
              </a:rPr>
              <a:t>Five forces shape the attractiveness of international industries and subsequently determine firms’ performance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AA44501-30D4-4910-9B68-5231643A423F}" type="slidenum">
              <a:rPr lang="en-US" smtClean="0"/>
              <a:pPr>
                <a:defRPr/>
              </a:pPr>
              <a:t>10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altLang="de-DE" dirty="0">
                <a:ea typeface="ＭＳ Ｐゴシック" pitchFamily="34" charset="-128"/>
              </a:rPr>
              <a:t>Porter’s Five Forces: Analyzing industry attractiveness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b="1" dirty="0"/>
              <a:t>Source: </a:t>
            </a:r>
            <a:r>
              <a:rPr lang="en-US" dirty="0"/>
              <a:t>Porter, 1996</a:t>
            </a:r>
          </a:p>
        </p:txBody>
      </p:sp>
      <p:sp>
        <p:nvSpPr>
          <p:cNvPr id="6" name="Pfeil nach rechts 6"/>
          <p:cNvSpPr/>
          <p:nvPr/>
        </p:nvSpPr>
        <p:spPr bwMode="auto">
          <a:xfrm rot="7801213">
            <a:off x="6035072" y="2660984"/>
            <a:ext cx="627912" cy="576064"/>
          </a:xfrm>
          <a:prstGeom prst="rightArrow">
            <a:avLst/>
          </a:prstGeom>
          <a:solidFill>
            <a:schemeClr val="bg1"/>
          </a:solidFill>
          <a:ln w="9525">
            <a:solidFill>
              <a:srgbClr val="B4B4B4"/>
            </a:solidFill>
            <a:miter lim="800000"/>
            <a:headEnd/>
            <a:tailEnd/>
          </a:ln>
        </p:spPr>
        <p:txBody>
          <a:bodyPr lIns="72000" tIns="0" rIns="0" bIns="0" anchor="ctr">
            <a:noAutofit/>
          </a:bodyPr>
          <a:lstStyle/>
          <a:p>
            <a:pPr>
              <a:spcBef>
                <a:spcPts val="800"/>
              </a:spcBef>
            </a:pPr>
            <a:endParaRPr lang="en-US" b="1" dirty="0"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3474235" y="3155410"/>
            <a:ext cx="2295525" cy="1552143"/>
          </a:xfrm>
          <a:prstGeom prst="rect">
            <a:avLst/>
          </a:prstGeom>
          <a:solidFill>
            <a:srgbClr val="336699"/>
          </a:solidFill>
          <a:ln w="9525">
            <a:solidFill>
              <a:srgbClr val="B4B4B4"/>
            </a:solidFill>
            <a:miter lim="800000"/>
            <a:headEnd/>
            <a:tailEnd/>
          </a:ln>
        </p:spPr>
        <p:txBody>
          <a:bodyPr lIns="72000" tIns="72000" rIns="72000" bIns="72000" anchor="ctr">
            <a:noAutofit/>
          </a:bodyPr>
          <a:lstStyle/>
          <a:p>
            <a:pPr algn="ctr">
              <a:spcBef>
                <a:spcPts val="0"/>
              </a:spcBef>
            </a:pPr>
            <a:r>
              <a:rPr lang="en-US" sz="1200" b="1" dirty="0">
                <a:solidFill>
                  <a:schemeClr val="bg1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Industry Competitors</a:t>
            </a:r>
          </a:p>
          <a:p>
            <a:pPr algn="ctr">
              <a:spcBef>
                <a:spcPts val="0"/>
              </a:spcBef>
            </a:pPr>
            <a:endParaRPr lang="en-US" i="1" dirty="0">
              <a:solidFill>
                <a:schemeClr val="bg1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algn="ctr">
              <a:spcBef>
                <a:spcPts val="0"/>
              </a:spcBef>
            </a:pPr>
            <a:endParaRPr lang="en-US" i="1" dirty="0">
              <a:solidFill>
                <a:schemeClr val="bg1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algn="ctr">
              <a:spcBef>
                <a:spcPts val="0"/>
              </a:spcBef>
            </a:pPr>
            <a:endParaRPr lang="en-US" i="1" dirty="0">
              <a:solidFill>
                <a:schemeClr val="bg1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algn="ctr">
              <a:spcBef>
                <a:spcPts val="0"/>
              </a:spcBef>
            </a:pPr>
            <a:r>
              <a:rPr lang="en-US" sz="1200" i="1" dirty="0">
                <a:solidFill>
                  <a:schemeClr val="bg1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Rivalry among existing firms</a:t>
            </a:r>
          </a:p>
        </p:txBody>
      </p:sp>
      <p:sp>
        <p:nvSpPr>
          <p:cNvPr id="9" name="AutoShape 5"/>
          <p:cNvSpPr>
            <a:spLocks noChangeArrowheads="1"/>
          </p:cNvSpPr>
          <p:nvPr/>
        </p:nvSpPr>
        <p:spPr bwMode="auto">
          <a:xfrm>
            <a:off x="829469" y="3499631"/>
            <a:ext cx="2633662" cy="1002450"/>
          </a:xfrm>
          <a:prstGeom prst="rightArrowCallout">
            <a:avLst>
              <a:gd name="adj1" fmla="val 31731"/>
              <a:gd name="adj2" fmla="val 25000"/>
              <a:gd name="adj3" fmla="val 13054"/>
              <a:gd name="adj4" fmla="val 87412"/>
            </a:avLst>
          </a:prstGeom>
          <a:solidFill>
            <a:schemeClr val="bg1"/>
          </a:solidFill>
          <a:ln w="9525">
            <a:solidFill>
              <a:srgbClr val="B4B4B4"/>
            </a:solidFill>
            <a:miter lim="800000"/>
            <a:headEnd/>
            <a:tailEnd/>
          </a:ln>
        </p:spPr>
        <p:txBody>
          <a:bodyPr lIns="72000" tIns="0" rIns="0" bIns="0" anchor="ctr">
            <a:noAutofit/>
          </a:bodyPr>
          <a:lstStyle/>
          <a:p>
            <a:pPr>
              <a:spcBef>
                <a:spcPts val="800"/>
              </a:spcBef>
            </a:pPr>
            <a:r>
              <a:rPr lang="en-US" sz="1200" b="1" dirty="0">
                <a:ea typeface="Verdana" panose="020B0604030504040204" pitchFamily="34" charset="0"/>
                <a:cs typeface="Verdana" panose="020B0604030504040204" pitchFamily="34" charset="0"/>
              </a:rPr>
              <a:t>Suppliers</a:t>
            </a:r>
          </a:p>
          <a:p>
            <a:pPr>
              <a:spcBef>
                <a:spcPts val="800"/>
              </a:spcBef>
            </a:pPr>
            <a:r>
              <a:rPr lang="en-US" sz="1200" dirty="0">
                <a:ea typeface="Verdana" panose="020B0604030504040204" pitchFamily="34" charset="0"/>
                <a:cs typeface="Verdana" panose="020B0604030504040204" pitchFamily="34" charset="0"/>
              </a:rPr>
              <a:t>Bargaining power of international suppliers</a:t>
            </a:r>
          </a:p>
        </p:txBody>
      </p:sp>
      <p:sp>
        <p:nvSpPr>
          <p:cNvPr id="10" name="AutoShape 7"/>
          <p:cNvSpPr>
            <a:spLocks noChangeArrowheads="1"/>
          </p:cNvSpPr>
          <p:nvPr/>
        </p:nvSpPr>
        <p:spPr bwMode="auto">
          <a:xfrm flipH="1">
            <a:off x="5680869" y="3499631"/>
            <a:ext cx="2633662" cy="1002450"/>
          </a:xfrm>
          <a:prstGeom prst="rightArrowCallout">
            <a:avLst>
              <a:gd name="adj1" fmla="val 31731"/>
              <a:gd name="adj2" fmla="val 25000"/>
              <a:gd name="adj3" fmla="val 13054"/>
              <a:gd name="adj4" fmla="val 87412"/>
            </a:avLst>
          </a:prstGeom>
          <a:solidFill>
            <a:schemeClr val="bg1"/>
          </a:solidFill>
          <a:ln w="9525">
            <a:solidFill>
              <a:srgbClr val="B4B4B4"/>
            </a:solidFill>
            <a:miter lim="800000"/>
            <a:headEnd/>
            <a:tailEnd/>
          </a:ln>
        </p:spPr>
        <p:txBody>
          <a:bodyPr lIns="72000" tIns="0" rIns="0" bIns="0" anchor="ctr">
            <a:noAutofit/>
          </a:bodyPr>
          <a:lstStyle/>
          <a:p>
            <a:pPr>
              <a:spcBef>
                <a:spcPts val="800"/>
              </a:spcBef>
            </a:pPr>
            <a:r>
              <a:rPr lang="en-US" sz="1200" b="1" dirty="0">
                <a:ea typeface="Verdana" panose="020B0604030504040204" pitchFamily="34" charset="0"/>
                <a:cs typeface="Verdana" panose="020B0604030504040204" pitchFamily="34" charset="0"/>
              </a:rPr>
              <a:t>Buyers</a:t>
            </a:r>
          </a:p>
          <a:p>
            <a:pPr>
              <a:spcBef>
                <a:spcPts val="800"/>
              </a:spcBef>
            </a:pPr>
            <a:r>
              <a:rPr lang="en-US" sz="1200" dirty="0">
                <a:ea typeface="Verdana" panose="020B0604030504040204" pitchFamily="34" charset="0"/>
                <a:cs typeface="Verdana" panose="020B0604030504040204" pitchFamily="34" charset="0"/>
              </a:rPr>
              <a:t>Bargaining power of international buyers</a:t>
            </a:r>
          </a:p>
        </p:txBody>
      </p:sp>
      <p:sp>
        <p:nvSpPr>
          <p:cNvPr id="11" name="AutoShape 9"/>
          <p:cNvSpPr>
            <a:spLocks noChangeArrowheads="1"/>
          </p:cNvSpPr>
          <p:nvPr/>
        </p:nvSpPr>
        <p:spPr bwMode="auto">
          <a:xfrm rot="5400000" flipH="1">
            <a:off x="3969383" y="4149572"/>
            <a:ext cx="1305229" cy="2295525"/>
          </a:xfrm>
          <a:prstGeom prst="rightArrowCallout">
            <a:avLst>
              <a:gd name="adj1" fmla="val 38712"/>
              <a:gd name="adj2" fmla="val 28986"/>
              <a:gd name="adj3" fmla="val 14875"/>
              <a:gd name="adj4" fmla="val 78644"/>
            </a:avLst>
          </a:prstGeom>
          <a:solidFill>
            <a:schemeClr val="bg1"/>
          </a:solidFill>
          <a:ln w="9525">
            <a:solidFill>
              <a:srgbClr val="B4B4B4"/>
            </a:solidFill>
            <a:miter lim="800000"/>
            <a:headEnd/>
            <a:tailEnd/>
          </a:ln>
        </p:spPr>
        <p:txBody>
          <a:bodyPr vert="vert270" lIns="0" tIns="0" rIns="0" bIns="72000" anchor="ctr">
            <a:noAutofit/>
          </a:bodyPr>
          <a:lstStyle/>
          <a:p>
            <a:pPr>
              <a:spcBef>
                <a:spcPts val="800"/>
              </a:spcBef>
            </a:pPr>
            <a:r>
              <a:rPr lang="en-US" sz="1200" b="1" dirty="0">
                <a:ea typeface="Verdana" panose="020B0604030504040204" pitchFamily="34" charset="0"/>
                <a:cs typeface="Verdana" panose="020B0604030504040204" pitchFamily="34" charset="0"/>
              </a:rPr>
              <a:t>Substitutes</a:t>
            </a:r>
          </a:p>
          <a:p>
            <a:pPr>
              <a:spcBef>
                <a:spcPts val="800"/>
              </a:spcBef>
            </a:pPr>
            <a:r>
              <a:rPr lang="en-US" sz="1200" dirty="0">
                <a:ea typeface="Verdana" panose="020B0604030504040204" pitchFamily="34" charset="0"/>
                <a:cs typeface="Verdana" panose="020B0604030504040204" pitchFamily="34" charset="0"/>
              </a:rPr>
              <a:t>Threat of substitutes (e.g. via exports)</a:t>
            </a:r>
          </a:p>
        </p:txBody>
      </p:sp>
      <p:sp>
        <p:nvSpPr>
          <p:cNvPr id="12" name="AutoShape 11"/>
          <p:cNvSpPr>
            <a:spLocks noChangeArrowheads="1"/>
          </p:cNvSpPr>
          <p:nvPr/>
        </p:nvSpPr>
        <p:spPr bwMode="auto">
          <a:xfrm rot="16200000" flipH="1" flipV="1">
            <a:off x="3975435" y="1415631"/>
            <a:ext cx="1293124" cy="2295525"/>
          </a:xfrm>
          <a:prstGeom prst="rightArrowCallout">
            <a:avLst>
              <a:gd name="adj1" fmla="val 38712"/>
              <a:gd name="adj2" fmla="val 28986"/>
              <a:gd name="adj3" fmla="val 14875"/>
              <a:gd name="adj4" fmla="val 78644"/>
            </a:avLst>
          </a:prstGeom>
          <a:solidFill>
            <a:schemeClr val="bg1"/>
          </a:solidFill>
          <a:ln w="9525">
            <a:solidFill>
              <a:srgbClr val="B4B4B4"/>
            </a:solidFill>
            <a:miter lim="800000"/>
            <a:headEnd/>
            <a:tailEnd/>
          </a:ln>
        </p:spPr>
        <p:txBody>
          <a:bodyPr vert="vert270" lIns="0" tIns="0" rIns="0" bIns="72000" anchor="ctr">
            <a:noAutofit/>
          </a:bodyPr>
          <a:lstStyle/>
          <a:p>
            <a:pPr>
              <a:spcBef>
                <a:spcPts val="800"/>
              </a:spcBef>
            </a:pPr>
            <a:r>
              <a:rPr lang="en-US" sz="1200" b="1" dirty="0">
                <a:ea typeface="Verdana" panose="020B0604030504040204" pitchFamily="34" charset="0"/>
                <a:cs typeface="Verdana" panose="020B0604030504040204" pitchFamily="34" charset="0"/>
              </a:rPr>
              <a:t>New Entrants</a:t>
            </a:r>
          </a:p>
          <a:p>
            <a:pPr>
              <a:spcBef>
                <a:spcPts val="800"/>
              </a:spcBef>
            </a:pPr>
            <a:r>
              <a:rPr lang="en-US" sz="1200" dirty="0">
                <a:ea typeface="Verdana" panose="020B0604030504040204" pitchFamily="34" charset="0"/>
                <a:cs typeface="Verdana" panose="020B0604030504040204" pitchFamily="34" charset="0"/>
              </a:rPr>
              <a:t>Threats of entry (e.g. international competitors)</a:t>
            </a:r>
          </a:p>
        </p:txBody>
      </p:sp>
      <p:sp>
        <p:nvSpPr>
          <p:cNvPr id="13" name="Freihandform 42"/>
          <p:cNvSpPr/>
          <p:nvPr/>
        </p:nvSpPr>
        <p:spPr bwMode="auto">
          <a:xfrm>
            <a:off x="4114841" y="3639302"/>
            <a:ext cx="906379" cy="468000"/>
          </a:xfrm>
          <a:custGeom>
            <a:avLst/>
            <a:gdLst>
              <a:gd name="connsiteX0" fmla="*/ 0 w 906379"/>
              <a:gd name="connsiteY0" fmla="*/ 352926 h 507096"/>
              <a:gd name="connsiteX1" fmla="*/ 248652 w 906379"/>
              <a:gd name="connsiteY1" fmla="*/ 489284 h 507096"/>
              <a:gd name="connsiteX2" fmla="*/ 906379 w 906379"/>
              <a:gd name="connsiteY2" fmla="*/ 0 h 5070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06379" h="507096">
                <a:moveTo>
                  <a:pt x="0" y="352926"/>
                </a:moveTo>
                <a:cubicBezTo>
                  <a:pt x="48794" y="450515"/>
                  <a:pt x="97589" y="548105"/>
                  <a:pt x="248652" y="489284"/>
                </a:cubicBezTo>
                <a:cubicBezTo>
                  <a:pt x="399715" y="430463"/>
                  <a:pt x="871621" y="92242"/>
                  <a:pt x="906379" y="0"/>
                </a:cubicBezTo>
              </a:path>
            </a:pathLst>
          </a:custGeom>
          <a:noFill/>
          <a:ln w="22225">
            <a:solidFill>
              <a:schemeClr val="bg1"/>
            </a:solidFill>
            <a:round/>
            <a:headEnd/>
            <a:tailEnd type="triangle"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14" name="Flussdiagramm: Prozess 5"/>
          <p:cNvSpPr/>
          <p:nvPr/>
        </p:nvSpPr>
        <p:spPr bwMode="auto">
          <a:xfrm>
            <a:off x="6390438" y="1916830"/>
            <a:ext cx="2314783" cy="971613"/>
          </a:xfrm>
          <a:prstGeom prst="flowChartProcess">
            <a:avLst/>
          </a:prstGeom>
          <a:solidFill>
            <a:schemeClr val="bg1"/>
          </a:solidFill>
          <a:ln w="9525">
            <a:solidFill>
              <a:srgbClr val="B4B4B4"/>
            </a:solidFill>
            <a:miter lim="800000"/>
            <a:headEnd/>
            <a:tailEnd/>
          </a:ln>
        </p:spPr>
        <p:txBody>
          <a:bodyPr lIns="72000" tIns="0" rIns="0" bIns="0" anchor="ctr">
            <a:noAutofit/>
          </a:bodyPr>
          <a:lstStyle/>
          <a:p>
            <a:pPr>
              <a:spcBef>
                <a:spcPts val="800"/>
              </a:spcBef>
            </a:pPr>
            <a:r>
              <a:rPr lang="en-US" sz="1200" b="1" dirty="0">
                <a:ea typeface="Verdana" panose="020B0604030504040204" pitchFamily="34" charset="0"/>
                <a:cs typeface="Verdana" panose="020B0604030504040204" pitchFamily="34" charset="0"/>
              </a:rPr>
              <a:t>Complementary products</a:t>
            </a:r>
          </a:p>
          <a:p>
            <a:pPr>
              <a:spcBef>
                <a:spcPts val="800"/>
              </a:spcBef>
            </a:pPr>
            <a:r>
              <a:rPr lang="en-US" sz="1200" dirty="0">
                <a:ea typeface="Verdana" panose="020B0604030504040204" pitchFamily="34" charset="0"/>
                <a:cs typeface="Verdana" panose="020B0604030504040204" pitchFamily="34" charset="0"/>
              </a:rPr>
              <a:t>Influence of complementary products</a:t>
            </a:r>
          </a:p>
        </p:txBody>
      </p:sp>
    </p:spTree>
    <p:extLst>
      <p:ext uri="{BB962C8B-B14F-4D97-AF65-F5344CB8AC3E}">
        <p14:creationId xmlns:p14="http://schemas.microsoft.com/office/powerpoint/2010/main" val="5369925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AA44501-30D4-4910-9B68-5231643A423F}" type="slidenum">
              <a:rPr lang="en-US" smtClean="0"/>
              <a:pPr>
                <a:defRPr/>
              </a:pPr>
              <a:t>11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altLang="de-DE" dirty="0">
                <a:ea typeface="ＭＳ Ｐゴシック" pitchFamily="34" charset="-128"/>
              </a:rPr>
              <a:t>Porter’s Five Forces: Industry competitors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b="1" dirty="0"/>
              <a:t>Source: </a:t>
            </a:r>
            <a:r>
              <a:rPr lang="en-US" dirty="0"/>
              <a:t>Campbell, Edgar, &amp; </a:t>
            </a:r>
            <a:r>
              <a:rPr lang="en-US" dirty="0" err="1"/>
              <a:t>Stonehouse</a:t>
            </a:r>
            <a:r>
              <a:rPr lang="en-US" dirty="0"/>
              <a:t>, 2011; Grant, 2008; Porter, 2008</a:t>
            </a:r>
          </a:p>
        </p:txBody>
      </p:sp>
      <p:sp>
        <p:nvSpPr>
          <p:cNvPr id="7" name="Inhaltsplatzhalt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Rivalry among existing competitors results in price discounting, advertising campaigns and service improvements -&gt; all of which limit profitability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Whether within industry competition reduces profitability, depends on its intensity and its basis -&gt; price vs. differentiation</a:t>
            </a:r>
          </a:p>
        </p:txBody>
      </p:sp>
      <p:cxnSp>
        <p:nvCxnSpPr>
          <p:cNvPr id="16" name="Gerade Verbindung mit Pfeil 9"/>
          <p:cNvCxnSpPr/>
          <p:nvPr/>
        </p:nvCxnSpPr>
        <p:spPr bwMode="auto">
          <a:xfrm>
            <a:off x="3239532" y="3779167"/>
            <a:ext cx="2737017" cy="0"/>
          </a:xfrm>
          <a:prstGeom prst="straightConnector1">
            <a:avLst/>
          </a:prstGeom>
          <a:noFill/>
          <a:ln w="9525" cap="flat" cmpd="sng" algn="ctr">
            <a:solidFill>
              <a:srgbClr val="336699"/>
            </a:solidFill>
            <a:prstDash val="solid"/>
            <a:round/>
            <a:headEnd type="triangle" w="med" len="med"/>
            <a:tailEnd type="triangle"/>
          </a:ln>
          <a:effectLst/>
        </p:spPr>
      </p:cxnSp>
      <p:sp>
        <p:nvSpPr>
          <p:cNvPr id="17" name="Rechteck 32"/>
          <p:cNvSpPr/>
          <p:nvPr/>
        </p:nvSpPr>
        <p:spPr bwMode="auto">
          <a:xfrm>
            <a:off x="3239532" y="2827632"/>
            <a:ext cx="1224136" cy="338554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de-AT" sz="10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High</a:t>
            </a:r>
            <a:endParaRPr kumimoji="0" lang="de-AT" sz="1000" b="1" i="0" u="none" strike="noStrike" cap="none" normalizeH="0" baseline="0" dirty="0">
              <a:ln>
                <a:noFill/>
              </a:ln>
              <a:solidFill>
                <a:srgbClr val="AAAAAA"/>
              </a:solidFill>
              <a:effectLst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8" name="Rechteck 33"/>
          <p:cNvSpPr/>
          <p:nvPr/>
        </p:nvSpPr>
        <p:spPr bwMode="auto">
          <a:xfrm>
            <a:off x="4752413" y="2827632"/>
            <a:ext cx="1224136" cy="338554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de-AT" sz="10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Low</a:t>
            </a:r>
            <a:endParaRPr kumimoji="0" lang="de-AT" sz="1000" b="1" i="0" u="none" strike="noStrike" cap="none" normalizeH="0" baseline="0" dirty="0">
              <a:ln>
                <a:noFill/>
              </a:ln>
              <a:solidFill>
                <a:srgbClr val="AAAAAA"/>
              </a:solidFill>
              <a:effectLst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9" name="Rechteck 23"/>
          <p:cNvSpPr/>
          <p:nvPr/>
        </p:nvSpPr>
        <p:spPr>
          <a:xfrm>
            <a:off x="395609" y="3625279"/>
            <a:ext cx="2880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ea typeface="Verdana" panose="020B0604030504040204" pitchFamily="34" charset="0"/>
                <a:cs typeface="Verdana" panose="020B0604030504040204" pitchFamily="34" charset="0"/>
              </a:rPr>
              <a:t>Low</a:t>
            </a: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industry concentration</a:t>
            </a:r>
          </a:p>
        </p:txBody>
      </p:sp>
      <p:sp>
        <p:nvSpPr>
          <p:cNvPr id="20" name="Rechteck 24"/>
          <p:cNvSpPr/>
          <p:nvPr/>
        </p:nvSpPr>
        <p:spPr>
          <a:xfrm>
            <a:off x="5943795" y="3572647"/>
            <a:ext cx="2880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ea typeface="Verdana" panose="020B0604030504040204" pitchFamily="34" charset="0"/>
                <a:cs typeface="Verdana" panose="020B0604030504040204" pitchFamily="34" charset="0"/>
              </a:rPr>
              <a:t>High</a:t>
            </a: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industry concentration</a:t>
            </a:r>
          </a:p>
        </p:txBody>
      </p:sp>
      <p:sp>
        <p:nvSpPr>
          <p:cNvPr id="21" name="Rechteck 26"/>
          <p:cNvSpPr/>
          <p:nvPr/>
        </p:nvSpPr>
        <p:spPr>
          <a:xfrm>
            <a:off x="395609" y="3914182"/>
            <a:ext cx="28800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Low degree of product differentiation</a:t>
            </a:r>
          </a:p>
        </p:txBody>
      </p:sp>
      <p:sp>
        <p:nvSpPr>
          <p:cNvPr id="22" name="Rechteck 47"/>
          <p:cNvSpPr/>
          <p:nvPr/>
        </p:nvSpPr>
        <p:spPr>
          <a:xfrm>
            <a:off x="395609" y="4418528"/>
            <a:ext cx="2880000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High economies of scale to and ratio of fixed to variable costs</a:t>
            </a:r>
          </a:p>
        </p:txBody>
      </p:sp>
      <p:cxnSp>
        <p:nvCxnSpPr>
          <p:cNvPr id="23" name="Gerade Verbindung mit Pfeil 50"/>
          <p:cNvCxnSpPr/>
          <p:nvPr/>
        </p:nvCxnSpPr>
        <p:spPr bwMode="auto">
          <a:xfrm>
            <a:off x="3239532" y="4175792"/>
            <a:ext cx="2737018" cy="0"/>
          </a:xfrm>
          <a:prstGeom prst="straightConnector1">
            <a:avLst/>
          </a:prstGeom>
          <a:noFill/>
          <a:ln w="9525" cap="flat" cmpd="sng" algn="ctr">
            <a:solidFill>
              <a:srgbClr val="336699"/>
            </a:solidFill>
            <a:prstDash val="solid"/>
            <a:round/>
            <a:headEnd type="triangle" w="med" len="med"/>
            <a:tailEnd type="triangle"/>
          </a:ln>
          <a:effectLst/>
        </p:spPr>
      </p:cxnSp>
      <p:sp>
        <p:nvSpPr>
          <p:cNvPr id="24" name="Rechteck 56"/>
          <p:cNvSpPr/>
          <p:nvPr/>
        </p:nvSpPr>
        <p:spPr>
          <a:xfrm>
            <a:off x="5940472" y="3913892"/>
            <a:ext cx="28800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High degree of product differentiation</a:t>
            </a:r>
          </a:p>
        </p:txBody>
      </p:sp>
      <p:sp>
        <p:nvSpPr>
          <p:cNvPr id="25" name="Rechteck 58"/>
          <p:cNvSpPr/>
          <p:nvPr/>
        </p:nvSpPr>
        <p:spPr>
          <a:xfrm>
            <a:off x="5940472" y="4418528"/>
            <a:ext cx="2880000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Low economies of scale to and ratio of fixed to variable costs</a:t>
            </a:r>
          </a:p>
        </p:txBody>
      </p:sp>
      <p:cxnSp>
        <p:nvCxnSpPr>
          <p:cNvPr id="26" name="Gerade Verbindung mit Pfeil 61"/>
          <p:cNvCxnSpPr/>
          <p:nvPr/>
        </p:nvCxnSpPr>
        <p:spPr bwMode="auto">
          <a:xfrm>
            <a:off x="3239532" y="4787860"/>
            <a:ext cx="2737018" cy="0"/>
          </a:xfrm>
          <a:prstGeom prst="straightConnector1">
            <a:avLst/>
          </a:prstGeom>
          <a:noFill/>
          <a:ln w="9525" cap="flat" cmpd="sng" algn="ctr">
            <a:solidFill>
              <a:srgbClr val="336699"/>
            </a:solidFill>
            <a:prstDash val="solid"/>
            <a:round/>
            <a:headEnd type="triangle" w="med" len="med"/>
            <a:tailEnd type="triangle"/>
          </a:ln>
          <a:effectLst/>
        </p:spPr>
      </p:cxnSp>
      <p:sp>
        <p:nvSpPr>
          <p:cNvPr id="27" name="Textfeld 26"/>
          <p:cNvSpPr txBox="1"/>
          <p:nvPr/>
        </p:nvSpPr>
        <p:spPr>
          <a:xfrm>
            <a:off x="3967034" y="2564904"/>
            <a:ext cx="1296144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/>
              <a:t>Rivalry among competitors</a:t>
            </a:r>
          </a:p>
        </p:txBody>
      </p:sp>
    </p:spTree>
    <p:extLst>
      <p:ext uri="{BB962C8B-B14F-4D97-AF65-F5344CB8AC3E}">
        <p14:creationId xmlns:p14="http://schemas.microsoft.com/office/powerpoint/2010/main" val="39544716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55775"/>
    </mc:Choice>
    <mc:Fallback xmlns="">
      <p:transition spd="slow" advTm="155775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AA44501-30D4-4910-9B68-5231643A423F}" type="slidenum">
              <a:rPr lang="en-US" smtClean="0"/>
              <a:pPr>
                <a:defRPr/>
              </a:pPr>
              <a:t>12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altLang="de-DE" dirty="0">
                <a:ea typeface="ＭＳ Ｐゴシック" pitchFamily="34" charset="-128"/>
              </a:rPr>
              <a:t>Porter’s Five Forces: Suppliers and buyers (1/2)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b="1" dirty="0"/>
              <a:t>Source: </a:t>
            </a:r>
            <a:r>
              <a:rPr lang="en-US" dirty="0"/>
              <a:t>Campbell, Edgar, &amp; </a:t>
            </a:r>
            <a:r>
              <a:rPr lang="en-US" dirty="0" err="1"/>
              <a:t>Stonehouse</a:t>
            </a:r>
            <a:r>
              <a:rPr lang="en-US" dirty="0"/>
              <a:t>, 2011; Grant, 2008; Porter, 2008</a:t>
            </a:r>
          </a:p>
        </p:txBody>
      </p:sp>
      <p:sp>
        <p:nvSpPr>
          <p:cNvPr id="7" name="Inhaltsplatzhalt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Competitive dynamics within the value chain influence the share of total profitability each party obtains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Suppliers and buyers use their bargaining power vis-à-vis firms in the focal industry to obtain a larger share of total profitability </a:t>
            </a:r>
          </a:p>
        </p:txBody>
      </p:sp>
      <p:cxnSp>
        <p:nvCxnSpPr>
          <p:cNvPr id="8" name="Gerade Verbindung mit Pfeil 9"/>
          <p:cNvCxnSpPr/>
          <p:nvPr/>
        </p:nvCxnSpPr>
        <p:spPr bwMode="auto">
          <a:xfrm>
            <a:off x="3239532" y="3246917"/>
            <a:ext cx="2737017" cy="0"/>
          </a:xfrm>
          <a:prstGeom prst="straightConnector1">
            <a:avLst/>
          </a:prstGeom>
          <a:noFill/>
          <a:ln w="9525" cap="flat" cmpd="sng" algn="ctr">
            <a:solidFill>
              <a:srgbClr val="336699"/>
            </a:solidFill>
            <a:prstDash val="solid"/>
            <a:round/>
            <a:headEnd type="triangle" w="med" len="med"/>
            <a:tailEnd type="triangle"/>
          </a:ln>
          <a:effectLst/>
        </p:spPr>
      </p:cxnSp>
      <p:sp>
        <p:nvSpPr>
          <p:cNvPr id="9" name="Rechteck 32"/>
          <p:cNvSpPr/>
          <p:nvPr/>
        </p:nvSpPr>
        <p:spPr bwMode="auto">
          <a:xfrm>
            <a:off x="3239532" y="2827632"/>
            <a:ext cx="1224136" cy="338554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de-AT" sz="10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High</a:t>
            </a:r>
            <a:endParaRPr kumimoji="0" lang="de-AT" sz="1000" b="1" i="0" u="none" strike="noStrike" cap="none" normalizeH="0" baseline="0" dirty="0">
              <a:ln>
                <a:noFill/>
              </a:ln>
              <a:solidFill>
                <a:srgbClr val="AAAAAA"/>
              </a:solidFill>
              <a:effectLst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0" name="Rechteck 33"/>
          <p:cNvSpPr/>
          <p:nvPr/>
        </p:nvSpPr>
        <p:spPr bwMode="auto">
          <a:xfrm>
            <a:off x="4752413" y="2827632"/>
            <a:ext cx="1224136" cy="338554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de-AT" sz="10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Low</a:t>
            </a:r>
            <a:endParaRPr kumimoji="0" lang="de-AT" sz="1000" b="1" i="0" u="none" strike="noStrike" cap="none" normalizeH="0" baseline="0" dirty="0">
              <a:ln>
                <a:noFill/>
              </a:ln>
              <a:solidFill>
                <a:srgbClr val="AAAAAA"/>
              </a:solidFill>
              <a:effectLst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1" name="Rechteck 23"/>
          <p:cNvSpPr/>
          <p:nvPr/>
        </p:nvSpPr>
        <p:spPr>
          <a:xfrm>
            <a:off x="395609" y="2985307"/>
            <a:ext cx="28800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ea typeface="Verdana" panose="020B0604030504040204" pitchFamily="34" charset="0"/>
                <a:cs typeface="Verdana" panose="020B0604030504040204" pitchFamily="34" charset="0"/>
              </a:rPr>
              <a:t>Low number of suppliers and high volume of purchases</a:t>
            </a:r>
          </a:p>
        </p:txBody>
      </p:sp>
      <p:sp>
        <p:nvSpPr>
          <p:cNvPr id="12" name="Rechteck 24"/>
          <p:cNvSpPr/>
          <p:nvPr/>
        </p:nvSpPr>
        <p:spPr>
          <a:xfrm>
            <a:off x="5940472" y="2985307"/>
            <a:ext cx="28800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ea typeface="Verdana" panose="020B0604030504040204" pitchFamily="34" charset="0"/>
                <a:cs typeface="Verdana" panose="020B0604030504040204" pitchFamily="34" charset="0"/>
              </a:rPr>
              <a:t>High number of suppliers and low volume of purchases</a:t>
            </a:r>
          </a:p>
        </p:txBody>
      </p:sp>
      <p:sp>
        <p:nvSpPr>
          <p:cNvPr id="13" name="Textfeld 12"/>
          <p:cNvSpPr txBox="1"/>
          <p:nvPr/>
        </p:nvSpPr>
        <p:spPr>
          <a:xfrm>
            <a:off x="3967034" y="2564904"/>
            <a:ext cx="1296144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/>
              <a:t>Bargaining power of suppliers</a:t>
            </a:r>
          </a:p>
        </p:txBody>
      </p:sp>
      <p:sp>
        <p:nvSpPr>
          <p:cNvPr id="14" name="Rechteck 31"/>
          <p:cNvSpPr/>
          <p:nvPr/>
        </p:nvSpPr>
        <p:spPr>
          <a:xfrm>
            <a:off x="381290" y="3501008"/>
            <a:ext cx="2880000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High switching costs and low availability of appropriate substitutes</a:t>
            </a:r>
          </a:p>
        </p:txBody>
      </p:sp>
      <p:sp>
        <p:nvSpPr>
          <p:cNvPr id="16" name="Rechteck 38"/>
          <p:cNvSpPr/>
          <p:nvPr/>
        </p:nvSpPr>
        <p:spPr>
          <a:xfrm>
            <a:off x="5926153" y="3501008"/>
            <a:ext cx="2880000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Low switching costs and high availability of appropriate substitutes</a:t>
            </a:r>
          </a:p>
        </p:txBody>
      </p:sp>
      <p:cxnSp>
        <p:nvCxnSpPr>
          <p:cNvPr id="18" name="Gerade Verbindung mit Pfeil 43"/>
          <p:cNvCxnSpPr/>
          <p:nvPr/>
        </p:nvCxnSpPr>
        <p:spPr bwMode="auto">
          <a:xfrm>
            <a:off x="3225212" y="3870340"/>
            <a:ext cx="2737018" cy="0"/>
          </a:xfrm>
          <a:prstGeom prst="straightConnector1">
            <a:avLst/>
          </a:prstGeom>
          <a:noFill/>
          <a:ln w="9525" cap="flat" cmpd="sng" algn="ctr">
            <a:solidFill>
              <a:srgbClr val="336699"/>
            </a:solidFill>
            <a:prstDash val="solid"/>
            <a:round/>
            <a:headEnd type="triangle" w="med" len="med"/>
            <a:tailEnd type="triangle"/>
          </a:ln>
          <a:effectLst/>
        </p:spPr>
      </p:cxnSp>
      <p:sp>
        <p:nvSpPr>
          <p:cNvPr id="20" name="Rechteck 34"/>
          <p:cNvSpPr/>
          <p:nvPr/>
        </p:nvSpPr>
        <p:spPr>
          <a:xfrm>
            <a:off x="381290" y="4221088"/>
            <a:ext cx="28800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High degree of product differentiation</a:t>
            </a:r>
          </a:p>
        </p:txBody>
      </p:sp>
      <p:sp>
        <p:nvSpPr>
          <p:cNvPr id="21" name="Rechteck 39"/>
          <p:cNvSpPr/>
          <p:nvPr/>
        </p:nvSpPr>
        <p:spPr>
          <a:xfrm>
            <a:off x="5926153" y="4221088"/>
            <a:ext cx="28800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Low degree of product differentiation</a:t>
            </a:r>
          </a:p>
        </p:txBody>
      </p:sp>
      <p:cxnSp>
        <p:nvCxnSpPr>
          <p:cNvPr id="22" name="Gerade Verbindung mit Pfeil 44"/>
          <p:cNvCxnSpPr/>
          <p:nvPr/>
        </p:nvCxnSpPr>
        <p:spPr bwMode="auto">
          <a:xfrm>
            <a:off x="3225212" y="4482698"/>
            <a:ext cx="2737018" cy="0"/>
          </a:xfrm>
          <a:prstGeom prst="straightConnector1">
            <a:avLst/>
          </a:prstGeom>
          <a:noFill/>
          <a:ln w="9525" cap="flat" cmpd="sng" algn="ctr">
            <a:solidFill>
              <a:srgbClr val="336699"/>
            </a:solidFill>
            <a:prstDash val="solid"/>
            <a:round/>
            <a:headEnd type="triangl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18994055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68320"/>
    </mc:Choice>
    <mc:Fallback xmlns="">
      <p:transition spd="slow" advTm="168320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AA44501-30D4-4910-9B68-5231643A423F}" type="slidenum">
              <a:rPr lang="en-US" smtClean="0"/>
              <a:pPr>
                <a:defRPr/>
              </a:pPr>
              <a:t>13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altLang="de-DE" dirty="0">
                <a:ea typeface="ＭＳ Ｐゴシック" pitchFamily="34" charset="-128"/>
              </a:rPr>
              <a:t>Porter’s Five Forces: Suppliers and buyers (2/2)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b="1" dirty="0"/>
              <a:t>Source: </a:t>
            </a:r>
            <a:r>
              <a:rPr lang="en-US" dirty="0"/>
              <a:t>Campbell, Edgar, &amp; </a:t>
            </a:r>
            <a:r>
              <a:rPr lang="en-US" dirty="0" err="1"/>
              <a:t>Stonehouse</a:t>
            </a:r>
            <a:r>
              <a:rPr lang="en-US" dirty="0"/>
              <a:t>, 2011; Grant, 2008; Porter, 2008</a:t>
            </a:r>
          </a:p>
        </p:txBody>
      </p:sp>
      <p:sp>
        <p:nvSpPr>
          <p:cNvPr id="7" name="Inhaltsplatzhalt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Competitive dynamics within the value chain influence the share of total profitability each party obtains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Suppliers and buyers use their bargaining power vis-à-vis firms in the focal industry to obtain a larger share of total profitability </a:t>
            </a:r>
          </a:p>
          <a:p>
            <a:endParaRPr lang="de-AT" dirty="0"/>
          </a:p>
        </p:txBody>
      </p:sp>
      <p:cxnSp>
        <p:nvCxnSpPr>
          <p:cNvPr id="21" name="Gerade Verbindung mit Pfeil 9"/>
          <p:cNvCxnSpPr/>
          <p:nvPr/>
        </p:nvCxnSpPr>
        <p:spPr bwMode="auto">
          <a:xfrm>
            <a:off x="3239532" y="3246917"/>
            <a:ext cx="2737017" cy="0"/>
          </a:xfrm>
          <a:prstGeom prst="straightConnector1">
            <a:avLst/>
          </a:prstGeom>
          <a:noFill/>
          <a:ln w="9525" cap="flat" cmpd="sng" algn="ctr">
            <a:solidFill>
              <a:srgbClr val="336699"/>
            </a:solidFill>
            <a:prstDash val="solid"/>
            <a:round/>
            <a:headEnd type="triangle" w="med" len="med"/>
            <a:tailEnd type="triangle"/>
          </a:ln>
          <a:effectLst/>
        </p:spPr>
      </p:cxnSp>
      <p:sp>
        <p:nvSpPr>
          <p:cNvPr id="22" name="Rechteck 32"/>
          <p:cNvSpPr/>
          <p:nvPr/>
        </p:nvSpPr>
        <p:spPr bwMode="auto">
          <a:xfrm>
            <a:off x="3239532" y="2827632"/>
            <a:ext cx="1224136" cy="338554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de-AT" sz="10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High</a:t>
            </a:r>
            <a:endParaRPr kumimoji="0" lang="de-AT" sz="1000" b="1" i="0" u="none" strike="noStrike" cap="none" normalizeH="0" baseline="0" dirty="0">
              <a:ln>
                <a:noFill/>
              </a:ln>
              <a:solidFill>
                <a:srgbClr val="AAAAAA"/>
              </a:solidFill>
              <a:effectLst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23" name="Rechteck 33"/>
          <p:cNvSpPr/>
          <p:nvPr/>
        </p:nvSpPr>
        <p:spPr bwMode="auto">
          <a:xfrm>
            <a:off x="4752413" y="2827632"/>
            <a:ext cx="1224136" cy="338554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de-AT" sz="10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Low</a:t>
            </a:r>
            <a:endParaRPr kumimoji="0" lang="de-AT" sz="1000" b="1" i="0" u="none" strike="noStrike" cap="none" normalizeH="0" baseline="0" dirty="0">
              <a:ln>
                <a:noFill/>
              </a:ln>
              <a:solidFill>
                <a:srgbClr val="AAAAAA"/>
              </a:solidFill>
              <a:effectLst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24" name="Rechteck 23"/>
          <p:cNvSpPr/>
          <p:nvPr/>
        </p:nvSpPr>
        <p:spPr>
          <a:xfrm>
            <a:off x="395609" y="2985307"/>
            <a:ext cx="28800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ea typeface="Verdana" panose="020B0604030504040204" pitchFamily="34" charset="0"/>
                <a:cs typeface="Verdana" panose="020B0604030504040204" pitchFamily="34" charset="0"/>
              </a:rPr>
              <a:t>Low number of customers and high volume of purchases</a:t>
            </a:r>
          </a:p>
        </p:txBody>
      </p:sp>
      <p:sp>
        <p:nvSpPr>
          <p:cNvPr id="25" name="Rechteck 24"/>
          <p:cNvSpPr/>
          <p:nvPr/>
        </p:nvSpPr>
        <p:spPr>
          <a:xfrm>
            <a:off x="5940472" y="2985307"/>
            <a:ext cx="28800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ea typeface="Verdana" panose="020B0604030504040204" pitchFamily="34" charset="0"/>
                <a:cs typeface="Verdana" panose="020B0604030504040204" pitchFamily="34" charset="0"/>
              </a:rPr>
              <a:t>High number of customers and low volume of purchases</a:t>
            </a:r>
          </a:p>
        </p:txBody>
      </p:sp>
      <p:sp>
        <p:nvSpPr>
          <p:cNvPr id="26" name="Textfeld 25"/>
          <p:cNvSpPr txBox="1"/>
          <p:nvPr/>
        </p:nvSpPr>
        <p:spPr>
          <a:xfrm>
            <a:off x="3967034" y="2564904"/>
            <a:ext cx="1296144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/>
              <a:t>Bargaining power of buyers</a:t>
            </a:r>
          </a:p>
        </p:txBody>
      </p:sp>
      <p:sp>
        <p:nvSpPr>
          <p:cNvPr id="27" name="Rechteck 31"/>
          <p:cNvSpPr/>
          <p:nvPr/>
        </p:nvSpPr>
        <p:spPr>
          <a:xfrm>
            <a:off x="381290" y="3501008"/>
            <a:ext cx="2880000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Low switching costs and high availability of appropriate substitutes</a:t>
            </a:r>
          </a:p>
        </p:txBody>
      </p:sp>
      <p:sp>
        <p:nvSpPr>
          <p:cNvPr id="28" name="Rechteck 34"/>
          <p:cNvSpPr/>
          <p:nvPr/>
        </p:nvSpPr>
        <p:spPr>
          <a:xfrm>
            <a:off x="381290" y="4221088"/>
            <a:ext cx="28800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Low degree of product differentiation</a:t>
            </a:r>
          </a:p>
        </p:txBody>
      </p:sp>
      <p:sp>
        <p:nvSpPr>
          <p:cNvPr id="29" name="Rechteck 38"/>
          <p:cNvSpPr/>
          <p:nvPr/>
        </p:nvSpPr>
        <p:spPr>
          <a:xfrm>
            <a:off x="5926153" y="3501008"/>
            <a:ext cx="2880000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High switching costs and low availability of appropriate substitutes</a:t>
            </a:r>
          </a:p>
        </p:txBody>
      </p:sp>
      <p:sp>
        <p:nvSpPr>
          <p:cNvPr id="30" name="Rechteck 39"/>
          <p:cNvSpPr/>
          <p:nvPr/>
        </p:nvSpPr>
        <p:spPr>
          <a:xfrm>
            <a:off x="5926153" y="4221088"/>
            <a:ext cx="28800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High degree of product differentiation</a:t>
            </a:r>
          </a:p>
        </p:txBody>
      </p:sp>
      <p:cxnSp>
        <p:nvCxnSpPr>
          <p:cNvPr id="31" name="Gerade Verbindung mit Pfeil 43"/>
          <p:cNvCxnSpPr/>
          <p:nvPr/>
        </p:nvCxnSpPr>
        <p:spPr bwMode="auto">
          <a:xfrm>
            <a:off x="3225212" y="3870340"/>
            <a:ext cx="2737018" cy="0"/>
          </a:xfrm>
          <a:prstGeom prst="straightConnector1">
            <a:avLst/>
          </a:prstGeom>
          <a:noFill/>
          <a:ln w="9525" cap="flat" cmpd="sng" algn="ctr">
            <a:solidFill>
              <a:srgbClr val="336699"/>
            </a:solidFill>
            <a:prstDash val="solid"/>
            <a:round/>
            <a:headEnd type="triangle" w="med" len="med"/>
            <a:tailEnd type="triangle"/>
          </a:ln>
          <a:effectLst/>
        </p:spPr>
      </p:cxnSp>
      <p:cxnSp>
        <p:nvCxnSpPr>
          <p:cNvPr id="32" name="Gerade Verbindung mit Pfeil 44"/>
          <p:cNvCxnSpPr/>
          <p:nvPr/>
        </p:nvCxnSpPr>
        <p:spPr bwMode="auto">
          <a:xfrm>
            <a:off x="3225212" y="4482698"/>
            <a:ext cx="2737018" cy="0"/>
          </a:xfrm>
          <a:prstGeom prst="straightConnector1">
            <a:avLst/>
          </a:prstGeom>
          <a:noFill/>
          <a:ln w="9525" cap="flat" cmpd="sng" algn="ctr">
            <a:solidFill>
              <a:srgbClr val="336699"/>
            </a:solidFill>
            <a:prstDash val="solid"/>
            <a:round/>
            <a:headEnd type="triangl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40181560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6359"/>
    </mc:Choice>
    <mc:Fallback xmlns="">
      <p:transition spd="slow" advTm="206359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AA44501-30D4-4910-9B68-5231643A423F}" type="slidenum">
              <a:rPr lang="en-US" smtClean="0"/>
              <a:pPr>
                <a:defRPr/>
              </a:pPr>
              <a:t>14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altLang="de-DE" dirty="0">
                <a:ea typeface="ＭＳ Ｐゴシック" pitchFamily="34" charset="-128"/>
              </a:rPr>
              <a:t>Porter’s Five Forces: New entrants and substitutes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b="1" dirty="0"/>
              <a:t>Source: </a:t>
            </a:r>
            <a:r>
              <a:rPr lang="en-US" dirty="0"/>
              <a:t>Campbell, Edgar, &amp; </a:t>
            </a:r>
            <a:r>
              <a:rPr lang="en-US" dirty="0" err="1"/>
              <a:t>Stonehouse</a:t>
            </a:r>
            <a:r>
              <a:rPr lang="en-US" dirty="0"/>
              <a:t>, 2011; Grant, 2008; Porter, 2008</a:t>
            </a:r>
          </a:p>
        </p:txBody>
      </p:sp>
      <p:sp>
        <p:nvSpPr>
          <p:cNvPr id="7" name="Inhaltsplatzhalt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New entrants into an industry can strengthen competition and reduce profits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Firms incur costs (e.g. discounts, advertising) to deter these new entrants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When suitable substitutes for products or services exist outside the focal industry, spillover effects can reduce industry profitability</a:t>
            </a:r>
          </a:p>
        </p:txBody>
      </p:sp>
      <p:cxnSp>
        <p:nvCxnSpPr>
          <p:cNvPr id="8" name="Gerade Verbindung mit Pfeil 9"/>
          <p:cNvCxnSpPr/>
          <p:nvPr/>
        </p:nvCxnSpPr>
        <p:spPr bwMode="auto">
          <a:xfrm>
            <a:off x="3239532" y="3139195"/>
            <a:ext cx="2737017" cy="0"/>
          </a:xfrm>
          <a:prstGeom prst="straightConnector1">
            <a:avLst/>
          </a:prstGeom>
          <a:noFill/>
          <a:ln w="9525" cap="flat" cmpd="sng" algn="ctr">
            <a:solidFill>
              <a:srgbClr val="336699"/>
            </a:solidFill>
            <a:prstDash val="solid"/>
            <a:round/>
            <a:headEnd type="triangle" w="med" len="med"/>
            <a:tailEnd type="triangle"/>
          </a:ln>
          <a:effectLst/>
        </p:spPr>
      </p:cxnSp>
      <p:sp>
        <p:nvSpPr>
          <p:cNvPr id="9" name="Rechteck 32"/>
          <p:cNvSpPr/>
          <p:nvPr/>
        </p:nvSpPr>
        <p:spPr bwMode="auto">
          <a:xfrm>
            <a:off x="3239532" y="2827632"/>
            <a:ext cx="1224136" cy="338554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de-AT" sz="10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High</a:t>
            </a:r>
            <a:endParaRPr kumimoji="0" lang="de-AT" sz="1000" b="1" i="0" u="none" strike="noStrike" cap="none" normalizeH="0" baseline="0" dirty="0">
              <a:ln>
                <a:noFill/>
              </a:ln>
              <a:solidFill>
                <a:srgbClr val="AAAAAA"/>
              </a:solidFill>
              <a:effectLst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0" name="Rechteck 33"/>
          <p:cNvSpPr/>
          <p:nvPr/>
        </p:nvSpPr>
        <p:spPr bwMode="auto">
          <a:xfrm>
            <a:off x="4752413" y="2827632"/>
            <a:ext cx="1224136" cy="338554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de-AT" sz="10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Low</a:t>
            </a:r>
            <a:endParaRPr kumimoji="0" lang="de-AT" sz="1000" b="1" i="0" u="none" strike="noStrike" cap="none" normalizeH="0" baseline="0" dirty="0">
              <a:ln>
                <a:noFill/>
              </a:ln>
              <a:solidFill>
                <a:srgbClr val="AAAAAA"/>
              </a:solidFill>
              <a:effectLst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1" name="Rechteck 10"/>
          <p:cNvSpPr/>
          <p:nvPr/>
        </p:nvSpPr>
        <p:spPr>
          <a:xfrm>
            <a:off x="395609" y="2985307"/>
            <a:ext cx="2880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ea typeface="Verdana" panose="020B0604030504040204" pitchFamily="34" charset="0"/>
                <a:cs typeface="Verdana" panose="020B0604030504040204" pitchFamily="34" charset="0"/>
              </a:rPr>
              <a:t>Low capital costs</a:t>
            </a:r>
          </a:p>
        </p:txBody>
      </p:sp>
      <p:sp>
        <p:nvSpPr>
          <p:cNvPr id="12" name="Rechteck 11"/>
          <p:cNvSpPr/>
          <p:nvPr/>
        </p:nvSpPr>
        <p:spPr>
          <a:xfrm>
            <a:off x="5940472" y="2985307"/>
            <a:ext cx="2880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ea typeface="Verdana" panose="020B0604030504040204" pitchFamily="34" charset="0"/>
                <a:cs typeface="Verdana" panose="020B0604030504040204" pitchFamily="34" charset="0"/>
              </a:rPr>
              <a:t>High capital costs</a:t>
            </a:r>
          </a:p>
        </p:txBody>
      </p:sp>
      <p:sp>
        <p:nvSpPr>
          <p:cNvPr id="13" name="Textfeld 12"/>
          <p:cNvSpPr txBox="1"/>
          <p:nvPr/>
        </p:nvSpPr>
        <p:spPr>
          <a:xfrm>
            <a:off x="3967034" y="2564904"/>
            <a:ext cx="129614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/>
              <a:t>Threat of new entrants</a:t>
            </a:r>
          </a:p>
        </p:txBody>
      </p:sp>
      <p:sp>
        <p:nvSpPr>
          <p:cNvPr id="14" name="Rechteck 31"/>
          <p:cNvSpPr/>
          <p:nvPr/>
        </p:nvSpPr>
        <p:spPr>
          <a:xfrm>
            <a:off x="381290" y="3284984"/>
            <a:ext cx="28800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ea typeface="Verdana" panose="020B0604030504040204" pitchFamily="34" charset="0"/>
                <a:cs typeface="Verdana" panose="020B0604030504040204" pitchFamily="34" charset="0"/>
              </a:rPr>
              <a:t>Low brand loyalty and customer switching costs</a:t>
            </a:r>
          </a:p>
        </p:txBody>
      </p:sp>
      <p:sp>
        <p:nvSpPr>
          <p:cNvPr id="15" name="Rechteck 34"/>
          <p:cNvSpPr/>
          <p:nvPr/>
        </p:nvSpPr>
        <p:spPr>
          <a:xfrm>
            <a:off x="381290" y="3841884"/>
            <a:ext cx="28800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ea typeface="Verdana" panose="020B0604030504040204" pitchFamily="34" charset="0"/>
                <a:cs typeface="Verdana" panose="020B0604030504040204" pitchFamily="34" charset="0"/>
              </a:rPr>
              <a:t>Open access to input and distribution channels</a:t>
            </a:r>
          </a:p>
        </p:txBody>
      </p:sp>
      <p:sp>
        <p:nvSpPr>
          <p:cNvPr id="16" name="Rechteck 38"/>
          <p:cNvSpPr/>
          <p:nvPr/>
        </p:nvSpPr>
        <p:spPr>
          <a:xfrm>
            <a:off x="5926153" y="3284984"/>
            <a:ext cx="28800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ea typeface="Verdana" panose="020B0604030504040204" pitchFamily="34" charset="0"/>
                <a:cs typeface="Verdana" panose="020B0604030504040204" pitchFamily="34" charset="0"/>
              </a:rPr>
              <a:t>High brand loyalty and customer switching costs</a:t>
            </a:r>
          </a:p>
        </p:txBody>
      </p:sp>
      <p:sp>
        <p:nvSpPr>
          <p:cNvPr id="17" name="Rechteck 39"/>
          <p:cNvSpPr/>
          <p:nvPr/>
        </p:nvSpPr>
        <p:spPr>
          <a:xfrm>
            <a:off x="5926153" y="3841884"/>
            <a:ext cx="28800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ea typeface="Verdana" panose="020B0604030504040204" pitchFamily="34" charset="0"/>
                <a:cs typeface="Verdana" panose="020B0604030504040204" pitchFamily="34" charset="0"/>
              </a:rPr>
              <a:t>Restricted access to input and distribution channels</a:t>
            </a:r>
          </a:p>
        </p:txBody>
      </p:sp>
      <p:cxnSp>
        <p:nvCxnSpPr>
          <p:cNvPr id="18" name="Gerade Verbindung mit Pfeil 43"/>
          <p:cNvCxnSpPr/>
          <p:nvPr/>
        </p:nvCxnSpPr>
        <p:spPr bwMode="auto">
          <a:xfrm>
            <a:off x="3225212" y="3546594"/>
            <a:ext cx="2737018" cy="0"/>
          </a:xfrm>
          <a:prstGeom prst="straightConnector1">
            <a:avLst/>
          </a:prstGeom>
          <a:noFill/>
          <a:ln w="9525" cap="flat" cmpd="sng" algn="ctr">
            <a:solidFill>
              <a:srgbClr val="336699"/>
            </a:solidFill>
            <a:prstDash val="solid"/>
            <a:round/>
            <a:headEnd type="triangle" w="med" len="med"/>
            <a:tailEnd type="triangle"/>
          </a:ln>
          <a:effectLst/>
        </p:spPr>
      </p:cxnSp>
      <p:cxnSp>
        <p:nvCxnSpPr>
          <p:cNvPr id="19" name="Gerade Verbindung mit Pfeil 44"/>
          <p:cNvCxnSpPr/>
          <p:nvPr/>
        </p:nvCxnSpPr>
        <p:spPr bwMode="auto">
          <a:xfrm>
            <a:off x="3225212" y="4103494"/>
            <a:ext cx="2737018" cy="0"/>
          </a:xfrm>
          <a:prstGeom prst="straightConnector1">
            <a:avLst/>
          </a:prstGeom>
          <a:noFill/>
          <a:ln w="9525" cap="flat" cmpd="sng" algn="ctr">
            <a:solidFill>
              <a:srgbClr val="336699"/>
            </a:solidFill>
            <a:prstDash val="solid"/>
            <a:round/>
            <a:headEnd type="triangle" w="med" len="med"/>
            <a:tailEnd type="triangle"/>
          </a:ln>
          <a:effectLst/>
        </p:spPr>
      </p:cxnSp>
      <p:sp>
        <p:nvSpPr>
          <p:cNvPr id="20" name="Rechteck 35"/>
          <p:cNvSpPr/>
          <p:nvPr/>
        </p:nvSpPr>
        <p:spPr>
          <a:xfrm>
            <a:off x="404328" y="4786353"/>
            <a:ext cx="2880000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 price and performance of the substitute can match the industry’s product</a:t>
            </a:r>
          </a:p>
        </p:txBody>
      </p:sp>
      <p:cxnSp>
        <p:nvCxnSpPr>
          <p:cNvPr id="21" name="Gerade Verbindung mit Pfeil 9"/>
          <p:cNvCxnSpPr/>
          <p:nvPr/>
        </p:nvCxnSpPr>
        <p:spPr bwMode="auto">
          <a:xfrm>
            <a:off x="3239532" y="5155685"/>
            <a:ext cx="2737017" cy="0"/>
          </a:xfrm>
          <a:prstGeom prst="straightConnector1">
            <a:avLst/>
          </a:prstGeom>
          <a:noFill/>
          <a:ln w="9525" cap="flat" cmpd="sng" algn="ctr">
            <a:solidFill>
              <a:srgbClr val="336699"/>
            </a:solidFill>
            <a:prstDash val="solid"/>
            <a:round/>
            <a:headEnd type="triangle" w="med" len="med"/>
            <a:tailEnd type="triangle"/>
          </a:ln>
          <a:effectLst/>
        </p:spPr>
      </p:cxnSp>
      <p:sp>
        <p:nvSpPr>
          <p:cNvPr id="22" name="Rechteck 32"/>
          <p:cNvSpPr/>
          <p:nvPr/>
        </p:nvSpPr>
        <p:spPr bwMode="auto">
          <a:xfrm>
            <a:off x="3239532" y="4627832"/>
            <a:ext cx="1224136" cy="338554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de-AT" sz="10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High</a:t>
            </a:r>
            <a:endParaRPr kumimoji="0" lang="de-AT" sz="1000" b="1" i="0" u="none" strike="noStrike" cap="none" normalizeH="0" baseline="0" dirty="0">
              <a:ln>
                <a:noFill/>
              </a:ln>
              <a:solidFill>
                <a:srgbClr val="AAAAAA"/>
              </a:solidFill>
              <a:effectLst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23" name="Rechteck 33"/>
          <p:cNvSpPr/>
          <p:nvPr/>
        </p:nvSpPr>
        <p:spPr bwMode="auto">
          <a:xfrm>
            <a:off x="4752413" y="4627832"/>
            <a:ext cx="1224136" cy="338554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de-AT" sz="10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Low</a:t>
            </a:r>
            <a:endParaRPr kumimoji="0" lang="de-AT" sz="1000" b="1" i="0" u="none" strike="noStrike" cap="none" normalizeH="0" baseline="0" dirty="0">
              <a:ln>
                <a:noFill/>
              </a:ln>
              <a:solidFill>
                <a:srgbClr val="AAAAAA"/>
              </a:solidFill>
              <a:effectLst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24" name="Rechteck 34"/>
          <p:cNvSpPr/>
          <p:nvPr/>
        </p:nvSpPr>
        <p:spPr>
          <a:xfrm>
            <a:off x="5977312" y="4786353"/>
            <a:ext cx="2880000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 price and performance of the substitute cannot match the industry’s product</a:t>
            </a:r>
          </a:p>
        </p:txBody>
      </p:sp>
      <p:sp>
        <p:nvSpPr>
          <p:cNvPr id="25" name="Textfeld 24"/>
          <p:cNvSpPr txBox="1"/>
          <p:nvPr/>
        </p:nvSpPr>
        <p:spPr>
          <a:xfrm>
            <a:off x="3967034" y="4365104"/>
            <a:ext cx="1296144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/>
              <a:t>Threat of substitute products</a:t>
            </a:r>
          </a:p>
        </p:txBody>
      </p:sp>
    </p:spTree>
    <p:extLst>
      <p:ext uri="{BB962C8B-B14F-4D97-AF65-F5344CB8AC3E}">
        <p14:creationId xmlns:p14="http://schemas.microsoft.com/office/powerpoint/2010/main" val="17476811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64398"/>
    </mc:Choice>
    <mc:Fallback xmlns="">
      <p:transition spd="slow" advTm="264398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60" imgH="360" progId="TCLayout.ActiveDocument.1">
                  <p:embed/>
                </p:oleObj>
              </mc:Choice>
              <mc:Fallback>
                <p:oleObj name="think-cell Slide" r:id="rId4" imgW="360" imgH="360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AA44501-30D4-4910-9B68-5231643A423F}" type="slidenum">
              <a:rPr lang="en-US" smtClean="0"/>
              <a:pPr>
                <a:defRPr/>
              </a:pPr>
              <a:t>15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dirty="0"/>
              <a:t>In-class discussion</a:t>
            </a:r>
          </a:p>
        </p:txBody>
      </p:sp>
      <p:sp>
        <p:nvSpPr>
          <p:cNvPr id="7" name="AutoShape 9"/>
          <p:cNvSpPr>
            <a:spLocks noChangeArrowheads="1"/>
          </p:cNvSpPr>
          <p:nvPr/>
        </p:nvSpPr>
        <p:spPr bwMode="auto">
          <a:xfrm>
            <a:off x="1159842" y="2511598"/>
            <a:ext cx="6911975" cy="2160588"/>
          </a:xfrm>
          <a:prstGeom prst="roundRect">
            <a:avLst>
              <a:gd name="adj" fmla="val 6787"/>
            </a:avLst>
          </a:prstGeom>
          <a:solidFill>
            <a:srgbClr val="336699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222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 anchorCtr="1"/>
          <a:lstStyle>
            <a:lvl1pPr eaLnBrk="0" hangingPunct="0">
              <a:spcBef>
                <a:spcPct val="20000"/>
              </a:spcBef>
              <a:buFont typeface="Wingdings" pitchFamily="2" charset="2"/>
              <a:defRPr sz="2000" b="1">
                <a:solidFill>
                  <a:srgbClr val="336699"/>
                </a:solidFill>
                <a:latin typeface="Verdana" pitchFamily="34" charset="0"/>
                <a:ea typeface="ＭＳ Ｐゴシック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Font typeface="Wingdings" pitchFamily="2" charset="2"/>
              <a:buChar char="§"/>
              <a:defRPr>
                <a:solidFill>
                  <a:schemeClr val="tx1"/>
                </a:solidFill>
                <a:latin typeface="Verdana" pitchFamily="34" charset="0"/>
                <a:ea typeface="ＭＳ Ｐゴシック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Font typeface="Wingdings" pitchFamily="2" charset="2"/>
              <a:buChar char="§"/>
              <a:defRPr>
                <a:solidFill>
                  <a:schemeClr val="tx1"/>
                </a:solidFill>
                <a:latin typeface="Verdana" pitchFamily="34" charset="0"/>
                <a:ea typeface="ＭＳ Ｐゴシック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Font typeface="Wingdings" pitchFamily="2" charset="2"/>
              <a:buChar char="§"/>
              <a:defRPr>
                <a:solidFill>
                  <a:schemeClr val="tx1"/>
                </a:solidFill>
                <a:latin typeface="Verdana" pitchFamily="34" charset="0"/>
                <a:ea typeface="ＭＳ Ｐゴシック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Verdana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Verdana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Verdana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Verdana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Verdana" pitchFamily="34" charset="0"/>
                <a:ea typeface="ＭＳ Ｐゴシック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1" lang="en-US" altLang="de-DE" sz="3200" dirty="0">
                <a:solidFill>
                  <a:schemeClr val="bg1"/>
                </a:solidFill>
              </a:rPr>
              <a:t>What is specific about 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1" lang="en-US" altLang="de-DE" sz="3200" dirty="0">
                <a:solidFill>
                  <a:schemeClr val="bg1"/>
                </a:solidFill>
              </a:rPr>
              <a:t>“International Strategy”?</a:t>
            </a:r>
          </a:p>
        </p:txBody>
      </p:sp>
    </p:spTree>
    <p:extLst>
      <p:ext uri="{BB962C8B-B14F-4D97-AF65-F5344CB8AC3E}">
        <p14:creationId xmlns:p14="http://schemas.microsoft.com/office/powerpoint/2010/main" val="22990950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AA44501-30D4-4910-9B68-5231643A423F}" type="slidenum">
              <a:rPr lang="en-US" smtClean="0"/>
              <a:pPr>
                <a:defRPr/>
              </a:pPr>
              <a:t>16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dirty="0"/>
              <a:t>What is specific about international strategy?</a:t>
            </a:r>
          </a:p>
          <a:p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b="1" dirty="0"/>
              <a:t>Source: </a:t>
            </a:r>
            <a:r>
              <a:rPr lang="en-US" dirty="0"/>
              <a:t>Grant, 2010</a:t>
            </a:r>
          </a:p>
        </p:txBody>
      </p:sp>
      <p:sp>
        <p:nvSpPr>
          <p:cNvPr id="6" name="Rechteck 16"/>
          <p:cNvSpPr/>
          <p:nvPr/>
        </p:nvSpPr>
        <p:spPr bwMode="auto">
          <a:xfrm>
            <a:off x="1106744" y="1924403"/>
            <a:ext cx="1800200" cy="720000"/>
          </a:xfrm>
          <a:prstGeom prst="rect">
            <a:avLst/>
          </a:prstGeom>
          <a:solidFill>
            <a:schemeClr val="bg1">
              <a:lumMod val="65000"/>
            </a:schemeClr>
          </a:solidFill>
          <a:ln w="22225">
            <a:noFill/>
            <a:round/>
            <a:headEnd/>
            <a:tailEnd/>
          </a:ln>
        </p:spPr>
        <p:txBody>
          <a:bodyPr rtlCol="0" anchor="ctr" anchorCtr="0"/>
          <a:lstStyle/>
          <a:p>
            <a:pPr algn="ctr">
              <a:lnSpc>
                <a:spcPts val="1800"/>
              </a:lnSpc>
            </a:pPr>
            <a:endParaRPr kumimoji="1" lang="en-US" sz="1600" dirty="0"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7" name="Rechteck 15"/>
          <p:cNvSpPr/>
          <p:nvPr/>
        </p:nvSpPr>
        <p:spPr bwMode="auto">
          <a:xfrm>
            <a:off x="987048" y="1765382"/>
            <a:ext cx="1800200" cy="720000"/>
          </a:xfrm>
          <a:prstGeom prst="rect">
            <a:avLst/>
          </a:prstGeom>
          <a:solidFill>
            <a:schemeClr val="bg1">
              <a:lumMod val="95000"/>
            </a:schemeClr>
          </a:solidFill>
          <a:ln w="22225">
            <a:noFill/>
            <a:round/>
            <a:headEnd/>
            <a:tailEnd/>
          </a:ln>
        </p:spPr>
        <p:txBody>
          <a:bodyPr rtlCol="0" anchor="ctr" anchorCtr="0"/>
          <a:lstStyle/>
          <a:p>
            <a:pPr algn="ctr">
              <a:lnSpc>
                <a:spcPts val="1800"/>
              </a:lnSpc>
            </a:pPr>
            <a:endParaRPr kumimoji="1" lang="en-US" sz="1600" dirty="0"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8" name="Abgerundetes Rechteck 2"/>
          <p:cNvSpPr/>
          <p:nvPr/>
        </p:nvSpPr>
        <p:spPr bwMode="auto">
          <a:xfrm>
            <a:off x="3711768" y="2398488"/>
            <a:ext cx="1800000" cy="720000"/>
          </a:xfrm>
          <a:prstGeom prst="roundRect">
            <a:avLst/>
          </a:prstGeom>
          <a:solidFill>
            <a:srgbClr val="336699"/>
          </a:solidFill>
          <a:ln w="22225">
            <a:noFill/>
            <a:round/>
            <a:headEnd/>
            <a:tailEnd/>
          </a:ln>
        </p:spPr>
        <p:txBody>
          <a:bodyPr rtlCol="0" anchor="ctr" anchorCtr="0"/>
          <a:lstStyle/>
          <a:p>
            <a:pPr algn="ctr">
              <a:lnSpc>
                <a:spcPts val="1800"/>
              </a:lnSpc>
            </a:pPr>
            <a:r>
              <a:rPr kumimoji="1" lang="en-US" sz="1800" dirty="0">
                <a:solidFill>
                  <a:schemeClr val="bg1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Competitive advantage</a:t>
            </a:r>
          </a:p>
        </p:txBody>
      </p:sp>
      <p:cxnSp>
        <p:nvCxnSpPr>
          <p:cNvPr id="9" name="Gerade Verbindung mit Pfeil 6"/>
          <p:cNvCxnSpPr>
            <a:stCxn id="12" idx="3"/>
          </p:cNvCxnSpPr>
          <p:nvPr/>
        </p:nvCxnSpPr>
        <p:spPr bwMode="auto">
          <a:xfrm>
            <a:off x="2667552" y="1966360"/>
            <a:ext cx="936104" cy="360000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0" name="Gerade Verbindung mit Pfeil 10"/>
          <p:cNvCxnSpPr>
            <a:stCxn id="18" idx="1"/>
          </p:cNvCxnSpPr>
          <p:nvPr/>
        </p:nvCxnSpPr>
        <p:spPr bwMode="auto">
          <a:xfrm flipH="1">
            <a:off x="5619880" y="1750336"/>
            <a:ext cx="648072" cy="576024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1" name="Gerade Verbindung mit Pfeil 12"/>
          <p:cNvCxnSpPr>
            <a:stCxn id="15" idx="0"/>
          </p:cNvCxnSpPr>
          <p:nvPr/>
        </p:nvCxnSpPr>
        <p:spPr bwMode="auto">
          <a:xfrm flipH="1" flipV="1">
            <a:off x="4827792" y="3190536"/>
            <a:ext cx="1332148" cy="864096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2" name="Rechteck 7"/>
          <p:cNvSpPr/>
          <p:nvPr/>
        </p:nvSpPr>
        <p:spPr bwMode="auto">
          <a:xfrm>
            <a:off x="867352" y="1606360"/>
            <a:ext cx="1800200" cy="720000"/>
          </a:xfrm>
          <a:prstGeom prst="rect">
            <a:avLst/>
          </a:prstGeom>
          <a:solidFill>
            <a:schemeClr val="bg1">
              <a:lumMod val="85000"/>
            </a:schemeClr>
          </a:solidFill>
          <a:ln w="22225">
            <a:noFill/>
            <a:round/>
            <a:headEnd/>
            <a:tailEnd/>
          </a:ln>
        </p:spPr>
        <p:txBody>
          <a:bodyPr rtlCol="0" anchor="ctr" anchorCtr="0"/>
          <a:lstStyle/>
          <a:p>
            <a:pPr algn="ctr">
              <a:lnSpc>
                <a:spcPts val="1800"/>
              </a:lnSpc>
            </a:pPr>
            <a:r>
              <a:rPr kumimoji="1" lang="en-US" sz="1600" dirty="0">
                <a:ea typeface="Verdana" panose="020B0604030504040204" pitchFamily="34" charset="0"/>
                <a:cs typeface="Verdana" panose="020B0604030504040204" pitchFamily="34" charset="0"/>
              </a:rPr>
              <a:t>Firm resources &amp; capabilities</a:t>
            </a:r>
          </a:p>
        </p:txBody>
      </p:sp>
      <p:sp>
        <p:nvSpPr>
          <p:cNvPr id="13" name="Rechteck 17"/>
          <p:cNvSpPr/>
          <p:nvPr/>
        </p:nvSpPr>
        <p:spPr bwMode="auto">
          <a:xfrm>
            <a:off x="5499232" y="4372089"/>
            <a:ext cx="1800200" cy="720000"/>
          </a:xfrm>
          <a:prstGeom prst="rect">
            <a:avLst/>
          </a:prstGeom>
          <a:solidFill>
            <a:schemeClr val="bg1">
              <a:lumMod val="65000"/>
            </a:schemeClr>
          </a:solidFill>
          <a:ln w="22225">
            <a:noFill/>
            <a:round/>
            <a:headEnd/>
            <a:tailEnd/>
          </a:ln>
        </p:spPr>
        <p:txBody>
          <a:bodyPr rtlCol="0" anchor="ctr" anchorCtr="0"/>
          <a:lstStyle/>
          <a:p>
            <a:pPr algn="ctr">
              <a:lnSpc>
                <a:spcPts val="1800"/>
              </a:lnSpc>
            </a:pPr>
            <a:endParaRPr kumimoji="1" lang="en-US" sz="1600" dirty="0"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4" name="Rechteck 18"/>
          <p:cNvSpPr/>
          <p:nvPr/>
        </p:nvSpPr>
        <p:spPr bwMode="auto">
          <a:xfrm>
            <a:off x="5379536" y="4213068"/>
            <a:ext cx="1800200" cy="720000"/>
          </a:xfrm>
          <a:prstGeom prst="rect">
            <a:avLst/>
          </a:prstGeom>
          <a:solidFill>
            <a:schemeClr val="bg1">
              <a:lumMod val="95000"/>
            </a:schemeClr>
          </a:solidFill>
          <a:ln w="22225">
            <a:noFill/>
            <a:round/>
            <a:headEnd/>
            <a:tailEnd/>
          </a:ln>
        </p:spPr>
        <p:txBody>
          <a:bodyPr rtlCol="0" anchor="ctr" anchorCtr="0"/>
          <a:lstStyle/>
          <a:p>
            <a:pPr algn="ctr">
              <a:lnSpc>
                <a:spcPts val="1800"/>
              </a:lnSpc>
            </a:pPr>
            <a:endParaRPr kumimoji="1" lang="en-US" sz="1600" dirty="0"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5" name="Rechteck 8"/>
          <p:cNvSpPr/>
          <p:nvPr/>
        </p:nvSpPr>
        <p:spPr bwMode="auto">
          <a:xfrm>
            <a:off x="5259840" y="4054632"/>
            <a:ext cx="1800200" cy="720000"/>
          </a:xfrm>
          <a:prstGeom prst="rect">
            <a:avLst/>
          </a:prstGeom>
          <a:solidFill>
            <a:schemeClr val="bg1">
              <a:lumMod val="85000"/>
            </a:schemeClr>
          </a:solidFill>
          <a:ln w="22225">
            <a:noFill/>
            <a:round/>
            <a:headEnd/>
            <a:tailEnd/>
          </a:ln>
        </p:spPr>
        <p:txBody>
          <a:bodyPr rtlCol="0" anchor="ctr" anchorCtr="0"/>
          <a:lstStyle/>
          <a:p>
            <a:pPr algn="ctr">
              <a:lnSpc>
                <a:spcPts val="1800"/>
              </a:lnSpc>
            </a:pPr>
            <a:r>
              <a:rPr kumimoji="1" lang="en-US" sz="1600" dirty="0">
                <a:ea typeface="Verdana" panose="020B0604030504040204" pitchFamily="34" charset="0"/>
                <a:cs typeface="Verdana" panose="020B0604030504040204" pitchFamily="34" charset="0"/>
              </a:rPr>
              <a:t>National environment</a:t>
            </a:r>
          </a:p>
        </p:txBody>
      </p:sp>
      <p:sp>
        <p:nvSpPr>
          <p:cNvPr id="16" name="Rechteck 20"/>
          <p:cNvSpPr/>
          <p:nvPr/>
        </p:nvSpPr>
        <p:spPr bwMode="auto">
          <a:xfrm>
            <a:off x="6507344" y="1708379"/>
            <a:ext cx="1800200" cy="720000"/>
          </a:xfrm>
          <a:prstGeom prst="rect">
            <a:avLst/>
          </a:prstGeom>
          <a:solidFill>
            <a:schemeClr val="bg1">
              <a:lumMod val="65000"/>
            </a:schemeClr>
          </a:solidFill>
          <a:ln w="22225">
            <a:noFill/>
            <a:round/>
            <a:headEnd/>
            <a:tailEnd/>
          </a:ln>
        </p:spPr>
        <p:txBody>
          <a:bodyPr rtlCol="0" anchor="ctr" anchorCtr="0"/>
          <a:lstStyle/>
          <a:p>
            <a:pPr algn="ctr">
              <a:lnSpc>
                <a:spcPts val="1800"/>
              </a:lnSpc>
            </a:pPr>
            <a:endParaRPr kumimoji="1" lang="en-US" sz="1600" dirty="0"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7" name="Rechteck 21"/>
          <p:cNvSpPr/>
          <p:nvPr/>
        </p:nvSpPr>
        <p:spPr bwMode="auto">
          <a:xfrm>
            <a:off x="6387648" y="1549358"/>
            <a:ext cx="1800200" cy="720000"/>
          </a:xfrm>
          <a:prstGeom prst="rect">
            <a:avLst/>
          </a:prstGeom>
          <a:solidFill>
            <a:schemeClr val="bg1">
              <a:lumMod val="95000"/>
            </a:schemeClr>
          </a:solidFill>
          <a:ln w="22225">
            <a:noFill/>
            <a:round/>
            <a:headEnd/>
            <a:tailEnd/>
          </a:ln>
        </p:spPr>
        <p:txBody>
          <a:bodyPr rtlCol="0" anchor="ctr" anchorCtr="0"/>
          <a:lstStyle/>
          <a:p>
            <a:pPr algn="ctr">
              <a:lnSpc>
                <a:spcPts val="1800"/>
              </a:lnSpc>
            </a:pPr>
            <a:endParaRPr kumimoji="1" lang="en-US" sz="1600" dirty="0"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8" name="Rechteck 3"/>
          <p:cNvSpPr/>
          <p:nvPr/>
        </p:nvSpPr>
        <p:spPr bwMode="auto">
          <a:xfrm>
            <a:off x="6267952" y="1390336"/>
            <a:ext cx="1800200" cy="720000"/>
          </a:xfrm>
          <a:prstGeom prst="rect">
            <a:avLst/>
          </a:prstGeom>
          <a:solidFill>
            <a:schemeClr val="bg1">
              <a:lumMod val="85000"/>
            </a:schemeClr>
          </a:solidFill>
          <a:ln w="22225">
            <a:noFill/>
            <a:round/>
            <a:headEnd/>
            <a:tailEnd/>
          </a:ln>
        </p:spPr>
        <p:txBody>
          <a:bodyPr rtlCol="0" anchor="ctr" anchorCtr="0"/>
          <a:lstStyle/>
          <a:p>
            <a:pPr algn="ctr">
              <a:lnSpc>
                <a:spcPts val="1800"/>
              </a:lnSpc>
            </a:pPr>
            <a:r>
              <a:rPr kumimoji="1" lang="en-US" sz="1600" dirty="0">
                <a:ea typeface="Verdana" panose="020B0604030504040204" pitchFamily="34" charset="0"/>
                <a:cs typeface="Verdana" panose="020B0604030504040204" pitchFamily="34" charset="0"/>
              </a:rPr>
              <a:t>Industry environment</a:t>
            </a:r>
          </a:p>
        </p:txBody>
      </p:sp>
      <p:sp>
        <p:nvSpPr>
          <p:cNvPr id="19" name="Rechteck 23"/>
          <p:cNvSpPr/>
          <p:nvPr/>
        </p:nvSpPr>
        <p:spPr bwMode="auto">
          <a:xfrm>
            <a:off x="867353" y="2643937"/>
            <a:ext cx="2039592" cy="720000"/>
          </a:xfrm>
          <a:prstGeom prst="rect">
            <a:avLst/>
          </a:prstGeom>
          <a:noFill/>
          <a:ln w="22225">
            <a:noFill/>
            <a:round/>
            <a:headEnd/>
            <a:tailEnd/>
          </a:ln>
        </p:spPr>
        <p:txBody>
          <a:bodyPr rtlCol="0" anchor="ctr" anchorCtr="0"/>
          <a:lstStyle/>
          <a:p>
            <a:pPr algn="ctr">
              <a:lnSpc>
                <a:spcPts val="1800"/>
              </a:lnSpc>
            </a:pPr>
            <a:r>
              <a:rPr kumimoji="1" lang="en-US" dirty="0">
                <a:ea typeface="Verdana" panose="020B0604030504040204" pitchFamily="34" charset="0"/>
                <a:cs typeface="Verdana" panose="020B0604030504040204" pitchFamily="34" charset="0"/>
              </a:rPr>
              <a:t>Are they valuable in all markets?</a:t>
            </a:r>
          </a:p>
        </p:txBody>
      </p:sp>
      <p:sp>
        <p:nvSpPr>
          <p:cNvPr id="20" name="Rechteck 24"/>
          <p:cNvSpPr/>
          <p:nvPr/>
        </p:nvSpPr>
        <p:spPr bwMode="auto">
          <a:xfrm>
            <a:off x="6357624" y="2427794"/>
            <a:ext cx="2039592" cy="720000"/>
          </a:xfrm>
          <a:prstGeom prst="rect">
            <a:avLst/>
          </a:prstGeom>
          <a:noFill/>
          <a:ln w="22225">
            <a:noFill/>
            <a:round/>
            <a:headEnd/>
            <a:tailEnd/>
          </a:ln>
        </p:spPr>
        <p:txBody>
          <a:bodyPr rtlCol="0" anchor="ctr" anchorCtr="0"/>
          <a:lstStyle/>
          <a:p>
            <a:pPr algn="ctr">
              <a:lnSpc>
                <a:spcPts val="1800"/>
              </a:lnSpc>
            </a:pPr>
            <a:r>
              <a:rPr kumimoji="1" lang="en-US" dirty="0">
                <a:ea typeface="Verdana" panose="020B0604030504040204" pitchFamily="34" charset="0"/>
                <a:cs typeface="Verdana" panose="020B0604030504040204" pitchFamily="34" charset="0"/>
              </a:rPr>
              <a:t>Different competitive forces across industries?</a:t>
            </a:r>
          </a:p>
        </p:txBody>
      </p:sp>
      <p:sp>
        <p:nvSpPr>
          <p:cNvPr id="21" name="Rechteck 25"/>
          <p:cNvSpPr/>
          <p:nvPr/>
        </p:nvSpPr>
        <p:spPr bwMode="auto">
          <a:xfrm>
            <a:off x="3004224" y="4049857"/>
            <a:ext cx="2039592" cy="1042231"/>
          </a:xfrm>
          <a:prstGeom prst="rect">
            <a:avLst/>
          </a:prstGeom>
          <a:noFill/>
          <a:ln w="22225">
            <a:noFill/>
            <a:round/>
            <a:headEnd/>
            <a:tailEnd/>
          </a:ln>
        </p:spPr>
        <p:txBody>
          <a:bodyPr rtlCol="0" anchor="ctr" anchorCtr="0"/>
          <a:lstStyle/>
          <a:p>
            <a:pPr algn="ctr">
              <a:lnSpc>
                <a:spcPts val="1800"/>
              </a:lnSpc>
            </a:pPr>
            <a:r>
              <a:rPr kumimoji="1" lang="en-US" dirty="0">
                <a:ea typeface="Verdana" panose="020B0604030504040204" pitchFamily="34" charset="0"/>
                <a:cs typeface="Verdana" panose="020B0604030504040204" pitchFamily="34" charset="0"/>
              </a:rPr>
              <a:t>Different trends and challenges across countries?</a:t>
            </a:r>
          </a:p>
        </p:txBody>
      </p:sp>
      <p:sp>
        <p:nvSpPr>
          <p:cNvPr id="22" name="Rectangle 9"/>
          <p:cNvSpPr>
            <a:spLocks noChangeArrowheads="1"/>
          </p:cNvSpPr>
          <p:nvPr/>
        </p:nvSpPr>
        <p:spPr bwMode="auto">
          <a:xfrm>
            <a:off x="1101768" y="5305565"/>
            <a:ext cx="7020000" cy="630067"/>
          </a:xfrm>
          <a:prstGeom prst="rect">
            <a:avLst/>
          </a:prstGeom>
          <a:solidFill>
            <a:srgbClr val="336699"/>
          </a:solidFill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 lIns="108000" rIns="108000" anchor="ctr"/>
          <a:lstStyle/>
          <a:p>
            <a:pPr algn="ctr" defTabSz="977900" eaLnBrk="0" hangingPunct="0">
              <a:spcBef>
                <a:spcPct val="50000"/>
              </a:spcBef>
              <a:buClr>
                <a:srgbClr val="FF0000"/>
              </a:buClr>
              <a:tabLst>
                <a:tab pos="2759075" algn="l"/>
                <a:tab pos="6286500" algn="l"/>
              </a:tabLst>
            </a:pPr>
            <a:r>
              <a:rPr lang="en-US" sz="1600" b="1" dirty="0">
                <a:solidFill>
                  <a:schemeClr val="bg1"/>
                </a:solidFill>
              </a:rPr>
              <a:t>Multinationality results in additional layers of analysis</a:t>
            </a:r>
          </a:p>
        </p:txBody>
      </p:sp>
      <p:sp>
        <p:nvSpPr>
          <p:cNvPr id="23" name="Bogen 19461"/>
          <p:cNvSpPr/>
          <p:nvPr/>
        </p:nvSpPr>
        <p:spPr bwMode="auto">
          <a:xfrm>
            <a:off x="3171608" y="1280207"/>
            <a:ext cx="2592288" cy="1142347"/>
          </a:xfrm>
          <a:prstGeom prst="arc">
            <a:avLst>
              <a:gd name="adj1" fmla="val 11605031"/>
              <a:gd name="adj2" fmla="val 20693510"/>
            </a:avLst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triangl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24" name="Bogen 38"/>
          <p:cNvSpPr/>
          <p:nvPr/>
        </p:nvSpPr>
        <p:spPr bwMode="auto">
          <a:xfrm>
            <a:off x="1535940" y="2429690"/>
            <a:ext cx="2592288" cy="2107022"/>
          </a:xfrm>
          <a:prstGeom prst="arc">
            <a:avLst>
              <a:gd name="adj1" fmla="val 5979518"/>
              <a:gd name="adj2" fmla="val 10943116"/>
            </a:avLst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triangl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25" name="Bogen 39"/>
          <p:cNvSpPr/>
          <p:nvPr/>
        </p:nvSpPr>
        <p:spPr bwMode="auto">
          <a:xfrm>
            <a:off x="5699645" y="2479573"/>
            <a:ext cx="2592288" cy="1728909"/>
          </a:xfrm>
          <a:prstGeom prst="arc">
            <a:avLst>
              <a:gd name="adj1" fmla="val 21474016"/>
              <a:gd name="adj2" fmla="val 3593373"/>
            </a:avLst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triangl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14673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13" grpId="0" animBg="1"/>
      <p:bldP spid="14" grpId="0" animBg="1"/>
      <p:bldP spid="16" grpId="0" animBg="1"/>
      <p:bldP spid="17" grpId="0" animBg="1"/>
      <p:bldP spid="19" grpId="0"/>
      <p:bldP spid="20" grpId="0"/>
      <p:bldP spid="21" grpId="0"/>
      <p:bldP spid="22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AA44501-30D4-4910-9B68-5231643A423F}" type="slidenum">
              <a:rPr lang="en-US" smtClean="0"/>
              <a:pPr>
                <a:defRPr/>
              </a:pPr>
              <a:t>17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dirty="0"/>
              <a:t>Origins of MNCs can affect their international strategy</a:t>
            </a:r>
          </a:p>
          <a:p>
            <a:endParaRPr lang="en-US" dirty="0"/>
          </a:p>
        </p:txBody>
      </p:sp>
      <p:pic>
        <p:nvPicPr>
          <p:cNvPr id="7" name="Grafik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1720" y="1379039"/>
            <a:ext cx="4705510" cy="3600000"/>
          </a:xfrm>
          <a:prstGeom prst="rect">
            <a:avLst/>
          </a:prstGeom>
        </p:spPr>
      </p:pic>
      <p:sp>
        <p:nvSpPr>
          <p:cNvPr id="9" name="Rechteck 11"/>
          <p:cNvSpPr/>
          <p:nvPr/>
        </p:nvSpPr>
        <p:spPr bwMode="auto">
          <a:xfrm>
            <a:off x="395289" y="3717032"/>
            <a:ext cx="2592536" cy="540000"/>
          </a:xfrm>
          <a:prstGeom prst="rect">
            <a:avLst/>
          </a:prstGeom>
          <a:solidFill>
            <a:srgbClr val="75A3D1"/>
          </a:solidFill>
          <a:ln w="9525">
            <a:noFill/>
            <a:round/>
            <a:headEnd/>
            <a:tailEnd/>
          </a:ln>
        </p:spPr>
        <p:txBody>
          <a:bodyPr rtlCol="0" anchor="ctr" anchorCtr="0"/>
          <a:lstStyle/>
          <a:p>
            <a:pPr algn="ctr">
              <a:lnSpc>
                <a:spcPts val="1800"/>
              </a:lnSpc>
            </a:pPr>
            <a:r>
              <a:rPr kumimoji="1" lang="en-US" sz="1200" dirty="0">
                <a:solidFill>
                  <a:schemeClr val="bg1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Used to do business in a globalized world</a:t>
            </a:r>
          </a:p>
        </p:txBody>
      </p:sp>
      <p:sp>
        <p:nvSpPr>
          <p:cNvPr id="10" name="Rechteck 12"/>
          <p:cNvSpPr/>
          <p:nvPr/>
        </p:nvSpPr>
        <p:spPr bwMode="auto">
          <a:xfrm>
            <a:off x="395289" y="1268760"/>
            <a:ext cx="2592536" cy="540000"/>
          </a:xfrm>
          <a:prstGeom prst="rect">
            <a:avLst/>
          </a:prstGeom>
          <a:solidFill>
            <a:srgbClr val="75A3D1"/>
          </a:solidFill>
          <a:ln w="9525">
            <a:noFill/>
            <a:round/>
            <a:headEnd/>
            <a:tailEnd/>
          </a:ln>
        </p:spPr>
        <p:txBody>
          <a:bodyPr rtlCol="0" anchor="ctr" anchorCtr="0"/>
          <a:lstStyle/>
          <a:p>
            <a:pPr algn="ctr">
              <a:lnSpc>
                <a:spcPts val="1800"/>
              </a:lnSpc>
            </a:pPr>
            <a:r>
              <a:rPr kumimoji="1" lang="en-US" sz="1200" dirty="0">
                <a:solidFill>
                  <a:schemeClr val="bg1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Cope with high-uncertainty environments</a:t>
            </a:r>
          </a:p>
        </p:txBody>
      </p:sp>
      <p:sp>
        <p:nvSpPr>
          <p:cNvPr id="11" name="Rechteck 13"/>
          <p:cNvSpPr/>
          <p:nvPr/>
        </p:nvSpPr>
        <p:spPr bwMode="auto">
          <a:xfrm>
            <a:off x="6228472" y="1268760"/>
            <a:ext cx="2592000" cy="540000"/>
          </a:xfrm>
          <a:prstGeom prst="rect">
            <a:avLst/>
          </a:prstGeom>
          <a:solidFill>
            <a:srgbClr val="75A3D1"/>
          </a:solidFill>
          <a:ln w="9525">
            <a:noFill/>
            <a:round/>
            <a:headEnd/>
            <a:tailEnd/>
          </a:ln>
        </p:spPr>
        <p:txBody>
          <a:bodyPr rtlCol="0" anchor="ctr" anchorCtr="0"/>
          <a:lstStyle/>
          <a:p>
            <a:pPr algn="ctr">
              <a:lnSpc>
                <a:spcPts val="1800"/>
              </a:lnSpc>
            </a:pPr>
            <a:r>
              <a:rPr kumimoji="1" lang="en-US" sz="1200" dirty="0">
                <a:solidFill>
                  <a:schemeClr val="bg1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From low value-adding to high value-adding activities</a:t>
            </a:r>
          </a:p>
        </p:txBody>
      </p:sp>
      <p:sp>
        <p:nvSpPr>
          <p:cNvPr id="12" name="Rechteck 14"/>
          <p:cNvSpPr/>
          <p:nvPr/>
        </p:nvSpPr>
        <p:spPr bwMode="auto">
          <a:xfrm>
            <a:off x="6229034" y="3717032"/>
            <a:ext cx="2592000" cy="540000"/>
          </a:xfrm>
          <a:prstGeom prst="rect">
            <a:avLst/>
          </a:prstGeom>
          <a:solidFill>
            <a:srgbClr val="75A3D1"/>
          </a:solidFill>
          <a:ln w="9525">
            <a:noFill/>
            <a:round/>
            <a:headEnd/>
            <a:tailEnd/>
          </a:ln>
        </p:spPr>
        <p:txBody>
          <a:bodyPr rtlCol="0" anchor="ctr" anchorCtr="0"/>
          <a:lstStyle/>
          <a:p>
            <a:pPr algn="ctr">
              <a:lnSpc>
                <a:spcPts val="1800"/>
              </a:lnSpc>
            </a:pPr>
            <a:r>
              <a:rPr kumimoji="1" lang="en-US" sz="1200" dirty="0">
                <a:solidFill>
                  <a:schemeClr val="bg1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Different stages of internationalization process</a:t>
            </a:r>
          </a:p>
        </p:txBody>
      </p:sp>
      <p:sp>
        <p:nvSpPr>
          <p:cNvPr id="13" name="Rectangle 9"/>
          <p:cNvSpPr>
            <a:spLocks noChangeArrowheads="1"/>
          </p:cNvSpPr>
          <p:nvPr/>
        </p:nvSpPr>
        <p:spPr bwMode="auto">
          <a:xfrm>
            <a:off x="1106768" y="5305565"/>
            <a:ext cx="7020000" cy="630067"/>
          </a:xfrm>
          <a:prstGeom prst="rect">
            <a:avLst/>
          </a:prstGeom>
          <a:solidFill>
            <a:srgbClr val="336699"/>
          </a:solidFill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 lIns="108000" rIns="108000" anchor="ctr"/>
          <a:lstStyle/>
          <a:p>
            <a:pPr algn="ctr" defTabSz="977900" eaLnBrk="0" hangingPunct="0">
              <a:spcBef>
                <a:spcPct val="50000"/>
              </a:spcBef>
              <a:buClr>
                <a:srgbClr val="FF0000"/>
              </a:buClr>
              <a:tabLst>
                <a:tab pos="2759075" algn="l"/>
                <a:tab pos="6286500" algn="l"/>
              </a:tabLst>
            </a:pPr>
            <a:r>
              <a:rPr lang="en-US" sz="1600" b="1" dirty="0">
                <a:solidFill>
                  <a:schemeClr val="bg1"/>
                </a:solidFill>
              </a:rPr>
              <a:t>Country of origin shapes competitive advantages of MNCs</a:t>
            </a:r>
          </a:p>
        </p:txBody>
      </p:sp>
    </p:spTree>
    <p:extLst>
      <p:ext uri="{BB962C8B-B14F-4D97-AF65-F5344CB8AC3E}">
        <p14:creationId xmlns:p14="http://schemas.microsoft.com/office/powerpoint/2010/main" val="31429438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AA44501-30D4-4910-9B68-5231643A423F}" type="slidenum">
              <a:rPr lang="en-US" smtClean="0"/>
              <a:pPr>
                <a:defRPr/>
              </a:pPr>
              <a:t>18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dirty="0"/>
              <a:t>Firms face multidimensional and contradictory objectives</a:t>
            </a:r>
          </a:p>
          <a:p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b="1" dirty="0"/>
              <a:t>Source: </a:t>
            </a:r>
            <a:r>
              <a:rPr lang="en-US" dirty="0" err="1"/>
              <a:t>Ghoshal</a:t>
            </a:r>
            <a:r>
              <a:rPr lang="en-US" dirty="0"/>
              <a:t>, 1987</a:t>
            </a:r>
          </a:p>
        </p:txBody>
      </p:sp>
      <p:sp>
        <p:nvSpPr>
          <p:cNvPr id="7" name="Rechteck 3"/>
          <p:cNvSpPr/>
          <p:nvPr/>
        </p:nvSpPr>
        <p:spPr bwMode="auto">
          <a:xfrm>
            <a:off x="2232000" y="2025064"/>
            <a:ext cx="4680000" cy="540000"/>
          </a:xfrm>
          <a:prstGeom prst="rect">
            <a:avLst/>
          </a:prstGeom>
          <a:solidFill>
            <a:srgbClr val="336699"/>
          </a:solidFill>
          <a:ln w="22225">
            <a:noFill/>
            <a:round/>
            <a:headEnd/>
            <a:tailEnd/>
          </a:ln>
        </p:spPr>
        <p:txBody>
          <a:bodyPr rtlCol="0" anchor="ctr" anchorCtr="0"/>
          <a:lstStyle/>
          <a:p>
            <a:pPr algn="ctr">
              <a:lnSpc>
                <a:spcPts val="1800"/>
              </a:lnSpc>
            </a:pPr>
            <a:r>
              <a:rPr kumimoji="1" lang="en-US" sz="1600" dirty="0">
                <a:solidFill>
                  <a:schemeClr val="bg1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Efficiency in international value chains</a:t>
            </a:r>
          </a:p>
        </p:txBody>
      </p:sp>
      <p:sp>
        <p:nvSpPr>
          <p:cNvPr id="8" name="Rechteck 32"/>
          <p:cNvSpPr/>
          <p:nvPr/>
        </p:nvSpPr>
        <p:spPr bwMode="auto">
          <a:xfrm>
            <a:off x="2232000" y="2835064"/>
            <a:ext cx="4680000" cy="540000"/>
          </a:xfrm>
          <a:prstGeom prst="rect">
            <a:avLst/>
          </a:prstGeom>
          <a:solidFill>
            <a:srgbClr val="336699"/>
          </a:solidFill>
          <a:ln w="22225">
            <a:noFill/>
            <a:round/>
            <a:headEnd/>
            <a:tailEnd/>
          </a:ln>
        </p:spPr>
        <p:txBody>
          <a:bodyPr rtlCol="0" anchor="ctr" anchorCtr="0"/>
          <a:lstStyle/>
          <a:p>
            <a:pPr algn="ctr">
              <a:lnSpc>
                <a:spcPts val="1800"/>
              </a:lnSpc>
            </a:pPr>
            <a:r>
              <a:rPr kumimoji="1" lang="en-US" sz="1600" dirty="0">
                <a:solidFill>
                  <a:schemeClr val="bg1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Flexibility facing risks / opportunities</a:t>
            </a:r>
          </a:p>
        </p:txBody>
      </p:sp>
      <p:sp>
        <p:nvSpPr>
          <p:cNvPr id="9" name="Rechteck 33"/>
          <p:cNvSpPr/>
          <p:nvPr/>
        </p:nvSpPr>
        <p:spPr bwMode="auto">
          <a:xfrm>
            <a:off x="2232000" y="3645064"/>
            <a:ext cx="4680000" cy="540000"/>
          </a:xfrm>
          <a:prstGeom prst="rect">
            <a:avLst/>
          </a:prstGeom>
          <a:solidFill>
            <a:srgbClr val="336699"/>
          </a:solidFill>
          <a:ln w="22225">
            <a:noFill/>
            <a:round/>
            <a:headEnd/>
            <a:tailEnd/>
          </a:ln>
        </p:spPr>
        <p:txBody>
          <a:bodyPr rtlCol="0" anchor="ctr" anchorCtr="0"/>
          <a:lstStyle/>
          <a:p>
            <a:pPr algn="ctr">
              <a:lnSpc>
                <a:spcPts val="1800"/>
              </a:lnSpc>
            </a:pPr>
            <a:r>
              <a:rPr kumimoji="1" lang="en-US" sz="1600" dirty="0">
                <a:solidFill>
                  <a:schemeClr val="bg1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Learning from global operations</a:t>
            </a:r>
          </a:p>
        </p:txBody>
      </p:sp>
      <p:sp>
        <p:nvSpPr>
          <p:cNvPr id="13" name="Rechteck 37"/>
          <p:cNvSpPr/>
          <p:nvPr/>
        </p:nvSpPr>
        <p:spPr bwMode="auto">
          <a:xfrm>
            <a:off x="377620" y="1448800"/>
            <a:ext cx="8388760" cy="540000"/>
          </a:xfrm>
          <a:prstGeom prst="rect">
            <a:avLst/>
          </a:prstGeom>
          <a:noFill/>
          <a:ln w="22225">
            <a:noFill/>
            <a:round/>
            <a:headEnd/>
            <a:tailEnd/>
          </a:ln>
        </p:spPr>
        <p:txBody>
          <a:bodyPr rtlCol="0" anchor="ctr" anchorCtr="0"/>
          <a:lstStyle/>
          <a:p>
            <a:pPr algn="ctr">
              <a:lnSpc>
                <a:spcPts val="1800"/>
              </a:lnSpc>
            </a:pPr>
            <a:r>
              <a:rPr kumimoji="1" lang="en-US" sz="1800" dirty="0">
                <a:ea typeface="Verdana" panose="020B0604030504040204" pitchFamily="34" charset="0"/>
                <a:cs typeface="Verdana" panose="020B0604030504040204" pitchFamily="34" charset="0"/>
              </a:rPr>
              <a:t>MNCs can build competitive advantage through…</a:t>
            </a:r>
          </a:p>
        </p:txBody>
      </p:sp>
      <p:sp>
        <p:nvSpPr>
          <p:cNvPr id="20" name="Rechteck 11"/>
          <p:cNvSpPr/>
          <p:nvPr/>
        </p:nvSpPr>
        <p:spPr bwMode="auto">
          <a:xfrm>
            <a:off x="377620" y="2025064"/>
            <a:ext cx="1548000" cy="2160000"/>
          </a:xfrm>
          <a:prstGeom prst="rect">
            <a:avLst/>
          </a:prstGeom>
          <a:solidFill>
            <a:schemeClr val="bg1">
              <a:lumMod val="85000"/>
            </a:schemeClr>
          </a:solidFill>
          <a:ln w="22225">
            <a:noFill/>
            <a:round/>
            <a:headEnd/>
            <a:tailEnd/>
          </a:ln>
        </p:spPr>
        <p:txBody>
          <a:bodyPr rtlCol="0" anchor="ctr" anchorCtr="0"/>
          <a:lstStyle/>
          <a:p>
            <a:pPr algn="ctr">
              <a:lnSpc>
                <a:spcPts val="1800"/>
              </a:lnSpc>
            </a:pPr>
            <a:r>
              <a:rPr kumimoji="1" lang="en-US" dirty="0">
                <a:ea typeface="Verdana" panose="020B0604030504040204" pitchFamily="34" charset="0"/>
                <a:cs typeface="Verdana" panose="020B0604030504040204" pitchFamily="34" charset="0"/>
              </a:rPr>
              <a:t>Pressures for integration</a:t>
            </a:r>
          </a:p>
        </p:txBody>
      </p:sp>
      <p:sp>
        <p:nvSpPr>
          <p:cNvPr id="21" name="Rechteck 11"/>
          <p:cNvSpPr/>
          <p:nvPr/>
        </p:nvSpPr>
        <p:spPr bwMode="auto">
          <a:xfrm>
            <a:off x="7218380" y="2025064"/>
            <a:ext cx="1548000" cy="2160000"/>
          </a:xfrm>
          <a:prstGeom prst="rect">
            <a:avLst/>
          </a:prstGeom>
          <a:solidFill>
            <a:schemeClr val="bg1">
              <a:lumMod val="85000"/>
            </a:schemeClr>
          </a:solidFill>
          <a:ln w="22225">
            <a:noFill/>
            <a:round/>
            <a:headEnd/>
            <a:tailEnd/>
          </a:ln>
        </p:spPr>
        <p:txBody>
          <a:bodyPr rtlCol="0" anchor="ctr" anchorCtr="0"/>
          <a:lstStyle/>
          <a:p>
            <a:pPr algn="ctr">
              <a:lnSpc>
                <a:spcPts val="1800"/>
              </a:lnSpc>
            </a:pPr>
            <a:r>
              <a:rPr kumimoji="1" lang="en-US" dirty="0">
                <a:ea typeface="Verdana" panose="020B0604030504040204" pitchFamily="34" charset="0"/>
                <a:cs typeface="Verdana" panose="020B0604030504040204" pitchFamily="34" charset="0"/>
              </a:rPr>
              <a:t>Pressures for responsiveness</a:t>
            </a:r>
          </a:p>
        </p:txBody>
      </p:sp>
      <p:sp>
        <p:nvSpPr>
          <p:cNvPr id="22" name="Gleichschenkliges Dreieck 21"/>
          <p:cNvSpPr/>
          <p:nvPr/>
        </p:nvSpPr>
        <p:spPr bwMode="auto">
          <a:xfrm rot="5400000">
            <a:off x="1178810" y="3015064"/>
            <a:ext cx="1800000" cy="180000"/>
          </a:xfrm>
          <a:prstGeom prst="triangle">
            <a:avLst/>
          </a:prstGeom>
          <a:solidFill>
            <a:schemeClr val="bg1">
              <a:lumMod val="65000"/>
            </a:schemeClr>
          </a:solidFill>
          <a:ln w="22225">
            <a:noFill/>
            <a:round/>
            <a:headEnd/>
            <a:tailEnd/>
          </a:ln>
        </p:spPr>
        <p:txBody>
          <a:bodyPr rtlCol="0" anchor="ctr" anchorCtr="0"/>
          <a:lstStyle/>
          <a:p>
            <a:pPr algn="l">
              <a:lnSpc>
                <a:spcPts val="1800"/>
              </a:lnSpc>
            </a:pPr>
            <a:endParaRPr kumimoji="1" lang="de-AT" sz="1800" dirty="0">
              <a:solidFill>
                <a:schemeClr val="bg1"/>
              </a:solidFill>
              <a:latin typeface="Arial" pitchFamily="34" charset="0"/>
            </a:endParaRPr>
          </a:p>
        </p:txBody>
      </p:sp>
      <p:sp>
        <p:nvSpPr>
          <p:cNvPr id="23" name="Gleichschenkliges Dreieck 22"/>
          <p:cNvSpPr/>
          <p:nvPr/>
        </p:nvSpPr>
        <p:spPr bwMode="auto">
          <a:xfrm rot="16200000" flipH="1">
            <a:off x="6165190" y="3015064"/>
            <a:ext cx="1800000" cy="180000"/>
          </a:xfrm>
          <a:prstGeom prst="triangle">
            <a:avLst/>
          </a:prstGeom>
          <a:solidFill>
            <a:schemeClr val="bg1">
              <a:lumMod val="65000"/>
            </a:schemeClr>
          </a:solidFill>
          <a:ln w="22225">
            <a:noFill/>
            <a:round/>
            <a:headEnd/>
            <a:tailEnd/>
          </a:ln>
        </p:spPr>
        <p:txBody>
          <a:bodyPr rtlCol="0" anchor="ctr" anchorCtr="0"/>
          <a:lstStyle/>
          <a:p>
            <a:pPr algn="l">
              <a:lnSpc>
                <a:spcPts val="1800"/>
              </a:lnSpc>
            </a:pPr>
            <a:endParaRPr kumimoji="1" lang="de-AT" sz="1800" dirty="0">
              <a:solidFill>
                <a:schemeClr val="bg1"/>
              </a:solidFill>
              <a:latin typeface="Arial" pitchFamily="34" charset="0"/>
            </a:endParaRPr>
          </a:p>
        </p:txBody>
      </p:sp>
      <p:sp>
        <p:nvSpPr>
          <p:cNvPr id="24" name="Rectangle 9"/>
          <p:cNvSpPr>
            <a:spLocks noChangeArrowheads="1"/>
          </p:cNvSpPr>
          <p:nvPr/>
        </p:nvSpPr>
        <p:spPr bwMode="auto">
          <a:xfrm>
            <a:off x="1402668" y="4779133"/>
            <a:ext cx="6480000" cy="630067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 lIns="108000" rIns="108000" anchor="ctr"/>
          <a:lstStyle/>
          <a:p>
            <a:pPr algn="ctr" defTabSz="977900" eaLnBrk="0" hangingPunct="0">
              <a:spcBef>
                <a:spcPct val="50000"/>
              </a:spcBef>
              <a:buClr>
                <a:srgbClr val="FF0000"/>
              </a:buClr>
              <a:tabLst>
                <a:tab pos="2759075" algn="l"/>
                <a:tab pos="6286500" algn="l"/>
              </a:tabLst>
            </a:pPr>
            <a:r>
              <a:rPr lang="en-US" sz="1600" b="1" dirty="0"/>
              <a:t>MNC strategy must balance pressures for integration and responsiveness to achieve these goals</a:t>
            </a:r>
          </a:p>
        </p:txBody>
      </p:sp>
      <p:sp>
        <p:nvSpPr>
          <p:cNvPr id="25" name="Gleichschenkliges Dreieck 9"/>
          <p:cNvSpPr/>
          <p:nvPr/>
        </p:nvSpPr>
        <p:spPr bwMode="auto">
          <a:xfrm flipV="1">
            <a:off x="1582668" y="4518046"/>
            <a:ext cx="6120000" cy="180000"/>
          </a:xfrm>
          <a:prstGeom prst="triangle">
            <a:avLst/>
          </a:prstGeom>
          <a:solidFill>
            <a:schemeClr val="bg1">
              <a:lumMod val="65000"/>
            </a:schemeClr>
          </a:solidFill>
          <a:ln w="22225">
            <a:noFill/>
            <a:round/>
            <a:headEnd/>
            <a:tailEnd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ts val="1800"/>
              </a:lnSpc>
            </a:pPr>
            <a:endParaRPr kumimoji="1" lang="en-US" sz="1800" dirty="0">
              <a:solidFill>
                <a:schemeClr val="bg1"/>
              </a:solidFill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47201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/>
          <p:cNvSpPr>
            <a:spLocks noGrp="1"/>
          </p:cNvSpPr>
          <p:nvPr>
            <p:ph idx="1"/>
          </p:nvPr>
        </p:nvSpPr>
        <p:spPr>
          <a:xfrm>
            <a:off x="4607288" y="1268412"/>
            <a:ext cx="4212862" cy="4681537"/>
          </a:xfrm>
        </p:spPr>
        <p:txBody>
          <a:bodyPr anchor="ctr"/>
          <a:lstStyle/>
          <a:p>
            <a:pPr>
              <a:buFont typeface="Wingdings" panose="05000000000000000000" pitchFamily="2" charset="2"/>
              <a:buChar char="§"/>
            </a:pPr>
            <a:endParaRPr lang="en-US" dirty="0"/>
          </a:p>
          <a:p>
            <a:pPr>
              <a:buFont typeface="Wingdings" panose="05000000000000000000" pitchFamily="2" charset="2"/>
              <a:buChar char="§"/>
            </a:pPr>
            <a:endParaRPr lang="en-US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What pressures for (local) responsiveness shape the industry?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What competitive forces push the industry towards integration?</a:t>
            </a:r>
          </a:p>
          <a:p>
            <a:pPr marL="0" indent="0"/>
            <a:endParaRPr lang="en-US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How are technology and competition changing the pressures for integration / responsiveness?</a:t>
            </a: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AA44501-30D4-4910-9B68-5231643A423F}" type="slidenum">
              <a:rPr lang="en-US" smtClean="0"/>
              <a:pPr>
                <a:defRPr/>
              </a:pPr>
              <a:t>19</a:t>
            </a:fld>
            <a:endParaRPr lang="en-US" dirty="0"/>
          </a:p>
        </p:txBody>
      </p:sp>
      <p:sp>
        <p:nvSpPr>
          <p:cNvPr id="4" name="Inhaltsplatzhalter 3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dirty="0"/>
              <a:t>Example:</a:t>
            </a:r>
            <a:br>
              <a:rPr lang="en-US" dirty="0"/>
            </a:br>
            <a:r>
              <a:rPr lang="en-US" dirty="0"/>
              <a:t>I/R frame work in the FMCG industry</a:t>
            </a:r>
          </a:p>
        </p:txBody>
      </p:sp>
      <p:sp>
        <p:nvSpPr>
          <p:cNvPr id="7" name="AutoShape 2"/>
          <p:cNvSpPr>
            <a:spLocks noChangeArrowheads="1"/>
          </p:cNvSpPr>
          <p:nvPr/>
        </p:nvSpPr>
        <p:spPr bwMode="gray">
          <a:xfrm rot="2640000">
            <a:off x="7282255" y="513611"/>
            <a:ext cx="1918366" cy="752475"/>
          </a:xfrm>
          <a:prstGeom prst="roundRect">
            <a:avLst>
              <a:gd name="adj" fmla="val 16667"/>
            </a:avLst>
          </a:prstGeom>
          <a:solidFill>
            <a:schemeClr val="hlink"/>
          </a:solidFill>
          <a:ln w="10795">
            <a:noFill/>
            <a:round/>
            <a:headEnd/>
            <a:tailEnd/>
          </a:ln>
          <a:effectLst/>
        </p:spPr>
        <p:txBody>
          <a:bodyPr wrap="square" anchor="ctr"/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</a:rPr>
              <a:t>Discussion</a:t>
            </a:r>
          </a:p>
        </p:txBody>
      </p:sp>
      <p:pic>
        <p:nvPicPr>
          <p:cNvPr id="10" name="Grafik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288" y="1538494"/>
            <a:ext cx="4212000" cy="4141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21596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ct 8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53" imgH="353" progId="TCLayout.ActiveDocument.1">
                  <p:embed/>
                </p:oleObj>
              </mc:Choice>
              <mc:Fallback>
                <p:oleObj name="think-cell Slide" r:id="rId4" imgW="353" imgH="353" progId="TCLayout.ActiveDocument.1">
                  <p:embed/>
                  <p:pic>
                    <p:nvPicPr>
                      <p:cNvPr id="9" name="Object 8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Inhaltsplatzhalter 1"/>
          <p:cNvSpPr>
            <a:spLocks noGrp="1"/>
          </p:cNvSpPr>
          <p:nvPr>
            <p:ph idx="1"/>
          </p:nvPr>
        </p:nvSpPr>
        <p:spPr>
          <a:xfrm>
            <a:off x="4607288" y="1268412"/>
            <a:ext cx="4212862" cy="4681537"/>
          </a:xfrm>
        </p:spPr>
        <p:txBody>
          <a:bodyPr anchor="ctr"/>
          <a:lstStyle/>
          <a:p>
            <a:pPr>
              <a:buFont typeface="Wingdings" panose="05000000000000000000" pitchFamily="2" charset="2"/>
              <a:buChar char="§"/>
            </a:pPr>
            <a:endParaRPr lang="en-US" dirty="0"/>
          </a:p>
          <a:p>
            <a:pPr>
              <a:buFont typeface="Wingdings" panose="05000000000000000000" pitchFamily="2" charset="2"/>
              <a:buChar char="§"/>
            </a:pPr>
            <a:endParaRPr lang="en-US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What factors can you identify that forced McDonald’s to reconsider their integration/responsiveness?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How did McDonald’s react to these pressures in the industry?</a:t>
            </a: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AA44501-30D4-4910-9B68-5231643A423F}" type="slidenum">
              <a:rPr lang="en-US" smtClean="0"/>
              <a:pPr>
                <a:defRPr/>
              </a:pPr>
              <a:t>20</a:t>
            </a:fld>
            <a:endParaRPr lang="en-US" dirty="0"/>
          </a:p>
        </p:txBody>
      </p:sp>
      <p:sp>
        <p:nvSpPr>
          <p:cNvPr id="4" name="Inhaltsplatzhalter 3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dirty="0"/>
              <a:t>Example:</a:t>
            </a:r>
            <a:br>
              <a:rPr lang="en-US" dirty="0"/>
            </a:br>
            <a:r>
              <a:rPr lang="en-US" dirty="0"/>
              <a:t>I/R frame work and McDonald’s</a:t>
            </a:r>
          </a:p>
        </p:txBody>
      </p:sp>
      <p:sp>
        <p:nvSpPr>
          <p:cNvPr id="7" name="AutoShape 2"/>
          <p:cNvSpPr>
            <a:spLocks noChangeArrowheads="1"/>
          </p:cNvSpPr>
          <p:nvPr/>
        </p:nvSpPr>
        <p:spPr bwMode="gray">
          <a:xfrm rot="2640000">
            <a:off x="7282255" y="513611"/>
            <a:ext cx="1918366" cy="752475"/>
          </a:xfrm>
          <a:prstGeom prst="roundRect">
            <a:avLst>
              <a:gd name="adj" fmla="val 16667"/>
            </a:avLst>
          </a:prstGeom>
          <a:solidFill>
            <a:schemeClr val="hlink"/>
          </a:solidFill>
          <a:ln w="10795">
            <a:noFill/>
            <a:round/>
            <a:headEnd/>
            <a:tailEnd/>
          </a:ln>
          <a:effectLst/>
        </p:spPr>
        <p:txBody>
          <a:bodyPr wrap="square" anchor="ctr"/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</a:rPr>
              <a:t>Discussion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6"/>
          <a:srcRect l="20743" r="3801"/>
          <a:stretch/>
        </p:blipFill>
        <p:spPr>
          <a:xfrm>
            <a:off x="355848" y="1462071"/>
            <a:ext cx="4288160" cy="4352079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auto">
          <a:xfrm>
            <a:off x="283592" y="1412776"/>
            <a:ext cx="360040" cy="414020"/>
          </a:xfrm>
          <a:prstGeom prst="rect">
            <a:avLst/>
          </a:prstGeom>
          <a:solidFill>
            <a:schemeClr val="bg1"/>
          </a:solidFill>
          <a:ln w="22225">
            <a:noFill/>
            <a:round/>
            <a:headEnd/>
            <a:tailEnd/>
          </a:ln>
        </p:spPr>
        <p:txBody>
          <a:bodyPr rtlCol="0" anchor="ctr" anchorCtr="0"/>
          <a:lstStyle/>
          <a:p>
            <a:pPr algn="l">
              <a:lnSpc>
                <a:spcPts val="1800"/>
              </a:lnSpc>
            </a:pPr>
            <a:endParaRPr kumimoji="1" lang="en-US" sz="1800" dirty="0">
              <a:solidFill>
                <a:schemeClr val="bg1"/>
              </a:solidFill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175680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AA44501-30D4-4910-9B68-5231643A423F}" type="slidenum">
              <a:rPr lang="en-US" smtClean="0"/>
              <a:pPr>
                <a:defRPr/>
              </a:pPr>
              <a:t>21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altLang="de-DE" dirty="0">
                <a:ea typeface="ＭＳ Ｐゴシック" pitchFamily="34" charset="-128"/>
              </a:rPr>
              <a:t>The IR-framework can be broken down to the task level</a:t>
            </a:r>
          </a:p>
          <a:p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b="1" dirty="0"/>
              <a:t>Source: </a:t>
            </a:r>
            <a:r>
              <a:rPr lang="en-US" altLang="de-DE" dirty="0"/>
              <a:t>Bartlett, 1985; Porter, 1984</a:t>
            </a:r>
          </a:p>
        </p:txBody>
      </p:sp>
      <p:grpSp>
        <p:nvGrpSpPr>
          <p:cNvPr id="6" name="Gruppieren 80"/>
          <p:cNvGrpSpPr/>
          <p:nvPr/>
        </p:nvGrpSpPr>
        <p:grpSpPr>
          <a:xfrm>
            <a:off x="321651" y="1302912"/>
            <a:ext cx="1836025" cy="2088232"/>
            <a:chOff x="295275" y="1844824"/>
            <a:chExt cx="1836025" cy="2088232"/>
          </a:xfrm>
        </p:grpSpPr>
        <p:grpSp>
          <p:nvGrpSpPr>
            <p:cNvPr id="7" name="Gruppieren 24"/>
            <p:cNvGrpSpPr/>
            <p:nvPr/>
          </p:nvGrpSpPr>
          <p:grpSpPr>
            <a:xfrm>
              <a:off x="295275" y="1844824"/>
              <a:ext cx="1836025" cy="2088232"/>
              <a:chOff x="295275" y="2132856"/>
              <a:chExt cx="1836025" cy="2088232"/>
            </a:xfrm>
          </p:grpSpPr>
          <p:grpSp>
            <p:nvGrpSpPr>
              <p:cNvPr id="14" name="Gruppieren 9"/>
              <p:cNvGrpSpPr/>
              <p:nvPr/>
            </p:nvGrpSpPr>
            <p:grpSpPr>
              <a:xfrm>
                <a:off x="295275" y="2132856"/>
                <a:ext cx="1836025" cy="1980039"/>
                <a:chOff x="1043608" y="2169041"/>
                <a:chExt cx="1836025" cy="1980039"/>
              </a:xfrm>
            </p:grpSpPr>
            <p:cxnSp>
              <p:nvCxnSpPr>
                <p:cNvPr id="16" name="Gerade Verbindung mit Pfeil 5"/>
                <p:cNvCxnSpPr/>
                <p:nvPr/>
              </p:nvCxnSpPr>
              <p:spPr bwMode="auto">
                <a:xfrm flipV="1">
                  <a:off x="1259632" y="2169041"/>
                  <a:ext cx="0" cy="1620000"/>
                </a:xfrm>
                <a:prstGeom prst="straightConnector1">
                  <a:avLst/>
                </a:prstGeom>
                <a:noFill/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triangle"/>
                </a:ln>
                <a:effectLst/>
              </p:spPr>
            </p:cxnSp>
            <p:cxnSp>
              <p:nvCxnSpPr>
                <p:cNvPr id="17" name="Gerade Verbindung mit Pfeil 6"/>
                <p:cNvCxnSpPr/>
                <p:nvPr/>
              </p:nvCxnSpPr>
              <p:spPr bwMode="auto">
                <a:xfrm rot="5400000" flipV="1">
                  <a:off x="2069632" y="2979040"/>
                  <a:ext cx="0" cy="1620000"/>
                </a:xfrm>
                <a:prstGeom prst="straightConnector1">
                  <a:avLst/>
                </a:prstGeom>
                <a:noFill/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triangle"/>
                </a:ln>
                <a:effectLst/>
              </p:spPr>
            </p:cxnSp>
            <p:sp>
              <p:nvSpPr>
                <p:cNvPr id="18" name="Rechteck 7"/>
                <p:cNvSpPr/>
                <p:nvPr/>
              </p:nvSpPr>
              <p:spPr bwMode="auto">
                <a:xfrm>
                  <a:off x="1043608" y="2169041"/>
                  <a:ext cx="216024" cy="360040"/>
                </a:xfrm>
                <a:prstGeom prst="rect">
                  <a:avLst/>
                </a:prstGeom>
                <a:noFill/>
                <a:ln w="22225">
                  <a:noFill/>
                  <a:round/>
                  <a:headEnd/>
                  <a:tailEnd/>
                </a:ln>
              </p:spPr>
              <p:txBody>
                <a:bodyPr rtlCol="0" anchor="ctr" anchorCtr="0"/>
                <a:lstStyle/>
                <a:p>
                  <a:pPr algn="l">
                    <a:lnSpc>
                      <a:spcPts val="1800"/>
                    </a:lnSpc>
                  </a:pPr>
                  <a:r>
                    <a:rPr kumimoji="1" lang="en-US" dirty="0">
                      <a:ea typeface="Verdana" panose="020B0604030504040204" pitchFamily="34" charset="0"/>
                      <a:cs typeface="Verdana" panose="020B0604030504040204" pitchFamily="34" charset="0"/>
                    </a:rPr>
                    <a:t>I</a:t>
                  </a:r>
                </a:p>
              </p:txBody>
            </p:sp>
            <p:sp>
              <p:nvSpPr>
                <p:cNvPr id="19" name="Rechteck 8"/>
                <p:cNvSpPr/>
                <p:nvPr/>
              </p:nvSpPr>
              <p:spPr bwMode="auto">
                <a:xfrm>
                  <a:off x="2663609" y="3789040"/>
                  <a:ext cx="216024" cy="360040"/>
                </a:xfrm>
                <a:prstGeom prst="rect">
                  <a:avLst/>
                </a:prstGeom>
                <a:noFill/>
                <a:ln w="22225">
                  <a:noFill/>
                  <a:round/>
                  <a:headEnd/>
                  <a:tailEnd/>
                </a:ln>
              </p:spPr>
              <p:txBody>
                <a:bodyPr rtlCol="0" anchor="ctr" anchorCtr="0"/>
                <a:lstStyle/>
                <a:p>
                  <a:pPr algn="l">
                    <a:lnSpc>
                      <a:spcPts val="1800"/>
                    </a:lnSpc>
                  </a:pPr>
                  <a:r>
                    <a:rPr kumimoji="1" lang="en-US" dirty="0">
                      <a:ea typeface="Verdana" panose="020B0604030504040204" pitchFamily="34" charset="0"/>
                      <a:cs typeface="Verdana" panose="020B0604030504040204" pitchFamily="34" charset="0"/>
                    </a:rPr>
                    <a:t>R</a:t>
                  </a:r>
                </a:p>
              </p:txBody>
            </p:sp>
          </p:grpSp>
          <p:sp>
            <p:nvSpPr>
              <p:cNvPr id="15" name="Rechteck 20"/>
              <p:cNvSpPr/>
              <p:nvPr/>
            </p:nvSpPr>
            <p:spPr bwMode="auto">
              <a:xfrm>
                <a:off x="511300" y="3861088"/>
                <a:ext cx="1620000" cy="360000"/>
              </a:xfrm>
              <a:prstGeom prst="rect">
                <a:avLst/>
              </a:prstGeom>
              <a:noFill/>
              <a:ln w="22225">
                <a:noFill/>
                <a:round/>
                <a:headEnd/>
                <a:tailEnd/>
              </a:ln>
            </p:spPr>
            <p:txBody>
              <a:bodyPr rtlCol="0" anchor="ctr" anchorCtr="0"/>
              <a:lstStyle/>
              <a:p>
                <a:pPr algn="ctr">
                  <a:lnSpc>
                    <a:spcPts val="1800"/>
                  </a:lnSpc>
                </a:pPr>
                <a:r>
                  <a:rPr kumimoji="1" lang="en-US" sz="1800" dirty="0">
                    <a:ea typeface="Verdana" panose="020B0604030504040204" pitchFamily="34" charset="0"/>
                    <a:cs typeface="Verdana" panose="020B0604030504040204" pitchFamily="34" charset="0"/>
                  </a:rPr>
                  <a:t>Industries</a:t>
                </a:r>
              </a:p>
            </p:txBody>
          </p:sp>
        </p:grpSp>
        <p:sp>
          <p:nvSpPr>
            <p:cNvPr id="8" name="Ellipse 33"/>
            <p:cNvSpPr/>
            <p:nvPr/>
          </p:nvSpPr>
          <p:spPr bwMode="auto">
            <a:xfrm>
              <a:off x="781555" y="2243936"/>
              <a:ext cx="180000" cy="180000"/>
            </a:xfrm>
            <a:prstGeom prst="ellipse">
              <a:avLst/>
            </a:prstGeom>
            <a:solidFill>
              <a:srgbClr val="336699"/>
            </a:solidFill>
            <a:ln w="22225">
              <a:noFill/>
              <a:round/>
              <a:headEnd/>
              <a:tailEnd/>
            </a:ln>
          </p:spPr>
          <p:txBody>
            <a:bodyPr rtlCol="0" anchor="ctr" anchorCtr="0"/>
            <a:lstStyle/>
            <a:p>
              <a:pPr algn="l">
                <a:lnSpc>
                  <a:spcPts val="1800"/>
                </a:lnSpc>
              </a:pPr>
              <a:endParaRPr kumimoji="1" lang="en-US" sz="1800" dirty="0">
                <a:solidFill>
                  <a:schemeClr val="bg1"/>
                </a:solidFill>
                <a:latin typeface="Arial" pitchFamily="34" charset="0"/>
              </a:endParaRPr>
            </a:p>
          </p:txBody>
        </p:sp>
        <p:sp>
          <p:nvSpPr>
            <p:cNvPr id="9" name="Ellipse 37"/>
            <p:cNvSpPr/>
            <p:nvPr/>
          </p:nvSpPr>
          <p:spPr bwMode="auto">
            <a:xfrm>
              <a:off x="1268546" y="2270524"/>
              <a:ext cx="180000" cy="180000"/>
            </a:xfrm>
            <a:prstGeom prst="ellipse">
              <a:avLst/>
            </a:prstGeom>
            <a:solidFill>
              <a:srgbClr val="336699"/>
            </a:solidFill>
            <a:ln w="22225">
              <a:noFill/>
              <a:round/>
              <a:headEnd/>
              <a:tailEnd/>
            </a:ln>
          </p:spPr>
          <p:txBody>
            <a:bodyPr rtlCol="0" anchor="ctr" anchorCtr="0"/>
            <a:lstStyle/>
            <a:p>
              <a:pPr algn="l">
                <a:lnSpc>
                  <a:spcPts val="1800"/>
                </a:lnSpc>
              </a:pPr>
              <a:endParaRPr kumimoji="1" lang="en-US" sz="1800" dirty="0">
                <a:solidFill>
                  <a:schemeClr val="bg1"/>
                </a:solidFill>
                <a:latin typeface="Arial" pitchFamily="34" charset="0"/>
              </a:endParaRPr>
            </a:p>
          </p:txBody>
        </p:sp>
        <p:sp>
          <p:nvSpPr>
            <p:cNvPr id="10" name="Ellipse 38"/>
            <p:cNvSpPr/>
            <p:nvPr/>
          </p:nvSpPr>
          <p:spPr bwMode="auto">
            <a:xfrm>
              <a:off x="1301039" y="2654824"/>
              <a:ext cx="180000" cy="180000"/>
            </a:xfrm>
            <a:prstGeom prst="ellipse">
              <a:avLst/>
            </a:prstGeom>
            <a:solidFill>
              <a:srgbClr val="336699"/>
            </a:solidFill>
            <a:ln w="22225">
              <a:noFill/>
              <a:round/>
              <a:headEnd/>
              <a:tailEnd/>
            </a:ln>
          </p:spPr>
          <p:txBody>
            <a:bodyPr rtlCol="0" anchor="ctr" anchorCtr="0"/>
            <a:lstStyle/>
            <a:p>
              <a:pPr algn="l">
                <a:lnSpc>
                  <a:spcPts val="1800"/>
                </a:lnSpc>
              </a:pPr>
              <a:endParaRPr kumimoji="1" lang="en-US" sz="1800" dirty="0">
                <a:solidFill>
                  <a:schemeClr val="bg1"/>
                </a:solidFill>
                <a:latin typeface="Arial" pitchFamily="34" charset="0"/>
              </a:endParaRPr>
            </a:p>
          </p:txBody>
        </p:sp>
        <p:sp>
          <p:nvSpPr>
            <p:cNvPr id="11" name="Ellipse 39"/>
            <p:cNvSpPr/>
            <p:nvPr/>
          </p:nvSpPr>
          <p:spPr bwMode="auto">
            <a:xfrm>
              <a:off x="1779608" y="2339746"/>
              <a:ext cx="180000" cy="180000"/>
            </a:xfrm>
            <a:prstGeom prst="ellipse">
              <a:avLst/>
            </a:prstGeom>
            <a:solidFill>
              <a:srgbClr val="336699"/>
            </a:solidFill>
            <a:ln w="22225">
              <a:noFill/>
              <a:round/>
              <a:headEnd/>
              <a:tailEnd/>
            </a:ln>
          </p:spPr>
          <p:txBody>
            <a:bodyPr rtlCol="0" anchor="ctr" anchorCtr="0"/>
            <a:lstStyle/>
            <a:p>
              <a:pPr algn="l">
                <a:lnSpc>
                  <a:spcPts val="1800"/>
                </a:lnSpc>
              </a:pPr>
              <a:endParaRPr kumimoji="1" lang="en-US" sz="1800" dirty="0">
                <a:solidFill>
                  <a:schemeClr val="bg1"/>
                </a:solidFill>
                <a:latin typeface="Arial" pitchFamily="34" charset="0"/>
              </a:endParaRPr>
            </a:p>
          </p:txBody>
        </p:sp>
        <p:sp>
          <p:nvSpPr>
            <p:cNvPr id="12" name="Ellipse 40"/>
            <p:cNvSpPr/>
            <p:nvPr/>
          </p:nvSpPr>
          <p:spPr bwMode="auto">
            <a:xfrm>
              <a:off x="1689608" y="3008403"/>
              <a:ext cx="180000" cy="180000"/>
            </a:xfrm>
            <a:prstGeom prst="ellipse">
              <a:avLst/>
            </a:prstGeom>
            <a:solidFill>
              <a:srgbClr val="336699"/>
            </a:solidFill>
            <a:ln w="22225">
              <a:noFill/>
              <a:round/>
              <a:headEnd/>
              <a:tailEnd/>
            </a:ln>
          </p:spPr>
          <p:txBody>
            <a:bodyPr rtlCol="0" anchor="ctr" anchorCtr="0"/>
            <a:lstStyle/>
            <a:p>
              <a:pPr algn="l">
                <a:lnSpc>
                  <a:spcPts val="1800"/>
                </a:lnSpc>
              </a:pPr>
              <a:endParaRPr kumimoji="1" lang="en-US" sz="1800" dirty="0">
                <a:solidFill>
                  <a:schemeClr val="bg1"/>
                </a:solidFill>
                <a:latin typeface="Arial" pitchFamily="34" charset="0"/>
              </a:endParaRPr>
            </a:p>
          </p:txBody>
        </p:sp>
        <p:sp>
          <p:nvSpPr>
            <p:cNvPr id="13" name="Ellipse 41"/>
            <p:cNvSpPr/>
            <p:nvPr/>
          </p:nvSpPr>
          <p:spPr bwMode="auto">
            <a:xfrm>
              <a:off x="1870438" y="2706166"/>
              <a:ext cx="180000" cy="180000"/>
            </a:xfrm>
            <a:prstGeom prst="ellipse">
              <a:avLst/>
            </a:prstGeom>
            <a:solidFill>
              <a:srgbClr val="336699"/>
            </a:solidFill>
            <a:ln w="22225">
              <a:noFill/>
              <a:round/>
              <a:headEnd/>
              <a:tailEnd/>
            </a:ln>
          </p:spPr>
          <p:txBody>
            <a:bodyPr rtlCol="0" anchor="ctr" anchorCtr="0"/>
            <a:lstStyle/>
            <a:p>
              <a:pPr algn="l">
                <a:lnSpc>
                  <a:spcPts val="1800"/>
                </a:lnSpc>
              </a:pPr>
              <a:endParaRPr kumimoji="1" lang="en-US" sz="1800" dirty="0">
                <a:solidFill>
                  <a:schemeClr val="bg1"/>
                </a:solidFill>
                <a:latin typeface="Arial" pitchFamily="34" charset="0"/>
              </a:endParaRPr>
            </a:p>
          </p:txBody>
        </p:sp>
      </p:grpSp>
      <p:grpSp>
        <p:nvGrpSpPr>
          <p:cNvPr id="20" name="Gruppieren 79"/>
          <p:cNvGrpSpPr/>
          <p:nvPr/>
        </p:nvGrpSpPr>
        <p:grpSpPr>
          <a:xfrm>
            <a:off x="1986814" y="1877851"/>
            <a:ext cx="2367141" cy="2123655"/>
            <a:chOff x="1960438" y="2419763"/>
            <a:chExt cx="2367141" cy="2123655"/>
          </a:xfrm>
        </p:grpSpPr>
        <p:grpSp>
          <p:nvGrpSpPr>
            <p:cNvPr id="21" name="Gruppieren 23"/>
            <p:cNvGrpSpPr/>
            <p:nvPr/>
          </p:nvGrpSpPr>
          <p:grpSpPr>
            <a:xfrm>
              <a:off x="2491554" y="2419763"/>
              <a:ext cx="1836025" cy="2123655"/>
              <a:chOff x="3589692" y="2961529"/>
              <a:chExt cx="1836025" cy="2123655"/>
            </a:xfrm>
          </p:grpSpPr>
          <p:grpSp>
            <p:nvGrpSpPr>
              <p:cNvPr id="30" name="Gruppieren 15"/>
              <p:cNvGrpSpPr/>
              <p:nvPr/>
            </p:nvGrpSpPr>
            <p:grpSpPr>
              <a:xfrm>
                <a:off x="3589692" y="2961529"/>
                <a:ext cx="1836025" cy="1980039"/>
                <a:chOff x="1043608" y="2169041"/>
                <a:chExt cx="1836025" cy="1980039"/>
              </a:xfrm>
            </p:grpSpPr>
            <p:cxnSp>
              <p:nvCxnSpPr>
                <p:cNvPr id="32" name="Gerade Verbindung mit Pfeil 16"/>
                <p:cNvCxnSpPr/>
                <p:nvPr/>
              </p:nvCxnSpPr>
              <p:spPr bwMode="auto">
                <a:xfrm flipV="1">
                  <a:off x="1259632" y="2169041"/>
                  <a:ext cx="0" cy="1620000"/>
                </a:xfrm>
                <a:prstGeom prst="straightConnector1">
                  <a:avLst/>
                </a:prstGeom>
                <a:noFill/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triangle"/>
                </a:ln>
                <a:effectLst/>
              </p:spPr>
            </p:cxnSp>
            <p:cxnSp>
              <p:nvCxnSpPr>
                <p:cNvPr id="33" name="Gerade Verbindung mit Pfeil 17"/>
                <p:cNvCxnSpPr/>
                <p:nvPr/>
              </p:nvCxnSpPr>
              <p:spPr bwMode="auto">
                <a:xfrm rot="5400000" flipV="1">
                  <a:off x="2069632" y="2979040"/>
                  <a:ext cx="0" cy="1620000"/>
                </a:xfrm>
                <a:prstGeom prst="straightConnector1">
                  <a:avLst/>
                </a:prstGeom>
                <a:noFill/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triangle"/>
                </a:ln>
                <a:effectLst/>
              </p:spPr>
            </p:cxnSp>
            <p:sp>
              <p:nvSpPr>
                <p:cNvPr id="34" name="Rechteck 18"/>
                <p:cNvSpPr/>
                <p:nvPr/>
              </p:nvSpPr>
              <p:spPr bwMode="auto">
                <a:xfrm>
                  <a:off x="1043608" y="2169041"/>
                  <a:ext cx="216024" cy="360040"/>
                </a:xfrm>
                <a:prstGeom prst="rect">
                  <a:avLst/>
                </a:prstGeom>
                <a:noFill/>
                <a:ln w="22225">
                  <a:noFill/>
                  <a:round/>
                  <a:headEnd/>
                  <a:tailEnd/>
                </a:ln>
              </p:spPr>
              <p:txBody>
                <a:bodyPr rtlCol="0" anchor="ctr" anchorCtr="0"/>
                <a:lstStyle/>
                <a:p>
                  <a:pPr algn="l">
                    <a:lnSpc>
                      <a:spcPts val="1800"/>
                    </a:lnSpc>
                  </a:pPr>
                  <a:r>
                    <a:rPr kumimoji="1" lang="en-US" dirty="0">
                      <a:ea typeface="Verdana" panose="020B0604030504040204" pitchFamily="34" charset="0"/>
                      <a:cs typeface="Verdana" panose="020B0604030504040204" pitchFamily="34" charset="0"/>
                    </a:rPr>
                    <a:t>I</a:t>
                  </a:r>
                </a:p>
              </p:txBody>
            </p:sp>
            <p:sp>
              <p:nvSpPr>
                <p:cNvPr id="35" name="Rechteck 19"/>
                <p:cNvSpPr/>
                <p:nvPr/>
              </p:nvSpPr>
              <p:spPr bwMode="auto">
                <a:xfrm>
                  <a:off x="2663609" y="3789040"/>
                  <a:ext cx="216024" cy="360040"/>
                </a:xfrm>
                <a:prstGeom prst="rect">
                  <a:avLst/>
                </a:prstGeom>
                <a:noFill/>
                <a:ln w="22225">
                  <a:noFill/>
                  <a:round/>
                  <a:headEnd/>
                  <a:tailEnd/>
                </a:ln>
              </p:spPr>
              <p:txBody>
                <a:bodyPr rtlCol="0" anchor="ctr" anchorCtr="0"/>
                <a:lstStyle/>
                <a:p>
                  <a:pPr algn="l">
                    <a:lnSpc>
                      <a:spcPts val="1800"/>
                    </a:lnSpc>
                  </a:pPr>
                  <a:r>
                    <a:rPr kumimoji="1" lang="en-US" dirty="0">
                      <a:ea typeface="Verdana" panose="020B0604030504040204" pitchFamily="34" charset="0"/>
                      <a:cs typeface="Verdana" panose="020B0604030504040204" pitchFamily="34" charset="0"/>
                    </a:rPr>
                    <a:t>R</a:t>
                  </a:r>
                </a:p>
              </p:txBody>
            </p:sp>
          </p:grpSp>
          <p:sp>
            <p:nvSpPr>
              <p:cNvPr id="31" name="Rechteck 21"/>
              <p:cNvSpPr/>
              <p:nvPr/>
            </p:nvSpPr>
            <p:spPr bwMode="auto">
              <a:xfrm>
                <a:off x="3805717" y="4725184"/>
                <a:ext cx="1620000" cy="360000"/>
              </a:xfrm>
              <a:prstGeom prst="rect">
                <a:avLst/>
              </a:prstGeom>
              <a:noFill/>
              <a:ln w="22225">
                <a:noFill/>
                <a:round/>
                <a:headEnd/>
                <a:tailEnd/>
              </a:ln>
            </p:spPr>
            <p:txBody>
              <a:bodyPr rtlCol="0" anchor="ctr" anchorCtr="0"/>
              <a:lstStyle/>
              <a:p>
                <a:pPr algn="ctr">
                  <a:lnSpc>
                    <a:spcPts val="1800"/>
                  </a:lnSpc>
                </a:pPr>
                <a:r>
                  <a:rPr kumimoji="1" lang="en-US" sz="1800" dirty="0">
                    <a:ea typeface="Verdana" panose="020B0604030504040204" pitchFamily="34" charset="0"/>
                    <a:cs typeface="Verdana" panose="020B0604030504040204" pitchFamily="34" charset="0"/>
                  </a:rPr>
                  <a:t>Companies</a:t>
                </a:r>
              </a:p>
            </p:txBody>
          </p:sp>
        </p:grpSp>
        <p:sp>
          <p:nvSpPr>
            <p:cNvPr id="22" name="Gleichschenkliges Dreieck 34"/>
            <p:cNvSpPr/>
            <p:nvPr/>
          </p:nvSpPr>
          <p:spPr bwMode="auto">
            <a:xfrm>
              <a:off x="3139567" y="2814829"/>
              <a:ext cx="180000" cy="180000"/>
            </a:xfrm>
            <a:prstGeom prst="triangle">
              <a:avLst/>
            </a:prstGeom>
            <a:solidFill>
              <a:srgbClr val="336699"/>
            </a:solidFill>
            <a:ln w="22225">
              <a:noFill/>
              <a:round/>
              <a:headEnd/>
              <a:tailEnd/>
            </a:ln>
          </p:spPr>
          <p:txBody>
            <a:bodyPr rtlCol="0" anchor="ctr" anchorCtr="0"/>
            <a:lstStyle/>
            <a:p>
              <a:pPr algn="l">
                <a:lnSpc>
                  <a:spcPts val="1800"/>
                </a:lnSpc>
              </a:pPr>
              <a:endParaRPr kumimoji="1" lang="en-US" sz="1800" dirty="0">
                <a:solidFill>
                  <a:schemeClr val="bg1"/>
                </a:solidFill>
                <a:latin typeface="Arial" pitchFamily="34" charset="0"/>
              </a:endParaRPr>
            </a:p>
          </p:txBody>
        </p:sp>
        <p:sp>
          <p:nvSpPr>
            <p:cNvPr id="23" name="Gleichschenkliges Dreieck 42"/>
            <p:cNvSpPr/>
            <p:nvPr/>
          </p:nvSpPr>
          <p:spPr bwMode="auto">
            <a:xfrm>
              <a:off x="3479586" y="2781600"/>
              <a:ext cx="180000" cy="180000"/>
            </a:xfrm>
            <a:prstGeom prst="triangle">
              <a:avLst/>
            </a:prstGeom>
            <a:solidFill>
              <a:srgbClr val="336699"/>
            </a:solidFill>
            <a:ln w="22225">
              <a:noFill/>
              <a:round/>
              <a:headEnd/>
              <a:tailEnd/>
            </a:ln>
          </p:spPr>
          <p:txBody>
            <a:bodyPr rtlCol="0" anchor="ctr" anchorCtr="0"/>
            <a:lstStyle/>
            <a:p>
              <a:pPr algn="l">
                <a:lnSpc>
                  <a:spcPts val="1800"/>
                </a:lnSpc>
              </a:pPr>
              <a:endParaRPr kumimoji="1" lang="en-US" sz="1800" dirty="0">
                <a:solidFill>
                  <a:schemeClr val="bg1"/>
                </a:solidFill>
                <a:latin typeface="Arial" pitchFamily="34" charset="0"/>
              </a:endParaRPr>
            </a:p>
          </p:txBody>
        </p:sp>
        <p:sp>
          <p:nvSpPr>
            <p:cNvPr id="24" name="Gleichschenkliges Dreieck 43"/>
            <p:cNvSpPr/>
            <p:nvPr/>
          </p:nvSpPr>
          <p:spPr bwMode="auto">
            <a:xfrm>
              <a:off x="3495218" y="3139783"/>
              <a:ext cx="180000" cy="180000"/>
            </a:xfrm>
            <a:prstGeom prst="triangle">
              <a:avLst/>
            </a:prstGeom>
            <a:solidFill>
              <a:srgbClr val="336699"/>
            </a:solidFill>
            <a:ln w="22225">
              <a:noFill/>
              <a:round/>
              <a:headEnd/>
              <a:tailEnd/>
            </a:ln>
          </p:spPr>
          <p:txBody>
            <a:bodyPr rtlCol="0" anchor="ctr" anchorCtr="0"/>
            <a:lstStyle/>
            <a:p>
              <a:pPr algn="l">
                <a:lnSpc>
                  <a:spcPts val="1800"/>
                </a:lnSpc>
              </a:pPr>
              <a:endParaRPr kumimoji="1" lang="en-US" sz="1800" dirty="0">
                <a:solidFill>
                  <a:schemeClr val="bg1"/>
                </a:solidFill>
                <a:latin typeface="Arial" pitchFamily="34" charset="0"/>
              </a:endParaRPr>
            </a:p>
          </p:txBody>
        </p:sp>
        <p:sp>
          <p:nvSpPr>
            <p:cNvPr id="25" name="Gleichschenkliges Dreieck 44"/>
            <p:cNvSpPr/>
            <p:nvPr/>
          </p:nvSpPr>
          <p:spPr bwMode="auto">
            <a:xfrm>
              <a:off x="3859439" y="3393056"/>
              <a:ext cx="180000" cy="180000"/>
            </a:xfrm>
            <a:prstGeom prst="triangle">
              <a:avLst/>
            </a:prstGeom>
            <a:solidFill>
              <a:srgbClr val="336699"/>
            </a:solidFill>
            <a:ln w="22225">
              <a:noFill/>
              <a:round/>
              <a:headEnd/>
              <a:tailEnd/>
            </a:ln>
          </p:spPr>
          <p:txBody>
            <a:bodyPr rtlCol="0" anchor="ctr" anchorCtr="0"/>
            <a:lstStyle/>
            <a:p>
              <a:pPr algn="l">
                <a:lnSpc>
                  <a:spcPts val="1800"/>
                </a:lnSpc>
              </a:pPr>
              <a:endParaRPr kumimoji="1" lang="en-US" sz="1800" dirty="0">
                <a:solidFill>
                  <a:schemeClr val="bg1"/>
                </a:solidFill>
                <a:latin typeface="Arial" pitchFamily="34" charset="0"/>
              </a:endParaRPr>
            </a:p>
          </p:txBody>
        </p:sp>
        <p:sp>
          <p:nvSpPr>
            <p:cNvPr id="26" name="Gleichschenkliges Dreieck 45"/>
            <p:cNvSpPr/>
            <p:nvPr/>
          </p:nvSpPr>
          <p:spPr bwMode="auto">
            <a:xfrm>
              <a:off x="3914112" y="2936668"/>
              <a:ext cx="180000" cy="180000"/>
            </a:xfrm>
            <a:prstGeom prst="triangle">
              <a:avLst/>
            </a:prstGeom>
            <a:solidFill>
              <a:srgbClr val="336699"/>
            </a:solidFill>
            <a:ln w="22225">
              <a:noFill/>
              <a:round/>
              <a:headEnd/>
              <a:tailEnd/>
            </a:ln>
          </p:spPr>
          <p:txBody>
            <a:bodyPr rtlCol="0" anchor="ctr" anchorCtr="0"/>
            <a:lstStyle/>
            <a:p>
              <a:pPr algn="l">
                <a:lnSpc>
                  <a:spcPts val="1800"/>
                </a:lnSpc>
              </a:pPr>
              <a:endParaRPr kumimoji="1" lang="en-US" sz="1800" dirty="0">
                <a:solidFill>
                  <a:schemeClr val="bg1"/>
                </a:solidFill>
                <a:latin typeface="Arial" pitchFamily="34" charset="0"/>
              </a:endParaRPr>
            </a:p>
          </p:txBody>
        </p:sp>
        <p:sp>
          <p:nvSpPr>
            <p:cNvPr id="27" name="Gleichschenkliges Dreieck 46"/>
            <p:cNvSpPr/>
            <p:nvPr/>
          </p:nvSpPr>
          <p:spPr bwMode="auto">
            <a:xfrm>
              <a:off x="3959775" y="3669444"/>
              <a:ext cx="180000" cy="180000"/>
            </a:xfrm>
            <a:prstGeom prst="triangle">
              <a:avLst/>
            </a:prstGeom>
            <a:solidFill>
              <a:srgbClr val="336699"/>
            </a:solidFill>
            <a:ln w="22225">
              <a:noFill/>
              <a:round/>
              <a:headEnd/>
              <a:tailEnd/>
            </a:ln>
          </p:spPr>
          <p:txBody>
            <a:bodyPr rtlCol="0" anchor="ctr" anchorCtr="0"/>
            <a:lstStyle/>
            <a:p>
              <a:pPr algn="l">
                <a:lnSpc>
                  <a:spcPts val="1800"/>
                </a:lnSpc>
              </a:pPr>
              <a:endParaRPr kumimoji="1" lang="en-US" sz="1800" dirty="0">
                <a:solidFill>
                  <a:schemeClr val="bg1"/>
                </a:solidFill>
                <a:latin typeface="Arial" pitchFamily="34" charset="0"/>
              </a:endParaRPr>
            </a:p>
          </p:txBody>
        </p:sp>
        <p:cxnSp>
          <p:nvCxnSpPr>
            <p:cNvPr id="28" name="Gerader Verbinder 57"/>
            <p:cNvCxnSpPr>
              <a:stCxn id="13" idx="4"/>
            </p:cNvCxnSpPr>
            <p:nvPr/>
          </p:nvCxnSpPr>
          <p:spPr bwMode="auto">
            <a:xfrm>
              <a:off x="1960438" y="2886166"/>
              <a:ext cx="747140" cy="1153596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9" name="Gerader Verbinder 58"/>
            <p:cNvCxnSpPr>
              <a:stCxn id="13" idx="7"/>
            </p:cNvCxnSpPr>
            <p:nvPr/>
          </p:nvCxnSpPr>
          <p:spPr bwMode="auto">
            <a:xfrm flipV="1">
              <a:off x="2024078" y="2419763"/>
              <a:ext cx="683500" cy="312763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36" name="Gruppieren 81"/>
          <p:cNvGrpSpPr/>
          <p:nvPr/>
        </p:nvGrpSpPr>
        <p:grpSpPr>
          <a:xfrm>
            <a:off x="4030488" y="2394756"/>
            <a:ext cx="2519746" cy="2184593"/>
            <a:chOff x="4004112" y="2936668"/>
            <a:chExt cx="2519746" cy="2184593"/>
          </a:xfrm>
        </p:grpSpPr>
        <p:grpSp>
          <p:nvGrpSpPr>
            <p:cNvPr id="37" name="Gruppieren 25"/>
            <p:cNvGrpSpPr/>
            <p:nvPr/>
          </p:nvGrpSpPr>
          <p:grpSpPr>
            <a:xfrm>
              <a:off x="4687833" y="3030125"/>
              <a:ext cx="1836025" cy="2091136"/>
              <a:chOff x="6645988" y="3930152"/>
              <a:chExt cx="1836025" cy="2091136"/>
            </a:xfrm>
          </p:grpSpPr>
          <p:grpSp>
            <p:nvGrpSpPr>
              <p:cNvPr id="46" name="Gruppieren 10"/>
              <p:cNvGrpSpPr/>
              <p:nvPr/>
            </p:nvGrpSpPr>
            <p:grpSpPr>
              <a:xfrm>
                <a:off x="6645988" y="3930152"/>
                <a:ext cx="1836025" cy="1980039"/>
                <a:chOff x="1043608" y="2169041"/>
                <a:chExt cx="1836025" cy="1980039"/>
              </a:xfrm>
            </p:grpSpPr>
            <p:cxnSp>
              <p:nvCxnSpPr>
                <p:cNvPr id="48" name="Gerade Verbindung mit Pfeil 11"/>
                <p:cNvCxnSpPr/>
                <p:nvPr/>
              </p:nvCxnSpPr>
              <p:spPr bwMode="auto">
                <a:xfrm flipV="1">
                  <a:off x="1259632" y="2169041"/>
                  <a:ext cx="0" cy="1620000"/>
                </a:xfrm>
                <a:prstGeom prst="straightConnector1">
                  <a:avLst/>
                </a:prstGeom>
                <a:noFill/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triangle"/>
                </a:ln>
                <a:effectLst/>
              </p:spPr>
            </p:cxnSp>
            <p:cxnSp>
              <p:nvCxnSpPr>
                <p:cNvPr id="49" name="Gerade Verbindung mit Pfeil 12"/>
                <p:cNvCxnSpPr/>
                <p:nvPr/>
              </p:nvCxnSpPr>
              <p:spPr bwMode="auto">
                <a:xfrm rot="5400000" flipV="1">
                  <a:off x="2069632" y="2979040"/>
                  <a:ext cx="0" cy="1620000"/>
                </a:xfrm>
                <a:prstGeom prst="straightConnector1">
                  <a:avLst/>
                </a:prstGeom>
                <a:noFill/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triangle"/>
                </a:ln>
                <a:effectLst/>
              </p:spPr>
            </p:cxnSp>
            <p:sp>
              <p:nvSpPr>
                <p:cNvPr id="50" name="Rechteck 13"/>
                <p:cNvSpPr/>
                <p:nvPr/>
              </p:nvSpPr>
              <p:spPr bwMode="auto">
                <a:xfrm>
                  <a:off x="1043608" y="2169041"/>
                  <a:ext cx="216024" cy="360040"/>
                </a:xfrm>
                <a:prstGeom prst="rect">
                  <a:avLst/>
                </a:prstGeom>
                <a:noFill/>
                <a:ln w="22225">
                  <a:noFill/>
                  <a:round/>
                  <a:headEnd/>
                  <a:tailEnd/>
                </a:ln>
              </p:spPr>
              <p:txBody>
                <a:bodyPr rtlCol="0" anchor="ctr" anchorCtr="0"/>
                <a:lstStyle/>
                <a:p>
                  <a:pPr algn="l">
                    <a:lnSpc>
                      <a:spcPts val="1800"/>
                    </a:lnSpc>
                  </a:pPr>
                  <a:r>
                    <a:rPr kumimoji="1" lang="en-US" dirty="0">
                      <a:ea typeface="Verdana" panose="020B0604030504040204" pitchFamily="34" charset="0"/>
                      <a:cs typeface="Verdana" panose="020B0604030504040204" pitchFamily="34" charset="0"/>
                    </a:rPr>
                    <a:t>I</a:t>
                  </a:r>
                </a:p>
              </p:txBody>
            </p:sp>
            <p:sp>
              <p:nvSpPr>
                <p:cNvPr id="51" name="Rechteck 14"/>
                <p:cNvSpPr/>
                <p:nvPr/>
              </p:nvSpPr>
              <p:spPr bwMode="auto">
                <a:xfrm>
                  <a:off x="2663609" y="3789040"/>
                  <a:ext cx="216024" cy="360040"/>
                </a:xfrm>
                <a:prstGeom prst="rect">
                  <a:avLst/>
                </a:prstGeom>
                <a:noFill/>
                <a:ln w="22225">
                  <a:noFill/>
                  <a:round/>
                  <a:headEnd/>
                  <a:tailEnd/>
                </a:ln>
              </p:spPr>
              <p:txBody>
                <a:bodyPr rtlCol="0" anchor="ctr" anchorCtr="0"/>
                <a:lstStyle/>
                <a:p>
                  <a:pPr algn="l">
                    <a:lnSpc>
                      <a:spcPts val="1800"/>
                    </a:lnSpc>
                  </a:pPr>
                  <a:r>
                    <a:rPr kumimoji="1" lang="en-US" dirty="0">
                      <a:ea typeface="Verdana" panose="020B0604030504040204" pitchFamily="34" charset="0"/>
                      <a:cs typeface="Verdana" panose="020B0604030504040204" pitchFamily="34" charset="0"/>
                    </a:rPr>
                    <a:t>R</a:t>
                  </a:r>
                </a:p>
              </p:txBody>
            </p:sp>
          </p:grpSp>
          <p:sp>
            <p:nvSpPr>
              <p:cNvPr id="47" name="Rechteck 22"/>
              <p:cNvSpPr/>
              <p:nvPr/>
            </p:nvSpPr>
            <p:spPr bwMode="auto">
              <a:xfrm>
                <a:off x="6862013" y="5661288"/>
                <a:ext cx="1620000" cy="360000"/>
              </a:xfrm>
              <a:prstGeom prst="rect">
                <a:avLst/>
              </a:prstGeom>
              <a:noFill/>
              <a:ln w="22225">
                <a:noFill/>
                <a:round/>
                <a:headEnd/>
                <a:tailEnd/>
              </a:ln>
            </p:spPr>
            <p:txBody>
              <a:bodyPr rtlCol="0" anchor="ctr" anchorCtr="0"/>
              <a:lstStyle/>
              <a:p>
                <a:pPr algn="ctr">
                  <a:lnSpc>
                    <a:spcPts val="1800"/>
                  </a:lnSpc>
                </a:pPr>
                <a:r>
                  <a:rPr kumimoji="1" lang="en-US" sz="1800" dirty="0">
                    <a:ea typeface="Verdana" panose="020B0604030504040204" pitchFamily="34" charset="0"/>
                    <a:cs typeface="Verdana" panose="020B0604030504040204" pitchFamily="34" charset="0"/>
                  </a:rPr>
                  <a:t>Functions</a:t>
                </a:r>
              </a:p>
            </p:txBody>
          </p:sp>
        </p:grpSp>
        <p:sp>
          <p:nvSpPr>
            <p:cNvPr id="38" name="Flussdiagramm: Verzweigung 35"/>
            <p:cNvSpPr/>
            <p:nvPr/>
          </p:nvSpPr>
          <p:spPr bwMode="auto">
            <a:xfrm>
              <a:off x="5029882" y="3573056"/>
              <a:ext cx="180000" cy="180000"/>
            </a:xfrm>
            <a:prstGeom prst="flowChartDecision">
              <a:avLst/>
            </a:prstGeom>
            <a:solidFill>
              <a:srgbClr val="336699"/>
            </a:solidFill>
            <a:ln w="22225">
              <a:noFill/>
              <a:round/>
              <a:headEnd/>
              <a:tailEnd/>
            </a:ln>
          </p:spPr>
          <p:txBody>
            <a:bodyPr rtlCol="0" anchor="ctr" anchorCtr="0"/>
            <a:lstStyle/>
            <a:p>
              <a:pPr algn="l">
                <a:lnSpc>
                  <a:spcPts val="1800"/>
                </a:lnSpc>
              </a:pPr>
              <a:endParaRPr kumimoji="1" lang="en-US" sz="1800" dirty="0">
                <a:solidFill>
                  <a:schemeClr val="bg1"/>
                </a:solidFill>
                <a:latin typeface="Arial" pitchFamily="34" charset="0"/>
              </a:endParaRPr>
            </a:p>
          </p:txBody>
        </p:sp>
        <p:sp>
          <p:nvSpPr>
            <p:cNvPr id="39" name="Flussdiagramm: Verzweigung 47"/>
            <p:cNvSpPr/>
            <p:nvPr/>
          </p:nvSpPr>
          <p:spPr bwMode="auto">
            <a:xfrm>
              <a:off x="5577940" y="4044607"/>
              <a:ext cx="180000" cy="180000"/>
            </a:xfrm>
            <a:prstGeom prst="flowChartDecision">
              <a:avLst/>
            </a:prstGeom>
            <a:solidFill>
              <a:srgbClr val="336699"/>
            </a:solidFill>
            <a:ln w="22225">
              <a:noFill/>
              <a:round/>
              <a:headEnd/>
              <a:tailEnd/>
            </a:ln>
          </p:spPr>
          <p:txBody>
            <a:bodyPr rtlCol="0" anchor="ctr" anchorCtr="0"/>
            <a:lstStyle/>
            <a:p>
              <a:pPr algn="l">
                <a:lnSpc>
                  <a:spcPts val="1800"/>
                </a:lnSpc>
              </a:pPr>
              <a:endParaRPr kumimoji="1" lang="en-US" sz="1800" dirty="0">
                <a:solidFill>
                  <a:schemeClr val="bg1"/>
                </a:solidFill>
                <a:latin typeface="Arial" pitchFamily="34" charset="0"/>
              </a:endParaRPr>
            </a:p>
          </p:txBody>
        </p:sp>
        <p:sp>
          <p:nvSpPr>
            <p:cNvPr id="40" name="Flussdiagramm: Verzweigung 48"/>
            <p:cNvSpPr/>
            <p:nvPr/>
          </p:nvSpPr>
          <p:spPr bwMode="auto">
            <a:xfrm>
              <a:off x="6164108" y="3579444"/>
              <a:ext cx="180000" cy="180000"/>
            </a:xfrm>
            <a:prstGeom prst="flowChartDecision">
              <a:avLst/>
            </a:prstGeom>
            <a:solidFill>
              <a:srgbClr val="336699"/>
            </a:solidFill>
            <a:ln w="22225">
              <a:noFill/>
              <a:round/>
              <a:headEnd/>
              <a:tailEnd/>
            </a:ln>
          </p:spPr>
          <p:txBody>
            <a:bodyPr rtlCol="0" anchor="ctr" anchorCtr="0"/>
            <a:lstStyle/>
            <a:p>
              <a:pPr algn="l">
                <a:lnSpc>
                  <a:spcPts val="1800"/>
                </a:lnSpc>
              </a:pPr>
              <a:endParaRPr kumimoji="1" lang="en-US" sz="1800" dirty="0">
                <a:solidFill>
                  <a:schemeClr val="bg1"/>
                </a:solidFill>
                <a:latin typeface="Arial" pitchFamily="34" charset="0"/>
              </a:endParaRPr>
            </a:p>
          </p:txBody>
        </p:sp>
        <p:sp>
          <p:nvSpPr>
            <p:cNvPr id="41" name="Flussdiagramm: Verzweigung 49"/>
            <p:cNvSpPr/>
            <p:nvPr/>
          </p:nvSpPr>
          <p:spPr bwMode="auto">
            <a:xfrm>
              <a:off x="5533857" y="3517968"/>
              <a:ext cx="180000" cy="180000"/>
            </a:xfrm>
            <a:prstGeom prst="flowChartDecision">
              <a:avLst/>
            </a:prstGeom>
            <a:solidFill>
              <a:srgbClr val="336699"/>
            </a:solidFill>
            <a:ln w="22225">
              <a:noFill/>
              <a:round/>
              <a:headEnd/>
              <a:tailEnd/>
            </a:ln>
          </p:spPr>
          <p:txBody>
            <a:bodyPr rtlCol="0" anchor="ctr" anchorCtr="0"/>
            <a:lstStyle/>
            <a:p>
              <a:pPr algn="l">
                <a:lnSpc>
                  <a:spcPts val="1800"/>
                </a:lnSpc>
              </a:pPr>
              <a:endParaRPr kumimoji="1" lang="en-US" sz="1800" dirty="0">
                <a:solidFill>
                  <a:schemeClr val="bg1"/>
                </a:solidFill>
                <a:latin typeface="Arial" pitchFamily="34" charset="0"/>
              </a:endParaRPr>
            </a:p>
          </p:txBody>
        </p:sp>
        <p:sp>
          <p:nvSpPr>
            <p:cNvPr id="42" name="Flussdiagramm: Verzweigung 50"/>
            <p:cNvSpPr/>
            <p:nvPr/>
          </p:nvSpPr>
          <p:spPr bwMode="auto">
            <a:xfrm>
              <a:off x="6126755" y="4309802"/>
              <a:ext cx="180000" cy="180000"/>
            </a:xfrm>
            <a:prstGeom prst="flowChartDecision">
              <a:avLst/>
            </a:prstGeom>
            <a:solidFill>
              <a:srgbClr val="336699"/>
            </a:solidFill>
            <a:ln w="22225">
              <a:noFill/>
              <a:round/>
              <a:headEnd/>
              <a:tailEnd/>
            </a:ln>
          </p:spPr>
          <p:txBody>
            <a:bodyPr rtlCol="0" anchor="ctr" anchorCtr="0"/>
            <a:lstStyle/>
            <a:p>
              <a:pPr algn="l">
                <a:lnSpc>
                  <a:spcPts val="1800"/>
                </a:lnSpc>
              </a:pPr>
              <a:endParaRPr kumimoji="1" lang="en-US" sz="1800" dirty="0">
                <a:solidFill>
                  <a:schemeClr val="bg1"/>
                </a:solidFill>
                <a:latin typeface="Arial" pitchFamily="34" charset="0"/>
              </a:endParaRPr>
            </a:p>
          </p:txBody>
        </p:sp>
        <p:sp>
          <p:nvSpPr>
            <p:cNvPr id="43" name="Flussdiagramm: Verzweigung 51"/>
            <p:cNvSpPr/>
            <p:nvPr/>
          </p:nvSpPr>
          <p:spPr bwMode="auto">
            <a:xfrm>
              <a:off x="5965718" y="3909460"/>
              <a:ext cx="180000" cy="180000"/>
            </a:xfrm>
            <a:prstGeom prst="flowChartDecision">
              <a:avLst/>
            </a:prstGeom>
            <a:solidFill>
              <a:srgbClr val="336699"/>
            </a:solidFill>
            <a:ln w="22225">
              <a:noFill/>
              <a:round/>
              <a:headEnd/>
              <a:tailEnd/>
            </a:ln>
          </p:spPr>
          <p:txBody>
            <a:bodyPr rtlCol="0" anchor="ctr" anchorCtr="0"/>
            <a:lstStyle/>
            <a:p>
              <a:pPr algn="l">
                <a:lnSpc>
                  <a:spcPts val="1800"/>
                </a:lnSpc>
              </a:pPr>
              <a:endParaRPr kumimoji="1" lang="en-US" sz="1800" dirty="0">
                <a:solidFill>
                  <a:schemeClr val="bg1"/>
                </a:solidFill>
                <a:latin typeface="Arial" pitchFamily="34" charset="0"/>
              </a:endParaRPr>
            </a:p>
          </p:txBody>
        </p:sp>
        <p:cxnSp>
          <p:nvCxnSpPr>
            <p:cNvPr id="44" name="Gerader Verbinder 61"/>
            <p:cNvCxnSpPr>
              <a:stCxn id="26" idx="0"/>
            </p:cNvCxnSpPr>
            <p:nvPr/>
          </p:nvCxnSpPr>
          <p:spPr bwMode="auto">
            <a:xfrm>
              <a:off x="4004112" y="2936668"/>
              <a:ext cx="899745" cy="93457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5" name="Gerader Verbinder 65"/>
            <p:cNvCxnSpPr>
              <a:stCxn id="26" idx="3"/>
            </p:cNvCxnSpPr>
            <p:nvPr/>
          </p:nvCxnSpPr>
          <p:spPr bwMode="auto">
            <a:xfrm>
              <a:off x="4004112" y="3116668"/>
              <a:ext cx="899745" cy="1533456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52" name="Gruppieren 82"/>
          <p:cNvGrpSpPr/>
          <p:nvPr/>
        </p:nvGrpSpPr>
        <p:grpSpPr>
          <a:xfrm>
            <a:off x="6243131" y="3066056"/>
            <a:ext cx="2503383" cy="2091136"/>
            <a:chOff x="6216755" y="3607968"/>
            <a:chExt cx="2503383" cy="2091136"/>
          </a:xfrm>
        </p:grpSpPr>
        <p:grpSp>
          <p:nvGrpSpPr>
            <p:cNvPr id="53" name="Gruppieren 26"/>
            <p:cNvGrpSpPr/>
            <p:nvPr/>
          </p:nvGrpSpPr>
          <p:grpSpPr>
            <a:xfrm>
              <a:off x="6884113" y="3607968"/>
              <a:ext cx="1836025" cy="2091136"/>
              <a:chOff x="6645988" y="3930152"/>
              <a:chExt cx="1836025" cy="2091136"/>
            </a:xfrm>
          </p:grpSpPr>
          <p:grpSp>
            <p:nvGrpSpPr>
              <p:cNvPr id="61" name="Gruppieren 27"/>
              <p:cNvGrpSpPr/>
              <p:nvPr/>
            </p:nvGrpSpPr>
            <p:grpSpPr>
              <a:xfrm>
                <a:off x="6645988" y="3930152"/>
                <a:ext cx="1836025" cy="1980039"/>
                <a:chOff x="1043608" y="2169041"/>
                <a:chExt cx="1836025" cy="1980039"/>
              </a:xfrm>
            </p:grpSpPr>
            <p:cxnSp>
              <p:nvCxnSpPr>
                <p:cNvPr id="63" name="Gerade Verbindung mit Pfeil 29"/>
                <p:cNvCxnSpPr/>
                <p:nvPr/>
              </p:nvCxnSpPr>
              <p:spPr bwMode="auto">
                <a:xfrm flipV="1">
                  <a:off x="1259632" y="2169041"/>
                  <a:ext cx="0" cy="1620000"/>
                </a:xfrm>
                <a:prstGeom prst="straightConnector1">
                  <a:avLst/>
                </a:prstGeom>
                <a:noFill/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triangle"/>
                </a:ln>
                <a:effectLst/>
              </p:spPr>
            </p:cxnSp>
            <p:cxnSp>
              <p:nvCxnSpPr>
                <p:cNvPr id="64" name="Gerade Verbindung mit Pfeil 30"/>
                <p:cNvCxnSpPr/>
                <p:nvPr/>
              </p:nvCxnSpPr>
              <p:spPr bwMode="auto">
                <a:xfrm rot="5400000" flipV="1">
                  <a:off x="2069632" y="2979040"/>
                  <a:ext cx="0" cy="1620000"/>
                </a:xfrm>
                <a:prstGeom prst="straightConnector1">
                  <a:avLst/>
                </a:prstGeom>
                <a:noFill/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triangle"/>
                </a:ln>
                <a:effectLst/>
              </p:spPr>
            </p:cxnSp>
            <p:sp>
              <p:nvSpPr>
                <p:cNvPr id="65" name="Rechteck 31"/>
                <p:cNvSpPr/>
                <p:nvPr/>
              </p:nvSpPr>
              <p:spPr bwMode="auto">
                <a:xfrm>
                  <a:off x="1043608" y="2169041"/>
                  <a:ext cx="216024" cy="360040"/>
                </a:xfrm>
                <a:prstGeom prst="rect">
                  <a:avLst/>
                </a:prstGeom>
                <a:noFill/>
                <a:ln w="22225">
                  <a:noFill/>
                  <a:round/>
                  <a:headEnd/>
                  <a:tailEnd/>
                </a:ln>
              </p:spPr>
              <p:txBody>
                <a:bodyPr rtlCol="0" anchor="ctr" anchorCtr="0"/>
                <a:lstStyle/>
                <a:p>
                  <a:pPr algn="l">
                    <a:lnSpc>
                      <a:spcPts val="1800"/>
                    </a:lnSpc>
                  </a:pPr>
                  <a:r>
                    <a:rPr kumimoji="1" lang="en-US" dirty="0">
                      <a:ea typeface="Verdana" panose="020B0604030504040204" pitchFamily="34" charset="0"/>
                      <a:cs typeface="Verdana" panose="020B0604030504040204" pitchFamily="34" charset="0"/>
                    </a:rPr>
                    <a:t>I</a:t>
                  </a:r>
                </a:p>
              </p:txBody>
            </p:sp>
            <p:sp>
              <p:nvSpPr>
                <p:cNvPr id="66" name="Rechteck 32"/>
                <p:cNvSpPr/>
                <p:nvPr/>
              </p:nvSpPr>
              <p:spPr bwMode="auto">
                <a:xfrm>
                  <a:off x="2663609" y="3789040"/>
                  <a:ext cx="216024" cy="360040"/>
                </a:xfrm>
                <a:prstGeom prst="rect">
                  <a:avLst/>
                </a:prstGeom>
                <a:noFill/>
                <a:ln w="22225">
                  <a:noFill/>
                  <a:round/>
                  <a:headEnd/>
                  <a:tailEnd/>
                </a:ln>
              </p:spPr>
              <p:txBody>
                <a:bodyPr rtlCol="0" anchor="ctr" anchorCtr="0"/>
                <a:lstStyle/>
                <a:p>
                  <a:pPr algn="l">
                    <a:lnSpc>
                      <a:spcPts val="1800"/>
                    </a:lnSpc>
                  </a:pPr>
                  <a:r>
                    <a:rPr kumimoji="1" lang="en-US" dirty="0">
                      <a:ea typeface="Verdana" panose="020B0604030504040204" pitchFamily="34" charset="0"/>
                      <a:cs typeface="Verdana" panose="020B0604030504040204" pitchFamily="34" charset="0"/>
                    </a:rPr>
                    <a:t>R</a:t>
                  </a:r>
                </a:p>
              </p:txBody>
            </p:sp>
          </p:grpSp>
          <p:sp>
            <p:nvSpPr>
              <p:cNvPr id="62" name="Rechteck 28"/>
              <p:cNvSpPr/>
              <p:nvPr/>
            </p:nvSpPr>
            <p:spPr bwMode="auto">
              <a:xfrm>
                <a:off x="6862013" y="5661288"/>
                <a:ext cx="1620000" cy="360000"/>
              </a:xfrm>
              <a:prstGeom prst="rect">
                <a:avLst/>
              </a:prstGeom>
              <a:noFill/>
              <a:ln w="22225">
                <a:noFill/>
                <a:round/>
                <a:headEnd/>
                <a:tailEnd/>
              </a:ln>
            </p:spPr>
            <p:txBody>
              <a:bodyPr rtlCol="0" anchor="ctr" anchorCtr="0"/>
              <a:lstStyle/>
              <a:p>
                <a:pPr algn="ctr">
                  <a:lnSpc>
                    <a:spcPts val="1800"/>
                  </a:lnSpc>
                </a:pPr>
                <a:r>
                  <a:rPr kumimoji="1" lang="en-US" sz="1800" dirty="0">
                    <a:ea typeface="Verdana" panose="020B0604030504040204" pitchFamily="34" charset="0"/>
                    <a:cs typeface="Verdana" panose="020B0604030504040204" pitchFamily="34" charset="0"/>
                  </a:rPr>
                  <a:t>Tasks</a:t>
                </a:r>
              </a:p>
            </p:txBody>
          </p:sp>
        </p:grpSp>
        <p:sp>
          <p:nvSpPr>
            <p:cNvPr id="54" name="Abgerundetes Rechteck 36"/>
            <p:cNvSpPr/>
            <p:nvPr/>
          </p:nvSpPr>
          <p:spPr bwMode="auto">
            <a:xfrm>
              <a:off x="7329262" y="3933056"/>
              <a:ext cx="180000" cy="180000"/>
            </a:xfrm>
            <a:prstGeom prst="roundRect">
              <a:avLst/>
            </a:prstGeom>
            <a:solidFill>
              <a:srgbClr val="336699"/>
            </a:solidFill>
            <a:ln w="22225">
              <a:noFill/>
              <a:round/>
              <a:headEnd/>
              <a:tailEnd/>
            </a:ln>
          </p:spPr>
          <p:txBody>
            <a:bodyPr rtlCol="0" anchor="ctr" anchorCtr="0"/>
            <a:lstStyle/>
            <a:p>
              <a:pPr algn="l">
                <a:lnSpc>
                  <a:spcPts val="1800"/>
                </a:lnSpc>
              </a:pPr>
              <a:endParaRPr kumimoji="1" lang="en-US" sz="1800" dirty="0">
                <a:solidFill>
                  <a:schemeClr val="bg1"/>
                </a:solidFill>
                <a:latin typeface="Arial" pitchFamily="34" charset="0"/>
              </a:endParaRPr>
            </a:p>
          </p:txBody>
        </p:sp>
        <p:sp>
          <p:nvSpPr>
            <p:cNvPr id="55" name="Abgerundetes Rechteck 52"/>
            <p:cNvSpPr/>
            <p:nvPr/>
          </p:nvSpPr>
          <p:spPr bwMode="auto">
            <a:xfrm>
              <a:off x="7960345" y="4039782"/>
              <a:ext cx="180000" cy="180000"/>
            </a:xfrm>
            <a:prstGeom prst="roundRect">
              <a:avLst/>
            </a:prstGeom>
            <a:solidFill>
              <a:srgbClr val="336699"/>
            </a:solidFill>
            <a:ln w="22225">
              <a:noFill/>
              <a:round/>
              <a:headEnd/>
              <a:tailEnd/>
            </a:ln>
          </p:spPr>
          <p:txBody>
            <a:bodyPr rtlCol="0" anchor="ctr" anchorCtr="0"/>
            <a:lstStyle/>
            <a:p>
              <a:pPr algn="l">
                <a:lnSpc>
                  <a:spcPts val="1800"/>
                </a:lnSpc>
              </a:pPr>
              <a:endParaRPr kumimoji="1" lang="en-US" sz="1800" dirty="0">
                <a:solidFill>
                  <a:schemeClr val="bg1"/>
                </a:solidFill>
                <a:latin typeface="Arial" pitchFamily="34" charset="0"/>
              </a:endParaRPr>
            </a:p>
          </p:txBody>
        </p:sp>
        <p:sp>
          <p:nvSpPr>
            <p:cNvPr id="56" name="Abgerundetes Rechteck 53"/>
            <p:cNvSpPr/>
            <p:nvPr/>
          </p:nvSpPr>
          <p:spPr bwMode="auto">
            <a:xfrm>
              <a:off x="8135902" y="4511037"/>
              <a:ext cx="180000" cy="180000"/>
            </a:xfrm>
            <a:prstGeom prst="roundRect">
              <a:avLst/>
            </a:prstGeom>
            <a:solidFill>
              <a:srgbClr val="336699"/>
            </a:solidFill>
            <a:ln w="22225">
              <a:noFill/>
              <a:round/>
              <a:headEnd/>
              <a:tailEnd/>
            </a:ln>
          </p:spPr>
          <p:txBody>
            <a:bodyPr rtlCol="0" anchor="ctr" anchorCtr="0"/>
            <a:lstStyle/>
            <a:p>
              <a:pPr algn="l">
                <a:lnSpc>
                  <a:spcPts val="1800"/>
                </a:lnSpc>
              </a:pPr>
              <a:endParaRPr kumimoji="1" lang="en-US" sz="1800" dirty="0">
                <a:solidFill>
                  <a:schemeClr val="bg1"/>
                </a:solidFill>
                <a:latin typeface="Arial" pitchFamily="34" charset="0"/>
              </a:endParaRPr>
            </a:p>
          </p:txBody>
        </p:sp>
        <p:sp>
          <p:nvSpPr>
            <p:cNvPr id="57" name="Abgerundetes Rechteck 54"/>
            <p:cNvSpPr/>
            <p:nvPr/>
          </p:nvSpPr>
          <p:spPr bwMode="auto">
            <a:xfrm>
              <a:off x="7558952" y="4421319"/>
              <a:ext cx="180000" cy="180000"/>
            </a:xfrm>
            <a:prstGeom prst="roundRect">
              <a:avLst/>
            </a:prstGeom>
            <a:solidFill>
              <a:srgbClr val="336699"/>
            </a:solidFill>
            <a:ln w="22225">
              <a:noFill/>
              <a:round/>
              <a:headEnd/>
              <a:tailEnd/>
            </a:ln>
          </p:spPr>
          <p:txBody>
            <a:bodyPr rtlCol="0" anchor="ctr" anchorCtr="0"/>
            <a:lstStyle/>
            <a:p>
              <a:pPr algn="l">
                <a:lnSpc>
                  <a:spcPts val="1800"/>
                </a:lnSpc>
              </a:pPr>
              <a:endParaRPr kumimoji="1" lang="en-US" sz="1800" dirty="0">
                <a:solidFill>
                  <a:schemeClr val="bg1"/>
                </a:solidFill>
                <a:latin typeface="Arial" pitchFamily="34" charset="0"/>
              </a:endParaRPr>
            </a:p>
          </p:txBody>
        </p:sp>
        <p:sp>
          <p:nvSpPr>
            <p:cNvPr id="58" name="Abgerundetes Rechteck 55"/>
            <p:cNvSpPr/>
            <p:nvPr/>
          </p:nvSpPr>
          <p:spPr bwMode="auto">
            <a:xfrm>
              <a:off x="8050345" y="4869502"/>
              <a:ext cx="180000" cy="180000"/>
            </a:xfrm>
            <a:prstGeom prst="roundRect">
              <a:avLst/>
            </a:prstGeom>
            <a:solidFill>
              <a:srgbClr val="336699"/>
            </a:solidFill>
            <a:ln w="22225">
              <a:noFill/>
              <a:round/>
              <a:headEnd/>
              <a:tailEnd/>
            </a:ln>
          </p:spPr>
          <p:txBody>
            <a:bodyPr rtlCol="0" anchor="ctr" anchorCtr="0"/>
            <a:lstStyle/>
            <a:p>
              <a:pPr algn="l">
                <a:lnSpc>
                  <a:spcPts val="1800"/>
                </a:lnSpc>
              </a:pPr>
              <a:endParaRPr kumimoji="1" lang="en-US" sz="1800" dirty="0">
                <a:solidFill>
                  <a:schemeClr val="bg1"/>
                </a:solidFill>
                <a:latin typeface="Arial" pitchFamily="34" charset="0"/>
              </a:endParaRPr>
            </a:p>
          </p:txBody>
        </p:sp>
        <p:cxnSp>
          <p:nvCxnSpPr>
            <p:cNvPr id="59" name="Gerader Verbinder 68"/>
            <p:cNvCxnSpPr>
              <a:stCxn id="42" idx="2"/>
            </p:cNvCxnSpPr>
            <p:nvPr/>
          </p:nvCxnSpPr>
          <p:spPr bwMode="auto">
            <a:xfrm>
              <a:off x="6216755" y="4489802"/>
              <a:ext cx="883382" cy="738165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0" name="Gerader Verbinder 71"/>
            <p:cNvCxnSpPr>
              <a:stCxn id="42" idx="0"/>
            </p:cNvCxnSpPr>
            <p:nvPr/>
          </p:nvCxnSpPr>
          <p:spPr bwMode="auto">
            <a:xfrm flipV="1">
              <a:off x="6216755" y="3607968"/>
              <a:ext cx="909565" cy="701834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67" name="Rectangle 9"/>
          <p:cNvSpPr>
            <a:spLocks noChangeArrowheads="1"/>
          </p:cNvSpPr>
          <p:nvPr/>
        </p:nvSpPr>
        <p:spPr bwMode="auto">
          <a:xfrm>
            <a:off x="1088376" y="5305565"/>
            <a:ext cx="7020000" cy="630067"/>
          </a:xfrm>
          <a:prstGeom prst="rect">
            <a:avLst/>
          </a:prstGeom>
          <a:solidFill>
            <a:srgbClr val="336699"/>
          </a:solidFill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 lIns="108000" rIns="108000" anchor="ctr"/>
          <a:lstStyle/>
          <a:p>
            <a:pPr algn="ctr" defTabSz="977900" eaLnBrk="0" hangingPunct="0">
              <a:spcBef>
                <a:spcPct val="50000"/>
              </a:spcBef>
              <a:buClr>
                <a:srgbClr val="FF0000"/>
              </a:buClr>
              <a:tabLst>
                <a:tab pos="2759075" algn="l"/>
                <a:tab pos="6286500" algn="l"/>
              </a:tabLst>
            </a:pPr>
            <a:r>
              <a:rPr lang="en-US" sz="1600" b="1" dirty="0">
                <a:solidFill>
                  <a:schemeClr val="bg1"/>
                </a:solidFill>
              </a:rPr>
              <a:t>Based on this analysis MNCs configure their value chain activities to achieve optimal usage of resources</a:t>
            </a:r>
          </a:p>
        </p:txBody>
      </p:sp>
    </p:spTree>
    <p:extLst>
      <p:ext uri="{BB962C8B-B14F-4D97-AF65-F5344CB8AC3E}">
        <p14:creationId xmlns:p14="http://schemas.microsoft.com/office/powerpoint/2010/main" val="25346799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" grpId="0" animBg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STYLE_ID" val="6cd991bf-f022-4378-96e7-2c338aeb3f5a"/>
  <p:tag name="THINKCELLPRESENTATIONDONOTDELETE" val="&lt;?xml version=&quot;1.0&quot; encoding=&quot;UTF-16&quot; standalone=&quot;yes&quot;?&gt;&lt;root reqver=&quot;23045&quot;&gt;&lt;version val=&quot;25090&quot;/&gt;&lt;CPresentation id=&quot;1&quot;&gt;&lt;m_precDefaultNumber&gt;&lt;m_bNumberIsYear val=&quot;1&quot;/&gt;&lt;m_chMinusSymbol&gt;-&lt;/m_chMinusSymbol&gt;&lt;m_chDecimalSymbol17909&gt;,&lt;/m_chDecimalSymbol17909&gt;&lt;m_nGroupingDigits17909 val=&quot;3&quot;/&gt;&lt;m_chGroupingSymbol17909&gt;.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,&lt;/m_chDecimalSymbol17909&gt;&lt;m_nGroupingDigits17909 val=&quot;3&quot;/&gt;&lt;m_chGroupingSymbol17909&gt;.&lt;/m_chGroupingSymbol17909&gt;&lt;m_strSuffix17909&gt;%&lt;/m_strSuffix17909&gt;&lt;m_yearfmt&gt;&lt;begin val=&quot;0&quot;/&gt;&lt;end val=&quot;4&quot;/&gt;&lt;/m_yearfmt&gt;&lt;/m_precDefaultPercent&gt;&lt;m_precDefaultDate&gt;&lt;m_yearfmt&gt;&lt;begin val=&quot;0&quot;/&gt;&lt;end val=&quot;4&quot;/&gt;&lt;/m_yearfmt&gt;&lt;/m_precDefaultDate&gt;&lt;m_precDefaultYear&gt;&lt;m_yearfmt&gt;&lt;begin val=&quot;0&quot;/&gt;&lt;end val=&quot;4&quot;/&gt;&lt;/m_yearfmt&gt;&lt;/m_precDefaultYear&gt;&lt;m_precDefaultQuarter&gt;&lt;m_yearfmt&gt;&lt;begin val=&quot;0&quot;/&gt;&lt;end val=&quot;4&quot;/&gt;&lt;/m_yearfmt&gt;&lt;/m_precDefaultQuarter&gt;&lt;m_precDefaultMonth&gt;&lt;m_yearfmt&gt;&lt;begin val=&quot;0&quot;/&gt;&lt;end val=&quot;4&quot;/&gt;&lt;/m_yearfmt&gt;&lt;/m_precDefaultMonth&gt;&lt;m_precDefaultWeek&gt;&lt;m_yearfmt&gt;&lt;begin val=&quot;0&quot;/&gt;&lt;end val=&quot;4&quot;/&gt;&lt;/m_yearfmt&gt;&lt;/m_precDefaultWeek&gt;&lt;m_precDefaultDay&gt;&lt;m_yearfmt&gt;&lt;begin val=&quot;0&quot;/&gt;&lt;end val=&quot;4&quot;/&gt;&lt;/m_yearfmt&gt;&lt;/m_precDefaultDay&gt;&lt;m_mruColor&gt;&lt;m_vecMRU length=&quot;4&quot;&gt;&lt;elem m_fUsage=&quot;1.62900000000000000355E+00&quot;&gt;&lt;m_msothmcolidx val=&quot;0&quot;/&gt;&lt;m_rgb r=&quot;5B&quot; g=&quot;9B&quot; b=&quot;D5&quot;/&gt;&lt;m_nBrightness val=&quot;0&quot;/&gt;&lt;/elem&gt;&lt;elem m_fUsage=&quot;1.00000000000000000000E+00&quot;&gt;&lt;m_msothmcolidx val=&quot;0&quot;/&gt;&lt;m_rgb r=&quot;7F&quot; g=&quot;7F&quot; b=&quot;7F&quot;/&gt;&lt;m_nBrightness val=&quot;0&quot;/&gt;&lt;/elem&gt;&lt;elem m_fUsage=&quot;8.10000000000000053291E-01&quot;&gt;&lt;m_msothmcolidx val=&quot;0&quot;/&gt;&lt;m_rgb r=&quot;44&quot; g=&quot;54&quot; b=&quot;6A&quot;/&gt;&lt;m_nBrightness val=&quot;0&quot;/&gt;&lt;/elem&gt;&lt;elem m_fUsage=&quot;6.56100000000000127542E-01&quot;&gt;&lt;m_msothmcolidx val=&quot;0&quot;/&gt;&lt;m_rgb r=&quot;A6&quot; g=&quot;A6&quot; b=&quot;A6&quot;/&gt;&lt;m_nBrightness val=&quot;0&quot;/&gt;&lt;/elem&gt;&lt;/m_vecMRU&gt;&lt;/m_mruColor&gt;&lt;/CPresentation&gt;&lt;/root&gt;"/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dEGvTU.SMCHvBf1Zlc6vQ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Lehrstuhl-Präsentation quer">
  <a:themeElements>
    <a:clrScheme name="Benutzerdefiniert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7F7F7F"/>
      </a:hlink>
      <a:folHlink>
        <a:srgbClr val="B2B2B2"/>
      </a:folHlink>
    </a:clrScheme>
    <a:fontScheme name="Lehrstuhl-Präsentation quer">
      <a:majorFont>
        <a:latin typeface="Arial Narrow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rgbClr val="336699"/>
        </a:solidFill>
        <a:ln w="22225">
          <a:noFill/>
          <a:round/>
          <a:headEnd/>
          <a:tailEnd/>
        </a:ln>
      </a:spPr>
      <a:bodyPr anchor="ctr" anchorCtr="0"/>
      <a:lstStyle>
        <a:defPPr algn="l">
          <a:lnSpc>
            <a:spcPts val="1800"/>
          </a:lnSpc>
          <a:defRPr kumimoji="1" sz="1800" dirty="0" smtClean="0">
            <a:solidFill>
              <a:schemeClr val="bg1"/>
            </a:solidFill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Lehrstuhl-Präsentation quer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hrstuhl-Präsentation quer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hrstuhl-Präsentation quer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hrstuhl-Präsentation quer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hrstuhl-Präsentation quer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hrstuhl-Präsentation quer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hrstuhl-Präsentation quer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Larissa-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Larissa-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2146</Words>
  <Application>Microsoft Office PowerPoint</Application>
  <PresentationFormat>On-screen Show (4:3)</PresentationFormat>
  <Paragraphs>314</Paragraphs>
  <Slides>21</Slides>
  <Notes>21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30" baseType="lpstr">
      <vt:lpstr>ＭＳ Ｐゴシック</vt:lpstr>
      <vt:lpstr>Arial</vt:lpstr>
      <vt:lpstr>Arial Narrow</vt:lpstr>
      <vt:lpstr>Symbol</vt:lpstr>
      <vt:lpstr>Times New Roman</vt:lpstr>
      <vt:lpstr>Verdana</vt:lpstr>
      <vt:lpstr>Wingdings</vt:lpstr>
      <vt:lpstr>Lehrstuhl-Präsentation quer</vt:lpstr>
      <vt:lpstr>think-cell Slide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Kein Folientitel</dc:title>
  <dc:creator>jpuck</dc:creator>
  <cp:lastModifiedBy>Arne Floh</cp:lastModifiedBy>
  <cp:revision>3251</cp:revision>
  <cp:lastPrinted>2017-05-30T14:51:03Z</cp:lastPrinted>
  <dcterms:created xsi:type="dcterms:W3CDTF">2009-11-21T16:13:03Z</dcterms:created>
  <dcterms:modified xsi:type="dcterms:W3CDTF">2026-07-06T18:19:00Z</dcterms:modified>
</cp:coreProperties>
</file>