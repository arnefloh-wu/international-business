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10"/>
  </p:notesMasterIdLst>
  <p:handoutMasterIdLst>
    <p:handoutMasterId r:id="rId11"/>
  </p:handoutMasterIdLst>
  <p:sldIdLst>
    <p:sldId id="1314" r:id="rId2"/>
    <p:sldId id="1316" r:id="rId3"/>
    <p:sldId id="1317" r:id="rId4"/>
    <p:sldId id="1318" r:id="rId5"/>
    <p:sldId id="1319" r:id="rId6"/>
    <p:sldId id="1320" r:id="rId7"/>
    <p:sldId id="1321" r:id="rId8"/>
    <p:sldId id="132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936" userDrawn="1">
          <p15:clr>
            <a:srgbClr val="A4A3A4"/>
          </p15:clr>
        </p15:guide>
        <p15:guide id="5" orient="horz" pos="451" userDrawn="1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Raja B" initials="RB" lastIdx="6" clrIdx="1">
    <p:extLst>
      <p:ext uri="{19B8F6BF-5375-455C-9EA6-DF929625EA0E}">
        <p15:presenceInfo xmlns:p15="http://schemas.microsoft.com/office/powerpoint/2012/main" userId="Raja B" providerId="None"/>
      </p:ext>
    </p:extLst>
  </p:cmAuthor>
  <p:cmAuthor id="3" name="R Sweda" initials="RS" lastIdx="5" clrIdx="2">
    <p:extLst>
      <p:ext uri="{19B8F6BF-5375-455C-9EA6-DF929625EA0E}">
        <p15:presenceInfo xmlns:p15="http://schemas.microsoft.com/office/powerpoint/2012/main" userId="S-1-5-21-2752970185-40930380-1894245210-38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2019" autoAdjust="0"/>
  </p:normalViewPr>
  <p:slideViewPr>
    <p:cSldViewPr>
      <p:cViewPr varScale="1">
        <p:scale>
          <a:sx n="101" d="100"/>
          <a:sy n="101" d="100"/>
        </p:scale>
        <p:origin x="2064" y="114"/>
      </p:cViewPr>
      <p:guideLst>
        <p:guide orient="horz" pos="3936"/>
        <p:guide orient="horz" pos="451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, Shweta" userId="6693a790-fec2-4f1b-bb02-58718b214df8" providerId="ADAL" clId="{C7E762D7-8014-45DB-8A62-BD4FA3670100}"/>
    <pc:docChg chg="modSld">
      <pc:chgData name="Jain, Shweta" userId="6693a790-fec2-4f1b-bb02-58718b214df8" providerId="ADAL" clId="{C7E762D7-8014-45DB-8A62-BD4FA3670100}" dt="2020-06-02T11:47:36.432" v="1" actId="962"/>
      <pc:docMkLst>
        <pc:docMk/>
      </pc:docMkLst>
      <pc:sldChg chg="modSp">
        <pc:chgData name="Jain, Shweta" userId="6693a790-fec2-4f1b-bb02-58718b214df8" providerId="ADAL" clId="{C7E762D7-8014-45DB-8A62-BD4FA3670100}" dt="2020-06-02T11:47:36.432" v="1" actId="962"/>
        <pc:sldMkLst>
          <pc:docMk/>
          <pc:sldMk cId="2170262415" sldId="1293"/>
        </pc:sldMkLst>
        <pc:picChg chg="mod">
          <ac:chgData name="Jain, Shweta" userId="6693a790-fec2-4f1b-bb02-58718b214df8" providerId="ADAL" clId="{C7E762D7-8014-45DB-8A62-BD4FA3670100}" dt="2020-06-02T11:47:36.432" v="1" actId="962"/>
          <ac:picMkLst>
            <pc:docMk/>
            <pc:sldMk cId="2170262415" sldId="1293"/>
            <ac:picMk id="12" creationId="{4B7C0549-CC8A-406F-AE51-9FCA19C113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204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97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082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429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209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407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74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58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8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54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83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844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15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3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454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36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54438355-59E1-494D-B673-F943449693EA}" type="datetimeFigureOut">
              <a:rPr lang="en-US"/>
              <a:pPr>
                <a:defRPr/>
              </a:pPr>
              <a:t>8/8/2025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6D5689-2E00-4087-B72F-8F2D0659B6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9363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2026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5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31" y="466461"/>
            <a:ext cx="8229600" cy="1613428"/>
          </a:xfrm>
        </p:spPr>
        <p:txBody>
          <a:bodyPr/>
          <a:lstStyle/>
          <a:p>
            <a:pPr lvl="0" algn="l">
              <a:spcBef>
                <a:spcPts val="0"/>
              </a:spcBef>
              <a:defRPr/>
            </a:pPr>
            <a:r>
              <a:rPr lang="en-US" dirty="0" smtClean="0"/>
              <a:t>Global Marketing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/>
              <a:t>Ninth Edition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48200" y="1802381"/>
            <a:ext cx="3581400" cy="1600199"/>
          </a:xfrm>
        </p:spPr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III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sz="2200" dirty="0"/>
              <a:t>Market entry </a:t>
            </a:r>
            <a:r>
              <a:rPr lang="en-US" sz="2200" dirty="0" smtClean="0"/>
              <a:t>strategies</a:t>
            </a:r>
            <a:br>
              <a:rPr lang="en-US" sz="2200" dirty="0" smtClean="0"/>
            </a:br>
            <a:r>
              <a:rPr lang="en-US" sz="2200" dirty="0" smtClean="0"/>
              <a:t>and </a:t>
            </a:r>
            <a:r>
              <a:rPr lang="en-US" sz="2200" dirty="0"/>
              <a:t>modes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648200" y="4031012"/>
            <a:ext cx="3810000" cy="2445988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ClrTx/>
              <a:defRPr/>
            </a:pPr>
            <a:r>
              <a:rPr lang="en-US" sz="3000" dirty="0">
                <a:solidFill>
                  <a:srgbClr val="000000"/>
                </a:solidFill>
              </a:rPr>
              <a:t>Chapter </a:t>
            </a:r>
            <a:r>
              <a:rPr lang="en-US" sz="3000" dirty="0" smtClean="0">
                <a:solidFill>
                  <a:srgbClr val="000000"/>
                </a:solidFill>
              </a:rPr>
              <a:t>9</a:t>
            </a:r>
            <a:endParaRPr lang="en-US" sz="3000" dirty="0">
              <a:solidFill>
                <a:srgbClr val="000000"/>
              </a:solidFill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Some approaches to </a:t>
            </a:r>
            <a:r>
              <a:rPr lang="en-US" dirty="0" smtClean="0">
                <a:solidFill>
                  <a:srgbClr val="000000"/>
                </a:solidFill>
              </a:rPr>
              <a:t>the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choice </a:t>
            </a:r>
            <a:r>
              <a:rPr lang="en-US" dirty="0">
                <a:solidFill>
                  <a:srgbClr val="000000"/>
                </a:solidFill>
              </a:rPr>
              <a:t>of entry mode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4" y="1554981"/>
            <a:ext cx="3460316" cy="4700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57942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III.1</a:t>
            </a:r>
            <a:br>
              <a:rPr lang="en-US" sz="3200" dirty="0" smtClean="0"/>
            </a:br>
            <a:r>
              <a:rPr lang="en-US" sz="3200" dirty="0" smtClean="0"/>
              <a:t>Examples </a:t>
            </a:r>
            <a:r>
              <a:rPr lang="en-US" sz="3200" dirty="0"/>
              <a:t>of different market entry modes and the distribution decision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173" y="2031281"/>
            <a:ext cx="4725655" cy="38711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1477" y="610677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1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III.2</a:t>
            </a:r>
            <a:br>
              <a:rPr lang="en-US" sz="3200" dirty="0" smtClean="0"/>
            </a:br>
            <a:r>
              <a:rPr lang="en-US" sz="3200" dirty="0" smtClean="0"/>
              <a:t>Classification </a:t>
            </a:r>
            <a:r>
              <a:rPr lang="en-US" sz="3200" dirty="0"/>
              <a:t>of market entry modes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480" y="1453610"/>
            <a:ext cx="6669041" cy="45661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9096" y="610790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093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III.3</a:t>
            </a:r>
            <a:br>
              <a:rPr lang="en-US" sz="3200" dirty="0" smtClean="0"/>
            </a:br>
            <a:r>
              <a:rPr lang="en-US" sz="3200" dirty="0" smtClean="0"/>
              <a:t>Examples </a:t>
            </a:r>
            <a:r>
              <a:rPr lang="en-US" sz="3200" dirty="0"/>
              <a:t>of the different market entry modes in the consumer market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2015606"/>
            <a:ext cx="5677705" cy="42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2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9.1</a:t>
            </a:r>
            <a:br>
              <a:rPr lang="en-US" sz="3200" dirty="0" smtClean="0"/>
            </a:br>
            <a:r>
              <a:rPr lang="en-US" sz="3200" dirty="0" smtClean="0"/>
              <a:t>Factors </a:t>
            </a:r>
            <a:r>
              <a:rPr lang="en-US" sz="3200" dirty="0"/>
              <a:t>affecting the foreign market entry mode decision in a specific </a:t>
            </a:r>
            <a:r>
              <a:rPr lang="en-US" sz="3200" dirty="0" smtClean="0"/>
              <a:t>country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052" y="1975731"/>
            <a:ext cx="5029897" cy="41202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2" y="610790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13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1</a:t>
            </a:r>
            <a:br>
              <a:rPr lang="en-US" sz="3200" dirty="0" smtClean="0"/>
            </a:br>
            <a:r>
              <a:rPr lang="en-US" sz="3200" dirty="0" smtClean="0"/>
              <a:t>Estimated </a:t>
            </a:r>
            <a:r>
              <a:rPr lang="en-US" sz="3200" dirty="0"/>
              <a:t>2018 condom production by</a:t>
            </a:r>
            <a:br>
              <a:rPr lang="en-US" sz="3200" dirty="0"/>
            </a:br>
            <a:r>
              <a:rPr lang="en-US" sz="3200" dirty="0"/>
              <a:t>country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031" y="2098558"/>
            <a:ext cx="4183938" cy="38711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2" y="610790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30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2</a:t>
            </a:r>
            <a:br>
              <a:rPr lang="en-US" sz="3200" dirty="0" smtClean="0"/>
            </a:br>
            <a:r>
              <a:rPr lang="en-US" sz="3200" dirty="0" smtClean="0"/>
              <a:t>World </a:t>
            </a:r>
            <a:r>
              <a:rPr lang="en-US" sz="3200" dirty="0"/>
              <a:t>market for male condoms (2014)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21982"/>
            <a:ext cx="8238931" cy="22140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125" y="6105981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448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3</a:t>
            </a:r>
            <a:br>
              <a:rPr lang="en-US" sz="3200" dirty="0" smtClean="0"/>
            </a:br>
            <a:r>
              <a:rPr lang="en-US" sz="3200" dirty="0" smtClean="0"/>
              <a:t>Company </a:t>
            </a:r>
            <a:r>
              <a:rPr lang="en-US" sz="3200" dirty="0"/>
              <a:t>shares on the world market for male condoms (2014)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1908777"/>
            <a:ext cx="5677705" cy="41110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48" y="6100763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MS: market </a:t>
            </a:r>
            <a:r>
              <a:rPr lang="en-US" sz="800" dirty="0" smtClean="0"/>
              <a:t>share. </a:t>
            </a:r>
            <a:r>
              <a:rPr lang="en-US" sz="800" dirty="0" err="1" smtClean="0"/>
              <a:t>Svend</a:t>
            </a:r>
            <a:r>
              <a:rPr lang="en-US" sz="800" dirty="0" smtClean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198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1923</TotalTime>
  <Words>141</Words>
  <Application>Microsoft Office PowerPoint</Application>
  <PresentationFormat>On-screen Show (4:3)</PresentationFormat>
  <Paragraphs>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MS PGothic</vt:lpstr>
      <vt:lpstr>Arial</vt:lpstr>
      <vt:lpstr>Times</vt:lpstr>
      <vt:lpstr>Verdana</vt:lpstr>
      <vt:lpstr>3_Default Design</vt:lpstr>
      <vt:lpstr>Global Marketing Ninth Edition</vt:lpstr>
      <vt:lpstr>Figure III.1 Examples of different market entry modes and the distribution decision</vt:lpstr>
      <vt:lpstr>Figure III.2 Classification of market entry modes</vt:lpstr>
      <vt:lpstr>Figure III.3 Examples of the different market entry modes in the consumer market</vt:lpstr>
      <vt:lpstr>Figure 9.1 Factors affecting the foreign market entry mode decision in a specific country</vt:lpstr>
      <vt:lpstr>Table 1 Estimated 2018 condom production by country</vt:lpstr>
      <vt:lpstr>Table 2 World market for male condoms (2014)</vt:lpstr>
      <vt:lpstr>Table 3 Company shares on the world market for male condoms (2014)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Qualitative Research Methods in Psychology_5e</dc:title>
  <dc:creator>Howitt</dc:creator>
  <cp:keywords>Economics</cp:keywords>
  <cp:lastModifiedBy>Shakila Rani B</cp:lastModifiedBy>
  <cp:revision>5102</cp:revision>
  <dcterms:created xsi:type="dcterms:W3CDTF">2014-07-14T20:04:21Z</dcterms:created>
  <dcterms:modified xsi:type="dcterms:W3CDTF">2025-08-08T08:07:22Z</dcterms:modified>
</cp:coreProperties>
</file>