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27"/>
  </p:notesMasterIdLst>
  <p:handoutMasterIdLst>
    <p:handoutMasterId r:id="rId28"/>
  </p:handoutMasterIdLst>
  <p:sldIdLst>
    <p:sldId id="1314" r:id="rId2"/>
    <p:sldId id="1316" r:id="rId3"/>
    <p:sldId id="1317" r:id="rId4"/>
    <p:sldId id="1318" r:id="rId5"/>
    <p:sldId id="1319" r:id="rId6"/>
    <p:sldId id="1320" r:id="rId7"/>
    <p:sldId id="1321" r:id="rId8"/>
    <p:sldId id="1322" r:id="rId9"/>
    <p:sldId id="1340" r:id="rId10"/>
    <p:sldId id="1323" r:id="rId11"/>
    <p:sldId id="1324" r:id="rId12"/>
    <p:sldId id="1325" r:id="rId13"/>
    <p:sldId id="1326" r:id="rId14"/>
    <p:sldId id="1327" r:id="rId15"/>
    <p:sldId id="1328" r:id="rId16"/>
    <p:sldId id="1341" r:id="rId17"/>
    <p:sldId id="1329" r:id="rId18"/>
    <p:sldId id="1330" r:id="rId19"/>
    <p:sldId id="1331" r:id="rId20"/>
    <p:sldId id="1332" r:id="rId21"/>
    <p:sldId id="1333" r:id="rId22"/>
    <p:sldId id="1334" r:id="rId23"/>
    <p:sldId id="1342" r:id="rId24"/>
    <p:sldId id="1335" r:id="rId25"/>
    <p:sldId id="133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936" userDrawn="1">
          <p15:clr>
            <a:srgbClr val="A4A3A4"/>
          </p15:clr>
        </p15:guide>
        <p15:guide id="5" orient="horz" pos="451" userDrawn="1">
          <p15:clr>
            <a:srgbClr val="A4A3A4"/>
          </p15:clr>
        </p15:guide>
        <p15:guide id="8" pos="288">
          <p15:clr>
            <a:srgbClr val="A4A3A4"/>
          </p15:clr>
        </p15:guide>
        <p15:guide id="9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/>
  <p:cmAuthor id="2" name="Raja B" initials="RB" lastIdx="6" clrIdx="1">
    <p:extLst>
      <p:ext uri="{19B8F6BF-5375-455C-9EA6-DF929625EA0E}">
        <p15:presenceInfo xmlns:p15="http://schemas.microsoft.com/office/powerpoint/2012/main" userId="Raja B" providerId="None"/>
      </p:ext>
    </p:extLst>
  </p:cmAuthor>
  <p:cmAuthor id="3" name="R Sweda" initials="RS" lastIdx="5" clrIdx="2">
    <p:extLst>
      <p:ext uri="{19B8F6BF-5375-455C-9EA6-DF929625EA0E}">
        <p15:presenceInfo xmlns:p15="http://schemas.microsoft.com/office/powerpoint/2012/main" userId="S-1-5-21-2752970185-40930380-1894245210-38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AE4"/>
    <a:srgbClr val="007FA3"/>
    <a:srgbClr val="99008C"/>
    <a:srgbClr val="001581"/>
    <a:srgbClr val="82007C"/>
    <a:srgbClr val="96008F"/>
    <a:srgbClr val="595375"/>
    <a:srgbClr val="6B638B"/>
    <a:srgbClr val="000000"/>
    <a:srgbClr val="FDB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2019" autoAdjust="0"/>
  </p:normalViewPr>
  <p:slideViewPr>
    <p:cSldViewPr>
      <p:cViewPr varScale="1">
        <p:scale>
          <a:sx n="101" d="100"/>
          <a:sy n="101" d="100"/>
        </p:scale>
        <p:origin x="2064" y="114"/>
      </p:cViewPr>
      <p:guideLst>
        <p:guide orient="horz" pos="3936"/>
        <p:guide orient="horz" pos="451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n, Shweta" userId="6693a790-fec2-4f1b-bb02-58718b214df8" providerId="ADAL" clId="{C7E762D7-8014-45DB-8A62-BD4FA3670100}"/>
    <pc:docChg chg="modSld">
      <pc:chgData name="Jain, Shweta" userId="6693a790-fec2-4f1b-bb02-58718b214df8" providerId="ADAL" clId="{C7E762D7-8014-45DB-8A62-BD4FA3670100}" dt="2020-06-02T11:47:36.432" v="1" actId="962"/>
      <pc:docMkLst>
        <pc:docMk/>
      </pc:docMkLst>
      <pc:sldChg chg="modSp">
        <pc:chgData name="Jain, Shweta" userId="6693a790-fec2-4f1b-bb02-58718b214df8" providerId="ADAL" clId="{C7E762D7-8014-45DB-8A62-BD4FA3670100}" dt="2020-06-02T11:47:36.432" v="1" actId="962"/>
        <pc:sldMkLst>
          <pc:docMk/>
          <pc:sldMk cId="2170262415" sldId="1293"/>
        </pc:sldMkLst>
        <pc:picChg chg="mod">
          <ac:chgData name="Jain, Shweta" userId="6693a790-fec2-4f1b-bb02-58718b214df8" providerId="ADAL" clId="{C7E762D7-8014-45DB-8A62-BD4FA3670100}" dt="2020-06-02T11:47:36.432" v="1" actId="962"/>
          <ac:picMkLst>
            <pc:docMk/>
            <pc:sldMk cId="2170262415" sldId="1293"/>
            <ac:picMk id="12" creationId="{4B7C0549-CC8A-406F-AE51-9FCA19C113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8/8/2025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204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594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359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106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150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973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 smtClean="0"/>
              <a:t>Figure 8.5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Underlying questionnaire for locating countries on a market attractiveness/competitive strength (MACS) matrix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 smtClean="0"/>
              <a:t>Figure 8.5 (Continued)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Underlying questionnaire for locating countries on a market attractiveness/competitive strength (MACS) matrix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24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667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659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 smtClean="0"/>
              <a:t>Figure 8.8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The international market segmentation/screening process: an example of the proactive and systematic approach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076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746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096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630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618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74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8816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052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195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373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260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fr-FR" altLang="en-US" b="1" dirty="0" smtClean="0"/>
              <a:t>Table 8.5</a:t>
            </a:r>
            <a:r>
              <a:rPr lang="fr-FR" altLang="en-US" dirty="0" smtClean="0"/>
              <a:t/>
            </a:r>
            <a:br>
              <a:rPr lang="fr-FR" altLang="en-US" dirty="0" smtClean="0"/>
            </a:br>
            <a:r>
              <a:rPr lang="fr-FR" altLang="en-US" dirty="0" smtClean="0"/>
              <a:t>International </a:t>
            </a:r>
            <a:r>
              <a:rPr lang="fr-FR" altLang="en-US" dirty="0" err="1" smtClean="0"/>
              <a:t>market</a:t>
            </a:r>
            <a:r>
              <a:rPr lang="fr-FR" altLang="en-US" dirty="0" smtClean="0"/>
              <a:t> diversification versus </a:t>
            </a:r>
            <a:r>
              <a:rPr lang="fr-FR" altLang="en-US" dirty="0" err="1" smtClean="0"/>
              <a:t>market</a:t>
            </a:r>
            <a:r>
              <a:rPr lang="fr-FR" altLang="en-US" dirty="0" smtClean="0"/>
              <a:t> concentration (</a:t>
            </a:r>
            <a:r>
              <a:rPr lang="fr-FR" altLang="en-US" dirty="0" err="1" smtClean="0"/>
              <a:t>Continued</a:t>
            </a:r>
            <a:r>
              <a:rPr lang="fr-FR" altLang="en-US" dirty="0" smtClean="0"/>
              <a:t>)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916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679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it-IT" altLang="en-US" b="1" dirty="0" smtClean="0"/>
              <a:t>Figure 8.16</a:t>
            </a:r>
          </a:p>
          <a:p>
            <a:pPr eaLnBrk="1" hangingPunct="1">
              <a:spcBef>
                <a:spcPct val="0"/>
              </a:spcBef>
            </a:pPr>
            <a:r>
              <a:rPr lang="it-IT" altLang="en-US" dirty="0" smtClean="0"/>
              <a:t>Unilever’s global portfolio</a:t>
            </a:r>
            <a:endParaRPr lang="en-US" alt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5C682C-BEAF-4365-B5E8-533534DD8CD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236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58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8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54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83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844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15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3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454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36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6"/>
          </p:nvPr>
        </p:nvSpPr>
        <p:spPr>
          <a:xfrm>
            <a:off x="93663" y="6165850"/>
            <a:ext cx="8596312" cy="234950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7"/>
          </p:nvPr>
        </p:nvSpPr>
        <p:spPr>
          <a:xfrm>
            <a:off x="6335713" y="112713"/>
            <a:ext cx="2133600" cy="182562"/>
          </a:xfrm>
          <a:prstGeom prst="rect">
            <a:avLst/>
          </a:prstGeom>
        </p:spPr>
        <p:txBody>
          <a:bodyPr/>
          <a:lstStyle>
            <a:lvl1pPr eaLnBrk="1" hangingPunct="1">
              <a:defRPr sz="2400">
                <a:solidFill>
                  <a:srgbClr val="000000"/>
                </a:solidFill>
                <a:latin typeface="Times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54438355-59E1-494D-B673-F943449693EA}" type="datetimeFigureOut">
              <a:rPr lang="en-US"/>
              <a:pPr>
                <a:defRPr/>
              </a:pPr>
              <a:t>8/8/2025</a:t>
            </a:fld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8"/>
          </p:nvPr>
        </p:nvSpPr>
        <p:spPr>
          <a:xfrm>
            <a:off x="8469313" y="112713"/>
            <a:ext cx="552450" cy="18256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000000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6D5689-2E00-4087-B72F-8F2D0659B6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9363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185738" y="6416675"/>
            <a:ext cx="8642350" cy="188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lang="en-US" sz="1200" dirty="0" smtClean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2026 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Verdana" panose="020B0604030504040204" pitchFamily="34" charset="0"/>
                <a:cs typeface="Verdana" panose="020B0604030504040204" pitchFamily="34" charset="0"/>
              </a:rPr>
              <a:t>Pearson Education Limited. All Rights Reserved.</a:t>
            </a:r>
            <a:endParaRPr lang="en-GB" sz="1200" dirty="0">
              <a:solidFill>
                <a:srgbClr val="000000"/>
              </a:solidFill>
              <a:latin typeface="Arial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Picture 8" descr="Pearson Logo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76988"/>
            <a:ext cx="9175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5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7FA3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32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7FA3"/>
        </a:buClr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931" y="466461"/>
            <a:ext cx="8229600" cy="1613428"/>
          </a:xfrm>
        </p:spPr>
        <p:txBody>
          <a:bodyPr/>
          <a:lstStyle/>
          <a:p>
            <a:pPr lvl="0" algn="l">
              <a:spcBef>
                <a:spcPts val="0"/>
              </a:spcBef>
              <a:defRPr/>
            </a:pPr>
            <a:r>
              <a:rPr lang="en-US" dirty="0" smtClean="0"/>
              <a:t>Global Marketing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/>
              <a:t>Ninth Edition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648200" y="1802381"/>
            <a:ext cx="3657600" cy="1600199"/>
          </a:xfrm>
        </p:spPr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II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sz="2200" dirty="0"/>
              <a:t>Deciding which </a:t>
            </a:r>
            <a:r>
              <a:rPr lang="en-US" sz="2200" dirty="0" smtClean="0"/>
              <a:t>markets</a:t>
            </a:r>
            <a:br>
              <a:rPr lang="en-US" sz="2200" dirty="0" smtClean="0"/>
            </a:br>
            <a:r>
              <a:rPr lang="en-US" sz="2200" dirty="0" smtClean="0"/>
              <a:t>to </a:t>
            </a:r>
            <a:r>
              <a:rPr lang="en-US" sz="2200" dirty="0"/>
              <a:t>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648200" y="4031012"/>
            <a:ext cx="3810000" cy="2445988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ClrTx/>
              <a:defRPr/>
            </a:pPr>
            <a:r>
              <a:rPr lang="en-US" sz="3000" dirty="0">
                <a:solidFill>
                  <a:srgbClr val="000000"/>
                </a:solidFill>
              </a:rPr>
              <a:t>Chapter </a:t>
            </a:r>
            <a:r>
              <a:rPr lang="en-US" sz="3000" dirty="0" smtClean="0">
                <a:solidFill>
                  <a:srgbClr val="000000"/>
                </a:solidFill>
              </a:rPr>
              <a:t>8</a:t>
            </a:r>
            <a:endParaRPr lang="en-US" sz="3000" dirty="0">
              <a:solidFill>
                <a:srgbClr val="000000"/>
              </a:solidFill>
            </a:endParaRPr>
          </a:p>
          <a:p>
            <a:pPr lvl="0"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The international </a:t>
            </a:r>
            <a:r>
              <a:rPr lang="en-US" dirty="0" smtClean="0">
                <a:solidFill>
                  <a:srgbClr val="000000"/>
                </a:solidFill>
              </a:rPr>
              <a:t>market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selection </a:t>
            </a:r>
            <a:r>
              <a:rPr lang="en-US" dirty="0">
                <a:solidFill>
                  <a:srgbClr val="000000"/>
                </a:solidFill>
              </a:rPr>
              <a:t>process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4" y="1554981"/>
            <a:ext cx="3460316" cy="4700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57942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</a:t>
            </a:r>
            <a:br>
              <a:rPr lang="en-US" sz="3200" dirty="0" smtClean="0"/>
            </a:br>
            <a:r>
              <a:rPr lang="en-US" sz="3200" dirty="0" smtClean="0"/>
              <a:t>Potential </a:t>
            </a:r>
            <a:r>
              <a:rPr lang="en-US" sz="3200" dirty="0"/>
              <a:t>determinants of the company’s choice of foreign markets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68" y="1847248"/>
            <a:ext cx="5604264" cy="42582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6711" y="610552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>
                <a:latin typeface="SST-Light"/>
              </a:rPr>
              <a:t>Svend</a:t>
            </a:r>
            <a:r>
              <a:rPr lang="en-US" sz="800" dirty="0">
                <a:latin typeface="SST-Light"/>
              </a:rPr>
              <a:t> </a:t>
            </a:r>
            <a:r>
              <a:rPr lang="en-US" sz="800" dirty="0" err="1">
                <a:latin typeface="SST-Light"/>
              </a:rPr>
              <a:t>Hollensen</a:t>
            </a:r>
            <a:r>
              <a:rPr lang="en-US" sz="800" dirty="0">
                <a:latin typeface="SST-Ligh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fr-FR" sz="3200" dirty="0"/>
              <a:t>Figure </a:t>
            </a:r>
            <a:r>
              <a:rPr lang="fr-FR" sz="3200" dirty="0" smtClean="0"/>
              <a:t>8.2</a:t>
            </a:r>
            <a:br>
              <a:rPr lang="fr-FR" sz="3200" dirty="0" smtClean="0"/>
            </a:br>
            <a:r>
              <a:rPr lang="fr-FR" sz="3200" dirty="0" smtClean="0"/>
              <a:t>International </a:t>
            </a:r>
            <a:r>
              <a:rPr lang="fr-FR" sz="3200" dirty="0" err="1"/>
              <a:t>market</a:t>
            </a:r>
            <a:r>
              <a:rPr lang="fr-FR" sz="3200" dirty="0"/>
              <a:t> segmentation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849" y="1680795"/>
            <a:ext cx="4012302" cy="42582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915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31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8.3</a:t>
            </a:r>
            <a:br>
              <a:rPr lang="en-US" sz="3200" dirty="0" smtClean="0"/>
            </a:br>
            <a:r>
              <a:rPr lang="en-US" sz="3200" dirty="0" smtClean="0"/>
              <a:t>The </a:t>
            </a:r>
            <a:r>
              <a:rPr lang="en-US" sz="3200" dirty="0"/>
              <a:t>basis of international market segmentation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2133158"/>
            <a:ext cx="5677705" cy="41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2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8.1</a:t>
            </a:r>
            <a:br>
              <a:rPr lang="en-US" sz="3200" dirty="0" smtClean="0"/>
            </a:br>
            <a:r>
              <a:rPr lang="en-US" sz="3200" dirty="0" smtClean="0"/>
              <a:t>Criteria </a:t>
            </a:r>
            <a:r>
              <a:rPr lang="en-US" sz="3200" dirty="0"/>
              <a:t>included in the overall BERI index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887" y="1390650"/>
            <a:ext cx="5768226" cy="4684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5981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43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391329" cy="1564987"/>
          </a:xfrm>
        </p:spPr>
        <p:txBody>
          <a:bodyPr anchor="t"/>
          <a:lstStyle/>
          <a:p>
            <a:pPr algn="l"/>
            <a:r>
              <a:rPr lang="en-US" sz="3000" dirty="0"/>
              <a:t>Table </a:t>
            </a:r>
            <a:r>
              <a:rPr lang="en-US" sz="3000" dirty="0" smtClean="0"/>
              <a:t>8.2</a:t>
            </a:r>
            <a:br>
              <a:rPr lang="en-US" sz="3000" dirty="0" smtClean="0"/>
            </a:br>
            <a:r>
              <a:rPr lang="en-US" sz="3000" dirty="0" smtClean="0"/>
              <a:t>Dimensions </a:t>
            </a:r>
            <a:r>
              <a:rPr lang="en-US" sz="3000" dirty="0"/>
              <a:t>of market/country attractiveness and competitive strength (MACS)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974" y="1900041"/>
            <a:ext cx="5582052" cy="41574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0750" y="610790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440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8.4</a:t>
            </a:r>
            <a:br>
              <a:rPr lang="en-US" sz="3200" dirty="0" smtClean="0"/>
            </a:br>
            <a:r>
              <a:rPr lang="en-US" sz="3200" dirty="0" smtClean="0"/>
              <a:t>The </a:t>
            </a:r>
            <a:r>
              <a:rPr lang="en-US" sz="3200" dirty="0"/>
              <a:t>market attractiveness/competitive strength (MACS)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394" y="1943100"/>
            <a:ext cx="4149212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8300" y="6108700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905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72" y="745510"/>
            <a:ext cx="6419256" cy="5198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8367" y="610280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491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6" y="715962"/>
            <a:ext cx="7445829" cy="51504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8367" y="610280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507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8.6</a:t>
            </a:r>
            <a:br>
              <a:rPr lang="en-US" sz="3200" dirty="0" smtClean="0"/>
            </a:br>
            <a:r>
              <a:rPr lang="en-US" sz="3200" dirty="0" smtClean="0"/>
              <a:t>Transnational </a:t>
            </a:r>
            <a:r>
              <a:rPr lang="en-US" sz="3200" dirty="0"/>
              <a:t>clustering of the Western European market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114" y="1962150"/>
            <a:ext cx="4031773" cy="41112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7186" y="6105526"/>
            <a:ext cx="83058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adapted from </a:t>
            </a:r>
            <a:r>
              <a:rPr lang="en-US" sz="800" i="1" dirty="0"/>
              <a:t>European Business: An Issue-Based Approach</a:t>
            </a:r>
            <a:r>
              <a:rPr lang="en-US" sz="800" dirty="0"/>
              <a:t>, Pearson Education Ltd (Welford, R. and Prescott, K. 1996</a:t>
            </a:r>
            <a:r>
              <a:rPr lang="en-US" sz="800" dirty="0" smtClean="0"/>
              <a:t>). Copyright </a:t>
            </a:r>
            <a:r>
              <a:rPr lang="en-US" sz="800" dirty="0"/>
              <a:t>©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06368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8.7</a:t>
            </a:r>
            <a:br>
              <a:rPr lang="en-US" sz="3200" dirty="0" smtClean="0"/>
            </a:br>
            <a:r>
              <a:rPr lang="en-US" sz="3200" dirty="0" err="1" smtClean="0"/>
              <a:t>Micromarket</a:t>
            </a:r>
            <a:r>
              <a:rPr lang="en-US" sz="3200" dirty="0" smtClean="0"/>
              <a:t> </a:t>
            </a:r>
            <a:r>
              <a:rPr lang="en-US" sz="3200" dirty="0"/>
              <a:t>segmentation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1479171"/>
            <a:ext cx="6245475" cy="45406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0750" y="6104394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709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12" y="322776"/>
            <a:ext cx="4321376" cy="56824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950" y="6108700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19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4675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8.9</a:t>
            </a:r>
            <a:br>
              <a:rPr lang="en-US" sz="3200" dirty="0" smtClean="0"/>
            </a:br>
            <a:r>
              <a:rPr lang="en-US" sz="3200" dirty="0" smtClean="0"/>
              <a:t>International </a:t>
            </a:r>
            <a:r>
              <a:rPr lang="en-US" sz="3200" dirty="0"/>
              <a:t>market screening for Bosch Security System: Fire Detection Systems in </a:t>
            </a:r>
            <a:r>
              <a:rPr lang="en-US" sz="3200" dirty="0" smtClean="0"/>
              <a:t>the Middle </a:t>
            </a:r>
            <a:r>
              <a:rPr lang="en-US" sz="3200" dirty="0"/>
              <a:t>East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48" y="2362200"/>
            <a:ext cx="5677705" cy="3744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48" y="610552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492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8.3</a:t>
            </a:r>
            <a:br>
              <a:rPr lang="en-US" sz="3200" dirty="0" smtClean="0"/>
            </a:br>
            <a:r>
              <a:rPr lang="en-US" sz="3200" dirty="0" smtClean="0"/>
              <a:t>Classification </a:t>
            </a:r>
            <a:r>
              <a:rPr lang="en-US" sz="3200" dirty="0"/>
              <a:t>variables in the MACS 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077" y="1411895"/>
            <a:ext cx="5193847" cy="46841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552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44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8.4</a:t>
            </a:r>
            <a:br>
              <a:rPr lang="en-US" sz="3200" dirty="0" smtClean="0"/>
            </a:br>
            <a:r>
              <a:rPr lang="en-US" sz="3200" dirty="0" smtClean="0"/>
              <a:t>Measurement/evaluation </a:t>
            </a:r>
            <a:r>
              <a:rPr lang="en-US" sz="3200" dirty="0"/>
              <a:t>of screening variables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2297628"/>
            <a:ext cx="8239125" cy="326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7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Table </a:t>
            </a:r>
            <a:r>
              <a:rPr lang="en-US" sz="3200" dirty="0" smtClean="0"/>
              <a:t>8.4</a:t>
            </a:r>
            <a:br>
              <a:rPr lang="en-US" sz="3200" dirty="0" smtClean="0"/>
            </a:br>
            <a:r>
              <a:rPr lang="en-US" sz="3200" dirty="0" smtClean="0"/>
              <a:t>Measurement/evaluation </a:t>
            </a:r>
            <a:r>
              <a:rPr lang="en-US" sz="3200" dirty="0"/>
              <a:t>of screening </a:t>
            </a:r>
            <a:r>
              <a:rPr lang="en-US" sz="3200" dirty="0" smtClean="0"/>
              <a:t>variables (Continued)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332" y="1888001"/>
            <a:ext cx="6399337" cy="43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3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391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8.10</a:t>
            </a:r>
            <a:br>
              <a:rPr lang="en-US" sz="3200" dirty="0" smtClean="0"/>
            </a:br>
            <a:r>
              <a:rPr lang="en-US" sz="3200" dirty="0" smtClean="0"/>
              <a:t>Bosch </a:t>
            </a:r>
            <a:r>
              <a:rPr lang="en-US" sz="3200" dirty="0"/>
              <a:t>Fire Detection Systems MACS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370" y="1837723"/>
            <a:ext cx="5119261" cy="42582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2806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23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3151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8.11</a:t>
            </a:r>
            <a:br>
              <a:rPr lang="en-US" sz="3200" dirty="0" smtClean="0"/>
            </a:br>
            <a:r>
              <a:rPr lang="en-US" sz="3200" dirty="0" smtClean="0"/>
              <a:t>The </a:t>
            </a:r>
            <a:r>
              <a:rPr lang="en-US" sz="3200" dirty="0"/>
              <a:t>incremental strategy (waterfall approach) and simultaneous </a:t>
            </a:r>
            <a:r>
              <a:rPr lang="en-US" sz="3200" dirty="0" smtClean="0"/>
              <a:t>strategy (the </a:t>
            </a:r>
            <a:r>
              <a:rPr lang="en-US" sz="3200" dirty="0"/>
              <a:t>shower approach)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92" y="2672732"/>
            <a:ext cx="7011616" cy="30422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48" y="5986046"/>
            <a:ext cx="8305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 smtClean="0"/>
              <a:t>Source</a:t>
            </a:r>
            <a:r>
              <a:rPr lang="en-US" sz="800" dirty="0" smtClean="0"/>
              <a:t>: </a:t>
            </a:r>
            <a:r>
              <a:rPr lang="en-US" sz="800" dirty="0"/>
              <a:t>Keegan, Warren J.; Green, Mark, </a:t>
            </a:r>
            <a:r>
              <a:rPr lang="en-US" sz="800" i="1" dirty="0"/>
              <a:t>Global Marketing Management </a:t>
            </a:r>
            <a:r>
              <a:rPr lang="en-US" sz="800" dirty="0"/>
              <a:t>, 2nd </a:t>
            </a:r>
            <a:r>
              <a:rPr lang="en-US" sz="800" dirty="0" err="1"/>
              <a:t>edn</a:t>
            </a:r>
            <a:r>
              <a:rPr lang="en-US" sz="800" dirty="0"/>
              <a:t>, p. 410; © 2000. Electronically reproduced </a:t>
            </a:r>
            <a:r>
              <a:rPr lang="en-US" sz="800" dirty="0" smtClean="0"/>
              <a:t>by permission </a:t>
            </a:r>
            <a:r>
              <a:rPr lang="en-US" sz="800" dirty="0"/>
              <a:t>of Pearson Education, Inc., Upper Saddle River, New Jersey.</a:t>
            </a:r>
          </a:p>
        </p:txBody>
      </p:sp>
    </p:spTree>
    <p:extLst>
      <p:ext uri="{BB962C8B-B14F-4D97-AF65-F5344CB8AC3E}">
        <p14:creationId xmlns:p14="http://schemas.microsoft.com/office/powerpoint/2010/main" val="228841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8.12</a:t>
            </a:r>
            <a:br>
              <a:rPr lang="en-US" sz="3200" dirty="0" smtClean="0"/>
            </a:br>
            <a:r>
              <a:rPr lang="en-US" sz="3200" dirty="0" err="1" smtClean="0"/>
              <a:t>Sunquick’s</a:t>
            </a:r>
            <a:r>
              <a:rPr lang="en-US" sz="3200" dirty="0" smtClean="0"/>
              <a:t> </a:t>
            </a:r>
            <a:r>
              <a:rPr lang="en-US" sz="3200" dirty="0"/>
              <a:t>worldwide value chain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64220"/>
            <a:ext cx="8229600" cy="15295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542" y="6105187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649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8.13</a:t>
            </a:r>
            <a:br>
              <a:rPr lang="en-US" sz="3200" dirty="0" smtClean="0"/>
            </a:br>
            <a:r>
              <a:rPr lang="en-US" sz="3200" dirty="0" smtClean="0"/>
              <a:t>Change </a:t>
            </a:r>
            <a:r>
              <a:rPr lang="en-US" sz="3200" dirty="0"/>
              <a:t>in </a:t>
            </a:r>
            <a:r>
              <a:rPr lang="en-US" sz="3200" dirty="0" err="1"/>
              <a:t>Sunquick’s</a:t>
            </a:r>
            <a:r>
              <a:rPr lang="en-US" sz="3200" dirty="0"/>
              <a:t> market shares over time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1905000"/>
            <a:ext cx="6245475" cy="41450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1000" y="6068415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5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8.14</a:t>
            </a:r>
            <a:br>
              <a:rPr lang="en-US" sz="3200" dirty="0" smtClean="0"/>
            </a:br>
            <a:r>
              <a:rPr lang="en-US" sz="3200" dirty="0" smtClean="0"/>
              <a:t>The </a:t>
            </a:r>
            <a:r>
              <a:rPr lang="en-US" sz="3200" dirty="0"/>
              <a:t>market expansion matrix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144" y="1809357"/>
            <a:ext cx="5449713" cy="37155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5986046"/>
            <a:ext cx="83248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Adapted from </a:t>
            </a:r>
            <a:r>
              <a:rPr lang="en-US" sz="800" dirty="0" err="1"/>
              <a:t>Ayal</a:t>
            </a:r>
            <a:r>
              <a:rPr lang="en-US" sz="800" dirty="0"/>
              <a:t>, I. and </a:t>
            </a:r>
            <a:r>
              <a:rPr lang="en-US" sz="800" dirty="0" err="1"/>
              <a:t>Zif</a:t>
            </a:r>
            <a:r>
              <a:rPr lang="en-US" sz="800" dirty="0"/>
              <a:t>, J. (1979) ‘Market expansion strategies in multinational marketing’, Journal of </a:t>
            </a:r>
            <a:r>
              <a:rPr lang="en-US" sz="800" dirty="0" smtClean="0"/>
              <a:t>Marketing, 43</a:t>
            </a:r>
            <a:r>
              <a:rPr lang="en-US" sz="800" dirty="0"/>
              <a:t>, pp. 84–94. https://doi.org/10.1177/002224297904300209.</a:t>
            </a:r>
          </a:p>
        </p:txBody>
      </p:sp>
    </p:spTree>
    <p:extLst>
      <p:ext uri="{BB962C8B-B14F-4D97-AF65-F5344CB8AC3E}">
        <p14:creationId xmlns:p14="http://schemas.microsoft.com/office/powerpoint/2010/main" val="225749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fr-FR" sz="3200" dirty="0"/>
              <a:t>Table </a:t>
            </a:r>
            <a:r>
              <a:rPr lang="fr-FR" sz="3200" dirty="0" smtClean="0"/>
              <a:t>8.5</a:t>
            </a:r>
            <a:br>
              <a:rPr lang="fr-FR" sz="3200" dirty="0" smtClean="0"/>
            </a:br>
            <a:r>
              <a:rPr lang="fr-FR" sz="3200" dirty="0" smtClean="0"/>
              <a:t>International </a:t>
            </a:r>
            <a:r>
              <a:rPr lang="fr-FR" sz="3200" dirty="0" err="1"/>
              <a:t>market</a:t>
            </a:r>
            <a:r>
              <a:rPr lang="fr-FR" sz="3200" dirty="0"/>
              <a:t> diversification versus </a:t>
            </a:r>
            <a:r>
              <a:rPr lang="fr-FR" sz="3200" dirty="0" err="1"/>
              <a:t>market</a:t>
            </a:r>
            <a:r>
              <a:rPr lang="fr-FR" sz="3200" dirty="0"/>
              <a:t> concentration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85032"/>
            <a:ext cx="8239125" cy="30775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1950" y="6102350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/>
              <a:t>Sources</a:t>
            </a:r>
            <a:r>
              <a:rPr lang="en-US" sz="800" dirty="0"/>
              <a:t>: adapted from </a:t>
            </a:r>
            <a:r>
              <a:rPr lang="en-US" sz="800" dirty="0" err="1"/>
              <a:t>Ayal</a:t>
            </a:r>
            <a:r>
              <a:rPr lang="en-US" sz="800" dirty="0"/>
              <a:t> and </a:t>
            </a:r>
            <a:r>
              <a:rPr lang="en-US" sz="800" dirty="0" err="1"/>
              <a:t>Zif</a:t>
            </a:r>
            <a:r>
              <a:rPr lang="en-US" sz="800" dirty="0"/>
              <a:t> (1979); Piercy (1981); </a:t>
            </a:r>
            <a:r>
              <a:rPr lang="en-US" sz="800" dirty="0" err="1"/>
              <a:t>Katsikeas</a:t>
            </a:r>
            <a:r>
              <a:rPr lang="en-US" sz="800" dirty="0"/>
              <a:t> et al. (2005).</a:t>
            </a:r>
          </a:p>
        </p:txBody>
      </p:sp>
    </p:spTree>
    <p:extLst>
      <p:ext uri="{BB962C8B-B14F-4D97-AF65-F5344CB8AC3E}">
        <p14:creationId xmlns:p14="http://schemas.microsoft.com/office/powerpoint/2010/main" val="30665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266699"/>
            <a:ext cx="6629400" cy="57854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1950" y="6102350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/>
              <a:t>Sources</a:t>
            </a:r>
            <a:r>
              <a:rPr lang="en-US" sz="800" dirty="0"/>
              <a:t>: adapted from </a:t>
            </a:r>
            <a:r>
              <a:rPr lang="en-US" sz="800" dirty="0" err="1"/>
              <a:t>Ayal</a:t>
            </a:r>
            <a:r>
              <a:rPr lang="en-US" sz="800" dirty="0"/>
              <a:t> and </a:t>
            </a:r>
            <a:r>
              <a:rPr lang="en-US" sz="800" dirty="0" err="1"/>
              <a:t>Zif</a:t>
            </a:r>
            <a:r>
              <a:rPr lang="en-US" sz="800" dirty="0"/>
              <a:t> (1979); Piercy (1981); </a:t>
            </a:r>
            <a:r>
              <a:rPr lang="en-US" sz="800" dirty="0" err="1"/>
              <a:t>Katsikeas</a:t>
            </a:r>
            <a:r>
              <a:rPr lang="en-US" sz="800" dirty="0"/>
              <a:t> et al. (2005).</a:t>
            </a:r>
          </a:p>
        </p:txBody>
      </p:sp>
    </p:spTree>
    <p:extLst>
      <p:ext uri="{BB962C8B-B14F-4D97-AF65-F5344CB8AC3E}">
        <p14:creationId xmlns:p14="http://schemas.microsoft.com/office/powerpoint/2010/main" val="343810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1671" y="291180"/>
            <a:ext cx="8772329" cy="1564987"/>
          </a:xfrm>
        </p:spPr>
        <p:txBody>
          <a:bodyPr anchor="t"/>
          <a:lstStyle/>
          <a:p>
            <a:pPr algn="l"/>
            <a:r>
              <a:rPr lang="en-US" sz="3200" dirty="0"/>
              <a:t>Figure </a:t>
            </a:r>
            <a:r>
              <a:rPr lang="en-US" sz="3200" dirty="0" smtClean="0"/>
              <a:t>8.15</a:t>
            </a:r>
            <a:br>
              <a:rPr lang="en-US" sz="3200" dirty="0" smtClean="0"/>
            </a:br>
            <a:r>
              <a:rPr lang="en-US" sz="3200" dirty="0" smtClean="0"/>
              <a:t>Location </a:t>
            </a:r>
            <a:r>
              <a:rPr lang="en-US" sz="3200" dirty="0"/>
              <a:t>of Bajaj’s international dealers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88" y="1589764"/>
            <a:ext cx="7557025" cy="43632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2422" y="6100763"/>
            <a:ext cx="149111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i="1" dirty="0"/>
              <a:t>Source</a:t>
            </a:r>
            <a:r>
              <a:rPr lang="en-US" sz="800" dirty="0"/>
              <a:t>: www.bajajauto.com.</a:t>
            </a:r>
          </a:p>
        </p:txBody>
      </p:sp>
    </p:spTree>
    <p:extLst>
      <p:ext uri="{BB962C8B-B14F-4D97-AF65-F5344CB8AC3E}">
        <p14:creationId xmlns:p14="http://schemas.microsoft.com/office/powerpoint/2010/main" val="36279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701288" y="-889511"/>
            <a:ext cx="5741425" cy="807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950" y="6103778"/>
            <a:ext cx="99418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err="1"/>
              <a:t>Svend</a:t>
            </a:r>
            <a:r>
              <a:rPr lang="en-US" sz="800" dirty="0"/>
              <a:t> </a:t>
            </a:r>
            <a:r>
              <a:rPr lang="en-US" sz="800" dirty="0" err="1"/>
              <a:t>Hollensen</a:t>
            </a:r>
            <a:r>
              <a:rPr lang="en-US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063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1914</TotalTime>
  <Words>509</Words>
  <Application>Microsoft Office PowerPoint</Application>
  <PresentationFormat>On-screen Show (4:3)</PresentationFormat>
  <Paragraphs>77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MS PGothic</vt:lpstr>
      <vt:lpstr>Arial</vt:lpstr>
      <vt:lpstr>SST-Light</vt:lpstr>
      <vt:lpstr>Times</vt:lpstr>
      <vt:lpstr>Verdana</vt:lpstr>
      <vt:lpstr>3_Default Design</vt:lpstr>
      <vt:lpstr>Global Marketing Ninth Edition</vt:lpstr>
      <vt:lpstr>Figure 8.1 Potential determinants of the company’s choice of foreign markets</vt:lpstr>
      <vt:lpstr>Figure 8.2 International market segmentation</vt:lpstr>
      <vt:lpstr>Figure 8.3 The basis of international market segmentation</vt:lpstr>
      <vt:lpstr>Table 8.1 Criteria included in the overall BERI index</vt:lpstr>
      <vt:lpstr>Table 8.2 Dimensions of market/country attractiveness and competitive strength (MACS)</vt:lpstr>
      <vt:lpstr>Figure 8.4 The market attractiveness/competitive strength (MACS) matrix</vt:lpstr>
      <vt:lpstr>PowerPoint Presentation</vt:lpstr>
      <vt:lpstr>PowerPoint Presentation</vt:lpstr>
      <vt:lpstr>Figure 8.6 Transnational clustering of the Western European market</vt:lpstr>
      <vt:lpstr>Figure 8.7 Micromarket segmentation</vt:lpstr>
      <vt:lpstr>PowerPoint Presentation</vt:lpstr>
      <vt:lpstr>Figure 8.9 International market screening for Bosch Security System: Fire Detection Systems in the Middle East</vt:lpstr>
      <vt:lpstr>Table 8.3 Classification variables in the MACS model</vt:lpstr>
      <vt:lpstr>Table 8.4 Measurement/evaluation of screening variables</vt:lpstr>
      <vt:lpstr>Table 8.4 Measurement/evaluation of screening variables (Continued)</vt:lpstr>
      <vt:lpstr>Figure 8.10 Bosch Fire Detection Systems MACS matrix</vt:lpstr>
      <vt:lpstr>Figure 8.11 The incremental strategy (waterfall approach) and simultaneous strategy (the shower approach)</vt:lpstr>
      <vt:lpstr>Figure 8.12 Sunquick’s worldwide value chain</vt:lpstr>
      <vt:lpstr>Figure 8.13 Change in Sunquick’s market shares over time</vt:lpstr>
      <vt:lpstr>Figure 8.14 The market expansion matrix</vt:lpstr>
      <vt:lpstr>Table 8.5 International market diversification versus market concentration</vt:lpstr>
      <vt:lpstr>PowerPoint Presentation</vt:lpstr>
      <vt:lpstr>Figure 8.15 Location of Bajaj’s international dealers</vt:lpstr>
      <vt:lpstr>PowerPoint Presentation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Qualitative Research Methods in Psychology_5e</dc:title>
  <dc:creator>Howitt</dc:creator>
  <cp:keywords>Economics</cp:keywords>
  <cp:lastModifiedBy>Shakila Rani B</cp:lastModifiedBy>
  <cp:revision>5095</cp:revision>
  <dcterms:created xsi:type="dcterms:W3CDTF">2014-07-14T20:04:21Z</dcterms:created>
  <dcterms:modified xsi:type="dcterms:W3CDTF">2025-08-08T08:03:29Z</dcterms:modified>
</cp:coreProperties>
</file>