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</p:sldMasterIdLst>
  <p:notesMasterIdLst>
    <p:notesMasterId r:id="rId9"/>
  </p:notesMasterIdLst>
  <p:handoutMasterIdLst>
    <p:handoutMasterId r:id="rId10"/>
  </p:handoutMasterIdLst>
  <p:sldIdLst>
    <p:sldId id="677" r:id="rId2"/>
    <p:sldId id="678" r:id="rId3"/>
    <p:sldId id="679" r:id="rId4"/>
    <p:sldId id="680" r:id="rId5"/>
    <p:sldId id="699" r:id="rId6"/>
    <p:sldId id="683" r:id="rId7"/>
    <p:sldId id="684" r:id="rId8"/>
  </p:sldIdLst>
  <p:sldSz cx="9144000" cy="6858000" type="screen4x3"/>
  <p:notesSz cx="6742113" cy="987266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99" userDrawn="1">
          <p15:clr>
            <a:srgbClr val="A4A3A4"/>
          </p15:clr>
        </p15:guide>
        <p15:guide id="2" pos="1995" userDrawn="1">
          <p15:clr>
            <a:srgbClr val="A4A3A4"/>
          </p15:clr>
        </p15:guide>
        <p15:guide id="3" orient="horz" pos="3109" userDrawn="1">
          <p15:clr>
            <a:srgbClr val="A4A3A4"/>
          </p15:clr>
        </p15:guide>
        <p15:guide id="4" pos="212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klopf" initials="pk" lastIdx="1" clrIdx="0"/>
  <p:cmAuthor id="1" name="Puhr, Harald" initials="PH" lastIdx="2" clrIdx="1">
    <p:extLst>
      <p:ext uri="{19B8F6BF-5375-455C-9EA6-DF929625EA0E}">
        <p15:presenceInfo xmlns:p15="http://schemas.microsoft.com/office/powerpoint/2012/main" userId="S-1-5-21-2427019623-1759575026-195824430-193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75A3D1"/>
    <a:srgbClr val="5B9BD5"/>
    <a:srgbClr val="F4DF84"/>
    <a:srgbClr val="8CA9D4"/>
    <a:srgbClr val="E28A8B"/>
    <a:srgbClr val="4D4D4D"/>
    <a:srgbClr val="44546A"/>
    <a:srgbClr val="A6A6A6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76887" autoAdjust="0"/>
  </p:normalViewPr>
  <p:slideViewPr>
    <p:cSldViewPr>
      <p:cViewPr varScale="1">
        <p:scale>
          <a:sx n="124" d="100"/>
          <a:sy n="124" d="100"/>
        </p:scale>
        <p:origin x="3124" y="72"/>
      </p:cViewPr>
      <p:guideLst/>
    </p:cSldViewPr>
  </p:slideViewPr>
  <p:outlineViewPr>
    <p:cViewPr>
      <p:scale>
        <a:sx n="33" d="100"/>
        <a:sy n="33" d="100"/>
      </p:scale>
      <p:origin x="0" y="32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30" d="100"/>
          <a:sy n="130" d="100"/>
        </p:scale>
        <p:origin x="-1242" y="642"/>
      </p:cViewPr>
      <p:guideLst>
        <p:guide orient="horz" pos="2999"/>
        <p:guide pos="1995"/>
        <p:guide orient="horz" pos="3109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3C46A4-8F49-4C70-8638-2E177E3C0B8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B76804FE-AEC9-4A67-87F5-E6414E3E16E6}">
      <dgm:prSet phldrT="[Text]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</a:t>
          </a:r>
        </a:p>
      </dgm:t>
    </dgm:pt>
    <dgm:pt modelId="{993DFBE5-3328-42FF-9707-9C90967F7855}" type="parTrans" cxnId="{B5EA0CD2-CE7B-4C92-8817-C2816E4DAB3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23763D7-1842-4C1D-B4DB-A8EAF58787D6}" type="sibTrans" cxnId="{B5EA0CD2-CE7B-4C92-8817-C2816E4DAB3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B02B95B-92E3-4468-9B95-144E886C28D2}">
      <dgm:prSet phldrT="[Text]" custT="1"/>
      <dgm:spPr>
        <a:noFill/>
        <a:ln w="12700">
          <a:solidFill>
            <a:schemeClr val="tx1">
              <a:alpha val="90000"/>
            </a:schemeClr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Federal, state and local legislation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28A7888-3748-46F0-96ED-C74DA9BF9E7A}" type="parTrans" cxnId="{7C94D605-4CC1-4A99-8A3C-148BDCA73BA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B31EB3F-9F23-49B5-9D21-05216677B41F}" type="sibTrans" cxnId="{7C94D605-4CC1-4A99-8A3C-148BDCA73BA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54A830E-B264-4FCB-94A3-E46F69C82745}">
      <dgm:prSet phldrT="[Text]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en-US" b="1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Economic</a:t>
          </a:r>
        </a:p>
      </dgm:t>
    </dgm:pt>
    <dgm:pt modelId="{6A8B1B2C-5526-4CA1-9ED6-2F7FB56F31AF}" type="parTrans" cxnId="{D83D93E7-3E37-4D64-B75D-D8456325C9F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552C07A-C7CF-4C45-80D8-32899DC3F318}" type="sibTrans" cxnId="{D83D93E7-3E37-4D64-B75D-D8456325C9F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3392EA5-EAA1-466B-AB2D-2BB67420DBAA}">
      <dgm:prSet phldrT="[Text]" custT="1"/>
      <dgm:spPr>
        <a:noFill/>
        <a:ln w="12700">
          <a:solidFill>
            <a:schemeClr val="tx1">
              <a:alpha val="90000"/>
            </a:schemeClr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Total GDP &amp; GDP growth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E29BF76-3811-4E3A-B2BC-C2D1DAFB2355}" type="parTrans" cxnId="{77D95A15-C97F-4B4A-AB84-D8D67869C81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E069AEB-156F-49CE-8DFB-230B165014DF}" type="sibTrans" cxnId="{77D95A15-C97F-4B4A-AB84-D8D67869C81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820D85E-9301-4A23-AD9F-F0FD27B056FE}">
      <dgm:prSet phldrT="[Text]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en-US" b="1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Social</a:t>
          </a:r>
        </a:p>
      </dgm:t>
    </dgm:pt>
    <dgm:pt modelId="{84EED358-E9AE-43CF-896D-60428CD7ED0C}" type="parTrans" cxnId="{E49D4010-F634-4D3C-BCF0-E291C4A9B6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53D1829-61A4-4FBB-9F9F-61C04D8CAE79}" type="sibTrans" cxnId="{E49D4010-F634-4D3C-BCF0-E291C4A9B6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D22372C-5062-48CD-8150-FC351CB8D880}">
      <dgm:prSet phldrT="[Text]" custT="1"/>
      <dgm:spPr>
        <a:noFill/>
        <a:ln w="12700">
          <a:solidFill>
            <a:schemeClr val="tx1">
              <a:alpha val="90000"/>
            </a:schemeClr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Values and attitudes of society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04311C3-28A4-4B9B-9140-FE5965DF8220}" type="parTrans" cxnId="{D313853A-AD9D-4014-A2D4-D21CC41A15D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C559AE4-26E3-49E3-B807-367E09549A13}" type="sibTrans" cxnId="{D313853A-AD9D-4014-A2D4-D21CC41A15D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769165E-ECA0-4EEB-B8D2-43A36FE84097}">
      <dgm:prSet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</a:t>
          </a:r>
        </a:p>
      </dgm:t>
    </dgm:pt>
    <dgm:pt modelId="{1DF7593D-A4CA-4B41-907C-D09FAC8A0A96}" type="parTrans" cxnId="{BA69B8DF-90C9-4FEF-98C0-388369681E3D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8D79024-37AF-40AD-9393-1148DE518B54}" type="sibTrans" cxnId="{BA69B8DF-90C9-4FEF-98C0-388369681E3D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2EBBC64-C668-49EF-B1A6-AD754083CB7D}">
      <dgm:prSet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Environmental</a:t>
          </a:r>
        </a:p>
      </dgm:t>
    </dgm:pt>
    <dgm:pt modelId="{FDF07EDA-5ED7-4441-A47B-E0E8F9747471}" type="parTrans" cxnId="{998FD64B-3986-4F4F-B207-E96BD4DC77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8EA0AA0-8D50-4939-9F15-64A9DB8F556F}" type="sibTrans" cxnId="{998FD64B-3986-4F4F-B207-E96BD4DC77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6378CB1-7430-4E5D-A369-7AF5BD891663}">
      <dgm:prSet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Legal</a:t>
          </a:r>
        </a:p>
      </dgm:t>
    </dgm:pt>
    <dgm:pt modelId="{23358413-DB43-482C-8E87-86BC311398DE}" type="parTrans" cxnId="{45F6BD0D-39E5-4908-8A19-CD2D280E70A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E453B80-68A8-4524-816D-4F7493D27638}" type="sibTrans" cxnId="{45F6BD0D-39E5-4908-8A19-CD2D280E70A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2549418-160E-4DFE-9E7E-64451DEC9C53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ideology of government</a:t>
          </a:r>
        </a:p>
      </dgm:t>
    </dgm:pt>
    <dgm:pt modelId="{BD25A1FE-53FC-49C4-ABA5-8370E571A19F}" type="parTrans" cxnId="{7F6FAA6B-B8D1-4443-A317-9EE8391B933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28D54DD-F437-41BF-8B75-17EDD5091FE0}" type="sibTrans" cxnId="{7F6FAA6B-B8D1-4443-A317-9EE8391B933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C4D2E99-0275-4771-9664-7767C77495E2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attitudes toward the industry</a:t>
          </a:r>
        </a:p>
      </dgm:t>
    </dgm:pt>
    <dgm:pt modelId="{02852F38-6687-48EF-8C65-AFCE5E4CE304}" type="parTrans" cxnId="{3BB84AAD-3918-48AC-A79C-81726F0D42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D474518-6505-449A-A97C-FD75E2594E75}" type="sibTrans" cxnId="{3BB84AAD-3918-48AC-A79C-81726F0D42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F30CC8E-ED56-40E7-B188-324584D42055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Propensity to consume</a:t>
          </a:r>
        </a:p>
      </dgm:t>
    </dgm:pt>
    <dgm:pt modelId="{39B14C7F-69E0-4639-82BB-E8B1DE123E5A}" type="parTrans" cxnId="{33335530-4895-4B3B-950F-E3DCCEF5D37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0CB26B9-5706-4C17-BF01-E3F82C84BD58}" type="sibTrans" cxnId="{33335530-4895-4B3B-950F-E3DCCEF5D37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63AF613A-16FD-4775-AE6E-584C84D7A818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Interest &amp; exchange rates</a:t>
          </a:r>
        </a:p>
      </dgm:t>
    </dgm:pt>
    <dgm:pt modelId="{F3697EBB-C388-4E87-92B6-D07FBB69DBB7}" type="parTrans" cxnId="{94F895CC-DED4-4BA4-91C2-761C7B142DF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8ACBAAB-7140-4CA0-B8EB-4AC60F617335}" type="sibTrans" cxnId="{94F895CC-DED4-4BA4-91C2-761C7B142DF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0CE0C3D-77B5-46B8-894A-C8573DBF908D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Taxation</a:t>
          </a:r>
        </a:p>
      </dgm:t>
    </dgm:pt>
    <dgm:pt modelId="{B063EEBA-2125-4270-A023-E950AC42EE01}" type="parTrans" cxnId="{B259CE03-62E8-480C-AE75-AFC48C8BA8BE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5295F15-20EB-41F1-8261-F80F2958D313}" type="sibTrans" cxnId="{B259CE03-62E8-480C-AE75-AFC48C8BA8BE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A748F03-7B92-4720-AD29-EED725CEC7D3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International economic trends</a:t>
          </a:r>
        </a:p>
      </dgm:t>
    </dgm:pt>
    <dgm:pt modelId="{EC761C3A-DD1C-4988-B6B0-5EFEB9CB4695}" type="parTrans" cxnId="{D6791281-7D42-499C-9E7B-D1DBAD8844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111EB0B-A442-444B-9EBB-1C3276AFFDFE}" type="sibTrans" cxnId="{D6791281-7D42-499C-9E7B-D1DBAD8844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A896C2C5-AD33-46A3-A70B-C0A182632D18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Life styles of population mix</a:t>
          </a:r>
        </a:p>
      </dgm:t>
    </dgm:pt>
    <dgm:pt modelId="{1B0F6F5A-C042-450C-A2F4-BEA83841C059}" type="parTrans" cxnId="{C9545485-75E8-4AED-BAF4-000027AC20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69C1492-9975-435B-B98F-812F12500249}" type="sibTrans" cxnId="{C9545485-75E8-4AED-BAF4-000027AC20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8B96B9D-D0AE-4254-B28C-9582A3948A47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Work ethic</a:t>
          </a:r>
        </a:p>
      </dgm:t>
    </dgm:pt>
    <dgm:pt modelId="{25690D88-FCEA-46A4-A139-7EB94C62F53A}" type="parTrans" cxnId="{89789DB7-53F7-4860-8B33-2233652DB9B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BECDEF2-0BB3-41C6-8BF3-8D380230D30B}" type="sibTrans" cxnId="{89789DB7-53F7-4860-8B33-2233652DB9B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B367DC7-527F-4155-90A5-24588D2424B8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Demographics</a:t>
          </a:r>
        </a:p>
      </dgm:t>
    </dgm:pt>
    <dgm:pt modelId="{A07C6E94-882D-4B7F-943A-C876232C6ED0}" type="parTrans" cxnId="{D2CF54EE-9915-490B-9CAE-05C6943997B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57A95A2-10A7-497C-BBCF-D1482BF96BDC}" type="sibTrans" cxnId="{D2CF54EE-9915-490B-9CAE-05C6943997B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1E9AC17-F6ED-4699-AA91-5945C7297C42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Attitudes toward the industry</a:t>
          </a:r>
        </a:p>
      </dgm:t>
    </dgm:pt>
    <dgm:pt modelId="{A158CF76-45D3-4F69-81BD-FD9434ED39A9}" type="parTrans" cxnId="{A20DDBBA-2E89-4122-B53F-5366551E1D0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0F13F8C-A95A-4AD6-8927-B51864D104E8}" type="sibTrans" cxnId="{A20DDBBA-2E89-4122-B53F-5366551E1D0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D6798BB-0607-4736-AEBD-70E712F80B91}">
      <dgm:prSet custT="1"/>
      <dgm:spPr>
        <a:noFill/>
        <a:ln w="12700">
          <a:solidFill>
            <a:schemeClr val="tx1"/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Scientific discoveries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C4896E8-8EFD-4CFB-A1DA-40A8A11E540D}" type="parTrans" cxnId="{A965FCF2-9CFA-4F31-97B1-CFE459CFF8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05940EC-0912-49B5-B901-73D8D7D579BB}" type="sibTrans" cxnId="{A965FCF2-9CFA-4F31-97B1-CFE459CFF8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A27F9E9E-EF3C-4166-9246-0F46F4F5EA2A}">
      <dgm:prSet custT="1"/>
      <dgm:spPr>
        <a:noFill/>
        <a:ln w="12700">
          <a:solidFill>
            <a:schemeClr val="tx1"/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 developments in focal and substitute industries</a:t>
          </a:r>
        </a:p>
      </dgm:t>
    </dgm:pt>
    <dgm:pt modelId="{A436165E-E634-455D-A906-E2F830407E10}" type="parTrans" cxnId="{F2DFF34C-D0D0-4331-9F54-A375FC18BAB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C8FA988-EE5D-4E86-96B3-872A18B5983B}" type="sibTrans" cxnId="{F2DFF34C-D0D0-4331-9F54-A375FC18BAB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703CA22-6DE3-4B69-8306-D042CFC7B0D5}">
      <dgm:prSet custT="1"/>
      <dgm:spPr>
        <a:noFill/>
        <a:ln w="12700">
          <a:solidFill>
            <a:schemeClr val="tx1"/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Catching up in R&amp;D capabilities</a:t>
          </a:r>
        </a:p>
      </dgm:t>
    </dgm:pt>
    <dgm:pt modelId="{1E8E5BF4-CDE4-416C-A918-3233FE75EA3B}" type="parTrans" cxnId="{8C47B86D-B541-4F29-A9C9-64F65E3675AA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6E41B7E-E018-4F14-8C12-4BF6907BA4AB}" type="sibTrans" cxnId="{8C47B86D-B541-4F29-A9C9-64F65E3675AA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A7EC09BC-884A-41B9-87B2-A10C90921177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Consumer laws</a:t>
          </a:r>
        </a:p>
      </dgm:t>
    </dgm:pt>
    <dgm:pt modelId="{E1B2808F-E21D-42BB-B99D-AFD29FFCD695}" type="parTrans" cxnId="{72B4E63A-3E70-4FC0-9C25-D168BC7443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C88C43A-8CD5-46C9-89C6-34F5361EAD8C}" type="sibTrans" cxnId="{72B4E63A-3E70-4FC0-9C25-D168BC7443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9ADC9A3-97A2-4D8D-81E3-A0B5B4389DAA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Labor laws</a:t>
          </a:r>
        </a:p>
      </dgm:t>
    </dgm:pt>
    <dgm:pt modelId="{9839F5B6-67AD-49A7-ACC4-737C163665DE}" type="parTrans" cxnId="{7F82E0CF-AC1A-4295-8CBF-7B93930106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ECED7DE-5F36-40D3-93EE-2BAF23B8DFAD}" type="sibTrans" cxnId="{7F82E0CF-AC1A-4295-8CBF-7B93930106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D167CCF2-8BF5-4D5D-A319-2F136A4718A6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Health and safety standards</a:t>
          </a:r>
        </a:p>
      </dgm:t>
    </dgm:pt>
    <dgm:pt modelId="{B6837CA6-99F3-4881-B9AD-141E36573A5E}" type="parTrans" cxnId="{DA3CFA85-AE82-4FF3-9FE2-3C3828590AE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65D4B4DA-AA9C-484C-8E79-CEFDE89BABA8}" type="sibTrans" cxnId="{DA3CFA85-AE82-4FF3-9FE2-3C3828590AE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3E96DF9-9CC7-4F6C-B5DE-85A7ED9FB541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Geographical location</a:t>
          </a:r>
        </a:p>
      </dgm:t>
    </dgm:pt>
    <dgm:pt modelId="{0CFEDDF1-72B4-4C80-93AE-92B4542FC914}" type="parTrans" cxnId="{D4EE8DF4-D6AA-4295-A81B-55C43DCA9A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DAD2BCD-D211-4BB2-915D-81B5C4C98CD3}" type="sibTrans" cxnId="{D4EE8DF4-D6AA-4295-A81B-55C43DCA9A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1D1AB88-0481-42BB-87CD-BF5612FCE800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Climate change</a:t>
          </a:r>
        </a:p>
      </dgm:t>
    </dgm:pt>
    <dgm:pt modelId="{45C83E64-D4E1-4BDA-B31E-E16ABC1B9829}" type="parTrans" cxnId="{620BDE25-288A-4CCD-A243-839B020306F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B8D836D-C666-4247-84E8-7E812DA0F74C}" type="sibTrans" cxnId="{620BDE25-288A-4CCD-A243-839B020306F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A21CEA1-CEC2-45DF-8391-A9CE1CD3FF51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Raw materials</a:t>
          </a:r>
        </a:p>
      </dgm:t>
    </dgm:pt>
    <dgm:pt modelId="{E2C4D629-EA3D-43A3-8FCC-FB505453842A}" type="parTrans" cxnId="{F9355631-C8B0-46B7-AAC5-EFB8DCEF42D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FB6886E-CF58-46D0-AF28-5967C22A462E}" type="sibTrans" cxnId="{F9355631-C8B0-46B7-AAC5-EFB8DCEF42D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6BC4088-B327-4BAB-807C-765E1B650E98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Copyright and patent laws</a:t>
          </a:r>
        </a:p>
      </dgm:t>
    </dgm:pt>
    <dgm:pt modelId="{C843E2D5-2B1B-4D91-962E-6C6E1A443444}" type="parTrans" cxnId="{6260B2D8-1E2C-4377-83EF-28630F874C6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CB885C4-243F-4191-B052-01B12FFF7D77}" type="sibTrans" cxnId="{6260B2D8-1E2C-4377-83EF-28630F874C6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8CA53DA-B7D8-4D15-BFD6-3D0EB67A4CD0}" type="pres">
      <dgm:prSet presAssocID="{BD3C46A4-8F49-4C70-8638-2E177E3C0B8A}" presName="Name0" presStyleCnt="0">
        <dgm:presLayoutVars>
          <dgm:dir/>
          <dgm:animLvl val="lvl"/>
          <dgm:resizeHandles val="exact"/>
        </dgm:presLayoutVars>
      </dgm:prSet>
      <dgm:spPr/>
    </dgm:pt>
    <dgm:pt modelId="{352BC6D9-6350-4E3B-AF82-4F22CD5F1542}" type="pres">
      <dgm:prSet presAssocID="{B76804FE-AEC9-4A67-87F5-E6414E3E16E6}" presName="composite" presStyleCnt="0"/>
      <dgm:spPr/>
    </dgm:pt>
    <dgm:pt modelId="{AE23FDA5-02BC-4426-95BA-B14BE475AFE3}" type="pres">
      <dgm:prSet presAssocID="{B76804FE-AEC9-4A67-87F5-E6414E3E16E6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8068C82F-086E-4EB9-8A72-CF586A1DF1FD}" type="pres">
      <dgm:prSet presAssocID="{B76804FE-AEC9-4A67-87F5-E6414E3E16E6}" presName="desTx" presStyleLbl="alignAccFollowNode1" presStyleIdx="0" presStyleCnt="6">
        <dgm:presLayoutVars>
          <dgm:bulletEnabled val="1"/>
        </dgm:presLayoutVars>
      </dgm:prSet>
      <dgm:spPr/>
    </dgm:pt>
    <dgm:pt modelId="{9432ECB5-ED05-4F39-B1E7-50E30E29A2E7}" type="pres">
      <dgm:prSet presAssocID="{323763D7-1842-4C1D-B4DB-A8EAF58787D6}" presName="space" presStyleCnt="0"/>
      <dgm:spPr/>
    </dgm:pt>
    <dgm:pt modelId="{1381AB73-C702-4984-A88A-8A3C8DDDD0B1}" type="pres">
      <dgm:prSet presAssocID="{754A830E-B264-4FCB-94A3-E46F69C82745}" presName="composite" presStyleCnt="0"/>
      <dgm:spPr/>
    </dgm:pt>
    <dgm:pt modelId="{D6043009-49C3-4900-9BFD-7FAC0ED4EADC}" type="pres">
      <dgm:prSet presAssocID="{754A830E-B264-4FCB-94A3-E46F69C82745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2386F963-F7DC-4818-BF78-7A9B920A5ED3}" type="pres">
      <dgm:prSet presAssocID="{754A830E-B264-4FCB-94A3-E46F69C82745}" presName="desTx" presStyleLbl="alignAccFollowNode1" presStyleIdx="1" presStyleCnt="6">
        <dgm:presLayoutVars>
          <dgm:bulletEnabled val="1"/>
        </dgm:presLayoutVars>
      </dgm:prSet>
      <dgm:spPr/>
    </dgm:pt>
    <dgm:pt modelId="{0B7DC3B3-55F0-4A14-864C-1940539CA393}" type="pres">
      <dgm:prSet presAssocID="{0552C07A-C7CF-4C45-80D8-32899DC3F318}" presName="space" presStyleCnt="0"/>
      <dgm:spPr/>
    </dgm:pt>
    <dgm:pt modelId="{8D360B97-A204-4181-A0FE-59C5F50C9D15}" type="pres">
      <dgm:prSet presAssocID="{F820D85E-9301-4A23-AD9F-F0FD27B056FE}" presName="composite" presStyleCnt="0"/>
      <dgm:spPr/>
    </dgm:pt>
    <dgm:pt modelId="{F551F810-A141-471B-81F3-7448F6322E52}" type="pres">
      <dgm:prSet presAssocID="{F820D85E-9301-4A23-AD9F-F0FD27B056FE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42962EBA-4AA9-4CF9-8A9E-92A5F5634BDB}" type="pres">
      <dgm:prSet presAssocID="{F820D85E-9301-4A23-AD9F-F0FD27B056FE}" presName="desTx" presStyleLbl="alignAccFollowNode1" presStyleIdx="2" presStyleCnt="6">
        <dgm:presLayoutVars>
          <dgm:bulletEnabled val="1"/>
        </dgm:presLayoutVars>
      </dgm:prSet>
      <dgm:spPr/>
    </dgm:pt>
    <dgm:pt modelId="{31B129B3-85C0-435F-9CBC-4FB3BD89C01A}" type="pres">
      <dgm:prSet presAssocID="{053D1829-61A4-4FBB-9F9F-61C04D8CAE79}" presName="space" presStyleCnt="0"/>
      <dgm:spPr/>
    </dgm:pt>
    <dgm:pt modelId="{43105A75-4BDF-4757-8560-39593D1B103D}" type="pres">
      <dgm:prSet presAssocID="{B769165E-ECA0-4EEB-B8D2-43A36FE84097}" presName="composite" presStyleCnt="0"/>
      <dgm:spPr/>
    </dgm:pt>
    <dgm:pt modelId="{011464C4-1BA8-4802-BE58-3579D51BC7EA}" type="pres">
      <dgm:prSet presAssocID="{B769165E-ECA0-4EEB-B8D2-43A36FE84097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CDA36B6D-0408-4B83-838C-133369333A0F}" type="pres">
      <dgm:prSet presAssocID="{B769165E-ECA0-4EEB-B8D2-43A36FE84097}" presName="desTx" presStyleLbl="alignAccFollowNode1" presStyleIdx="3" presStyleCnt="6">
        <dgm:presLayoutVars>
          <dgm:bulletEnabled val="1"/>
        </dgm:presLayoutVars>
      </dgm:prSet>
      <dgm:spPr/>
    </dgm:pt>
    <dgm:pt modelId="{78FAC7A0-0FD3-48B8-9041-62400F5393FD}" type="pres">
      <dgm:prSet presAssocID="{38D79024-37AF-40AD-9393-1148DE518B54}" presName="space" presStyleCnt="0"/>
      <dgm:spPr/>
    </dgm:pt>
    <dgm:pt modelId="{ACCDE721-C96E-4C1F-B9B5-490DE64F5A0D}" type="pres">
      <dgm:prSet presAssocID="{B2EBBC64-C668-49EF-B1A6-AD754083CB7D}" presName="composite" presStyleCnt="0"/>
      <dgm:spPr/>
    </dgm:pt>
    <dgm:pt modelId="{2C7E9539-5B11-4B03-8605-FF39FB3AB557}" type="pres">
      <dgm:prSet presAssocID="{B2EBBC64-C668-49EF-B1A6-AD754083CB7D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93AD6C02-C570-4B98-A114-BD91353A70E2}" type="pres">
      <dgm:prSet presAssocID="{B2EBBC64-C668-49EF-B1A6-AD754083CB7D}" presName="desTx" presStyleLbl="alignAccFollowNode1" presStyleIdx="4" presStyleCnt="6">
        <dgm:presLayoutVars>
          <dgm:bulletEnabled val="1"/>
        </dgm:presLayoutVars>
      </dgm:prSet>
      <dgm:spPr>
        <a:noFill/>
        <a:ln w="12700">
          <a:solidFill>
            <a:schemeClr val="tx1">
              <a:alpha val="90000"/>
            </a:schemeClr>
          </a:solidFill>
        </a:ln>
      </dgm:spPr>
    </dgm:pt>
    <dgm:pt modelId="{F357AD83-F30D-489C-9380-BA8AB3141010}" type="pres">
      <dgm:prSet presAssocID="{08EA0AA0-8D50-4939-9F15-64A9DB8F556F}" presName="space" presStyleCnt="0"/>
      <dgm:spPr/>
    </dgm:pt>
    <dgm:pt modelId="{992B0C11-76AA-4831-9C0F-412BFBA5B897}" type="pres">
      <dgm:prSet presAssocID="{06378CB1-7430-4E5D-A369-7AF5BD891663}" presName="composite" presStyleCnt="0"/>
      <dgm:spPr/>
    </dgm:pt>
    <dgm:pt modelId="{18DFD1E4-D1A6-456B-94A8-8D3835CA639E}" type="pres">
      <dgm:prSet presAssocID="{06378CB1-7430-4E5D-A369-7AF5BD891663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C3B5A14A-E3BD-4ACA-85F8-CA68E495C3A9}" type="pres">
      <dgm:prSet presAssocID="{06378CB1-7430-4E5D-A369-7AF5BD891663}" presName="desTx" presStyleLbl="alignAccFollowNode1" presStyleIdx="5" presStyleCnt="6">
        <dgm:presLayoutVars>
          <dgm:bulletEnabled val="1"/>
        </dgm:presLayoutVars>
      </dgm:prSet>
      <dgm:spPr>
        <a:noFill/>
        <a:ln w="12700">
          <a:solidFill>
            <a:schemeClr val="tx1">
              <a:alpha val="90000"/>
            </a:schemeClr>
          </a:solidFill>
        </a:ln>
      </dgm:spPr>
    </dgm:pt>
  </dgm:ptLst>
  <dgm:cxnLst>
    <dgm:cxn modelId="{61FD0B03-0F16-4E6E-8575-996F1939D2CF}" type="presOf" srcId="{1D22372C-5062-48CD-8150-FC351CB8D880}" destId="{42962EBA-4AA9-4CF9-8A9E-92A5F5634BDB}" srcOrd="0" destOrd="0" presId="urn:microsoft.com/office/officeart/2005/8/layout/hList1"/>
    <dgm:cxn modelId="{B259CE03-62E8-480C-AE75-AFC48C8BA8BE}" srcId="{754A830E-B264-4FCB-94A3-E46F69C82745}" destId="{40CE0C3D-77B5-46B8-894A-C8573DBF908D}" srcOrd="3" destOrd="0" parTransId="{B063EEBA-2125-4270-A023-E950AC42EE01}" sibTransId="{55295F15-20EB-41F1-8261-F80F2958D313}"/>
    <dgm:cxn modelId="{BF719D04-5C3D-4999-AA27-1FE37705910B}" type="presOf" srcId="{23E96DF9-9CC7-4F6C-B5DE-85A7ED9FB541}" destId="{93AD6C02-C570-4B98-A114-BD91353A70E2}" srcOrd="0" destOrd="0" presId="urn:microsoft.com/office/officeart/2005/8/layout/hList1"/>
    <dgm:cxn modelId="{7C94D605-4CC1-4A99-8A3C-148BDCA73BA4}" srcId="{B76804FE-AEC9-4A67-87F5-E6414E3E16E6}" destId="{EB02B95B-92E3-4468-9B95-144E886C28D2}" srcOrd="0" destOrd="0" parTransId="{428A7888-3748-46F0-96ED-C74DA9BF9E7A}" sibTransId="{5B31EB3F-9F23-49B5-9D21-05216677B41F}"/>
    <dgm:cxn modelId="{45F6BD0D-39E5-4908-8A19-CD2D280E70A5}" srcId="{BD3C46A4-8F49-4C70-8638-2E177E3C0B8A}" destId="{06378CB1-7430-4E5D-A369-7AF5BD891663}" srcOrd="5" destOrd="0" parTransId="{23358413-DB43-482C-8E87-86BC311398DE}" sibTransId="{BE453B80-68A8-4524-816D-4F7493D27638}"/>
    <dgm:cxn modelId="{E49D4010-F634-4D3C-BCF0-E291C4A9B6C1}" srcId="{BD3C46A4-8F49-4C70-8638-2E177E3C0B8A}" destId="{F820D85E-9301-4A23-AD9F-F0FD27B056FE}" srcOrd="2" destOrd="0" parTransId="{84EED358-E9AE-43CF-896D-60428CD7ED0C}" sibTransId="{053D1829-61A4-4FBB-9F9F-61C04D8CAE79}"/>
    <dgm:cxn modelId="{77D95A15-C97F-4B4A-AB84-D8D67869C812}" srcId="{754A830E-B264-4FCB-94A3-E46F69C82745}" destId="{13392EA5-EAA1-466B-AB2D-2BB67420DBAA}" srcOrd="0" destOrd="0" parTransId="{3E29BF76-3811-4E3A-B2BC-C2D1DAFB2355}" sibTransId="{3E069AEB-156F-49CE-8DFB-230B165014DF}"/>
    <dgm:cxn modelId="{024BAA1E-8EE7-4655-AF07-54970D4AB341}" type="presOf" srcId="{63AF613A-16FD-4775-AE6E-584C84D7A818}" destId="{2386F963-F7DC-4818-BF78-7A9B920A5ED3}" srcOrd="0" destOrd="2" presId="urn:microsoft.com/office/officeart/2005/8/layout/hList1"/>
    <dgm:cxn modelId="{620BDE25-288A-4CCD-A243-839B020306F0}" srcId="{B2EBBC64-C668-49EF-B1A6-AD754083CB7D}" destId="{31D1AB88-0481-42BB-87CD-BF5612FCE800}" srcOrd="1" destOrd="0" parTransId="{45C83E64-D4E1-4BDA-B31E-E16ABC1B9829}" sibTransId="{4B8D836D-C666-4247-84E8-7E812DA0F74C}"/>
    <dgm:cxn modelId="{33335530-4895-4B3B-950F-E3DCCEF5D37F}" srcId="{754A830E-B264-4FCB-94A3-E46F69C82745}" destId="{3F30CC8E-ED56-40E7-B188-324584D42055}" srcOrd="1" destOrd="0" parTransId="{39B14C7F-69E0-4639-82BB-E8B1DE123E5A}" sibTransId="{90CB26B9-5706-4C17-BF01-E3F82C84BD58}"/>
    <dgm:cxn modelId="{F9355631-C8B0-46B7-AAC5-EFB8DCEF42D8}" srcId="{B2EBBC64-C668-49EF-B1A6-AD754083CB7D}" destId="{5A21CEA1-CEC2-45DF-8391-A9CE1CD3FF51}" srcOrd="2" destOrd="0" parTransId="{E2C4D629-EA3D-43A3-8FCC-FB505453842A}" sibTransId="{CFB6886E-CF58-46D0-AF28-5967C22A462E}"/>
    <dgm:cxn modelId="{308AD036-6D9D-4144-B896-EA729E4F0737}" type="presOf" srcId="{BD3C46A4-8F49-4C70-8638-2E177E3C0B8A}" destId="{B8CA53DA-B7D8-4D15-BFD6-3D0EB67A4CD0}" srcOrd="0" destOrd="0" presId="urn:microsoft.com/office/officeart/2005/8/layout/hList1"/>
    <dgm:cxn modelId="{345EC238-D870-4F93-B4CC-17C942B7D919}" type="presOf" srcId="{76BC4088-B327-4BAB-807C-765E1B650E98}" destId="{C3B5A14A-E3BD-4ACA-85F8-CA68E495C3A9}" srcOrd="0" destOrd="3" presId="urn:microsoft.com/office/officeart/2005/8/layout/hList1"/>
    <dgm:cxn modelId="{D313853A-AD9D-4014-A2D4-D21CC41A15DC}" srcId="{F820D85E-9301-4A23-AD9F-F0FD27B056FE}" destId="{1D22372C-5062-48CD-8150-FC351CB8D880}" srcOrd="0" destOrd="0" parTransId="{504311C3-28A4-4B9B-9140-FE5965DF8220}" sibTransId="{FC559AE4-26E3-49E3-B807-367E09549A13}"/>
    <dgm:cxn modelId="{72B4E63A-3E70-4FC0-9C25-D168BC744362}" srcId="{06378CB1-7430-4E5D-A369-7AF5BD891663}" destId="{A7EC09BC-884A-41B9-87B2-A10C90921177}" srcOrd="0" destOrd="0" parTransId="{E1B2808F-E21D-42BB-B99D-AFD29FFCD695}" sibTransId="{1C88C43A-8CD5-46C9-89C6-34F5361EAD8C}"/>
    <dgm:cxn modelId="{03F92A5C-295E-4F20-BA67-52815516E6C4}" type="presOf" srcId="{EB02B95B-92E3-4468-9B95-144E886C28D2}" destId="{8068C82F-086E-4EB9-8A72-CF586A1DF1FD}" srcOrd="0" destOrd="0" presId="urn:microsoft.com/office/officeart/2005/8/layout/hList1"/>
    <dgm:cxn modelId="{79042E45-DC99-45E6-BB38-8C1A1CABE046}" type="presOf" srcId="{E9ADC9A3-97A2-4D8D-81E3-A0B5B4389DAA}" destId="{C3B5A14A-E3BD-4ACA-85F8-CA68E495C3A9}" srcOrd="0" destOrd="1" presId="urn:microsoft.com/office/officeart/2005/8/layout/hList1"/>
    <dgm:cxn modelId="{BDDD5965-0E31-46F1-8DC9-14B99DDD21A2}" type="presOf" srcId="{D167CCF2-8BF5-4D5D-A319-2F136A4718A6}" destId="{C3B5A14A-E3BD-4ACA-85F8-CA68E495C3A9}" srcOrd="0" destOrd="2" presId="urn:microsoft.com/office/officeart/2005/8/layout/hList1"/>
    <dgm:cxn modelId="{3FBD394B-9BC5-4271-8B83-A2F1E31D0F7D}" type="presOf" srcId="{A896C2C5-AD33-46A3-A70B-C0A182632D18}" destId="{42962EBA-4AA9-4CF9-8A9E-92A5F5634BDB}" srcOrd="0" destOrd="1" presId="urn:microsoft.com/office/officeart/2005/8/layout/hList1"/>
    <dgm:cxn modelId="{7F6FAA6B-B8D1-4443-A317-9EE8391B9338}" srcId="{B76804FE-AEC9-4A67-87F5-E6414E3E16E6}" destId="{32549418-160E-4DFE-9E7E-64451DEC9C53}" srcOrd="1" destOrd="0" parTransId="{BD25A1FE-53FC-49C4-ABA5-8370E571A19F}" sibTransId="{428D54DD-F437-41BF-8B75-17EDD5091FE0}"/>
    <dgm:cxn modelId="{998FD64B-3986-4F4F-B207-E96BD4DC77DF}" srcId="{BD3C46A4-8F49-4C70-8638-2E177E3C0B8A}" destId="{B2EBBC64-C668-49EF-B1A6-AD754083CB7D}" srcOrd="4" destOrd="0" parTransId="{FDF07EDA-5ED7-4441-A47B-E0E8F9747471}" sibTransId="{08EA0AA0-8D50-4939-9F15-64A9DB8F556F}"/>
    <dgm:cxn modelId="{F2DFF34C-D0D0-4331-9F54-A375FC18BAB4}" srcId="{B769165E-ECA0-4EEB-B8D2-43A36FE84097}" destId="{A27F9E9E-EF3C-4166-9246-0F46F4F5EA2A}" srcOrd="1" destOrd="0" parTransId="{A436165E-E634-455D-A906-E2F830407E10}" sibTransId="{BC8FA988-EE5D-4E86-96B3-872A18B5983B}"/>
    <dgm:cxn modelId="{8C47B86D-B541-4F29-A9C9-64F65E3675AA}" srcId="{B769165E-ECA0-4EEB-B8D2-43A36FE84097}" destId="{C703CA22-6DE3-4B69-8306-D042CFC7B0D5}" srcOrd="2" destOrd="0" parTransId="{1E8E5BF4-CDE4-416C-A918-3233FE75EA3B}" sibTransId="{F6E41B7E-E018-4F14-8C12-4BF6907BA4AB}"/>
    <dgm:cxn modelId="{2182AE6E-DC97-49D1-AF4C-F6DE34854B67}" type="presOf" srcId="{3F30CC8E-ED56-40E7-B188-324584D42055}" destId="{2386F963-F7DC-4818-BF78-7A9B920A5ED3}" srcOrd="0" destOrd="1" presId="urn:microsoft.com/office/officeart/2005/8/layout/hList1"/>
    <dgm:cxn modelId="{FAF46773-4D31-4301-BE82-E872FDBDB471}" type="presOf" srcId="{06378CB1-7430-4E5D-A369-7AF5BD891663}" destId="{18DFD1E4-D1A6-456B-94A8-8D3835CA639E}" srcOrd="0" destOrd="0" presId="urn:microsoft.com/office/officeart/2005/8/layout/hList1"/>
    <dgm:cxn modelId="{37D6BA78-B19E-442A-9E62-D53871493EAD}" type="presOf" srcId="{C703CA22-6DE3-4B69-8306-D042CFC7B0D5}" destId="{CDA36B6D-0408-4B83-838C-133369333A0F}" srcOrd="0" destOrd="2" presId="urn:microsoft.com/office/officeart/2005/8/layout/hList1"/>
    <dgm:cxn modelId="{52C20479-4A41-4963-8A48-4E849D2902DF}" type="presOf" srcId="{A7EC09BC-884A-41B9-87B2-A10C90921177}" destId="{C3B5A14A-E3BD-4ACA-85F8-CA68E495C3A9}" srcOrd="0" destOrd="0" presId="urn:microsoft.com/office/officeart/2005/8/layout/hList1"/>
    <dgm:cxn modelId="{05546D59-9968-4702-9D94-0C931D7BF321}" type="presOf" srcId="{B1E9AC17-F6ED-4699-AA91-5945C7297C42}" destId="{42962EBA-4AA9-4CF9-8A9E-92A5F5634BDB}" srcOrd="0" destOrd="4" presId="urn:microsoft.com/office/officeart/2005/8/layout/hList1"/>
    <dgm:cxn modelId="{E9D3AC5A-3B00-4AC9-84C5-08BDD2A9DC5B}" type="presOf" srcId="{C8B96B9D-D0AE-4254-B28C-9582A3948A47}" destId="{42962EBA-4AA9-4CF9-8A9E-92A5F5634BDB}" srcOrd="0" destOrd="2" presId="urn:microsoft.com/office/officeart/2005/8/layout/hList1"/>
    <dgm:cxn modelId="{047C857B-10B7-4593-A57D-3725CFD4CC92}" type="presOf" srcId="{40CE0C3D-77B5-46B8-894A-C8573DBF908D}" destId="{2386F963-F7DC-4818-BF78-7A9B920A5ED3}" srcOrd="0" destOrd="3" presId="urn:microsoft.com/office/officeart/2005/8/layout/hList1"/>
    <dgm:cxn modelId="{D6791281-7D42-499C-9E7B-D1DBAD884440}" srcId="{754A830E-B264-4FCB-94A3-E46F69C82745}" destId="{7A748F03-7B92-4720-AD29-EED725CEC7D3}" srcOrd="4" destOrd="0" parTransId="{EC761C3A-DD1C-4988-B6B0-5EFEB9CB4695}" sibTransId="{3111EB0B-A442-444B-9EBB-1C3276AFFDFE}"/>
    <dgm:cxn modelId="{C9545485-75E8-4AED-BAF4-000027AC2040}" srcId="{F820D85E-9301-4A23-AD9F-F0FD27B056FE}" destId="{A896C2C5-AD33-46A3-A70B-C0A182632D18}" srcOrd="1" destOrd="0" parTransId="{1B0F6F5A-C042-450C-A2F4-BEA83841C059}" sibTransId="{169C1492-9975-435B-B98F-812F12500249}"/>
    <dgm:cxn modelId="{DA3CFA85-AE82-4FF3-9FE2-3C3828590AE0}" srcId="{06378CB1-7430-4E5D-A369-7AF5BD891663}" destId="{D167CCF2-8BF5-4D5D-A319-2F136A4718A6}" srcOrd="2" destOrd="0" parTransId="{B6837CA6-99F3-4881-B9AD-141E36573A5E}" sibTransId="{65D4B4DA-AA9C-484C-8E79-CEFDE89BABA8}"/>
    <dgm:cxn modelId="{A9E18B8B-3A14-4725-ADE6-5487237DBAAE}" type="presOf" srcId="{7C4D2E99-0275-4771-9664-7767C77495E2}" destId="{8068C82F-086E-4EB9-8A72-CF586A1DF1FD}" srcOrd="0" destOrd="2" presId="urn:microsoft.com/office/officeart/2005/8/layout/hList1"/>
    <dgm:cxn modelId="{39A5AE8C-5739-43A3-8A62-B8F369950456}" type="presOf" srcId="{9D6798BB-0607-4736-AEBD-70E712F80B91}" destId="{CDA36B6D-0408-4B83-838C-133369333A0F}" srcOrd="0" destOrd="0" presId="urn:microsoft.com/office/officeart/2005/8/layout/hList1"/>
    <dgm:cxn modelId="{91817890-4472-4D35-8887-77DF78FD3949}" type="presOf" srcId="{B769165E-ECA0-4EEB-B8D2-43A36FE84097}" destId="{011464C4-1BA8-4802-BE58-3579D51BC7EA}" srcOrd="0" destOrd="0" presId="urn:microsoft.com/office/officeart/2005/8/layout/hList1"/>
    <dgm:cxn modelId="{11A2E0A2-B974-496F-81C3-EC626A8F0FE1}" type="presOf" srcId="{7A748F03-7B92-4720-AD29-EED725CEC7D3}" destId="{2386F963-F7DC-4818-BF78-7A9B920A5ED3}" srcOrd="0" destOrd="4" presId="urn:microsoft.com/office/officeart/2005/8/layout/hList1"/>
    <dgm:cxn modelId="{EC2AFEA5-7FF8-411B-8F44-68511D01F268}" type="presOf" srcId="{754A830E-B264-4FCB-94A3-E46F69C82745}" destId="{D6043009-49C3-4900-9BFD-7FAC0ED4EADC}" srcOrd="0" destOrd="0" presId="urn:microsoft.com/office/officeart/2005/8/layout/hList1"/>
    <dgm:cxn modelId="{3BB84AAD-3918-48AC-A79C-81726F0D42C1}" srcId="{B76804FE-AEC9-4A67-87F5-E6414E3E16E6}" destId="{7C4D2E99-0275-4771-9664-7767C77495E2}" srcOrd="2" destOrd="0" parTransId="{02852F38-6687-48EF-8C65-AFCE5E4CE304}" sibTransId="{7D474518-6505-449A-A97C-FD75E2594E75}"/>
    <dgm:cxn modelId="{7582F2B1-6528-4C96-B5EC-7CEF5287203B}" type="presOf" srcId="{B2EBBC64-C668-49EF-B1A6-AD754083CB7D}" destId="{2C7E9539-5B11-4B03-8605-FF39FB3AB557}" srcOrd="0" destOrd="0" presId="urn:microsoft.com/office/officeart/2005/8/layout/hList1"/>
    <dgm:cxn modelId="{89789DB7-53F7-4860-8B33-2233652DB9B6}" srcId="{F820D85E-9301-4A23-AD9F-F0FD27B056FE}" destId="{C8B96B9D-D0AE-4254-B28C-9582A3948A47}" srcOrd="2" destOrd="0" parTransId="{25690D88-FCEA-46A4-A139-7EB94C62F53A}" sibTransId="{7BECDEF2-0BB3-41C6-8BF3-8D380230D30B}"/>
    <dgm:cxn modelId="{A20DDBBA-2E89-4122-B53F-5366551E1D04}" srcId="{F820D85E-9301-4A23-AD9F-F0FD27B056FE}" destId="{B1E9AC17-F6ED-4699-AA91-5945C7297C42}" srcOrd="4" destOrd="0" parTransId="{A158CF76-45D3-4F69-81BD-FD9434ED39A9}" sibTransId="{50F13F8C-A95A-4AD6-8927-B51864D104E8}"/>
    <dgm:cxn modelId="{E97AD6C5-B57C-4C50-934A-CC3822172EA3}" type="presOf" srcId="{32549418-160E-4DFE-9E7E-64451DEC9C53}" destId="{8068C82F-086E-4EB9-8A72-CF586A1DF1FD}" srcOrd="0" destOrd="1" presId="urn:microsoft.com/office/officeart/2005/8/layout/hList1"/>
    <dgm:cxn modelId="{20C8C0CA-D0C9-4EF0-8633-06EB46F19738}" type="presOf" srcId="{31D1AB88-0481-42BB-87CD-BF5612FCE800}" destId="{93AD6C02-C570-4B98-A114-BD91353A70E2}" srcOrd="0" destOrd="1" presId="urn:microsoft.com/office/officeart/2005/8/layout/hList1"/>
    <dgm:cxn modelId="{94F895CC-DED4-4BA4-91C2-761C7B142DF4}" srcId="{754A830E-B264-4FCB-94A3-E46F69C82745}" destId="{63AF613A-16FD-4775-AE6E-584C84D7A818}" srcOrd="2" destOrd="0" parTransId="{F3697EBB-C388-4E87-92B6-D07FBB69DBB7}" sibTransId="{48ACBAAB-7140-4CA0-B8EB-4AC60F617335}"/>
    <dgm:cxn modelId="{7F82E0CF-AC1A-4295-8CBF-7B9393010640}" srcId="{06378CB1-7430-4E5D-A369-7AF5BD891663}" destId="{E9ADC9A3-97A2-4D8D-81E3-A0B5B4389DAA}" srcOrd="1" destOrd="0" parTransId="{9839F5B6-67AD-49A7-ACC4-737C163665DE}" sibTransId="{FECED7DE-5F36-40D3-93EE-2BAF23B8DFAD}"/>
    <dgm:cxn modelId="{B5EA0CD2-CE7B-4C92-8817-C2816E4DAB3C}" srcId="{BD3C46A4-8F49-4C70-8638-2E177E3C0B8A}" destId="{B76804FE-AEC9-4A67-87F5-E6414E3E16E6}" srcOrd="0" destOrd="0" parTransId="{993DFBE5-3328-42FF-9707-9C90967F7855}" sibTransId="{323763D7-1842-4C1D-B4DB-A8EAF58787D6}"/>
    <dgm:cxn modelId="{6260B2D8-1E2C-4377-83EF-28630F874C6C}" srcId="{06378CB1-7430-4E5D-A369-7AF5BD891663}" destId="{76BC4088-B327-4BAB-807C-765E1B650E98}" srcOrd="3" destOrd="0" parTransId="{C843E2D5-2B1B-4D91-962E-6C6E1A443444}" sibTransId="{2CB885C4-243F-4191-B052-01B12FFF7D77}"/>
    <dgm:cxn modelId="{861ED4D9-4EAE-4617-9AD9-0C79E12B7E55}" type="presOf" srcId="{F820D85E-9301-4A23-AD9F-F0FD27B056FE}" destId="{F551F810-A141-471B-81F3-7448F6322E52}" srcOrd="0" destOrd="0" presId="urn:microsoft.com/office/officeart/2005/8/layout/hList1"/>
    <dgm:cxn modelId="{BA69B8DF-90C9-4FEF-98C0-388369681E3D}" srcId="{BD3C46A4-8F49-4C70-8638-2E177E3C0B8A}" destId="{B769165E-ECA0-4EEB-B8D2-43A36FE84097}" srcOrd="3" destOrd="0" parTransId="{1DF7593D-A4CA-4B41-907C-D09FAC8A0A96}" sibTransId="{38D79024-37AF-40AD-9393-1148DE518B54}"/>
    <dgm:cxn modelId="{D83D93E7-3E37-4D64-B75D-D8456325C9F6}" srcId="{BD3C46A4-8F49-4C70-8638-2E177E3C0B8A}" destId="{754A830E-B264-4FCB-94A3-E46F69C82745}" srcOrd="1" destOrd="0" parTransId="{6A8B1B2C-5526-4CA1-9ED6-2F7FB56F31AF}" sibTransId="{0552C07A-C7CF-4C45-80D8-32899DC3F318}"/>
    <dgm:cxn modelId="{340FABE7-B185-4C80-8438-CBBA327FD2ED}" type="presOf" srcId="{5A21CEA1-CEC2-45DF-8391-A9CE1CD3FF51}" destId="{93AD6C02-C570-4B98-A114-BD91353A70E2}" srcOrd="0" destOrd="2" presId="urn:microsoft.com/office/officeart/2005/8/layout/hList1"/>
    <dgm:cxn modelId="{130AA4E8-CF27-4E41-8976-EBB4A97775FF}" type="presOf" srcId="{13392EA5-EAA1-466B-AB2D-2BB67420DBAA}" destId="{2386F963-F7DC-4818-BF78-7A9B920A5ED3}" srcOrd="0" destOrd="0" presId="urn:microsoft.com/office/officeart/2005/8/layout/hList1"/>
    <dgm:cxn modelId="{D2CF54EE-9915-490B-9CAE-05C6943997B5}" srcId="{F820D85E-9301-4A23-AD9F-F0FD27B056FE}" destId="{0B367DC7-527F-4155-90A5-24588D2424B8}" srcOrd="3" destOrd="0" parTransId="{A07C6E94-882D-4B7F-943A-C876232C6ED0}" sibTransId="{957A95A2-10A7-497C-BBCF-D1482BF96BDC}"/>
    <dgm:cxn modelId="{4B1234F2-FEA0-4CDE-8DA2-6BA87EF4DC68}" type="presOf" srcId="{B76804FE-AEC9-4A67-87F5-E6414E3E16E6}" destId="{AE23FDA5-02BC-4426-95BA-B14BE475AFE3}" srcOrd="0" destOrd="0" presId="urn:microsoft.com/office/officeart/2005/8/layout/hList1"/>
    <dgm:cxn modelId="{A965FCF2-9CFA-4F31-97B1-CFE459CFF862}" srcId="{B769165E-ECA0-4EEB-B8D2-43A36FE84097}" destId="{9D6798BB-0607-4736-AEBD-70E712F80B91}" srcOrd="0" destOrd="0" parTransId="{EC4896E8-8EFD-4CFB-A1DA-40A8A11E540D}" sibTransId="{005940EC-0912-49B5-B901-73D8D7D579BB}"/>
    <dgm:cxn modelId="{D4EE8DF4-D6AA-4295-A81B-55C43DCA9ADF}" srcId="{B2EBBC64-C668-49EF-B1A6-AD754083CB7D}" destId="{23E96DF9-9CC7-4F6C-B5DE-85A7ED9FB541}" srcOrd="0" destOrd="0" parTransId="{0CFEDDF1-72B4-4C80-93AE-92B4542FC914}" sibTransId="{7DAD2BCD-D211-4BB2-915D-81B5C4C98CD3}"/>
    <dgm:cxn modelId="{9BE0BDF4-52F1-4DF3-BE06-B9E2966F2024}" type="presOf" srcId="{A27F9E9E-EF3C-4166-9246-0F46F4F5EA2A}" destId="{CDA36B6D-0408-4B83-838C-133369333A0F}" srcOrd="0" destOrd="1" presId="urn:microsoft.com/office/officeart/2005/8/layout/hList1"/>
    <dgm:cxn modelId="{A55031FB-3AB4-4187-93F7-61FE808FC69A}" type="presOf" srcId="{0B367DC7-527F-4155-90A5-24588D2424B8}" destId="{42962EBA-4AA9-4CF9-8A9E-92A5F5634BDB}" srcOrd="0" destOrd="3" presId="urn:microsoft.com/office/officeart/2005/8/layout/hList1"/>
    <dgm:cxn modelId="{7D0F4DA7-C4D3-4BE2-BDE2-321E9FDE29D1}" type="presParOf" srcId="{B8CA53DA-B7D8-4D15-BFD6-3D0EB67A4CD0}" destId="{352BC6D9-6350-4E3B-AF82-4F22CD5F1542}" srcOrd="0" destOrd="0" presId="urn:microsoft.com/office/officeart/2005/8/layout/hList1"/>
    <dgm:cxn modelId="{15396AFE-F674-43D7-BB29-B2E49263B201}" type="presParOf" srcId="{352BC6D9-6350-4E3B-AF82-4F22CD5F1542}" destId="{AE23FDA5-02BC-4426-95BA-B14BE475AFE3}" srcOrd="0" destOrd="0" presId="urn:microsoft.com/office/officeart/2005/8/layout/hList1"/>
    <dgm:cxn modelId="{0395878B-6C4C-4B0A-BAF3-E6B2B91D68FC}" type="presParOf" srcId="{352BC6D9-6350-4E3B-AF82-4F22CD5F1542}" destId="{8068C82F-086E-4EB9-8A72-CF586A1DF1FD}" srcOrd="1" destOrd="0" presId="urn:microsoft.com/office/officeart/2005/8/layout/hList1"/>
    <dgm:cxn modelId="{06ECDEF8-7ABF-4B0A-9493-5275145571E1}" type="presParOf" srcId="{B8CA53DA-B7D8-4D15-BFD6-3D0EB67A4CD0}" destId="{9432ECB5-ED05-4F39-B1E7-50E30E29A2E7}" srcOrd="1" destOrd="0" presId="urn:microsoft.com/office/officeart/2005/8/layout/hList1"/>
    <dgm:cxn modelId="{BF8AFC2C-CCD1-4D19-AFFF-D9967F799C87}" type="presParOf" srcId="{B8CA53DA-B7D8-4D15-BFD6-3D0EB67A4CD0}" destId="{1381AB73-C702-4984-A88A-8A3C8DDDD0B1}" srcOrd="2" destOrd="0" presId="urn:microsoft.com/office/officeart/2005/8/layout/hList1"/>
    <dgm:cxn modelId="{2313D905-E1ED-41C4-BE38-E4B8D055A4B7}" type="presParOf" srcId="{1381AB73-C702-4984-A88A-8A3C8DDDD0B1}" destId="{D6043009-49C3-4900-9BFD-7FAC0ED4EADC}" srcOrd="0" destOrd="0" presId="urn:microsoft.com/office/officeart/2005/8/layout/hList1"/>
    <dgm:cxn modelId="{78594C88-BD69-4001-B930-B34F5AF3D74B}" type="presParOf" srcId="{1381AB73-C702-4984-A88A-8A3C8DDDD0B1}" destId="{2386F963-F7DC-4818-BF78-7A9B920A5ED3}" srcOrd="1" destOrd="0" presId="urn:microsoft.com/office/officeart/2005/8/layout/hList1"/>
    <dgm:cxn modelId="{5363D605-FE4C-4E8B-865C-C570E21E4EA2}" type="presParOf" srcId="{B8CA53DA-B7D8-4D15-BFD6-3D0EB67A4CD0}" destId="{0B7DC3B3-55F0-4A14-864C-1940539CA393}" srcOrd="3" destOrd="0" presId="urn:microsoft.com/office/officeart/2005/8/layout/hList1"/>
    <dgm:cxn modelId="{C13A8784-8968-456E-A761-EFE30D4D1AE1}" type="presParOf" srcId="{B8CA53DA-B7D8-4D15-BFD6-3D0EB67A4CD0}" destId="{8D360B97-A204-4181-A0FE-59C5F50C9D15}" srcOrd="4" destOrd="0" presId="urn:microsoft.com/office/officeart/2005/8/layout/hList1"/>
    <dgm:cxn modelId="{0149ABB7-2E54-4303-BCB3-C6E12A51141F}" type="presParOf" srcId="{8D360B97-A204-4181-A0FE-59C5F50C9D15}" destId="{F551F810-A141-471B-81F3-7448F6322E52}" srcOrd="0" destOrd="0" presId="urn:microsoft.com/office/officeart/2005/8/layout/hList1"/>
    <dgm:cxn modelId="{8F7FCC3C-A088-4026-A76E-30656028324A}" type="presParOf" srcId="{8D360B97-A204-4181-A0FE-59C5F50C9D15}" destId="{42962EBA-4AA9-4CF9-8A9E-92A5F5634BDB}" srcOrd="1" destOrd="0" presId="urn:microsoft.com/office/officeart/2005/8/layout/hList1"/>
    <dgm:cxn modelId="{F7150D37-850C-40F2-B859-54AAC67F3C85}" type="presParOf" srcId="{B8CA53DA-B7D8-4D15-BFD6-3D0EB67A4CD0}" destId="{31B129B3-85C0-435F-9CBC-4FB3BD89C01A}" srcOrd="5" destOrd="0" presId="urn:microsoft.com/office/officeart/2005/8/layout/hList1"/>
    <dgm:cxn modelId="{00CC1929-50F3-4090-9449-1C534EA53951}" type="presParOf" srcId="{B8CA53DA-B7D8-4D15-BFD6-3D0EB67A4CD0}" destId="{43105A75-4BDF-4757-8560-39593D1B103D}" srcOrd="6" destOrd="0" presId="urn:microsoft.com/office/officeart/2005/8/layout/hList1"/>
    <dgm:cxn modelId="{0EC1D8D0-B551-4B8E-A881-A70E688F6974}" type="presParOf" srcId="{43105A75-4BDF-4757-8560-39593D1B103D}" destId="{011464C4-1BA8-4802-BE58-3579D51BC7EA}" srcOrd="0" destOrd="0" presId="urn:microsoft.com/office/officeart/2005/8/layout/hList1"/>
    <dgm:cxn modelId="{CEB721D5-CCC9-4A1C-B49C-A51E25603A47}" type="presParOf" srcId="{43105A75-4BDF-4757-8560-39593D1B103D}" destId="{CDA36B6D-0408-4B83-838C-133369333A0F}" srcOrd="1" destOrd="0" presId="urn:microsoft.com/office/officeart/2005/8/layout/hList1"/>
    <dgm:cxn modelId="{C0D8DB2C-CF0C-4580-ACDC-BDBD523F5228}" type="presParOf" srcId="{B8CA53DA-B7D8-4D15-BFD6-3D0EB67A4CD0}" destId="{78FAC7A0-0FD3-48B8-9041-62400F5393FD}" srcOrd="7" destOrd="0" presId="urn:microsoft.com/office/officeart/2005/8/layout/hList1"/>
    <dgm:cxn modelId="{9340C586-D611-4DAD-9B53-6ACA2D1573E8}" type="presParOf" srcId="{B8CA53DA-B7D8-4D15-BFD6-3D0EB67A4CD0}" destId="{ACCDE721-C96E-4C1F-B9B5-490DE64F5A0D}" srcOrd="8" destOrd="0" presId="urn:microsoft.com/office/officeart/2005/8/layout/hList1"/>
    <dgm:cxn modelId="{093D3D78-D6F2-44C9-9AA0-2F27D758F166}" type="presParOf" srcId="{ACCDE721-C96E-4C1F-B9B5-490DE64F5A0D}" destId="{2C7E9539-5B11-4B03-8605-FF39FB3AB557}" srcOrd="0" destOrd="0" presId="urn:microsoft.com/office/officeart/2005/8/layout/hList1"/>
    <dgm:cxn modelId="{D6CE5E9B-F3FE-455A-AE9F-3750270A444B}" type="presParOf" srcId="{ACCDE721-C96E-4C1F-B9B5-490DE64F5A0D}" destId="{93AD6C02-C570-4B98-A114-BD91353A70E2}" srcOrd="1" destOrd="0" presId="urn:microsoft.com/office/officeart/2005/8/layout/hList1"/>
    <dgm:cxn modelId="{6E81B7DE-9714-4CE7-AC0D-A84DB56ECFE9}" type="presParOf" srcId="{B8CA53DA-B7D8-4D15-BFD6-3D0EB67A4CD0}" destId="{F357AD83-F30D-489C-9380-BA8AB3141010}" srcOrd="9" destOrd="0" presId="urn:microsoft.com/office/officeart/2005/8/layout/hList1"/>
    <dgm:cxn modelId="{325A4DB2-61D3-424A-8D9F-6AE823E81801}" type="presParOf" srcId="{B8CA53DA-B7D8-4D15-BFD6-3D0EB67A4CD0}" destId="{992B0C11-76AA-4831-9C0F-412BFBA5B897}" srcOrd="10" destOrd="0" presId="urn:microsoft.com/office/officeart/2005/8/layout/hList1"/>
    <dgm:cxn modelId="{C504E3D3-E619-4C6B-A36E-7133EE654EEB}" type="presParOf" srcId="{992B0C11-76AA-4831-9C0F-412BFBA5B897}" destId="{18DFD1E4-D1A6-456B-94A8-8D3835CA639E}" srcOrd="0" destOrd="0" presId="urn:microsoft.com/office/officeart/2005/8/layout/hList1"/>
    <dgm:cxn modelId="{61B229CE-4FEE-428C-99DF-95EF430E2B14}" type="presParOf" srcId="{992B0C11-76AA-4831-9C0F-412BFBA5B897}" destId="{C3B5A14A-E3BD-4ACA-85F8-CA68E495C3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3C46A4-8F49-4C70-8638-2E177E3C0B8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B76804FE-AEC9-4A67-87F5-E6414E3E16E6}">
      <dgm:prSet phldrT="[Text]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</a:t>
          </a:r>
        </a:p>
      </dgm:t>
    </dgm:pt>
    <dgm:pt modelId="{993DFBE5-3328-42FF-9707-9C90967F7855}" type="parTrans" cxnId="{B5EA0CD2-CE7B-4C92-8817-C2816E4DAB3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23763D7-1842-4C1D-B4DB-A8EAF58787D6}" type="sibTrans" cxnId="{B5EA0CD2-CE7B-4C92-8817-C2816E4DAB3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B02B95B-92E3-4468-9B95-144E886C28D2}">
      <dgm:prSet phldrT="[Text]" custT="1"/>
      <dgm:spPr>
        <a:noFill/>
        <a:ln w="12700">
          <a:solidFill>
            <a:schemeClr val="tx1">
              <a:alpha val="90000"/>
            </a:schemeClr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Federal, state and local legislation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28A7888-3748-46F0-96ED-C74DA9BF9E7A}" type="parTrans" cxnId="{7C94D605-4CC1-4A99-8A3C-148BDCA73BA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B31EB3F-9F23-49B5-9D21-05216677B41F}" type="sibTrans" cxnId="{7C94D605-4CC1-4A99-8A3C-148BDCA73BA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54A830E-B264-4FCB-94A3-E46F69C82745}">
      <dgm:prSet phldrT="[Text]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en-US" b="1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Economic</a:t>
          </a:r>
        </a:p>
      </dgm:t>
    </dgm:pt>
    <dgm:pt modelId="{6A8B1B2C-5526-4CA1-9ED6-2F7FB56F31AF}" type="parTrans" cxnId="{D83D93E7-3E37-4D64-B75D-D8456325C9F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552C07A-C7CF-4C45-80D8-32899DC3F318}" type="sibTrans" cxnId="{D83D93E7-3E37-4D64-B75D-D8456325C9F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3392EA5-EAA1-466B-AB2D-2BB67420DBAA}">
      <dgm:prSet phldrT="[Text]" custT="1"/>
      <dgm:spPr>
        <a:noFill/>
        <a:ln w="12700">
          <a:solidFill>
            <a:schemeClr val="tx1">
              <a:alpha val="90000"/>
            </a:schemeClr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Total GDP &amp; GDP growth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E29BF76-3811-4E3A-B2BC-C2D1DAFB2355}" type="parTrans" cxnId="{77D95A15-C97F-4B4A-AB84-D8D67869C81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E069AEB-156F-49CE-8DFB-230B165014DF}" type="sibTrans" cxnId="{77D95A15-C97F-4B4A-AB84-D8D67869C81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820D85E-9301-4A23-AD9F-F0FD27B056FE}">
      <dgm:prSet phldrT="[Text]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en-US" b="1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Social</a:t>
          </a:r>
        </a:p>
      </dgm:t>
    </dgm:pt>
    <dgm:pt modelId="{84EED358-E9AE-43CF-896D-60428CD7ED0C}" type="parTrans" cxnId="{E49D4010-F634-4D3C-BCF0-E291C4A9B6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53D1829-61A4-4FBB-9F9F-61C04D8CAE79}" type="sibTrans" cxnId="{E49D4010-F634-4D3C-BCF0-E291C4A9B6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D22372C-5062-48CD-8150-FC351CB8D880}">
      <dgm:prSet phldrT="[Text]" custT="1"/>
      <dgm:spPr>
        <a:noFill/>
        <a:ln w="12700">
          <a:solidFill>
            <a:schemeClr val="tx1">
              <a:alpha val="90000"/>
            </a:schemeClr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Values and attitudes of society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04311C3-28A4-4B9B-9140-FE5965DF8220}" type="parTrans" cxnId="{D313853A-AD9D-4014-A2D4-D21CC41A15D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C559AE4-26E3-49E3-B807-367E09549A13}" type="sibTrans" cxnId="{D313853A-AD9D-4014-A2D4-D21CC41A15D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769165E-ECA0-4EEB-B8D2-43A36FE84097}">
      <dgm:prSet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</a:t>
          </a:r>
        </a:p>
      </dgm:t>
    </dgm:pt>
    <dgm:pt modelId="{1DF7593D-A4CA-4B41-907C-D09FAC8A0A96}" type="parTrans" cxnId="{BA69B8DF-90C9-4FEF-98C0-388369681E3D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8D79024-37AF-40AD-9393-1148DE518B54}" type="sibTrans" cxnId="{BA69B8DF-90C9-4FEF-98C0-388369681E3D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2EBBC64-C668-49EF-B1A6-AD754083CB7D}">
      <dgm:prSet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Environmental</a:t>
          </a:r>
        </a:p>
      </dgm:t>
    </dgm:pt>
    <dgm:pt modelId="{FDF07EDA-5ED7-4441-A47B-E0E8F9747471}" type="parTrans" cxnId="{998FD64B-3986-4F4F-B207-E96BD4DC77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8EA0AA0-8D50-4939-9F15-64A9DB8F556F}" type="sibTrans" cxnId="{998FD64B-3986-4F4F-B207-E96BD4DC77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6378CB1-7430-4E5D-A369-7AF5BD891663}">
      <dgm:prSet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r>
            <a:rPr lang="de-AT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Legal</a:t>
          </a:r>
        </a:p>
      </dgm:t>
    </dgm:pt>
    <dgm:pt modelId="{23358413-DB43-482C-8E87-86BC311398DE}" type="parTrans" cxnId="{45F6BD0D-39E5-4908-8A19-CD2D280E70A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E453B80-68A8-4524-816D-4F7493D27638}" type="sibTrans" cxnId="{45F6BD0D-39E5-4908-8A19-CD2D280E70A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2549418-160E-4DFE-9E7E-64451DEC9C53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ideology of government</a:t>
          </a:r>
        </a:p>
      </dgm:t>
    </dgm:pt>
    <dgm:pt modelId="{BD25A1FE-53FC-49C4-ABA5-8370E571A19F}" type="parTrans" cxnId="{7F6FAA6B-B8D1-4443-A317-9EE8391B933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28D54DD-F437-41BF-8B75-17EDD5091FE0}" type="sibTrans" cxnId="{7F6FAA6B-B8D1-4443-A317-9EE8391B933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C4D2E99-0275-4771-9664-7767C77495E2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attitudes toward the industry</a:t>
          </a:r>
        </a:p>
      </dgm:t>
    </dgm:pt>
    <dgm:pt modelId="{02852F38-6687-48EF-8C65-AFCE5E4CE304}" type="parTrans" cxnId="{3BB84AAD-3918-48AC-A79C-81726F0D42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D474518-6505-449A-A97C-FD75E2594E75}" type="sibTrans" cxnId="{3BB84AAD-3918-48AC-A79C-81726F0D42C1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F30CC8E-ED56-40E7-B188-324584D42055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Propensity to consume</a:t>
          </a:r>
        </a:p>
      </dgm:t>
    </dgm:pt>
    <dgm:pt modelId="{39B14C7F-69E0-4639-82BB-E8B1DE123E5A}" type="parTrans" cxnId="{33335530-4895-4B3B-950F-E3DCCEF5D37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0CB26B9-5706-4C17-BF01-E3F82C84BD58}" type="sibTrans" cxnId="{33335530-4895-4B3B-950F-E3DCCEF5D37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63AF613A-16FD-4775-AE6E-584C84D7A818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Interest &amp; exchange rates</a:t>
          </a:r>
        </a:p>
      </dgm:t>
    </dgm:pt>
    <dgm:pt modelId="{F3697EBB-C388-4E87-92B6-D07FBB69DBB7}" type="parTrans" cxnId="{94F895CC-DED4-4BA4-91C2-761C7B142DF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8ACBAAB-7140-4CA0-B8EB-4AC60F617335}" type="sibTrans" cxnId="{94F895CC-DED4-4BA4-91C2-761C7B142DF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0CE0C3D-77B5-46B8-894A-C8573DBF908D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Taxation</a:t>
          </a:r>
        </a:p>
      </dgm:t>
    </dgm:pt>
    <dgm:pt modelId="{B063EEBA-2125-4270-A023-E950AC42EE01}" type="parTrans" cxnId="{B259CE03-62E8-480C-AE75-AFC48C8BA8BE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5295F15-20EB-41F1-8261-F80F2958D313}" type="sibTrans" cxnId="{B259CE03-62E8-480C-AE75-AFC48C8BA8BE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A748F03-7B92-4720-AD29-EED725CEC7D3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International economic trends</a:t>
          </a:r>
        </a:p>
      </dgm:t>
    </dgm:pt>
    <dgm:pt modelId="{EC761C3A-DD1C-4988-B6B0-5EFEB9CB4695}" type="parTrans" cxnId="{D6791281-7D42-499C-9E7B-D1DBAD8844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111EB0B-A442-444B-9EBB-1C3276AFFDFE}" type="sibTrans" cxnId="{D6791281-7D42-499C-9E7B-D1DBAD8844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A896C2C5-AD33-46A3-A70B-C0A182632D18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Life styles of population mix</a:t>
          </a:r>
        </a:p>
      </dgm:t>
    </dgm:pt>
    <dgm:pt modelId="{1B0F6F5A-C042-450C-A2F4-BEA83841C059}" type="parTrans" cxnId="{C9545485-75E8-4AED-BAF4-000027AC20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69C1492-9975-435B-B98F-812F12500249}" type="sibTrans" cxnId="{C9545485-75E8-4AED-BAF4-000027AC20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8B96B9D-D0AE-4254-B28C-9582A3948A47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Work ethic</a:t>
          </a:r>
        </a:p>
      </dgm:t>
    </dgm:pt>
    <dgm:pt modelId="{25690D88-FCEA-46A4-A139-7EB94C62F53A}" type="parTrans" cxnId="{89789DB7-53F7-4860-8B33-2233652DB9B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BECDEF2-0BB3-41C6-8BF3-8D380230D30B}" type="sibTrans" cxnId="{89789DB7-53F7-4860-8B33-2233652DB9B6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B367DC7-527F-4155-90A5-24588D2424B8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Demographics</a:t>
          </a:r>
        </a:p>
      </dgm:t>
    </dgm:pt>
    <dgm:pt modelId="{A07C6E94-882D-4B7F-943A-C876232C6ED0}" type="parTrans" cxnId="{D2CF54EE-9915-490B-9CAE-05C6943997B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57A95A2-10A7-497C-BBCF-D1482BF96BDC}" type="sibTrans" cxnId="{D2CF54EE-9915-490B-9CAE-05C6943997B5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1E9AC17-F6ED-4699-AA91-5945C7297C42}">
      <dgm:prSet custT="1"/>
      <dgm:spPr/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Attitudes toward the industry</a:t>
          </a:r>
        </a:p>
      </dgm:t>
    </dgm:pt>
    <dgm:pt modelId="{A158CF76-45D3-4F69-81BD-FD9434ED39A9}" type="parTrans" cxnId="{A20DDBBA-2E89-4122-B53F-5366551E1D0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0F13F8C-A95A-4AD6-8927-B51864D104E8}" type="sibTrans" cxnId="{A20DDBBA-2E89-4122-B53F-5366551E1D0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D6798BB-0607-4736-AEBD-70E712F80B91}">
      <dgm:prSet custT="1"/>
      <dgm:spPr>
        <a:noFill/>
        <a:ln w="12700">
          <a:solidFill>
            <a:schemeClr val="tx1"/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Scientific discoveries</a:t>
          </a:r>
          <a:endParaRPr lang="de-AT" sz="105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C4896E8-8EFD-4CFB-A1DA-40A8A11E540D}" type="parTrans" cxnId="{A965FCF2-9CFA-4F31-97B1-CFE459CFF8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05940EC-0912-49B5-B901-73D8D7D579BB}" type="sibTrans" cxnId="{A965FCF2-9CFA-4F31-97B1-CFE459CFF8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A27F9E9E-EF3C-4166-9246-0F46F4F5EA2A}">
      <dgm:prSet custT="1"/>
      <dgm:spPr>
        <a:noFill/>
        <a:ln w="12700">
          <a:solidFill>
            <a:schemeClr val="tx1"/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 developments in focal and substitute industries</a:t>
          </a:r>
        </a:p>
      </dgm:t>
    </dgm:pt>
    <dgm:pt modelId="{A436165E-E634-455D-A906-E2F830407E10}" type="parTrans" cxnId="{F2DFF34C-D0D0-4331-9F54-A375FC18BAB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C8FA988-EE5D-4E86-96B3-872A18B5983B}" type="sibTrans" cxnId="{F2DFF34C-D0D0-4331-9F54-A375FC18BAB4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703CA22-6DE3-4B69-8306-D042CFC7B0D5}">
      <dgm:prSet custT="1"/>
      <dgm:spPr>
        <a:noFill/>
        <a:ln w="12700">
          <a:solidFill>
            <a:schemeClr val="tx1"/>
          </a:solidFill>
        </a:ln>
      </dgm:spPr>
      <dgm:t>
        <a:bodyPr/>
        <a:lstStyle/>
        <a:p>
          <a:pPr marL="108000" indent="-108000"/>
          <a:r>
            <a:rPr lang="en-US" sz="10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Catching up in R&amp;D capabilities</a:t>
          </a:r>
        </a:p>
      </dgm:t>
    </dgm:pt>
    <dgm:pt modelId="{1E8E5BF4-CDE4-416C-A918-3233FE75EA3B}" type="parTrans" cxnId="{8C47B86D-B541-4F29-A9C9-64F65E3675AA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6E41B7E-E018-4F14-8C12-4BF6907BA4AB}" type="sibTrans" cxnId="{8C47B86D-B541-4F29-A9C9-64F65E3675AA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A7EC09BC-884A-41B9-87B2-A10C90921177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Consumer laws</a:t>
          </a:r>
        </a:p>
      </dgm:t>
    </dgm:pt>
    <dgm:pt modelId="{E1B2808F-E21D-42BB-B99D-AFD29FFCD695}" type="parTrans" cxnId="{72B4E63A-3E70-4FC0-9C25-D168BC7443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C88C43A-8CD5-46C9-89C6-34F5361EAD8C}" type="sibTrans" cxnId="{72B4E63A-3E70-4FC0-9C25-D168BC744362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9ADC9A3-97A2-4D8D-81E3-A0B5B4389DAA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Labor laws</a:t>
          </a:r>
        </a:p>
      </dgm:t>
    </dgm:pt>
    <dgm:pt modelId="{9839F5B6-67AD-49A7-ACC4-737C163665DE}" type="parTrans" cxnId="{7F82E0CF-AC1A-4295-8CBF-7B93930106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ECED7DE-5F36-40D3-93EE-2BAF23B8DFAD}" type="sibTrans" cxnId="{7F82E0CF-AC1A-4295-8CBF-7B939301064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D167CCF2-8BF5-4D5D-A319-2F136A4718A6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Health and safety standards</a:t>
          </a:r>
        </a:p>
      </dgm:t>
    </dgm:pt>
    <dgm:pt modelId="{B6837CA6-99F3-4881-B9AD-141E36573A5E}" type="parTrans" cxnId="{DA3CFA85-AE82-4FF3-9FE2-3C3828590AE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65D4B4DA-AA9C-484C-8E79-CEFDE89BABA8}" type="sibTrans" cxnId="{DA3CFA85-AE82-4FF3-9FE2-3C3828590AE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3E96DF9-9CC7-4F6C-B5DE-85A7ED9FB541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Geographical location</a:t>
          </a:r>
        </a:p>
      </dgm:t>
    </dgm:pt>
    <dgm:pt modelId="{0CFEDDF1-72B4-4C80-93AE-92B4542FC914}" type="parTrans" cxnId="{D4EE8DF4-D6AA-4295-A81B-55C43DCA9A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DAD2BCD-D211-4BB2-915D-81B5C4C98CD3}" type="sibTrans" cxnId="{D4EE8DF4-D6AA-4295-A81B-55C43DCA9ADF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1D1AB88-0481-42BB-87CD-BF5612FCE800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Climate change</a:t>
          </a:r>
        </a:p>
      </dgm:t>
    </dgm:pt>
    <dgm:pt modelId="{45C83E64-D4E1-4BDA-B31E-E16ABC1B9829}" type="parTrans" cxnId="{620BDE25-288A-4CCD-A243-839B020306F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B8D836D-C666-4247-84E8-7E812DA0F74C}" type="sibTrans" cxnId="{620BDE25-288A-4CCD-A243-839B020306F0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A21CEA1-CEC2-45DF-8391-A9CE1CD3FF51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Raw materials</a:t>
          </a:r>
        </a:p>
      </dgm:t>
    </dgm:pt>
    <dgm:pt modelId="{E2C4D629-EA3D-43A3-8FCC-FB505453842A}" type="parTrans" cxnId="{F9355631-C8B0-46B7-AAC5-EFB8DCEF42D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FB6886E-CF58-46D0-AF28-5967C22A462E}" type="sibTrans" cxnId="{F9355631-C8B0-46B7-AAC5-EFB8DCEF42D8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6BC4088-B327-4BAB-807C-765E1B650E98}">
      <dgm:prSet custT="1"/>
      <dgm:spPr>
        <a:solidFill>
          <a:srgbClr val="336699"/>
        </a:solidFill>
        <a:ln>
          <a:solidFill>
            <a:srgbClr val="336699"/>
          </a:solidFill>
        </a:ln>
      </dgm:spPr>
      <dgm:t>
        <a:bodyPr/>
        <a:lstStyle/>
        <a:p>
          <a:pPr marL="108000" indent="-108000"/>
          <a:r>
            <a:rPr lang="en-US" sz="105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Copyright and patent laws</a:t>
          </a:r>
        </a:p>
      </dgm:t>
    </dgm:pt>
    <dgm:pt modelId="{C843E2D5-2B1B-4D91-962E-6C6E1A443444}" type="parTrans" cxnId="{6260B2D8-1E2C-4377-83EF-28630F874C6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CB885C4-243F-4191-B052-01B12FFF7D77}" type="sibTrans" cxnId="{6260B2D8-1E2C-4377-83EF-28630F874C6C}">
      <dgm:prSet/>
      <dgm:spPr/>
      <dgm:t>
        <a:bodyPr/>
        <a:lstStyle/>
        <a:p>
          <a:endParaRPr lang="de-AT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8CA53DA-B7D8-4D15-BFD6-3D0EB67A4CD0}" type="pres">
      <dgm:prSet presAssocID="{BD3C46A4-8F49-4C70-8638-2E177E3C0B8A}" presName="Name0" presStyleCnt="0">
        <dgm:presLayoutVars>
          <dgm:dir/>
          <dgm:animLvl val="lvl"/>
          <dgm:resizeHandles val="exact"/>
        </dgm:presLayoutVars>
      </dgm:prSet>
      <dgm:spPr/>
    </dgm:pt>
    <dgm:pt modelId="{352BC6D9-6350-4E3B-AF82-4F22CD5F1542}" type="pres">
      <dgm:prSet presAssocID="{B76804FE-AEC9-4A67-87F5-E6414E3E16E6}" presName="composite" presStyleCnt="0"/>
      <dgm:spPr/>
    </dgm:pt>
    <dgm:pt modelId="{AE23FDA5-02BC-4426-95BA-B14BE475AFE3}" type="pres">
      <dgm:prSet presAssocID="{B76804FE-AEC9-4A67-87F5-E6414E3E16E6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8068C82F-086E-4EB9-8A72-CF586A1DF1FD}" type="pres">
      <dgm:prSet presAssocID="{B76804FE-AEC9-4A67-87F5-E6414E3E16E6}" presName="desTx" presStyleLbl="alignAccFollowNode1" presStyleIdx="0" presStyleCnt="6">
        <dgm:presLayoutVars>
          <dgm:bulletEnabled val="1"/>
        </dgm:presLayoutVars>
      </dgm:prSet>
      <dgm:spPr/>
    </dgm:pt>
    <dgm:pt modelId="{9432ECB5-ED05-4F39-B1E7-50E30E29A2E7}" type="pres">
      <dgm:prSet presAssocID="{323763D7-1842-4C1D-B4DB-A8EAF58787D6}" presName="space" presStyleCnt="0"/>
      <dgm:spPr/>
    </dgm:pt>
    <dgm:pt modelId="{1381AB73-C702-4984-A88A-8A3C8DDDD0B1}" type="pres">
      <dgm:prSet presAssocID="{754A830E-B264-4FCB-94A3-E46F69C82745}" presName="composite" presStyleCnt="0"/>
      <dgm:spPr/>
    </dgm:pt>
    <dgm:pt modelId="{D6043009-49C3-4900-9BFD-7FAC0ED4EADC}" type="pres">
      <dgm:prSet presAssocID="{754A830E-B264-4FCB-94A3-E46F69C82745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2386F963-F7DC-4818-BF78-7A9B920A5ED3}" type="pres">
      <dgm:prSet presAssocID="{754A830E-B264-4FCB-94A3-E46F69C82745}" presName="desTx" presStyleLbl="alignAccFollowNode1" presStyleIdx="1" presStyleCnt="6">
        <dgm:presLayoutVars>
          <dgm:bulletEnabled val="1"/>
        </dgm:presLayoutVars>
      </dgm:prSet>
      <dgm:spPr/>
    </dgm:pt>
    <dgm:pt modelId="{0B7DC3B3-55F0-4A14-864C-1940539CA393}" type="pres">
      <dgm:prSet presAssocID="{0552C07A-C7CF-4C45-80D8-32899DC3F318}" presName="space" presStyleCnt="0"/>
      <dgm:spPr/>
    </dgm:pt>
    <dgm:pt modelId="{8D360B97-A204-4181-A0FE-59C5F50C9D15}" type="pres">
      <dgm:prSet presAssocID="{F820D85E-9301-4A23-AD9F-F0FD27B056FE}" presName="composite" presStyleCnt="0"/>
      <dgm:spPr/>
    </dgm:pt>
    <dgm:pt modelId="{F551F810-A141-471B-81F3-7448F6322E52}" type="pres">
      <dgm:prSet presAssocID="{F820D85E-9301-4A23-AD9F-F0FD27B056FE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42962EBA-4AA9-4CF9-8A9E-92A5F5634BDB}" type="pres">
      <dgm:prSet presAssocID="{F820D85E-9301-4A23-AD9F-F0FD27B056FE}" presName="desTx" presStyleLbl="alignAccFollowNode1" presStyleIdx="2" presStyleCnt="6">
        <dgm:presLayoutVars>
          <dgm:bulletEnabled val="1"/>
        </dgm:presLayoutVars>
      </dgm:prSet>
      <dgm:spPr/>
    </dgm:pt>
    <dgm:pt modelId="{31B129B3-85C0-435F-9CBC-4FB3BD89C01A}" type="pres">
      <dgm:prSet presAssocID="{053D1829-61A4-4FBB-9F9F-61C04D8CAE79}" presName="space" presStyleCnt="0"/>
      <dgm:spPr/>
    </dgm:pt>
    <dgm:pt modelId="{43105A75-4BDF-4757-8560-39593D1B103D}" type="pres">
      <dgm:prSet presAssocID="{B769165E-ECA0-4EEB-B8D2-43A36FE84097}" presName="composite" presStyleCnt="0"/>
      <dgm:spPr/>
    </dgm:pt>
    <dgm:pt modelId="{011464C4-1BA8-4802-BE58-3579D51BC7EA}" type="pres">
      <dgm:prSet presAssocID="{B769165E-ECA0-4EEB-B8D2-43A36FE84097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CDA36B6D-0408-4B83-838C-133369333A0F}" type="pres">
      <dgm:prSet presAssocID="{B769165E-ECA0-4EEB-B8D2-43A36FE84097}" presName="desTx" presStyleLbl="alignAccFollowNode1" presStyleIdx="3" presStyleCnt="6">
        <dgm:presLayoutVars>
          <dgm:bulletEnabled val="1"/>
        </dgm:presLayoutVars>
      </dgm:prSet>
      <dgm:spPr/>
    </dgm:pt>
    <dgm:pt modelId="{78FAC7A0-0FD3-48B8-9041-62400F5393FD}" type="pres">
      <dgm:prSet presAssocID="{38D79024-37AF-40AD-9393-1148DE518B54}" presName="space" presStyleCnt="0"/>
      <dgm:spPr/>
    </dgm:pt>
    <dgm:pt modelId="{ACCDE721-C96E-4C1F-B9B5-490DE64F5A0D}" type="pres">
      <dgm:prSet presAssocID="{B2EBBC64-C668-49EF-B1A6-AD754083CB7D}" presName="composite" presStyleCnt="0"/>
      <dgm:spPr/>
    </dgm:pt>
    <dgm:pt modelId="{2C7E9539-5B11-4B03-8605-FF39FB3AB557}" type="pres">
      <dgm:prSet presAssocID="{B2EBBC64-C668-49EF-B1A6-AD754083CB7D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93AD6C02-C570-4B98-A114-BD91353A70E2}" type="pres">
      <dgm:prSet presAssocID="{B2EBBC64-C668-49EF-B1A6-AD754083CB7D}" presName="desTx" presStyleLbl="alignAccFollowNode1" presStyleIdx="4" presStyleCnt="6">
        <dgm:presLayoutVars>
          <dgm:bulletEnabled val="1"/>
        </dgm:presLayoutVars>
      </dgm:prSet>
      <dgm:spPr>
        <a:noFill/>
        <a:ln w="12700">
          <a:solidFill>
            <a:schemeClr val="tx1">
              <a:alpha val="90000"/>
            </a:schemeClr>
          </a:solidFill>
        </a:ln>
      </dgm:spPr>
    </dgm:pt>
    <dgm:pt modelId="{F357AD83-F30D-489C-9380-BA8AB3141010}" type="pres">
      <dgm:prSet presAssocID="{08EA0AA0-8D50-4939-9F15-64A9DB8F556F}" presName="space" presStyleCnt="0"/>
      <dgm:spPr/>
    </dgm:pt>
    <dgm:pt modelId="{992B0C11-76AA-4831-9C0F-412BFBA5B897}" type="pres">
      <dgm:prSet presAssocID="{06378CB1-7430-4E5D-A369-7AF5BD891663}" presName="composite" presStyleCnt="0"/>
      <dgm:spPr/>
    </dgm:pt>
    <dgm:pt modelId="{18DFD1E4-D1A6-456B-94A8-8D3835CA639E}" type="pres">
      <dgm:prSet presAssocID="{06378CB1-7430-4E5D-A369-7AF5BD891663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C3B5A14A-E3BD-4ACA-85F8-CA68E495C3A9}" type="pres">
      <dgm:prSet presAssocID="{06378CB1-7430-4E5D-A369-7AF5BD891663}" presName="desTx" presStyleLbl="alignAccFollowNode1" presStyleIdx="5" presStyleCnt="6">
        <dgm:presLayoutVars>
          <dgm:bulletEnabled val="1"/>
        </dgm:presLayoutVars>
      </dgm:prSet>
      <dgm:spPr>
        <a:noFill/>
        <a:ln w="12700">
          <a:solidFill>
            <a:schemeClr val="tx1">
              <a:alpha val="90000"/>
            </a:schemeClr>
          </a:solidFill>
        </a:ln>
      </dgm:spPr>
    </dgm:pt>
  </dgm:ptLst>
  <dgm:cxnLst>
    <dgm:cxn modelId="{61FD0B03-0F16-4E6E-8575-996F1939D2CF}" type="presOf" srcId="{1D22372C-5062-48CD-8150-FC351CB8D880}" destId="{42962EBA-4AA9-4CF9-8A9E-92A5F5634BDB}" srcOrd="0" destOrd="0" presId="urn:microsoft.com/office/officeart/2005/8/layout/hList1"/>
    <dgm:cxn modelId="{B259CE03-62E8-480C-AE75-AFC48C8BA8BE}" srcId="{754A830E-B264-4FCB-94A3-E46F69C82745}" destId="{40CE0C3D-77B5-46B8-894A-C8573DBF908D}" srcOrd="3" destOrd="0" parTransId="{B063EEBA-2125-4270-A023-E950AC42EE01}" sibTransId="{55295F15-20EB-41F1-8261-F80F2958D313}"/>
    <dgm:cxn modelId="{BF719D04-5C3D-4999-AA27-1FE37705910B}" type="presOf" srcId="{23E96DF9-9CC7-4F6C-B5DE-85A7ED9FB541}" destId="{93AD6C02-C570-4B98-A114-BD91353A70E2}" srcOrd="0" destOrd="0" presId="urn:microsoft.com/office/officeart/2005/8/layout/hList1"/>
    <dgm:cxn modelId="{7C94D605-4CC1-4A99-8A3C-148BDCA73BA4}" srcId="{B76804FE-AEC9-4A67-87F5-E6414E3E16E6}" destId="{EB02B95B-92E3-4468-9B95-144E886C28D2}" srcOrd="0" destOrd="0" parTransId="{428A7888-3748-46F0-96ED-C74DA9BF9E7A}" sibTransId="{5B31EB3F-9F23-49B5-9D21-05216677B41F}"/>
    <dgm:cxn modelId="{45F6BD0D-39E5-4908-8A19-CD2D280E70A5}" srcId="{BD3C46A4-8F49-4C70-8638-2E177E3C0B8A}" destId="{06378CB1-7430-4E5D-A369-7AF5BD891663}" srcOrd="5" destOrd="0" parTransId="{23358413-DB43-482C-8E87-86BC311398DE}" sibTransId="{BE453B80-68A8-4524-816D-4F7493D27638}"/>
    <dgm:cxn modelId="{E49D4010-F634-4D3C-BCF0-E291C4A9B6C1}" srcId="{BD3C46A4-8F49-4C70-8638-2E177E3C0B8A}" destId="{F820D85E-9301-4A23-AD9F-F0FD27B056FE}" srcOrd="2" destOrd="0" parTransId="{84EED358-E9AE-43CF-896D-60428CD7ED0C}" sibTransId="{053D1829-61A4-4FBB-9F9F-61C04D8CAE79}"/>
    <dgm:cxn modelId="{77D95A15-C97F-4B4A-AB84-D8D67869C812}" srcId="{754A830E-B264-4FCB-94A3-E46F69C82745}" destId="{13392EA5-EAA1-466B-AB2D-2BB67420DBAA}" srcOrd="0" destOrd="0" parTransId="{3E29BF76-3811-4E3A-B2BC-C2D1DAFB2355}" sibTransId="{3E069AEB-156F-49CE-8DFB-230B165014DF}"/>
    <dgm:cxn modelId="{024BAA1E-8EE7-4655-AF07-54970D4AB341}" type="presOf" srcId="{63AF613A-16FD-4775-AE6E-584C84D7A818}" destId="{2386F963-F7DC-4818-BF78-7A9B920A5ED3}" srcOrd="0" destOrd="2" presId="urn:microsoft.com/office/officeart/2005/8/layout/hList1"/>
    <dgm:cxn modelId="{620BDE25-288A-4CCD-A243-839B020306F0}" srcId="{B2EBBC64-C668-49EF-B1A6-AD754083CB7D}" destId="{31D1AB88-0481-42BB-87CD-BF5612FCE800}" srcOrd="1" destOrd="0" parTransId="{45C83E64-D4E1-4BDA-B31E-E16ABC1B9829}" sibTransId="{4B8D836D-C666-4247-84E8-7E812DA0F74C}"/>
    <dgm:cxn modelId="{33335530-4895-4B3B-950F-E3DCCEF5D37F}" srcId="{754A830E-B264-4FCB-94A3-E46F69C82745}" destId="{3F30CC8E-ED56-40E7-B188-324584D42055}" srcOrd="1" destOrd="0" parTransId="{39B14C7F-69E0-4639-82BB-E8B1DE123E5A}" sibTransId="{90CB26B9-5706-4C17-BF01-E3F82C84BD58}"/>
    <dgm:cxn modelId="{F9355631-C8B0-46B7-AAC5-EFB8DCEF42D8}" srcId="{B2EBBC64-C668-49EF-B1A6-AD754083CB7D}" destId="{5A21CEA1-CEC2-45DF-8391-A9CE1CD3FF51}" srcOrd="2" destOrd="0" parTransId="{E2C4D629-EA3D-43A3-8FCC-FB505453842A}" sibTransId="{CFB6886E-CF58-46D0-AF28-5967C22A462E}"/>
    <dgm:cxn modelId="{308AD036-6D9D-4144-B896-EA729E4F0737}" type="presOf" srcId="{BD3C46A4-8F49-4C70-8638-2E177E3C0B8A}" destId="{B8CA53DA-B7D8-4D15-BFD6-3D0EB67A4CD0}" srcOrd="0" destOrd="0" presId="urn:microsoft.com/office/officeart/2005/8/layout/hList1"/>
    <dgm:cxn modelId="{345EC238-D870-4F93-B4CC-17C942B7D919}" type="presOf" srcId="{76BC4088-B327-4BAB-807C-765E1B650E98}" destId="{C3B5A14A-E3BD-4ACA-85F8-CA68E495C3A9}" srcOrd="0" destOrd="3" presId="urn:microsoft.com/office/officeart/2005/8/layout/hList1"/>
    <dgm:cxn modelId="{D313853A-AD9D-4014-A2D4-D21CC41A15DC}" srcId="{F820D85E-9301-4A23-AD9F-F0FD27B056FE}" destId="{1D22372C-5062-48CD-8150-FC351CB8D880}" srcOrd="0" destOrd="0" parTransId="{504311C3-28A4-4B9B-9140-FE5965DF8220}" sibTransId="{FC559AE4-26E3-49E3-B807-367E09549A13}"/>
    <dgm:cxn modelId="{72B4E63A-3E70-4FC0-9C25-D168BC744362}" srcId="{06378CB1-7430-4E5D-A369-7AF5BD891663}" destId="{A7EC09BC-884A-41B9-87B2-A10C90921177}" srcOrd="0" destOrd="0" parTransId="{E1B2808F-E21D-42BB-B99D-AFD29FFCD695}" sibTransId="{1C88C43A-8CD5-46C9-89C6-34F5361EAD8C}"/>
    <dgm:cxn modelId="{03F92A5C-295E-4F20-BA67-52815516E6C4}" type="presOf" srcId="{EB02B95B-92E3-4468-9B95-144E886C28D2}" destId="{8068C82F-086E-4EB9-8A72-CF586A1DF1FD}" srcOrd="0" destOrd="0" presId="urn:microsoft.com/office/officeart/2005/8/layout/hList1"/>
    <dgm:cxn modelId="{79042E45-DC99-45E6-BB38-8C1A1CABE046}" type="presOf" srcId="{E9ADC9A3-97A2-4D8D-81E3-A0B5B4389DAA}" destId="{C3B5A14A-E3BD-4ACA-85F8-CA68E495C3A9}" srcOrd="0" destOrd="1" presId="urn:microsoft.com/office/officeart/2005/8/layout/hList1"/>
    <dgm:cxn modelId="{BDDD5965-0E31-46F1-8DC9-14B99DDD21A2}" type="presOf" srcId="{D167CCF2-8BF5-4D5D-A319-2F136A4718A6}" destId="{C3B5A14A-E3BD-4ACA-85F8-CA68E495C3A9}" srcOrd="0" destOrd="2" presId="urn:microsoft.com/office/officeart/2005/8/layout/hList1"/>
    <dgm:cxn modelId="{3FBD394B-9BC5-4271-8B83-A2F1E31D0F7D}" type="presOf" srcId="{A896C2C5-AD33-46A3-A70B-C0A182632D18}" destId="{42962EBA-4AA9-4CF9-8A9E-92A5F5634BDB}" srcOrd="0" destOrd="1" presId="urn:microsoft.com/office/officeart/2005/8/layout/hList1"/>
    <dgm:cxn modelId="{7F6FAA6B-B8D1-4443-A317-9EE8391B9338}" srcId="{B76804FE-AEC9-4A67-87F5-E6414E3E16E6}" destId="{32549418-160E-4DFE-9E7E-64451DEC9C53}" srcOrd="1" destOrd="0" parTransId="{BD25A1FE-53FC-49C4-ABA5-8370E571A19F}" sibTransId="{428D54DD-F437-41BF-8B75-17EDD5091FE0}"/>
    <dgm:cxn modelId="{998FD64B-3986-4F4F-B207-E96BD4DC77DF}" srcId="{BD3C46A4-8F49-4C70-8638-2E177E3C0B8A}" destId="{B2EBBC64-C668-49EF-B1A6-AD754083CB7D}" srcOrd="4" destOrd="0" parTransId="{FDF07EDA-5ED7-4441-A47B-E0E8F9747471}" sibTransId="{08EA0AA0-8D50-4939-9F15-64A9DB8F556F}"/>
    <dgm:cxn modelId="{F2DFF34C-D0D0-4331-9F54-A375FC18BAB4}" srcId="{B769165E-ECA0-4EEB-B8D2-43A36FE84097}" destId="{A27F9E9E-EF3C-4166-9246-0F46F4F5EA2A}" srcOrd="1" destOrd="0" parTransId="{A436165E-E634-455D-A906-E2F830407E10}" sibTransId="{BC8FA988-EE5D-4E86-96B3-872A18B5983B}"/>
    <dgm:cxn modelId="{8C47B86D-B541-4F29-A9C9-64F65E3675AA}" srcId="{B769165E-ECA0-4EEB-B8D2-43A36FE84097}" destId="{C703CA22-6DE3-4B69-8306-D042CFC7B0D5}" srcOrd="2" destOrd="0" parTransId="{1E8E5BF4-CDE4-416C-A918-3233FE75EA3B}" sibTransId="{F6E41B7E-E018-4F14-8C12-4BF6907BA4AB}"/>
    <dgm:cxn modelId="{2182AE6E-DC97-49D1-AF4C-F6DE34854B67}" type="presOf" srcId="{3F30CC8E-ED56-40E7-B188-324584D42055}" destId="{2386F963-F7DC-4818-BF78-7A9B920A5ED3}" srcOrd="0" destOrd="1" presId="urn:microsoft.com/office/officeart/2005/8/layout/hList1"/>
    <dgm:cxn modelId="{FAF46773-4D31-4301-BE82-E872FDBDB471}" type="presOf" srcId="{06378CB1-7430-4E5D-A369-7AF5BD891663}" destId="{18DFD1E4-D1A6-456B-94A8-8D3835CA639E}" srcOrd="0" destOrd="0" presId="urn:microsoft.com/office/officeart/2005/8/layout/hList1"/>
    <dgm:cxn modelId="{37D6BA78-B19E-442A-9E62-D53871493EAD}" type="presOf" srcId="{C703CA22-6DE3-4B69-8306-D042CFC7B0D5}" destId="{CDA36B6D-0408-4B83-838C-133369333A0F}" srcOrd="0" destOrd="2" presId="urn:microsoft.com/office/officeart/2005/8/layout/hList1"/>
    <dgm:cxn modelId="{52C20479-4A41-4963-8A48-4E849D2902DF}" type="presOf" srcId="{A7EC09BC-884A-41B9-87B2-A10C90921177}" destId="{C3B5A14A-E3BD-4ACA-85F8-CA68E495C3A9}" srcOrd="0" destOrd="0" presId="urn:microsoft.com/office/officeart/2005/8/layout/hList1"/>
    <dgm:cxn modelId="{05546D59-9968-4702-9D94-0C931D7BF321}" type="presOf" srcId="{B1E9AC17-F6ED-4699-AA91-5945C7297C42}" destId="{42962EBA-4AA9-4CF9-8A9E-92A5F5634BDB}" srcOrd="0" destOrd="4" presId="urn:microsoft.com/office/officeart/2005/8/layout/hList1"/>
    <dgm:cxn modelId="{E9D3AC5A-3B00-4AC9-84C5-08BDD2A9DC5B}" type="presOf" srcId="{C8B96B9D-D0AE-4254-B28C-9582A3948A47}" destId="{42962EBA-4AA9-4CF9-8A9E-92A5F5634BDB}" srcOrd="0" destOrd="2" presId="urn:microsoft.com/office/officeart/2005/8/layout/hList1"/>
    <dgm:cxn modelId="{047C857B-10B7-4593-A57D-3725CFD4CC92}" type="presOf" srcId="{40CE0C3D-77B5-46B8-894A-C8573DBF908D}" destId="{2386F963-F7DC-4818-BF78-7A9B920A5ED3}" srcOrd="0" destOrd="3" presId="urn:microsoft.com/office/officeart/2005/8/layout/hList1"/>
    <dgm:cxn modelId="{D6791281-7D42-499C-9E7B-D1DBAD884440}" srcId="{754A830E-B264-4FCB-94A3-E46F69C82745}" destId="{7A748F03-7B92-4720-AD29-EED725CEC7D3}" srcOrd="4" destOrd="0" parTransId="{EC761C3A-DD1C-4988-B6B0-5EFEB9CB4695}" sibTransId="{3111EB0B-A442-444B-9EBB-1C3276AFFDFE}"/>
    <dgm:cxn modelId="{C9545485-75E8-4AED-BAF4-000027AC2040}" srcId="{F820D85E-9301-4A23-AD9F-F0FD27B056FE}" destId="{A896C2C5-AD33-46A3-A70B-C0A182632D18}" srcOrd="1" destOrd="0" parTransId="{1B0F6F5A-C042-450C-A2F4-BEA83841C059}" sibTransId="{169C1492-9975-435B-B98F-812F12500249}"/>
    <dgm:cxn modelId="{DA3CFA85-AE82-4FF3-9FE2-3C3828590AE0}" srcId="{06378CB1-7430-4E5D-A369-7AF5BD891663}" destId="{D167CCF2-8BF5-4D5D-A319-2F136A4718A6}" srcOrd="2" destOrd="0" parTransId="{B6837CA6-99F3-4881-B9AD-141E36573A5E}" sibTransId="{65D4B4DA-AA9C-484C-8E79-CEFDE89BABA8}"/>
    <dgm:cxn modelId="{A9E18B8B-3A14-4725-ADE6-5487237DBAAE}" type="presOf" srcId="{7C4D2E99-0275-4771-9664-7767C77495E2}" destId="{8068C82F-086E-4EB9-8A72-CF586A1DF1FD}" srcOrd="0" destOrd="2" presId="urn:microsoft.com/office/officeart/2005/8/layout/hList1"/>
    <dgm:cxn modelId="{39A5AE8C-5739-43A3-8A62-B8F369950456}" type="presOf" srcId="{9D6798BB-0607-4736-AEBD-70E712F80B91}" destId="{CDA36B6D-0408-4B83-838C-133369333A0F}" srcOrd="0" destOrd="0" presId="urn:microsoft.com/office/officeart/2005/8/layout/hList1"/>
    <dgm:cxn modelId="{91817890-4472-4D35-8887-77DF78FD3949}" type="presOf" srcId="{B769165E-ECA0-4EEB-B8D2-43A36FE84097}" destId="{011464C4-1BA8-4802-BE58-3579D51BC7EA}" srcOrd="0" destOrd="0" presId="urn:microsoft.com/office/officeart/2005/8/layout/hList1"/>
    <dgm:cxn modelId="{11A2E0A2-B974-496F-81C3-EC626A8F0FE1}" type="presOf" srcId="{7A748F03-7B92-4720-AD29-EED725CEC7D3}" destId="{2386F963-F7DC-4818-BF78-7A9B920A5ED3}" srcOrd="0" destOrd="4" presId="urn:microsoft.com/office/officeart/2005/8/layout/hList1"/>
    <dgm:cxn modelId="{EC2AFEA5-7FF8-411B-8F44-68511D01F268}" type="presOf" srcId="{754A830E-B264-4FCB-94A3-E46F69C82745}" destId="{D6043009-49C3-4900-9BFD-7FAC0ED4EADC}" srcOrd="0" destOrd="0" presId="urn:microsoft.com/office/officeart/2005/8/layout/hList1"/>
    <dgm:cxn modelId="{3BB84AAD-3918-48AC-A79C-81726F0D42C1}" srcId="{B76804FE-AEC9-4A67-87F5-E6414E3E16E6}" destId="{7C4D2E99-0275-4771-9664-7767C77495E2}" srcOrd="2" destOrd="0" parTransId="{02852F38-6687-48EF-8C65-AFCE5E4CE304}" sibTransId="{7D474518-6505-449A-A97C-FD75E2594E75}"/>
    <dgm:cxn modelId="{7582F2B1-6528-4C96-B5EC-7CEF5287203B}" type="presOf" srcId="{B2EBBC64-C668-49EF-B1A6-AD754083CB7D}" destId="{2C7E9539-5B11-4B03-8605-FF39FB3AB557}" srcOrd="0" destOrd="0" presId="urn:microsoft.com/office/officeart/2005/8/layout/hList1"/>
    <dgm:cxn modelId="{89789DB7-53F7-4860-8B33-2233652DB9B6}" srcId="{F820D85E-9301-4A23-AD9F-F0FD27B056FE}" destId="{C8B96B9D-D0AE-4254-B28C-9582A3948A47}" srcOrd="2" destOrd="0" parTransId="{25690D88-FCEA-46A4-A139-7EB94C62F53A}" sibTransId="{7BECDEF2-0BB3-41C6-8BF3-8D380230D30B}"/>
    <dgm:cxn modelId="{A20DDBBA-2E89-4122-B53F-5366551E1D04}" srcId="{F820D85E-9301-4A23-AD9F-F0FD27B056FE}" destId="{B1E9AC17-F6ED-4699-AA91-5945C7297C42}" srcOrd="4" destOrd="0" parTransId="{A158CF76-45D3-4F69-81BD-FD9434ED39A9}" sibTransId="{50F13F8C-A95A-4AD6-8927-B51864D104E8}"/>
    <dgm:cxn modelId="{E97AD6C5-B57C-4C50-934A-CC3822172EA3}" type="presOf" srcId="{32549418-160E-4DFE-9E7E-64451DEC9C53}" destId="{8068C82F-086E-4EB9-8A72-CF586A1DF1FD}" srcOrd="0" destOrd="1" presId="urn:microsoft.com/office/officeart/2005/8/layout/hList1"/>
    <dgm:cxn modelId="{20C8C0CA-D0C9-4EF0-8633-06EB46F19738}" type="presOf" srcId="{31D1AB88-0481-42BB-87CD-BF5612FCE800}" destId="{93AD6C02-C570-4B98-A114-BD91353A70E2}" srcOrd="0" destOrd="1" presId="urn:microsoft.com/office/officeart/2005/8/layout/hList1"/>
    <dgm:cxn modelId="{94F895CC-DED4-4BA4-91C2-761C7B142DF4}" srcId="{754A830E-B264-4FCB-94A3-E46F69C82745}" destId="{63AF613A-16FD-4775-AE6E-584C84D7A818}" srcOrd="2" destOrd="0" parTransId="{F3697EBB-C388-4E87-92B6-D07FBB69DBB7}" sibTransId="{48ACBAAB-7140-4CA0-B8EB-4AC60F617335}"/>
    <dgm:cxn modelId="{7F82E0CF-AC1A-4295-8CBF-7B9393010640}" srcId="{06378CB1-7430-4E5D-A369-7AF5BD891663}" destId="{E9ADC9A3-97A2-4D8D-81E3-A0B5B4389DAA}" srcOrd="1" destOrd="0" parTransId="{9839F5B6-67AD-49A7-ACC4-737C163665DE}" sibTransId="{FECED7DE-5F36-40D3-93EE-2BAF23B8DFAD}"/>
    <dgm:cxn modelId="{B5EA0CD2-CE7B-4C92-8817-C2816E4DAB3C}" srcId="{BD3C46A4-8F49-4C70-8638-2E177E3C0B8A}" destId="{B76804FE-AEC9-4A67-87F5-E6414E3E16E6}" srcOrd="0" destOrd="0" parTransId="{993DFBE5-3328-42FF-9707-9C90967F7855}" sibTransId="{323763D7-1842-4C1D-B4DB-A8EAF58787D6}"/>
    <dgm:cxn modelId="{6260B2D8-1E2C-4377-83EF-28630F874C6C}" srcId="{06378CB1-7430-4E5D-A369-7AF5BD891663}" destId="{76BC4088-B327-4BAB-807C-765E1B650E98}" srcOrd="3" destOrd="0" parTransId="{C843E2D5-2B1B-4D91-962E-6C6E1A443444}" sibTransId="{2CB885C4-243F-4191-B052-01B12FFF7D77}"/>
    <dgm:cxn modelId="{861ED4D9-4EAE-4617-9AD9-0C79E12B7E55}" type="presOf" srcId="{F820D85E-9301-4A23-AD9F-F0FD27B056FE}" destId="{F551F810-A141-471B-81F3-7448F6322E52}" srcOrd="0" destOrd="0" presId="urn:microsoft.com/office/officeart/2005/8/layout/hList1"/>
    <dgm:cxn modelId="{BA69B8DF-90C9-4FEF-98C0-388369681E3D}" srcId="{BD3C46A4-8F49-4C70-8638-2E177E3C0B8A}" destId="{B769165E-ECA0-4EEB-B8D2-43A36FE84097}" srcOrd="3" destOrd="0" parTransId="{1DF7593D-A4CA-4B41-907C-D09FAC8A0A96}" sibTransId="{38D79024-37AF-40AD-9393-1148DE518B54}"/>
    <dgm:cxn modelId="{D83D93E7-3E37-4D64-B75D-D8456325C9F6}" srcId="{BD3C46A4-8F49-4C70-8638-2E177E3C0B8A}" destId="{754A830E-B264-4FCB-94A3-E46F69C82745}" srcOrd="1" destOrd="0" parTransId="{6A8B1B2C-5526-4CA1-9ED6-2F7FB56F31AF}" sibTransId="{0552C07A-C7CF-4C45-80D8-32899DC3F318}"/>
    <dgm:cxn modelId="{340FABE7-B185-4C80-8438-CBBA327FD2ED}" type="presOf" srcId="{5A21CEA1-CEC2-45DF-8391-A9CE1CD3FF51}" destId="{93AD6C02-C570-4B98-A114-BD91353A70E2}" srcOrd="0" destOrd="2" presId="urn:microsoft.com/office/officeart/2005/8/layout/hList1"/>
    <dgm:cxn modelId="{130AA4E8-CF27-4E41-8976-EBB4A97775FF}" type="presOf" srcId="{13392EA5-EAA1-466B-AB2D-2BB67420DBAA}" destId="{2386F963-F7DC-4818-BF78-7A9B920A5ED3}" srcOrd="0" destOrd="0" presId="urn:microsoft.com/office/officeart/2005/8/layout/hList1"/>
    <dgm:cxn modelId="{D2CF54EE-9915-490B-9CAE-05C6943997B5}" srcId="{F820D85E-9301-4A23-AD9F-F0FD27B056FE}" destId="{0B367DC7-527F-4155-90A5-24588D2424B8}" srcOrd="3" destOrd="0" parTransId="{A07C6E94-882D-4B7F-943A-C876232C6ED0}" sibTransId="{957A95A2-10A7-497C-BBCF-D1482BF96BDC}"/>
    <dgm:cxn modelId="{4B1234F2-FEA0-4CDE-8DA2-6BA87EF4DC68}" type="presOf" srcId="{B76804FE-AEC9-4A67-87F5-E6414E3E16E6}" destId="{AE23FDA5-02BC-4426-95BA-B14BE475AFE3}" srcOrd="0" destOrd="0" presId="urn:microsoft.com/office/officeart/2005/8/layout/hList1"/>
    <dgm:cxn modelId="{A965FCF2-9CFA-4F31-97B1-CFE459CFF862}" srcId="{B769165E-ECA0-4EEB-B8D2-43A36FE84097}" destId="{9D6798BB-0607-4736-AEBD-70E712F80B91}" srcOrd="0" destOrd="0" parTransId="{EC4896E8-8EFD-4CFB-A1DA-40A8A11E540D}" sibTransId="{005940EC-0912-49B5-B901-73D8D7D579BB}"/>
    <dgm:cxn modelId="{D4EE8DF4-D6AA-4295-A81B-55C43DCA9ADF}" srcId="{B2EBBC64-C668-49EF-B1A6-AD754083CB7D}" destId="{23E96DF9-9CC7-4F6C-B5DE-85A7ED9FB541}" srcOrd="0" destOrd="0" parTransId="{0CFEDDF1-72B4-4C80-93AE-92B4542FC914}" sibTransId="{7DAD2BCD-D211-4BB2-915D-81B5C4C98CD3}"/>
    <dgm:cxn modelId="{9BE0BDF4-52F1-4DF3-BE06-B9E2966F2024}" type="presOf" srcId="{A27F9E9E-EF3C-4166-9246-0F46F4F5EA2A}" destId="{CDA36B6D-0408-4B83-838C-133369333A0F}" srcOrd="0" destOrd="1" presId="urn:microsoft.com/office/officeart/2005/8/layout/hList1"/>
    <dgm:cxn modelId="{A55031FB-3AB4-4187-93F7-61FE808FC69A}" type="presOf" srcId="{0B367DC7-527F-4155-90A5-24588D2424B8}" destId="{42962EBA-4AA9-4CF9-8A9E-92A5F5634BDB}" srcOrd="0" destOrd="3" presId="urn:microsoft.com/office/officeart/2005/8/layout/hList1"/>
    <dgm:cxn modelId="{7D0F4DA7-C4D3-4BE2-BDE2-321E9FDE29D1}" type="presParOf" srcId="{B8CA53DA-B7D8-4D15-BFD6-3D0EB67A4CD0}" destId="{352BC6D9-6350-4E3B-AF82-4F22CD5F1542}" srcOrd="0" destOrd="0" presId="urn:microsoft.com/office/officeart/2005/8/layout/hList1"/>
    <dgm:cxn modelId="{15396AFE-F674-43D7-BB29-B2E49263B201}" type="presParOf" srcId="{352BC6D9-6350-4E3B-AF82-4F22CD5F1542}" destId="{AE23FDA5-02BC-4426-95BA-B14BE475AFE3}" srcOrd="0" destOrd="0" presId="urn:microsoft.com/office/officeart/2005/8/layout/hList1"/>
    <dgm:cxn modelId="{0395878B-6C4C-4B0A-BAF3-E6B2B91D68FC}" type="presParOf" srcId="{352BC6D9-6350-4E3B-AF82-4F22CD5F1542}" destId="{8068C82F-086E-4EB9-8A72-CF586A1DF1FD}" srcOrd="1" destOrd="0" presId="urn:microsoft.com/office/officeart/2005/8/layout/hList1"/>
    <dgm:cxn modelId="{06ECDEF8-7ABF-4B0A-9493-5275145571E1}" type="presParOf" srcId="{B8CA53DA-B7D8-4D15-BFD6-3D0EB67A4CD0}" destId="{9432ECB5-ED05-4F39-B1E7-50E30E29A2E7}" srcOrd="1" destOrd="0" presId="urn:microsoft.com/office/officeart/2005/8/layout/hList1"/>
    <dgm:cxn modelId="{BF8AFC2C-CCD1-4D19-AFFF-D9967F799C87}" type="presParOf" srcId="{B8CA53DA-B7D8-4D15-BFD6-3D0EB67A4CD0}" destId="{1381AB73-C702-4984-A88A-8A3C8DDDD0B1}" srcOrd="2" destOrd="0" presId="urn:microsoft.com/office/officeart/2005/8/layout/hList1"/>
    <dgm:cxn modelId="{2313D905-E1ED-41C4-BE38-E4B8D055A4B7}" type="presParOf" srcId="{1381AB73-C702-4984-A88A-8A3C8DDDD0B1}" destId="{D6043009-49C3-4900-9BFD-7FAC0ED4EADC}" srcOrd="0" destOrd="0" presId="urn:microsoft.com/office/officeart/2005/8/layout/hList1"/>
    <dgm:cxn modelId="{78594C88-BD69-4001-B930-B34F5AF3D74B}" type="presParOf" srcId="{1381AB73-C702-4984-A88A-8A3C8DDDD0B1}" destId="{2386F963-F7DC-4818-BF78-7A9B920A5ED3}" srcOrd="1" destOrd="0" presId="urn:microsoft.com/office/officeart/2005/8/layout/hList1"/>
    <dgm:cxn modelId="{5363D605-FE4C-4E8B-865C-C570E21E4EA2}" type="presParOf" srcId="{B8CA53DA-B7D8-4D15-BFD6-3D0EB67A4CD0}" destId="{0B7DC3B3-55F0-4A14-864C-1940539CA393}" srcOrd="3" destOrd="0" presId="urn:microsoft.com/office/officeart/2005/8/layout/hList1"/>
    <dgm:cxn modelId="{C13A8784-8968-456E-A761-EFE30D4D1AE1}" type="presParOf" srcId="{B8CA53DA-B7D8-4D15-BFD6-3D0EB67A4CD0}" destId="{8D360B97-A204-4181-A0FE-59C5F50C9D15}" srcOrd="4" destOrd="0" presId="urn:microsoft.com/office/officeart/2005/8/layout/hList1"/>
    <dgm:cxn modelId="{0149ABB7-2E54-4303-BCB3-C6E12A51141F}" type="presParOf" srcId="{8D360B97-A204-4181-A0FE-59C5F50C9D15}" destId="{F551F810-A141-471B-81F3-7448F6322E52}" srcOrd="0" destOrd="0" presId="urn:microsoft.com/office/officeart/2005/8/layout/hList1"/>
    <dgm:cxn modelId="{8F7FCC3C-A088-4026-A76E-30656028324A}" type="presParOf" srcId="{8D360B97-A204-4181-A0FE-59C5F50C9D15}" destId="{42962EBA-4AA9-4CF9-8A9E-92A5F5634BDB}" srcOrd="1" destOrd="0" presId="urn:microsoft.com/office/officeart/2005/8/layout/hList1"/>
    <dgm:cxn modelId="{F7150D37-850C-40F2-B859-54AAC67F3C85}" type="presParOf" srcId="{B8CA53DA-B7D8-4D15-BFD6-3D0EB67A4CD0}" destId="{31B129B3-85C0-435F-9CBC-4FB3BD89C01A}" srcOrd="5" destOrd="0" presId="urn:microsoft.com/office/officeart/2005/8/layout/hList1"/>
    <dgm:cxn modelId="{00CC1929-50F3-4090-9449-1C534EA53951}" type="presParOf" srcId="{B8CA53DA-B7D8-4D15-BFD6-3D0EB67A4CD0}" destId="{43105A75-4BDF-4757-8560-39593D1B103D}" srcOrd="6" destOrd="0" presId="urn:microsoft.com/office/officeart/2005/8/layout/hList1"/>
    <dgm:cxn modelId="{0EC1D8D0-B551-4B8E-A881-A70E688F6974}" type="presParOf" srcId="{43105A75-4BDF-4757-8560-39593D1B103D}" destId="{011464C4-1BA8-4802-BE58-3579D51BC7EA}" srcOrd="0" destOrd="0" presId="urn:microsoft.com/office/officeart/2005/8/layout/hList1"/>
    <dgm:cxn modelId="{CEB721D5-CCC9-4A1C-B49C-A51E25603A47}" type="presParOf" srcId="{43105A75-4BDF-4757-8560-39593D1B103D}" destId="{CDA36B6D-0408-4B83-838C-133369333A0F}" srcOrd="1" destOrd="0" presId="urn:microsoft.com/office/officeart/2005/8/layout/hList1"/>
    <dgm:cxn modelId="{C0D8DB2C-CF0C-4580-ACDC-BDBD523F5228}" type="presParOf" srcId="{B8CA53DA-B7D8-4D15-BFD6-3D0EB67A4CD0}" destId="{78FAC7A0-0FD3-48B8-9041-62400F5393FD}" srcOrd="7" destOrd="0" presId="urn:microsoft.com/office/officeart/2005/8/layout/hList1"/>
    <dgm:cxn modelId="{9340C586-D611-4DAD-9B53-6ACA2D1573E8}" type="presParOf" srcId="{B8CA53DA-B7D8-4D15-BFD6-3D0EB67A4CD0}" destId="{ACCDE721-C96E-4C1F-B9B5-490DE64F5A0D}" srcOrd="8" destOrd="0" presId="urn:microsoft.com/office/officeart/2005/8/layout/hList1"/>
    <dgm:cxn modelId="{093D3D78-D6F2-44C9-9AA0-2F27D758F166}" type="presParOf" srcId="{ACCDE721-C96E-4C1F-B9B5-490DE64F5A0D}" destId="{2C7E9539-5B11-4B03-8605-FF39FB3AB557}" srcOrd="0" destOrd="0" presId="urn:microsoft.com/office/officeart/2005/8/layout/hList1"/>
    <dgm:cxn modelId="{D6CE5E9B-F3FE-455A-AE9F-3750270A444B}" type="presParOf" srcId="{ACCDE721-C96E-4C1F-B9B5-490DE64F5A0D}" destId="{93AD6C02-C570-4B98-A114-BD91353A70E2}" srcOrd="1" destOrd="0" presId="urn:microsoft.com/office/officeart/2005/8/layout/hList1"/>
    <dgm:cxn modelId="{6E81B7DE-9714-4CE7-AC0D-A84DB56ECFE9}" type="presParOf" srcId="{B8CA53DA-B7D8-4D15-BFD6-3D0EB67A4CD0}" destId="{F357AD83-F30D-489C-9380-BA8AB3141010}" srcOrd="9" destOrd="0" presId="urn:microsoft.com/office/officeart/2005/8/layout/hList1"/>
    <dgm:cxn modelId="{325A4DB2-61D3-424A-8D9F-6AE823E81801}" type="presParOf" srcId="{B8CA53DA-B7D8-4D15-BFD6-3D0EB67A4CD0}" destId="{992B0C11-76AA-4831-9C0F-412BFBA5B897}" srcOrd="10" destOrd="0" presId="urn:microsoft.com/office/officeart/2005/8/layout/hList1"/>
    <dgm:cxn modelId="{C504E3D3-E619-4C6B-A36E-7133EE654EEB}" type="presParOf" srcId="{992B0C11-76AA-4831-9C0F-412BFBA5B897}" destId="{18DFD1E4-D1A6-456B-94A8-8D3835CA639E}" srcOrd="0" destOrd="0" presId="urn:microsoft.com/office/officeart/2005/8/layout/hList1"/>
    <dgm:cxn modelId="{61B229CE-4FEE-428C-99DF-95EF430E2B14}" type="presParOf" srcId="{992B0C11-76AA-4831-9C0F-412BFBA5B897}" destId="{C3B5A14A-E3BD-4ACA-85F8-CA68E495C3A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3FDA5-02BC-4426-95BA-B14BE475AFE3}">
      <dsp:nvSpPr>
        <dsp:cNvPr id="0" name=""/>
        <dsp:cNvSpPr/>
      </dsp:nvSpPr>
      <dsp:spPr>
        <a:xfrm>
          <a:off x="2271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</a:t>
          </a:r>
        </a:p>
      </dsp:txBody>
      <dsp:txXfrm>
        <a:off x="2271" y="138257"/>
        <a:ext cx="1207006" cy="288000"/>
      </dsp:txXfrm>
    </dsp:sp>
    <dsp:sp modelId="{8068C82F-086E-4EB9-8A72-CF586A1DF1FD}">
      <dsp:nvSpPr>
        <dsp:cNvPr id="0" name=""/>
        <dsp:cNvSpPr/>
      </dsp:nvSpPr>
      <dsp:spPr>
        <a:xfrm>
          <a:off x="2271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Federal, state and local legislation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ideology of government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attitudes toward the industry</a:t>
          </a:r>
        </a:p>
      </dsp:txBody>
      <dsp:txXfrm>
        <a:off x="2271" y="426257"/>
        <a:ext cx="1207006" cy="1883756"/>
      </dsp:txXfrm>
    </dsp:sp>
    <dsp:sp modelId="{D6043009-49C3-4900-9BFD-7FAC0ED4EADC}">
      <dsp:nvSpPr>
        <dsp:cNvPr id="0" name=""/>
        <dsp:cNvSpPr/>
      </dsp:nvSpPr>
      <dsp:spPr>
        <a:xfrm>
          <a:off x="1378259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Economic</a:t>
          </a:r>
        </a:p>
      </dsp:txBody>
      <dsp:txXfrm>
        <a:off x="1378259" y="138257"/>
        <a:ext cx="1207006" cy="288000"/>
      </dsp:txXfrm>
    </dsp:sp>
    <dsp:sp modelId="{2386F963-F7DC-4818-BF78-7A9B920A5ED3}">
      <dsp:nvSpPr>
        <dsp:cNvPr id="0" name=""/>
        <dsp:cNvSpPr/>
      </dsp:nvSpPr>
      <dsp:spPr>
        <a:xfrm>
          <a:off x="1378259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Total GDP &amp; GDP growth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Propensity to consume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Interest &amp; exchange rates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Taxation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International economic trends</a:t>
          </a:r>
        </a:p>
      </dsp:txBody>
      <dsp:txXfrm>
        <a:off x="1378259" y="426257"/>
        <a:ext cx="1207006" cy="1883756"/>
      </dsp:txXfrm>
    </dsp:sp>
    <dsp:sp modelId="{F551F810-A141-471B-81F3-7448F6322E52}">
      <dsp:nvSpPr>
        <dsp:cNvPr id="0" name=""/>
        <dsp:cNvSpPr/>
      </dsp:nvSpPr>
      <dsp:spPr>
        <a:xfrm>
          <a:off x="2754246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Social</a:t>
          </a:r>
        </a:p>
      </dsp:txBody>
      <dsp:txXfrm>
        <a:off x="2754246" y="138257"/>
        <a:ext cx="1207006" cy="288000"/>
      </dsp:txXfrm>
    </dsp:sp>
    <dsp:sp modelId="{42962EBA-4AA9-4CF9-8A9E-92A5F5634BDB}">
      <dsp:nvSpPr>
        <dsp:cNvPr id="0" name=""/>
        <dsp:cNvSpPr/>
      </dsp:nvSpPr>
      <dsp:spPr>
        <a:xfrm>
          <a:off x="2754246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Values and attitudes of society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Life styles of population mix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Work ethic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Demographics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Attitudes toward the industry</a:t>
          </a:r>
        </a:p>
      </dsp:txBody>
      <dsp:txXfrm>
        <a:off x="2754246" y="426257"/>
        <a:ext cx="1207006" cy="1883756"/>
      </dsp:txXfrm>
    </dsp:sp>
    <dsp:sp modelId="{011464C4-1BA8-4802-BE58-3579D51BC7EA}">
      <dsp:nvSpPr>
        <dsp:cNvPr id="0" name=""/>
        <dsp:cNvSpPr/>
      </dsp:nvSpPr>
      <dsp:spPr>
        <a:xfrm>
          <a:off x="4130233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</a:t>
          </a:r>
        </a:p>
      </dsp:txBody>
      <dsp:txXfrm>
        <a:off x="4130233" y="138257"/>
        <a:ext cx="1207006" cy="288000"/>
      </dsp:txXfrm>
    </dsp:sp>
    <dsp:sp modelId="{CDA36B6D-0408-4B83-838C-133369333A0F}">
      <dsp:nvSpPr>
        <dsp:cNvPr id="0" name=""/>
        <dsp:cNvSpPr/>
      </dsp:nvSpPr>
      <dsp:spPr>
        <a:xfrm>
          <a:off x="4130233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Scientific discoveries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 developments in focal and substitute industries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Catching up in R&amp;D capabilities</a:t>
          </a:r>
        </a:p>
      </dsp:txBody>
      <dsp:txXfrm>
        <a:off x="4130233" y="426257"/>
        <a:ext cx="1207006" cy="1883756"/>
      </dsp:txXfrm>
    </dsp:sp>
    <dsp:sp modelId="{2C7E9539-5B11-4B03-8605-FF39FB3AB557}">
      <dsp:nvSpPr>
        <dsp:cNvPr id="0" name=""/>
        <dsp:cNvSpPr/>
      </dsp:nvSpPr>
      <dsp:spPr>
        <a:xfrm>
          <a:off x="5506221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Environmental</a:t>
          </a:r>
        </a:p>
      </dsp:txBody>
      <dsp:txXfrm>
        <a:off x="5506221" y="138257"/>
        <a:ext cx="1207006" cy="288000"/>
      </dsp:txXfrm>
    </dsp:sp>
    <dsp:sp modelId="{93AD6C02-C570-4B98-A114-BD91353A70E2}">
      <dsp:nvSpPr>
        <dsp:cNvPr id="0" name=""/>
        <dsp:cNvSpPr/>
      </dsp:nvSpPr>
      <dsp:spPr>
        <a:xfrm>
          <a:off x="5506221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Geographical location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Climate change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Raw materials</a:t>
          </a:r>
        </a:p>
      </dsp:txBody>
      <dsp:txXfrm>
        <a:off x="5506221" y="426257"/>
        <a:ext cx="1207006" cy="1883756"/>
      </dsp:txXfrm>
    </dsp:sp>
    <dsp:sp modelId="{18DFD1E4-D1A6-456B-94A8-8D3835CA639E}">
      <dsp:nvSpPr>
        <dsp:cNvPr id="0" name=""/>
        <dsp:cNvSpPr/>
      </dsp:nvSpPr>
      <dsp:spPr>
        <a:xfrm>
          <a:off x="6882208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Legal</a:t>
          </a:r>
        </a:p>
      </dsp:txBody>
      <dsp:txXfrm>
        <a:off x="6882208" y="138257"/>
        <a:ext cx="1207006" cy="288000"/>
      </dsp:txXfrm>
    </dsp:sp>
    <dsp:sp modelId="{C3B5A14A-E3BD-4ACA-85F8-CA68E495C3A9}">
      <dsp:nvSpPr>
        <dsp:cNvPr id="0" name=""/>
        <dsp:cNvSpPr/>
      </dsp:nvSpPr>
      <dsp:spPr>
        <a:xfrm>
          <a:off x="6882208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Consumer laws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Labor laws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Health and safety standards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Copyright and patent laws</a:t>
          </a:r>
        </a:p>
      </dsp:txBody>
      <dsp:txXfrm>
        <a:off x="6882208" y="426257"/>
        <a:ext cx="1207006" cy="1883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3FDA5-02BC-4426-95BA-B14BE475AFE3}">
      <dsp:nvSpPr>
        <dsp:cNvPr id="0" name=""/>
        <dsp:cNvSpPr/>
      </dsp:nvSpPr>
      <dsp:spPr>
        <a:xfrm>
          <a:off x="2271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</a:t>
          </a:r>
        </a:p>
      </dsp:txBody>
      <dsp:txXfrm>
        <a:off x="2271" y="138257"/>
        <a:ext cx="1207006" cy="288000"/>
      </dsp:txXfrm>
    </dsp:sp>
    <dsp:sp modelId="{8068C82F-086E-4EB9-8A72-CF586A1DF1FD}">
      <dsp:nvSpPr>
        <dsp:cNvPr id="0" name=""/>
        <dsp:cNvSpPr/>
      </dsp:nvSpPr>
      <dsp:spPr>
        <a:xfrm>
          <a:off x="2271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Federal, state and local legislation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ideology of government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Political attitudes toward the industry</a:t>
          </a:r>
        </a:p>
      </dsp:txBody>
      <dsp:txXfrm>
        <a:off x="2271" y="426257"/>
        <a:ext cx="1207006" cy="1883756"/>
      </dsp:txXfrm>
    </dsp:sp>
    <dsp:sp modelId="{D6043009-49C3-4900-9BFD-7FAC0ED4EADC}">
      <dsp:nvSpPr>
        <dsp:cNvPr id="0" name=""/>
        <dsp:cNvSpPr/>
      </dsp:nvSpPr>
      <dsp:spPr>
        <a:xfrm>
          <a:off x="1378259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Economic</a:t>
          </a:r>
        </a:p>
      </dsp:txBody>
      <dsp:txXfrm>
        <a:off x="1378259" y="138257"/>
        <a:ext cx="1207006" cy="288000"/>
      </dsp:txXfrm>
    </dsp:sp>
    <dsp:sp modelId="{2386F963-F7DC-4818-BF78-7A9B920A5ED3}">
      <dsp:nvSpPr>
        <dsp:cNvPr id="0" name=""/>
        <dsp:cNvSpPr/>
      </dsp:nvSpPr>
      <dsp:spPr>
        <a:xfrm>
          <a:off x="1378259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Total GDP &amp; GDP growth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Propensity to consume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Interest &amp; exchange rates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Taxation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International economic trends</a:t>
          </a:r>
        </a:p>
      </dsp:txBody>
      <dsp:txXfrm>
        <a:off x="1378259" y="426257"/>
        <a:ext cx="1207006" cy="1883756"/>
      </dsp:txXfrm>
    </dsp:sp>
    <dsp:sp modelId="{F551F810-A141-471B-81F3-7448F6322E52}">
      <dsp:nvSpPr>
        <dsp:cNvPr id="0" name=""/>
        <dsp:cNvSpPr/>
      </dsp:nvSpPr>
      <dsp:spPr>
        <a:xfrm>
          <a:off x="2754246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Social</a:t>
          </a:r>
        </a:p>
      </dsp:txBody>
      <dsp:txXfrm>
        <a:off x="2754246" y="138257"/>
        <a:ext cx="1207006" cy="288000"/>
      </dsp:txXfrm>
    </dsp:sp>
    <dsp:sp modelId="{42962EBA-4AA9-4CF9-8A9E-92A5F5634BDB}">
      <dsp:nvSpPr>
        <dsp:cNvPr id="0" name=""/>
        <dsp:cNvSpPr/>
      </dsp:nvSpPr>
      <dsp:spPr>
        <a:xfrm>
          <a:off x="2754246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Values and attitudes of society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Life styles of population mix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Work ethic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Demographics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Attitudes toward the industry</a:t>
          </a:r>
        </a:p>
      </dsp:txBody>
      <dsp:txXfrm>
        <a:off x="2754246" y="426257"/>
        <a:ext cx="1207006" cy="1883756"/>
      </dsp:txXfrm>
    </dsp:sp>
    <dsp:sp modelId="{011464C4-1BA8-4802-BE58-3579D51BC7EA}">
      <dsp:nvSpPr>
        <dsp:cNvPr id="0" name=""/>
        <dsp:cNvSpPr/>
      </dsp:nvSpPr>
      <dsp:spPr>
        <a:xfrm>
          <a:off x="4130233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</a:t>
          </a:r>
        </a:p>
      </dsp:txBody>
      <dsp:txXfrm>
        <a:off x="4130233" y="138257"/>
        <a:ext cx="1207006" cy="288000"/>
      </dsp:txXfrm>
    </dsp:sp>
    <dsp:sp modelId="{CDA36B6D-0408-4B83-838C-133369333A0F}">
      <dsp:nvSpPr>
        <dsp:cNvPr id="0" name=""/>
        <dsp:cNvSpPr/>
      </dsp:nvSpPr>
      <dsp:spPr>
        <a:xfrm>
          <a:off x="4130233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Scientific discoveries</a:t>
          </a:r>
          <a:endParaRPr lang="de-AT" sz="105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Technological developments in focal and substitute industries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Catching up in R&amp;D capabilities</a:t>
          </a:r>
        </a:p>
      </dsp:txBody>
      <dsp:txXfrm>
        <a:off x="4130233" y="426257"/>
        <a:ext cx="1207006" cy="1883756"/>
      </dsp:txXfrm>
    </dsp:sp>
    <dsp:sp modelId="{2C7E9539-5B11-4B03-8605-FF39FB3AB557}">
      <dsp:nvSpPr>
        <dsp:cNvPr id="0" name=""/>
        <dsp:cNvSpPr/>
      </dsp:nvSpPr>
      <dsp:spPr>
        <a:xfrm>
          <a:off x="5506221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Environmental</a:t>
          </a:r>
        </a:p>
      </dsp:txBody>
      <dsp:txXfrm>
        <a:off x="5506221" y="138257"/>
        <a:ext cx="1207006" cy="288000"/>
      </dsp:txXfrm>
    </dsp:sp>
    <dsp:sp modelId="{93AD6C02-C570-4B98-A114-BD91353A70E2}">
      <dsp:nvSpPr>
        <dsp:cNvPr id="0" name=""/>
        <dsp:cNvSpPr/>
      </dsp:nvSpPr>
      <dsp:spPr>
        <a:xfrm>
          <a:off x="5506221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Geographical location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Climate change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Raw materials</a:t>
          </a:r>
        </a:p>
      </dsp:txBody>
      <dsp:txXfrm>
        <a:off x="5506221" y="426257"/>
        <a:ext cx="1207006" cy="1883756"/>
      </dsp:txXfrm>
    </dsp:sp>
    <dsp:sp modelId="{18DFD1E4-D1A6-456B-94A8-8D3835CA639E}">
      <dsp:nvSpPr>
        <dsp:cNvPr id="0" name=""/>
        <dsp:cNvSpPr/>
      </dsp:nvSpPr>
      <dsp:spPr>
        <a:xfrm>
          <a:off x="6882208" y="138257"/>
          <a:ext cx="1207006" cy="288000"/>
        </a:xfrm>
        <a:prstGeom prst="rect">
          <a:avLst/>
        </a:prstGeom>
        <a:solidFill>
          <a:srgbClr val="336699"/>
        </a:solidFill>
        <a:ln w="25400" cap="flat" cmpd="sng" algn="ctr">
          <a:solidFill>
            <a:srgbClr val="3366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Legal</a:t>
          </a:r>
        </a:p>
      </dsp:txBody>
      <dsp:txXfrm>
        <a:off x="6882208" y="138257"/>
        <a:ext cx="1207006" cy="288000"/>
      </dsp:txXfrm>
    </dsp:sp>
    <dsp:sp modelId="{C3B5A14A-E3BD-4ACA-85F8-CA68E495C3A9}">
      <dsp:nvSpPr>
        <dsp:cNvPr id="0" name=""/>
        <dsp:cNvSpPr/>
      </dsp:nvSpPr>
      <dsp:spPr>
        <a:xfrm>
          <a:off x="6882208" y="426257"/>
          <a:ext cx="1207006" cy="1883756"/>
        </a:xfrm>
        <a:prstGeom prst="rect">
          <a:avLst/>
        </a:prstGeom>
        <a:noFill/>
        <a:ln w="12700" cap="flat" cmpd="sng" algn="ctr">
          <a:solidFill>
            <a:schemeClr val="tx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Consumer laws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Labor laws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Health and safety standards</a:t>
          </a:r>
        </a:p>
        <a:p>
          <a:pPr marL="108000" lvl="1" indent="-10800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Copyright and patent laws</a:t>
          </a:r>
        </a:p>
      </dsp:txBody>
      <dsp:txXfrm>
        <a:off x="6882208" y="426257"/>
        <a:ext cx="1207006" cy="1883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2249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8021" y="2"/>
            <a:ext cx="2922491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7370"/>
            <a:ext cx="2922492" cy="49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8021" y="9377370"/>
            <a:ext cx="2922491" cy="49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45D230D-95A1-4904-A4C2-AB5F1A58B97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846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2949774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84314" y="2"/>
            <a:ext cx="294817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757238"/>
            <a:ext cx="4954588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365" y="4699007"/>
            <a:ext cx="4915757" cy="4400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Sie</a:t>
            </a:r>
            <a:r>
              <a:rPr lang="en-US" noProof="0" dirty="0"/>
              <a:t>, um die </a:t>
            </a:r>
            <a:r>
              <a:rPr lang="en-US" noProof="0" dirty="0" err="1"/>
              <a:t>Textformatierung</a:t>
            </a:r>
            <a:r>
              <a:rPr lang="en-US" noProof="0" dirty="0"/>
              <a:t> des Masters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r>
              <a:rPr lang="en-US" noProof="0" dirty="0"/>
              <a:t>.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64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02770"/>
            <a:ext cx="2949774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4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84314" y="9402770"/>
            <a:ext cx="294817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797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Brief</a:t>
            </a:r>
            <a:r>
              <a:rPr lang="en-US" baseline="0" dirty="0"/>
              <a:t> summary of steps in strategic analysis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9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external environment consists</a:t>
            </a:r>
            <a:r>
              <a:rPr lang="en-US" baseline="0" dirty="0"/>
              <a:t> of the macro- and the micro-level.</a:t>
            </a:r>
            <a:endParaRPr lang="en-US" dirty="0"/>
          </a:p>
          <a:p>
            <a:r>
              <a:rPr lang="en-US" dirty="0"/>
              <a:t>Describe how the</a:t>
            </a:r>
            <a:r>
              <a:rPr lang="en-US" baseline="0" dirty="0"/>
              <a:t> two levels are different from each other (macro affects all companies in a country, micro depends on the company and therefore does not affect all companies in a country).</a:t>
            </a:r>
            <a:endParaRPr lang="en-US" dirty="0"/>
          </a:p>
          <a:p>
            <a:r>
              <a:rPr lang="en-US" dirty="0"/>
              <a:t>The macro-level can be described</a:t>
            </a:r>
            <a:r>
              <a:rPr lang="en-US" baseline="0" dirty="0"/>
              <a:t> with the PESTEL factors.</a:t>
            </a:r>
            <a:endParaRPr lang="en-US" dirty="0"/>
          </a:p>
          <a:p>
            <a:r>
              <a:rPr lang="en-US" dirty="0"/>
              <a:t>Keep it more general here, more</a:t>
            </a:r>
            <a:r>
              <a:rPr lang="en-US" baseline="0" dirty="0"/>
              <a:t> detailed on next slide.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45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detailed description</a:t>
            </a:r>
            <a:r>
              <a:rPr lang="en-US" baseline="0" dirty="0"/>
              <a:t> of the relationships between macro- and micro-level as well as their differences.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870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different factors</a:t>
            </a:r>
            <a:r>
              <a:rPr lang="en-US" baseline="0" dirty="0"/>
              <a:t> of the PESTEL analysis.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18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</a:t>
            </a:r>
            <a:r>
              <a:rPr lang="en-US" baseline="0" dirty="0"/>
              <a:t> that you are able to derive threats and opportunities from the PESTEL analysis.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2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44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 transition for Session 4: Describe the relationship between opportunities</a:t>
            </a:r>
            <a:r>
              <a:rPr lang="en-US" baseline="0" dirty="0"/>
              <a:t> &amp; threats and strengths &amp;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1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77211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35" imgH="235" progId="TCLayout.ActiveDocument.1">
                  <p:embed/>
                </p:oleObj>
              </mc:Choice>
              <mc:Fallback>
                <p:oleObj name="think-cell Folie" r:id="rId4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l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sz="1800" b="0" i="0" baseline="0" dirty="0">
              <a:solidFill>
                <a:schemeClr val="bg1"/>
              </a:solidFill>
              <a:latin typeface="Verdana" panose="020B0604030504040204" pitchFamily="34" charset="0"/>
              <a:ea typeface="MS PGothic" panose="020B0600070205080204" pitchFamily="34" charset="-128"/>
              <a:sym typeface="Verdana" panose="020B0604030504040204" pitchFamily="34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3602038"/>
            <a:ext cx="9144000" cy="2347912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defRPr/>
            </a:pPr>
            <a:endParaRPr lang="en-US" altLang="de-DE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endParaRPr lang="en-US" altLang="de-DE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endParaRPr lang="en-US" altLang="de-DE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endParaRPr lang="en-US" altLang="de-DE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838200" y="6019800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0">
              <a:defRPr/>
            </a:pPr>
            <a:endParaRPr lang="en-US" sz="2000" dirty="0">
              <a:latin typeface="Arial" pitchFamily="34" charset="0"/>
            </a:endParaRP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1" y="1275807"/>
            <a:ext cx="3739313" cy="766916"/>
          </a:xfrm>
          <a:prstGeom prst="rect">
            <a:avLst/>
          </a:prstGeom>
        </p:spPr>
      </p:pic>
      <p:sp>
        <p:nvSpPr>
          <p:cNvPr id="25" name="Textplatzhalt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3903147"/>
            <a:ext cx="8424862" cy="445824"/>
          </a:xfrm>
        </p:spPr>
        <p:txBody>
          <a:bodyPr lIns="0"/>
          <a:lstStyle>
            <a:lvl1pPr marL="0" indent="0">
              <a:buNone/>
              <a:defRPr sz="3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3" name="Textplatzhalt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375013"/>
            <a:ext cx="8424862" cy="445824"/>
          </a:xfrm>
        </p:spPr>
        <p:txBody>
          <a:bodyPr lIns="0"/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platzhalt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395288" y="5071408"/>
            <a:ext cx="8424862" cy="445824"/>
          </a:xfrm>
        </p:spPr>
        <p:txBody>
          <a:bodyPr lIns="0"/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Click to add place and date</a:t>
            </a:r>
          </a:p>
        </p:txBody>
      </p:sp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5" y="2348928"/>
            <a:ext cx="600686" cy="432000"/>
          </a:xfrm>
          <a:prstGeom prst="rect">
            <a:avLst/>
          </a:prstGeom>
        </p:spPr>
      </p:pic>
      <p:pic>
        <p:nvPicPr>
          <p:cNvPr id="27" name="Grafik 26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" t="23192" r="8436" b="24951"/>
          <a:stretch/>
        </p:blipFill>
        <p:spPr>
          <a:xfrm>
            <a:off x="1126082" y="2384928"/>
            <a:ext cx="1024550" cy="360000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t="7626" r="4854" b="11273"/>
          <a:stretch/>
        </p:blipFill>
        <p:spPr>
          <a:xfrm>
            <a:off x="2273183" y="2384928"/>
            <a:ext cx="1191365" cy="360000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587100" y="2384928"/>
            <a:ext cx="128955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7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27907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35" imgH="235" progId="TCLayout.ActiveDocument.1">
                  <p:embed/>
                </p:oleObj>
              </mc:Choice>
              <mc:Fallback>
                <p:oleObj name="think-cell Folie" r:id="rId3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1268412"/>
            <a:ext cx="8424862" cy="4681537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44501-30D4-4910-9B68-5231643A4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1"/>
          </p:nvPr>
        </p:nvSpPr>
        <p:spPr>
          <a:xfrm>
            <a:off x="395288" y="222250"/>
            <a:ext cx="8424862" cy="830263"/>
          </a:xfrm>
        </p:spPr>
        <p:txBody>
          <a:bodyPr/>
          <a:lstStyle>
            <a:lvl1pPr marL="0">
              <a:spcBef>
                <a:spcPts val="0"/>
              </a:spcBef>
              <a:defRPr sz="2000" b="1">
                <a:solidFill>
                  <a:srgbClr val="336699"/>
                </a:solidFill>
              </a:defRPr>
            </a:lvl1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95288" y="5959709"/>
            <a:ext cx="8424862" cy="201600"/>
          </a:xfrm>
        </p:spPr>
        <p:txBody>
          <a:bodyPr lIns="0" anchor="ctr">
            <a:noAutofit/>
          </a:bodyPr>
          <a:lstStyle>
            <a:lvl1pPr marL="342000" indent="-342000">
              <a:buNone/>
              <a:defRPr sz="9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 err="1"/>
              <a:t>Formatvorlagen</a:t>
            </a:r>
            <a:r>
              <a:rPr lang="en-US" dirty="0"/>
              <a:t> des </a:t>
            </a:r>
            <a:r>
              <a:rPr lang="en-US" dirty="0" err="1"/>
              <a:t>Textmasters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5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40831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35" imgH="235" progId="TCLayout.ActiveDocument.1">
                  <p:embed/>
                </p:oleObj>
              </mc:Choice>
              <mc:Fallback>
                <p:oleObj name="think-cell Folie" r:id="rId3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0A3B9-6CBB-484C-AB81-AE89DDD95C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69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1762696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235" imgH="235" progId="TCLayout.ActiveDocument.1">
                  <p:embed/>
                </p:oleObj>
              </mc:Choice>
              <mc:Fallback>
                <p:oleObj name="think-cell Folie" r:id="rId6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268412"/>
            <a:ext cx="8424862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 dirty="0" err="1"/>
              <a:t>Hier</a:t>
            </a:r>
            <a:r>
              <a:rPr lang="en-US" altLang="de-DE" dirty="0"/>
              <a:t> </a:t>
            </a:r>
            <a:r>
              <a:rPr lang="en-US" altLang="de-DE" dirty="0" err="1"/>
              <a:t>klicken</a:t>
            </a:r>
            <a:r>
              <a:rPr lang="en-US" altLang="de-DE" dirty="0"/>
              <a:t>, um Master-</a:t>
            </a:r>
            <a:r>
              <a:rPr lang="en-US" altLang="de-DE" dirty="0" err="1"/>
              <a:t>Textformat</a:t>
            </a:r>
            <a:r>
              <a:rPr lang="en-US" altLang="de-DE" dirty="0"/>
              <a:t> </a:t>
            </a:r>
            <a:r>
              <a:rPr lang="en-US" altLang="de-DE" dirty="0" err="1"/>
              <a:t>zu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028" name="Text Box 8"/>
          <p:cNvSpPr txBox="1">
            <a:spLocks noChangeArrowheads="1"/>
          </p:cNvSpPr>
          <p:nvPr/>
        </p:nvSpPr>
        <p:spPr bwMode="auto">
          <a:xfrm>
            <a:off x="838200" y="6019800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0">
              <a:defRPr/>
            </a:pPr>
            <a:endParaRPr lang="en-US" sz="2000" dirty="0">
              <a:latin typeface="Arial" pitchFamily="34" charset="0"/>
            </a:endParaRPr>
          </a:p>
        </p:txBody>
      </p:sp>
      <p:sp>
        <p:nvSpPr>
          <p:cNvPr id="308238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82013" y="9525"/>
            <a:ext cx="6477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4D4D4D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494A21C-7139-4458-903E-933121433F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0" name="Line 10"/>
          <p:cNvSpPr>
            <a:spLocks noChangeShapeType="1"/>
          </p:cNvSpPr>
          <p:nvPr/>
        </p:nvSpPr>
        <p:spPr bwMode="auto">
          <a:xfrm>
            <a:off x="395288" y="6165850"/>
            <a:ext cx="8424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/>
            <a:endParaRPr lang="en-US" dirty="0"/>
          </a:p>
        </p:txBody>
      </p:sp>
      <p:pic>
        <p:nvPicPr>
          <p:cNvPr id="103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272213"/>
            <a:ext cx="89058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Textfeld 11"/>
          <p:cNvSpPr txBox="1">
            <a:spLocks noChangeArrowheads="1"/>
          </p:cNvSpPr>
          <p:nvPr userDrawn="1"/>
        </p:nvSpPr>
        <p:spPr bwMode="auto">
          <a:xfrm>
            <a:off x="2714625" y="6376908"/>
            <a:ext cx="3729038" cy="24622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INSTITUTE FOR INTERNATIONAL BUSINESS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DB27540-BA36-424B-8F70-11086F28288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12" y="6377898"/>
            <a:ext cx="1408538" cy="244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1" r:id="rId1"/>
    <p:sldLayoutId id="2147485039" r:id="rId2"/>
    <p:sldLayoutId id="2147485044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100" b="0" baseline="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sz="1600" b="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1pPr>
      <a:lvl2pPr marL="269875" indent="-26987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2pPr>
      <a:lvl3pPr marL="539750" indent="-269875" algn="l" rtl="0" eaLnBrk="0" fontAlgn="base" hangingPunct="0">
        <a:spcBef>
          <a:spcPct val="20000"/>
        </a:spcBef>
        <a:spcAft>
          <a:spcPct val="0"/>
        </a:spcAft>
        <a:buSzPct val="90000"/>
        <a:buFont typeface="Symbol" panose="05050102010706020507" pitchFamily="18" charset="2"/>
        <a:buChar char="-"/>
        <a:defRPr sz="160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3pPr>
      <a:lvl4pPr marL="164465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48" userDrawn="1">
          <p15:clr>
            <a:srgbClr val="F26B43"/>
          </p15:clr>
        </p15:guide>
        <p15:guide id="2" pos="249" userDrawn="1">
          <p15:clr>
            <a:srgbClr val="F26B43"/>
          </p15:clr>
        </p15:guide>
        <p15:guide id="3" pos="5556" userDrawn="1">
          <p15:clr>
            <a:srgbClr val="F26B43"/>
          </p15:clr>
        </p15:guide>
        <p15:guide id="4" orient="horz" pos="663" userDrawn="1">
          <p15:clr>
            <a:srgbClr val="F26B43"/>
          </p15:clr>
        </p15:guide>
        <p15:guide id="5" orient="horz" pos="2269" userDrawn="1">
          <p15:clr>
            <a:srgbClr val="F26B43"/>
          </p15:clr>
        </p15:guide>
        <p15:guide id="6" pos="2905" userDrawn="1">
          <p15:clr>
            <a:srgbClr val="F26B43"/>
          </p15:clr>
        </p15:guide>
        <p15:guide id="7" orient="horz" pos="140" userDrawn="1">
          <p15:clr>
            <a:srgbClr val="F26B43"/>
          </p15:clr>
        </p15:guide>
        <p15:guide id="8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notesSlide" Target="../notesSlides/notesSlide4.xml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diagramData" Target="../diagrams/data1.xml"/><Relationship Id="rId5" Type="http://schemas.openxmlformats.org/officeDocument/2006/relationships/image" Target="../media/image9.emf"/><Relationship Id="rId10" Type="http://schemas.microsoft.com/office/2007/relationships/diagramDrawing" Target="../diagrams/drawing1.xml"/><Relationship Id="rId4" Type="http://schemas.openxmlformats.org/officeDocument/2006/relationships/oleObject" Target="../embeddings/oleObject5.bin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notesSlide" Target="../notesSlides/notesSlide5.xml"/><Relationship Id="rId7" Type="http://schemas.openxmlformats.org/officeDocument/2006/relationships/diagramLayout" Target="../diagrams/layout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diagramData" Target="../diagrams/data2.xml"/><Relationship Id="rId5" Type="http://schemas.openxmlformats.org/officeDocument/2006/relationships/image" Target="../media/image9.emf"/><Relationship Id="rId10" Type="http://schemas.microsoft.com/office/2007/relationships/diagramDrawing" Target="../diagrams/drawing2.xml"/><Relationship Id="rId4" Type="http://schemas.openxmlformats.org/officeDocument/2006/relationships/oleObject" Target="../embeddings/oleObject5.bin"/><Relationship Id="rId9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Strategy links the firm and its external environment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Grant, 2010</a:t>
            </a:r>
          </a:p>
        </p:txBody>
      </p:sp>
      <p:sp>
        <p:nvSpPr>
          <p:cNvPr id="6" name="Abgerundetes Rechteck 44"/>
          <p:cNvSpPr/>
          <p:nvPr/>
        </p:nvSpPr>
        <p:spPr bwMode="auto">
          <a:xfrm>
            <a:off x="611560" y="1284371"/>
            <a:ext cx="2520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Focal firm</a:t>
            </a:r>
          </a:p>
        </p:txBody>
      </p:sp>
      <p:grpSp>
        <p:nvGrpSpPr>
          <p:cNvPr id="7" name="Gruppieren 3"/>
          <p:cNvGrpSpPr/>
          <p:nvPr/>
        </p:nvGrpSpPr>
        <p:grpSpPr>
          <a:xfrm>
            <a:off x="3490582" y="2221619"/>
            <a:ext cx="3240000" cy="2160000"/>
            <a:chOff x="709038" y="2780928"/>
            <a:chExt cx="3240000" cy="2160000"/>
          </a:xfrm>
        </p:grpSpPr>
        <p:sp>
          <p:nvSpPr>
            <p:cNvPr id="8" name="Rechteck 1"/>
            <p:cNvSpPr/>
            <p:nvPr/>
          </p:nvSpPr>
          <p:spPr bwMode="auto">
            <a:xfrm>
              <a:off x="2329038" y="2780928"/>
              <a:ext cx="1620000" cy="1080000"/>
            </a:xfrm>
            <a:prstGeom prst="rect">
              <a:avLst/>
            </a:prstGeom>
            <a:solidFill>
              <a:srgbClr val="75A3D1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Weaknesses</a:t>
              </a:r>
            </a:p>
          </p:txBody>
        </p:sp>
        <p:sp>
          <p:nvSpPr>
            <p:cNvPr id="9" name="Rechteck 15"/>
            <p:cNvSpPr/>
            <p:nvPr/>
          </p:nvSpPr>
          <p:spPr bwMode="auto">
            <a:xfrm>
              <a:off x="709038" y="2780928"/>
              <a:ext cx="1620000" cy="1080000"/>
            </a:xfrm>
            <a:prstGeom prst="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Strengths</a:t>
              </a:r>
            </a:p>
          </p:txBody>
        </p:sp>
        <p:sp>
          <p:nvSpPr>
            <p:cNvPr id="10" name="Rechteck 17"/>
            <p:cNvSpPr/>
            <p:nvPr/>
          </p:nvSpPr>
          <p:spPr bwMode="auto">
            <a:xfrm>
              <a:off x="709038" y="3860928"/>
              <a:ext cx="1620000" cy="1080000"/>
            </a:xfrm>
            <a:prstGeom prst="rect">
              <a:avLst/>
            </a:prstGeom>
            <a:solidFill>
              <a:srgbClr val="75A3D1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Opportunities</a:t>
              </a:r>
            </a:p>
          </p:txBody>
        </p:sp>
        <p:sp>
          <p:nvSpPr>
            <p:cNvPr id="11" name="Rechteck 18"/>
            <p:cNvSpPr/>
            <p:nvPr/>
          </p:nvSpPr>
          <p:spPr bwMode="auto">
            <a:xfrm>
              <a:off x="2329038" y="3860928"/>
              <a:ext cx="1620000" cy="1080000"/>
            </a:xfrm>
            <a:prstGeom prst="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Threats</a:t>
              </a:r>
            </a:p>
          </p:txBody>
        </p:sp>
      </p:grpSp>
      <p:sp>
        <p:nvSpPr>
          <p:cNvPr id="12" name="Rechteck 4"/>
          <p:cNvSpPr/>
          <p:nvPr/>
        </p:nvSpPr>
        <p:spPr bwMode="auto">
          <a:xfrm>
            <a:off x="7236296" y="2221619"/>
            <a:ext cx="1583854" cy="216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Strategy to build and sustain competitive advantage</a:t>
            </a:r>
          </a:p>
        </p:txBody>
      </p:sp>
      <p:sp>
        <p:nvSpPr>
          <p:cNvPr id="13" name="Gleichschenkliges Dreieck 5"/>
          <p:cNvSpPr/>
          <p:nvPr/>
        </p:nvSpPr>
        <p:spPr bwMode="auto">
          <a:xfrm rot="5400000">
            <a:off x="5904088" y="3211619"/>
            <a:ext cx="2160000" cy="180000"/>
          </a:xfrm>
          <a:prstGeom prst="triangle">
            <a:avLst/>
          </a:prstGeom>
          <a:solidFill>
            <a:srgbClr val="B4CDE6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cxnSp>
        <p:nvCxnSpPr>
          <p:cNvPr id="14" name="Gerade Verbindung mit Pfeil 12"/>
          <p:cNvCxnSpPr/>
          <p:nvPr/>
        </p:nvCxnSpPr>
        <p:spPr bwMode="auto">
          <a:xfrm>
            <a:off x="3131560" y="1464371"/>
            <a:ext cx="72032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Gerade Verbindung mit Pfeil 14"/>
          <p:cNvCxnSpPr/>
          <p:nvPr/>
        </p:nvCxnSpPr>
        <p:spPr bwMode="auto">
          <a:xfrm>
            <a:off x="3131560" y="4868867"/>
            <a:ext cx="719022" cy="180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Gerade Verbindung mit Pfeil 37"/>
          <p:cNvCxnSpPr/>
          <p:nvPr/>
        </p:nvCxnSpPr>
        <p:spPr bwMode="auto">
          <a:xfrm flipV="1">
            <a:off x="3129626" y="5228867"/>
            <a:ext cx="720956" cy="18256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Gleichschenkliges Dreieck 42"/>
          <p:cNvSpPr/>
          <p:nvPr/>
        </p:nvSpPr>
        <p:spPr bwMode="auto">
          <a:xfrm rot="10800000">
            <a:off x="4031880" y="1887995"/>
            <a:ext cx="2160000" cy="180000"/>
          </a:xfrm>
          <a:prstGeom prst="triangle">
            <a:avLst/>
          </a:prstGeom>
          <a:solidFill>
            <a:srgbClr val="B4CDE6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8" name="Gleichschenkliges Dreieck 43"/>
          <p:cNvSpPr/>
          <p:nvPr/>
        </p:nvSpPr>
        <p:spPr bwMode="auto">
          <a:xfrm rot="10800000" flipV="1">
            <a:off x="4031881" y="4535243"/>
            <a:ext cx="2160000" cy="180000"/>
          </a:xfrm>
          <a:prstGeom prst="triangle">
            <a:avLst/>
          </a:prstGeom>
          <a:solidFill>
            <a:srgbClr val="B4CDE6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9" name="Rechteck 45"/>
          <p:cNvSpPr/>
          <p:nvPr/>
        </p:nvSpPr>
        <p:spPr bwMode="auto">
          <a:xfrm>
            <a:off x="603770" y="1648536"/>
            <a:ext cx="2520000" cy="828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Goals &amp; values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Resources &amp; capabilities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Structure &amp; systems</a:t>
            </a:r>
          </a:p>
        </p:txBody>
      </p:sp>
      <p:sp>
        <p:nvSpPr>
          <p:cNvPr id="21" name="Abgerundetes Rechteck 48"/>
          <p:cNvSpPr/>
          <p:nvPr/>
        </p:nvSpPr>
        <p:spPr bwMode="auto">
          <a:xfrm>
            <a:off x="611560" y="4688867"/>
            <a:ext cx="2520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Micro environment</a:t>
            </a:r>
          </a:p>
        </p:txBody>
      </p:sp>
      <p:sp>
        <p:nvSpPr>
          <p:cNvPr id="22" name="Abgerundetes Rechteck 49"/>
          <p:cNvSpPr/>
          <p:nvPr/>
        </p:nvSpPr>
        <p:spPr bwMode="auto">
          <a:xfrm>
            <a:off x="611560" y="5228867"/>
            <a:ext cx="2520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Macro environment</a:t>
            </a:r>
          </a:p>
        </p:txBody>
      </p:sp>
      <p:sp>
        <p:nvSpPr>
          <p:cNvPr id="23" name="Abgerundetes Rechteck 47"/>
          <p:cNvSpPr/>
          <p:nvPr/>
        </p:nvSpPr>
        <p:spPr bwMode="auto">
          <a:xfrm>
            <a:off x="3850582" y="1194371"/>
            <a:ext cx="2520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Internal analysis</a:t>
            </a:r>
          </a:p>
        </p:txBody>
      </p:sp>
      <p:sp>
        <p:nvSpPr>
          <p:cNvPr id="24" name="Abgerundetes Rechteck 51"/>
          <p:cNvSpPr/>
          <p:nvPr/>
        </p:nvSpPr>
        <p:spPr bwMode="auto">
          <a:xfrm>
            <a:off x="3850582" y="4873273"/>
            <a:ext cx="2520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External analysis</a:t>
            </a:r>
          </a:p>
        </p:txBody>
      </p:sp>
      <p:sp>
        <p:nvSpPr>
          <p:cNvPr id="25" name="Rechteck 46"/>
          <p:cNvSpPr/>
          <p:nvPr/>
        </p:nvSpPr>
        <p:spPr bwMode="auto">
          <a:xfrm>
            <a:off x="603770" y="3861202"/>
            <a:ext cx="2520000" cy="828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Competitors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Customers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Suppliers</a:t>
            </a:r>
          </a:p>
        </p:txBody>
      </p:sp>
    </p:spTree>
    <p:extLst>
      <p:ext uri="{BB962C8B-B14F-4D97-AF65-F5344CB8AC3E}">
        <p14:creationId xmlns:p14="http://schemas.microsoft.com/office/powerpoint/2010/main" val="178013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External strategic analysis in an international context</a:t>
            </a:r>
          </a:p>
          <a:p>
            <a:endParaRPr lang="en-US" dirty="0"/>
          </a:p>
        </p:txBody>
      </p:sp>
      <p:sp>
        <p:nvSpPr>
          <p:cNvPr id="6" name="Ellipse 5"/>
          <p:cNvSpPr>
            <a:spLocks noChangeArrowheads="1"/>
          </p:cNvSpPr>
          <p:nvPr/>
        </p:nvSpPr>
        <p:spPr bwMode="auto">
          <a:xfrm flipV="1">
            <a:off x="2313376" y="2147888"/>
            <a:ext cx="4619848" cy="3333750"/>
          </a:xfrm>
          <a:prstGeom prst="ellipse">
            <a:avLst/>
          </a:prstGeom>
          <a:solidFill>
            <a:srgbClr val="75A3D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endParaRPr kumimoji="1" lang="en-US" altLang="de-DE" sz="1800" b="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" name="Ellipse 4"/>
          <p:cNvSpPr>
            <a:spLocks noChangeArrowheads="1"/>
          </p:cNvSpPr>
          <p:nvPr/>
        </p:nvSpPr>
        <p:spPr bwMode="auto">
          <a:xfrm>
            <a:off x="3668713" y="3305795"/>
            <a:ext cx="1778000" cy="1203325"/>
          </a:xfrm>
          <a:prstGeom prst="ellipse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800" dirty="0">
                <a:solidFill>
                  <a:schemeClr val="bg1"/>
                </a:solidFill>
              </a:rPr>
              <a:t>MICRO</a:t>
            </a:r>
          </a:p>
        </p:txBody>
      </p:sp>
      <p:sp>
        <p:nvSpPr>
          <p:cNvPr id="8" name="Textfeld 6"/>
          <p:cNvSpPr txBox="1">
            <a:spLocks noChangeArrowheads="1"/>
          </p:cNvSpPr>
          <p:nvPr/>
        </p:nvSpPr>
        <p:spPr bwMode="auto">
          <a:xfrm>
            <a:off x="3275856" y="2699628"/>
            <a:ext cx="1125629" cy="369332"/>
          </a:xfrm>
          <a:prstGeom prst="rect">
            <a:avLst/>
          </a:prstGeom>
          <a:solidFill>
            <a:srgbClr val="75A3D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>
                <a:solidFill>
                  <a:schemeClr val="bg1"/>
                </a:solidFill>
              </a:rPr>
              <a:t>MACRO</a:t>
            </a:r>
          </a:p>
        </p:txBody>
      </p:sp>
      <p:sp>
        <p:nvSpPr>
          <p:cNvPr id="9" name="Abgerundetes Rechteck 16"/>
          <p:cNvSpPr>
            <a:spLocks noChangeArrowheads="1"/>
          </p:cNvSpPr>
          <p:nvPr/>
        </p:nvSpPr>
        <p:spPr bwMode="auto">
          <a:xfrm>
            <a:off x="407298" y="1268413"/>
            <a:ext cx="1868488" cy="1657350"/>
          </a:xfrm>
          <a:prstGeom prst="roundRect">
            <a:avLst>
              <a:gd name="adj" fmla="val 16667"/>
            </a:avLst>
          </a:prstGeom>
          <a:solidFill>
            <a:srgbClr val="75A3D1"/>
          </a:solidFill>
          <a:ln>
            <a:noFill/>
          </a:ln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olitical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conomic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ocietal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echnological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(+ </a:t>
            </a:r>
            <a:r>
              <a:rPr kumimoji="1" lang="en-US" altLang="de-DE" sz="1600" u="sng" dirty="0" err="1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kumimoji="1" lang="en-US" altLang="de-DE" sz="1600" b="0" dirty="0" err="1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nvironm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.)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(+ </a:t>
            </a: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egal)</a:t>
            </a:r>
          </a:p>
        </p:txBody>
      </p:sp>
      <p:grpSp>
        <p:nvGrpSpPr>
          <p:cNvPr id="10" name="Gruppieren 17"/>
          <p:cNvGrpSpPr>
            <a:grpSpLocks/>
          </p:cNvGrpSpPr>
          <p:nvPr/>
        </p:nvGrpSpPr>
        <p:grpSpPr bwMode="auto">
          <a:xfrm rot="2714637" flipH="1">
            <a:off x="2185389" y="2315671"/>
            <a:ext cx="1136552" cy="241458"/>
            <a:chOff x="6081987" y="2061036"/>
            <a:chExt cx="1080100" cy="144389"/>
          </a:xfrm>
        </p:grpSpPr>
        <p:cxnSp>
          <p:nvCxnSpPr>
            <p:cNvPr id="11" name="Gerade Verbindung 10"/>
            <p:cNvCxnSpPr>
              <a:cxnSpLocks noChangeShapeType="1"/>
            </p:cNvCxnSpPr>
            <p:nvPr/>
          </p:nvCxnSpPr>
          <p:spPr bwMode="auto">
            <a:xfrm flipV="1">
              <a:off x="6081987" y="2061036"/>
              <a:ext cx="864522" cy="27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" name="Gerade Verbindung 12"/>
            <p:cNvCxnSpPr>
              <a:cxnSpLocks noChangeShapeType="1"/>
            </p:cNvCxnSpPr>
            <p:nvPr/>
          </p:nvCxnSpPr>
          <p:spPr bwMode="auto">
            <a:xfrm>
              <a:off x="6946509" y="2061036"/>
              <a:ext cx="215578" cy="14438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3" name="Abgerundetes Rechteck 15"/>
          <p:cNvSpPr>
            <a:spLocks noChangeArrowheads="1"/>
          </p:cNvSpPr>
          <p:nvPr/>
        </p:nvSpPr>
        <p:spPr bwMode="auto">
          <a:xfrm>
            <a:off x="526708" y="2994113"/>
            <a:ext cx="1629667" cy="60792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kumimoji="1" lang="en-US" altLang="de-DE" sz="1400" dirty="0">
                <a:solidFill>
                  <a:srgbClr val="75A3D1"/>
                </a:solidFill>
              </a:rPr>
              <a:t>Tool:</a:t>
            </a: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kumimoji="1" lang="en-US" altLang="de-DE" sz="1400" dirty="0">
                <a:solidFill>
                  <a:srgbClr val="75A3D1"/>
                </a:solidFill>
              </a:rPr>
              <a:t>“PEST(-EL)”</a:t>
            </a:r>
          </a:p>
        </p:txBody>
      </p:sp>
      <p:sp>
        <p:nvSpPr>
          <p:cNvPr id="14" name="Abgerundetes Rechteck 27"/>
          <p:cNvSpPr>
            <a:spLocks noChangeArrowheads="1"/>
          </p:cNvSpPr>
          <p:nvPr/>
        </p:nvSpPr>
        <p:spPr bwMode="auto">
          <a:xfrm>
            <a:off x="6995942" y="1265238"/>
            <a:ext cx="1833563" cy="1081088"/>
          </a:xfrm>
          <a:prstGeom prst="roundRect">
            <a:avLst>
              <a:gd name="adj" fmla="val 16667"/>
            </a:avLst>
          </a:prstGeom>
          <a:solidFill>
            <a:srgbClr val="336699"/>
          </a:solidFill>
          <a:ln>
            <a:noFill/>
          </a:ln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8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Industry analysis</a:t>
            </a:r>
          </a:p>
        </p:txBody>
      </p:sp>
      <p:grpSp>
        <p:nvGrpSpPr>
          <p:cNvPr id="15" name="Gruppieren 30"/>
          <p:cNvGrpSpPr>
            <a:grpSpLocks/>
          </p:cNvGrpSpPr>
          <p:nvPr/>
        </p:nvGrpSpPr>
        <p:grpSpPr bwMode="auto">
          <a:xfrm flipH="1">
            <a:off x="5148062" y="1772817"/>
            <a:ext cx="1847879" cy="2088232"/>
            <a:chOff x="1979712" y="1916832"/>
            <a:chExt cx="1872208" cy="936104"/>
          </a:xfrm>
        </p:grpSpPr>
        <p:cxnSp>
          <p:nvCxnSpPr>
            <p:cNvPr id="16" name="Gerade Verbindung 22"/>
            <p:cNvCxnSpPr>
              <a:cxnSpLocks noChangeShapeType="1"/>
            </p:cNvCxnSpPr>
            <p:nvPr/>
          </p:nvCxnSpPr>
          <p:spPr bwMode="auto">
            <a:xfrm rot="10800000">
              <a:off x="2195736" y="1916832"/>
              <a:ext cx="1656184" cy="9361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7" name="Gerade Verbindung 24"/>
            <p:cNvCxnSpPr>
              <a:cxnSpLocks noChangeShapeType="1"/>
            </p:cNvCxnSpPr>
            <p:nvPr/>
          </p:nvCxnSpPr>
          <p:spPr bwMode="auto">
            <a:xfrm rot="10800000">
              <a:off x="1979712" y="1916832"/>
              <a:ext cx="21602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421983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The PESTEL tool can help to capture the dynamics of the general environment</a:t>
            </a:r>
          </a:p>
          <a:p>
            <a:endParaRPr lang="en-US" dirty="0"/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395288" y="1280849"/>
            <a:ext cx="5148263" cy="4427537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noFill/>
          <a:ln w="15875">
            <a:solidFill>
              <a:srgbClr val="3366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+mj-lt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 flipH="1">
            <a:off x="3133456" y="1291860"/>
            <a:ext cx="83428" cy="1100065"/>
          </a:xfrm>
          <a:prstGeom prst="line">
            <a:avLst/>
          </a:prstGeom>
          <a:noFill/>
          <a:ln w="15875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8" name="Line 17"/>
          <p:cNvSpPr>
            <a:spLocks noChangeShapeType="1"/>
          </p:cNvSpPr>
          <p:nvPr/>
        </p:nvSpPr>
        <p:spPr bwMode="auto">
          <a:xfrm>
            <a:off x="388158" y="3545044"/>
            <a:ext cx="1296000" cy="17057"/>
          </a:xfrm>
          <a:prstGeom prst="line">
            <a:avLst/>
          </a:prstGeom>
          <a:noFill/>
          <a:ln w="15875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 flipV="1">
            <a:off x="2051720" y="4514238"/>
            <a:ext cx="427080" cy="1044000"/>
          </a:xfrm>
          <a:prstGeom prst="line">
            <a:avLst/>
          </a:prstGeom>
          <a:noFill/>
          <a:ln w="15875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4056816" y="4116370"/>
            <a:ext cx="935646" cy="756000"/>
          </a:xfrm>
          <a:prstGeom prst="line">
            <a:avLst/>
          </a:prstGeom>
          <a:noFill/>
          <a:ln w="15875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 flipH="1">
            <a:off x="4169576" y="2395949"/>
            <a:ext cx="1050496" cy="688498"/>
          </a:xfrm>
          <a:prstGeom prst="line">
            <a:avLst/>
          </a:prstGeom>
          <a:noFill/>
          <a:ln w="15875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1942158" y="1671132"/>
            <a:ext cx="6703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Political</a:t>
            </a:r>
          </a:p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Factors</a:t>
            </a: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798349" y="4174290"/>
            <a:ext cx="10631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Environmental</a:t>
            </a:r>
          </a:p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Factors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3408452" y="4797152"/>
            <a:ext cx="6415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rgbClr val="4D4D4D"/>
                </a:solidFill>
                <a:latin typeface="+mj-lt"/>
              </a:rPr>
              <a:t>Social</a:t>
            </a:r>
          </a:p>
          <a:p>
            <a:pPr algn="ctr"/>
            <a:r>
              <a:rPr lang="en-US" sz="1200" b="1" dirty="0">
                <a:solidFill>
                  <a:srgbClr val="4D4D4D"/>
                </a:solidFill>
                <a:latin typeface="+mj-lt"/>
              </a:rPr>
              <a:t>Factors</a:t>
            </a:r>
          </a:p>
        </p:txBody>
      </p:sp>
      <p:sp>
        <p:nvSpPr>
          <p:cNvPr id="15" name="Text Box 24"/>
          <p:cNvSpPr txBox="1">
            <a:spLocks noChangeArrowheads="1"/>
          </p:cNvSpPr>
          <p:nvPr/>
        </p:nvSpPr>
        <p:spPr bwMode="auto">
          <a:xfrm>
            <a:off x="4370215" y="3442774"/>
            <a:ext cx="10250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Technological</a:t>
            </a:r>
          </a:p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Factors</a:t>
            </a: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3581421" y="1785902"/>
            <a:ext cx="788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Economic</a:t>
            </a:r>
          </a:p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Factors</a:t>
            </a:r>
          </a:p>
        </p:txBody>
      </p:sp>
      <p:sp>
        <p:nvSpPr>
          <p:cNvPr id="17" name="Oval 31"/>
          <p:cNvSpPr>
            <a:spLocks noChangeArrowheads="1"/>
          </p:cNvSpPr>
          <p:nvPr/>
        </p:nvSpPr>
        <p:spPr bwMode="auto">
          <a:xfrm>
            <a:off x="2454445" y="3832382"/>
            <a:ext cx="1079500" cy="431800"/>
          </a:xfrm>
          <a:prstGeom prst="ellipse">
            <a:avLst/>
          </a:prstGeom>
          <a:solidFill>
            <a:srgbClr val="336699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Suppliers</a:t>
            </a:r>
          </a:p>
        </p:txBody>
      </p:sp>
      <p:sp>
        <p:nvSpPr>
          <p:cNvPr id="18" name="Oval 32"/>
          <p:cNvSpPr>
            <a:spLocks noChangeArrowheads="1"/>
          </p:cNvSpPr>
          <p:nvPr/>
        </p:nvSpPr>
        <p:spPr bwMode="auto">
          <a:xfrm>
            <a:off x="1735308" y="3329144"/>
            <a:ext cx="1079500" cy="431800"/>
          </a:xfrm>
          <a:prstGeom prst="ellipse">
            <a:avLst/>
          </a:prstGeom>
          <a:solidFill>
            <a:srgbClr val="336699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Companies</a:t>
            </a:r>
          </a:p>
        </p:txBody>
      </p:sp>
      <p:sp>
        <p:nvSpPr>
          <p:cNvPr id="19" name="Oval 33"/>
          <p:cNvSpPr>
            <a:spLocks noChangeArrowheads="1"/>
          </p:cNvSpPr>
          <p:nvPr/>
        </p:nvSpPr>
        <p:spPr bwMode="auto">
          <a:xfrm>
            <a:off x="3175170" y="3329144"/>
            <a:ext cx="1079500" cy="431800"/>
          </a:xfrm>
          <a:prstGeom prst="ellipse">
            <a:avLst/>
          </a:prstGeom>
          <a:solidFill>
            <a:srgbClr val="336699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Competitors</a:t>
            </a:r>
          </a:p>
        </p:txBody>
      </p:sp>
      <p:sp>
        <p:nvSpPr>
          <p:cNvPr id="20" name="Oval 34"/>
          <p:cNvSpPr>
            <a:spLocks noChangeArrowheads="1"/>
          </p:cNvSpPr>
          <p:nvPr/>
        </p:nvSpPr>
        <p:spPr bwMode="auto">
          <a:xfrm>
            <a:off x="2490958" y="2824319"/>
            <a:ext cx="1079500" cy="431800"/>
          </a:xfrm>
          <a:prstGeom prst="ellipse">
            <a:avLst/>
          </a:prstGeom>
          <a:solidFill>
            <a:srgbClr val="336699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Customers</a:t>
            </a:r>
          </a:p>
        </p:txBody>
      </p:sp>
      <p:sp>
        <p:nvSpPr>
          <p:cNvPr id="21" name="Text Box 41"/>
          <p:cNvSpPr txBox="1">
            <a:spLocks noChangeArrowheads="1"/>
          </p:cNvSpPr>
          <p:nvPr/>
        </p:nvSpPr>
        <p:spPr bwMode="auto">
          <a:xfrm>
            <a:off x="1925454" y="2564572"/>
            <a:ext cx="225402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4D4D4D"/>
                </a:solidFill>
                <a:latin typeface="+mj-lt"/>
              </a:rPr>
              <a:t>Industry Environment</a:t>
            </a:r>
          </a:p>
        </p:txBody>
      </p:sp>
      <p:sp>
        <p:nvSpPr>
          <p:cNvPr id="22" name="Pfeil nach unten 58"/>
          <p:cNvSpPr/>
          <p:nvPr/>
        </p:nvSpPr>
        <p:spPr bwMode="auto">
          <a:xfrm rot="17703173">
            <a:off x="1716564" y="2986227"/>
            <a:ext cx="124414" cy="265681"/>
          </a:xfrm>
          <a:prstGeom prst="downArrow">
            <a:avLst/>
          </a:prstGeom>
          <a:solidFill>
            <a:srgbClr val="336699">
              <a:alpha val="60000"/>
            </a:srgbClr>
          </a:solidFill>
          <a:ln w="6350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2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3" name="Freeform 41"/>
          <p:cNvSpPr>
            <a:spLocks/>
          </p:cNvSpPr>
          <p:nvPr/>
        </p:nvSpPr>
        <p:spPr bwMode="auto">
          <a:xfrm>
            <a:off x="5678496" y="2048068"/>
            <a:ext cx="360040" cy="2893100"/>
          </a:xfrm>
          <a:custGeom>
            <a:avLst/>
            <a:gdLst>
              <a:gd name="T0" fmla="*/ 0 w 67"/>
              <a:gd name="T1" fmla="*/ 0 h 380"/>
              <a:gd name="T2" fmla="*/ 0 w 67"/>
              <a:gd name="T3" fmla="*/ 2147483647 h 380"/>
              <a:gd name="T4" fmla="*/ 2147483647 w 67"/>
              <a:gd name="T5" fmla="*/ 2147483647 h 380"/>
              <a:gd name="T6" fmla="*/ 0 w 67"/>
              <a:gd name="T7" fmla="*/ 0 h 380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80"/>
              <a:gd name="T14" fmla="*/ 67 w 67"/>
              <a:gd name="T15" fmla="*/ 380 h 3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80">
                <a:moveTo>
                  <a:pt x="0" y="0"/>
                </a:moveTo>
                <a:lnTo>
                  <a:pt x="0" y="380"/>
                </a:lnTo>
                <a:lnTo>
                  <a:pt x="67" y="184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feld 61"/>
          <p:cNvSpPr txBox="1"/>
          <p:nvPr/>
        </p:nvSpPr>
        <p:spPr>
          <a:xfrm>
            <a:off x="6219664" y="2048068"/>
            <a:ext cx="2584053" cy="2893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D4D4D"/>
                </a:solidFill>
                <a:latin typeface="Arial"/>
                <a:cs typeface="Arial"/>
              </a:rPr>
              <a:t>The industry influences companies and competition directly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D4D4D"/>
              </a:solidFill>
              <a:latin typeface="Arial"/>
              <a:cs typeface="Arial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D4D4D"/>
                </a:solidFill>
                <a:latin typeface="Arial"/>
                <a:cs typeface="Arial"/>
              </a:rPr>
              <a:t>The macro environment influences the industry, hence the companies indirectly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4D4D4D"/>
              </a:solidFill>
              <a:latin typeface="Arial"/>
              <a:cs typeface="Arial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4D4D4D"/>
                </a:solidFill>
                <a:latin typeface="Arial"/>
                <a:cs typeface="Arial"/>
              </a:rPr>
              <a:t>The macro environment is almost equal for all; it can hardly be affected by companies</a:t>
            </a:r>
          </a:p>
        </p:txBody>
      </p:sp>
      <p:cxnSp>
        <p:nvCxnSpPr>
          <p:cNvPr id="25" name="Gerade Verbindung 65"/>
          <p:cNvCxnSpPr>
            <a:stCxn id="18" idx="0"/>
            <a:endCxn id="20" idx="3"/>
          </p:cNvCxnSpPr>
          <p:nvPr/>
        </p:nvCxnSpPr>
        <p:spPr bwMode="auto">
          <a:xfrm rot="5400000" flipH="1" flipV="1">
            <a:off x="2393922" y="3074020"/>
            <a:ext cx="136261" cy="373989"/>
          </a:xfrm>
          <a:prstGeom prst="line">
            <a:avLst/>
          </a:prstGeom>
          <a:noFill/>
          <a:ln w="1587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Gerade Verbindung 67"/>
          <p:cNvCxnSpPr>
            <a:stCxn id="20" idx="5"/>
            <a:endCxn id="19" idx="0"/>
          </p:cNvCxnSpPr>
          <p:nvPr/>
        </p:nvCxnSpPr>
        <p:spPr bwMode="auto">
          <a:xfrm rot="16200000" flipH="1">
            <a:off x="3495514" y="3109737"/>
            <a:ext cx="136261" cy="302551"/>
          </a:xfrm>
          <a:prstGeom prst="line">
            <a:avLst/>
          </a:prstGeom>
          <a:noFill/>
          <a:ln w="1587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Gerade Verbindung 69"/>
          <p:cNvCxnSpPr>
            <a:stCxn id="18" idx="4"/>
            <a:endCxn id="17" idx="1"/>
          </p:cNvCxnSpPr>
          <p:nvPr/>
        </p:nvCxnSpPr>
        <p:spPr bwMode="auto">
          <a:xfrm rot="16200000" flipH="1">
            <a:off x="2376459" y="3659543"/>
            <a:ext cx="134674" cy="337476"/>
          </a:xfrm>
          <a:prstGeom prst="line">
            <a:avLst/>
          </a:prstGeom>
          <a:noFill/>
          <a:ln w="1587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Gerade Verbindung 71"/>
          <p:cNvCxnSpPr>
            <a:stCxn id="17" idx="7"/>
            <a:endCxn id="19" idx="4"/>
          </p:cNvCxnSpPr>
          <p:nvPr/>
        </p:nvCxnSpPr>
        <p:spPr bwMode="auto">
          <a:xfrm rot="5400000" flipH="1" flipV="1">
            <a:off x="3478051" y="3658749"/>
            <a:ext cx="134674" cy="339064"/>
          </a:xfrm>
          <a:prstGeom prst="line">
            <a:avLst/>
          </a:prstGeom>
          <a:noFill/>
          <a:ln w="1587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Gerade Verbindung 73"/>
          <p:cNvCxnSpPr>
            <a:stCxn id="18" idx="6"/>
            <a:endCxn id="19" idx="2"/>
          </p:cNvCxnSpPr>
          <p:nvPr/>
        </p:nvCxnSpPr>
        <p:spPr bwMode="auto">
          <a:xfrm>
            <a:off x="2814808" y="3545044"/>
            <a:ext cx="360362" cy="0"/>
          </a:xfrm>
          <a:prstGeom prst="line">
            <a:avLst/>
          </a:prstGeom>
          <a:noFill/>
          <a:ln w="15875" cap="flat" cmpd="sng" algn="ctr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feld 34"/>
          <p:cNvSpPr txBox="1"/>
          <p:nvPr/>
        </p:nvSpPr>
        <p:spPr>
          <a:xfrm>
            <a:off x="4144335" y="1250051"/>
            <a:ext cx="1783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/>
            <a:r>
              <a:rPr lang="en-US" sz="1200" b="1" dirty="0">
                <a:solidFill>
                  <a:srgbClr val="4D4D4D"/>
                </a:solidFill>
                <a:latin typeface="Arial"/>
                <a:cs typeface="Arial"/>
              </a:rPr>
              <a:t>Macro Environment</a:t>
            </a:r>
          </a:p>
        </p:txBody>
      </p:sp>
      <p:sp>
        <p:nvSpPr>
          <p:cNvPr id="31" name="Pfeil nach unten 35"/>
          <p:cNvSpPr/>
          <p:nvPr/>
        </p:nvSpPr>
        <p:spPr bwMode="auto">
          <a:xfrm rot="14220000">
            <a:off x="1871227" y="3947567"/>
            <a:ext cx="124414" cy="265681"/>
          </a:xfrm>
          <a:prstGeom prst="downArrow">
            <a:avLst/>
          </a:prstGeom>
          <a:solidFill>
            <a:srgbClr val="336699">
              <a:alpha val="60000"/>
            </a:srgbClr>
          </a:solidFill>
          <a:ln w="6350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2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2" name="Pfeil nach unten 37"/>
          <p:cNvSpPr/>
          <p:nvPr/>
        </p:nvSpPr>
        <p:spPr bwMode="auto">
          <a:xfrm rot="9510373">
            <a:off x="3302863" y="4418678"/>
            <a:ext cx="124414" cy="265681"/>
          </a:xfrm>
          <a:prstGeom prst="downArrow">
            <a:avLst/>
          </a:prstGeom>
          <a:solidFill>
            <a:srgbClr val="336699">
              <a:alpha val="60000"/>
            </a:srgbClr>
          </a:solidFill>
          <a:ln w="6350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2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3" name="Pfeil nach unten 39"/>
          <p:cNvSpPr/>
          <p:nvPr/>
        </p:nvSpPr>
        <p:spPr bwMode="auto">
          <a:xfrm rot="5940000">
            <a:off x="4135546" y="3633953"/>
            <a:ext cx="124414" cy="265681"/>
          </a:xfrm>
          <a:prstGeom prst="downArrow">
            <a:avLst/>
          </a:prstGeom>
          <a:solidFill>
            <a:srgbClr val="336699">
              <a:alpha val="60000"/>
            </a:srgbClr>
          </a:solidFill>
          <a:ln w="6350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2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4" name="Pfeil nach unten 40"/>
          <p:cNvSpPr/>
          <p:nvPr/>
        </p:nvSpPr>
        <p:spPr bwMode="auto">
          <a:xfrm rot="2092252">
            <a:off x="3508251" y="2375552"/>
            <a:ext cx="124414" cy="265681"/>
          </a:xfrm>
          <a:prstGeom prst="downArrow">
            <a:avLst/>
          </a:prstGeom>
          <a:solidFill>
            <a:srgbClr val="336699">
              <a:alpha val="60000"/>
            </a:srgbClr>
          </a:solidFill>
          <a:ln w="6350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2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5220072" y="5318048"/>
            <a:ext cx="2698496" cy="523220"/>
          </a:xfrm>
          <a:prstGeom prst="rect">
            <a:avLst/>
          </a:prstGeom>
          <a:solidFill>
            <a:srgbClr val="75A3D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442913" algn="ctr" eaLnBrk="0" hangingPunct="0">
              <a:tabLst>
                <a:tab pos="482600" algn="l"/>
                <a:tab pos="722313" algn="l"/>
                <a:tab pos="1330325" algn="l"/>
              </a:tabLst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</a:rPr>
              <a:t>This tool is also known as </a:t>
            </a:r>
          </a:p>
          <a:p>
            <a:pPr indent="-442913" algn="ctr" eaLnBrk="0" hangingPunct="0">
              <a:tabLst>
                <a:tab pos="482600" algn="l"/>
                <a:tab pos="722313" algn="l"/>
                <a:tab pos="1330325" algn="l"/>
              </a:tabLst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</a:rPr>
              <a:t>PEST(EL) analysis 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44182" y="2794082"/>
            <a:ext cx="6415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Legal</a:t>
            </a:r>
          </a:p>
          <a:p>
            <a:r>
              <a:rPr lang="en-US" sz="1200" b="1" dirty="0">
                <a:solidFill>
                  <a:srgbClr val="4D4D4D"/>
                </a:solidFill>
                <a:latin typeface="+mj-lt"/>
              </a:rPr>
              <a:t>Factors</a:t>
            </a:r>
          </a:p>
        </p:txBody>
      </p:sp>
      <p:sp>
        <p:nvSpPr>
          <p:cNvPr id="37" name="Pfeil nach unten 58"/>
          <p:cNvSpPr/>
          <p:nvPr/>
        </p:nvSpPr>
        <p:spPr bwMode="auto">
          <a:xfrm rot="20489995">
            <a:off x="2435475" y="2331365"/>
            <a:ext cx="124414" cy="265681"/>
          </a:xfrm>
          <a:prstGeom prst="downArrow">
            <a:avLst/>
          </a:prstGeom>
          <a:solidFill>
            <a:srgbClr val="336699">
              <a:alpha val="60000"/>
            </a:srgbClr>
          </a:solidFill>
          <a:ln w="6350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2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8" name="Line 16"/>
          <p:cNvSpPr>
            <a:spLocks noChangeShapeType="1"/>
          </p:cNvSpPr>
          <p:nvPr/>
        </p:nvSpPr>
        <p:spPr bwMode="auto">
          <a:xfrm>
            <a:off x="1199963" y="1907983"/>
            <a:ext cx="824012" cy="864000"/>
          </a:xfrm>
          <a:prstGeom prst="line">
            <a:avLst/>
          </a:prstGeom>
          <a:noFill/>
          <a:ln w="15875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810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7289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rapezoid 7"/>
          <p:cNvSpPr/>
          <p:nvPr/>
        </p:nvSpPr>
        <p:spPr bwMode="auto">
          <a:xfrm rot="10800000">
            <a:off x="572744" y="3687646"/>
            <a:ext cx="8091487" cy="1368152"/>
          </a:xfrm>
          <a:prstGeom prst="trapezoid">
            <a:avLst>
              <a:gd name="adj" fmla="val 254423"/>
            </a:avLst>
          </a:prstGeom>
          <a:solidFill>
            <a:schemeClr val="bg2">
              <a:lumMod val="20000"/>
              <a:lumOff val="80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PEST(EL)-framework: analyzing the global macro environment</a:t>
            </a:r>
            <a:endParaRPr lang="en-US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2041177512"/>
              </p:ext>
            </p:extLst>
          </p:nvPr>
        </p:nvGraphicFramePr>
        <p:xfrm>
          <a:off x="567384" y="1268760"/>
          <a:ext cx="8091487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3711288" y="3908352"/>
            <a:ext cx="1814400" cy="1814400"/>
          </a:xfrm>
          <a:prstGeom prst="ellipse">
            <a:avLst/>
          </a:prstGeom>
          <a:solidFill>
            <a:srgbClr val="75A3D1"/>
          </a:solidFill>
          <a:ln w="9525">
            <a:noFill/>
            <a:round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 defTabSz="857250">
              <a:lnSpc>
                <a:spcPct val="90000"/>
              </a:lnSpc>
              <a:spcBef>
                <a:spcPts val="80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PEST(EL)analysis</a:t>
            </a:r>
          </a:p>
        </p:txBody>
      </p:sp>
    </p:spTree>
    <p:extLst>
      <p:ext uri="{BB962C8B-B14F-4D97-AF65-F5344CB8AC3E}">
        <p14:creationId xmlns:p14="http://schemas.microsoft.com/office/powerpoint/2010/main" val="234891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PEST(EL)-framework: analyzing the global macro environment</a:t>
            </a:r>
            <a:endParaRPr lang="en-US" dirty="0"/>
          </a:p>
        </p:txBody>
      </p:sp>
      <p:graphicFrame>
        <p:nvGraphicFramePr>
          <p:cNvPr id="6" name="Diagramm 5"/>
          <p:cNvGraphicFramePr/>
          <p:nvPr/>
        </p:nvGraphicFramePr>
        <p:xfrm>
          <a:off x="567384" y="1268760"/>
          <a:ext cx="8091487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565932" y="3861048"/>
            <a:ext cx="1814400" cy="1814400"/>
          </a:xfrm>
          <a:prstGeom prst="ellipse">
            <a:avLst/>
          </a:prstGeom>
          <a:solidFill>
            <a:srgbClr val="75A3D1"/>
          </a:solidFill>
          <a:ln w="9525">
            <a:noFill/>
            <a:round/>
            <a:headEnd/>
            <a:tailEnd/>
          </a:ln>
          <a:effectLst/>
        </p:spPr>
        <p:txBody>
          <a:bodyPr lIns="36000" tIns="36000" rIns="36000" bIns="36000" anchor="ctr"/>
          <a:lstStyle/>
          <a:p>
            <a:pPr algn="ctr" defTabSz="857250">
              <a:lnSpc>
                <a:spcPct val="90000"/>
              </a:lnSpc>
              <a:spcBef>
                <a:spcPts val="800"/>
              </a:spcBef>
              <a:defRPr/>
            </a:pPr>
            <a:r>
              <a:rPr lang="en-US" sz="1800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PEST(EL)analysis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4482967" y="4220207"/>
            <a:ext cx="4175904" cy="1195152"/>
          </a:xfrm>
          <a:prstGeom prst="roundRect">
            <a:avLst>
              <a:gd name="adj" fmla="val 678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 anchorCtr="1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de-DE" sz="1800" dirty="0">
                <a:solidFill>
                  <a:schemeClr val="bg1"/>
                </a:solidFill>
              </a:rPr>
              <a:t>Opportunities &amp; threats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de-DE" sz="1600" b="0" dirty="0">
                <a:solidFill>
                  <a:schemeClr val="bg1"/>
                </a:solidFill>
              </a:rPr>
              <a:t>How does the macro environment affect industry profitability?</a:t>
            </a:r>
          </a:p>
        </p:txBody>
      </p:sp>
      <p:sp>
        <p:nvSpPr>
          <p:cNvPr id="12" name="Gleichschenkliges Dreieck 7"/>
          <p:cNvSpPr/>
          <p:nvPr/>
        </p:nvSpPr>
        <p:spPr bwMode="auto">
          <a:xfrm>
            <a:off x="2603557" y="4360409"/>
            <a:ext cx="1656184" cy="815678"/>
          </a:xfrm>
          <a:prstGeom prst="stripedRightArrow">
            <a:avLst/>
          </a:prstGeom>
          <a:solidFill>
            <a:schemeClr val="bg2">
              <a:lumMod val="20000"/>
              <a:lumOff val="80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47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PEST(EL) analysis is a good start for an environmental scan, but not absolutely sufficient</a:t>
            </a:r>
          </a:p>
          <a:p>
            <a:endParaRPr lang="en-US" dirty="0"/>
          </a:p>
        </p:txBody>
      </p:sp>
      <p:grpSp>
        <p:nvGrpSpPr>
          <p:cNvPr id="6" name="Gruppieren 11"/>
          <p:cNvGrpSpPr/>
          <p:nvPr/>
        </p:nvGrpSpPr>
        <p:grpSpPr>
          <a:xfrm>
            <a:off x="4583633" y="936333"/>
            <a:ext cx="4164830" cy="3531393"/>
            <a:chOff x="4352711" y="786967"/>
            <a:chExt cx="4467439" cy="3578137"/>
          </a:xfrm>
        </p:grpSpPr>
        <p:sp>
          <p:nvSpPr>
            <p:cNvPr id="7" name="Rechteck 9"/>
            <p:cNvSpPr/>
            <p:nvPr/>
          </p:nvSpPr>
          <p:spPr bwMode="auto">
            <a:xfrm>
              <a:off x="4572424" y="1196752"/>
              <a:ext cx="4247726" cy="3168352"/>
            </a:xfrm>
            <a:prstGeom prst="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b" anchorCtr="0"/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Exact distinction between organizational, industrial, and macro environmental influences partially hard to define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Subject to individual interpretation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Historical view does not guarantee future predictions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Cannot claim recommendations for action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</a:pPr>
              <a:endParaRPr lang="en-US" sz="12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</a:pPr>
              <a:endParaRPr lang="en-US" sz="12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8" name="Minus 7"/>
            <p:cNvSpPr/>
            <p:nvPr/>
          </p:nvSpPr>
          <p:spPr bwMode="auto">
            <a:xfrm>
              <a:off x="4352711" y="786967"/>
              <a:ext cx="914400" cy="914400"/>
            </a:xfrm>
            <a:prstGeom prst="mathMinus">
              <a:avLst/>
            </a:prstGeom>
            <a:solidFill>
              <a:srgbClr val="B6B6B6"/>
            </a:solidFill>
            <a:ln w="6350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endParaRPr kumimoji="1" lang="en-US" sz="1600" dirty="0">
                <a:solidFill>
                  <a:srgbClr val="B6B6B6"/>
                </a:solidFill>
                <a:latin typeface="Arial" pitchFamily="34" charset="0"/>
              </a:endParaRPr>
            </a:p>
          </p:txBody>
        </p:sp>
      </p:grpSp>
      <p:grpSp>
        <p:nvGrpSpPr>
          <p:cNvPr id="9" name="Gruppieren 15"/>
          <p:cNvGrpSpPr/>
          <p:nvPr/>
        </p:nvGrpSpPr>
        <p:grpSpPr>
          <a:xfrm>
            <a:off x="251520" y="933488"/>
            <a:ext cx="4181822" cy="3534241"/>
            <a:chOff x="68485" y="1594353"/>
            <a:chExt cx="4306813" cy="3581021"/>
          </a:xfrm>
        </p:grpSpPr>
        <p:sp>
          <p:nvSpPr>
            <p:cNvPr id="10" name="Rechteck 7"/>
            <p:cNvSpPr/>
            <p:nvPr/>
          </p:nvSpPr>
          <p:spPr bwMode="auto">
            <a:xfrm>
              <a:off x="296937" y="2007022"/>
              <a:ext cx="4078361" cy="3168352"/>
            </a:xfrm>
            <a:prstGeom prst="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b" anchorCtr="0"/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Strategic analysis and helpful basis for further, more detailed, market analysis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Tool to identify the key influencing variables in the environment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Scanning system to illustrate a firm’s exposure to driving forces in the macro environment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Display historical developments and potential future modifications in order to forecast possible influencing forces for the firm</a:t>
              </a:r>
              <a:endParaRPr lang="en-US" sz="1200" dirty="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1" name="Plus 10"/>
            <p:cNvSpPr/>
            <p:nvPr/>
          </p:nvSpPr>
          <p:spPr bwMode="auto">
            <a:xfrm>
              <a:off x="68485" y="1594353"/>
              <a:ext cx="914400" cy="914400"/>
            </a:xfrm>
            <a:prstGeom prst="mathPlus">
              <a:avLst/>
            </a:prstGeom>
            <a:solidFill>
              <a:schemeClr val="bg1">
                <a:lumMod val="75000"/>
              </a:schemeClr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473342" y="4737918"/>
            <a:ext cx="8275121" cy="92333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442913" eaLnBrk="0" hangingPunct="0">
              <a:tabLst>
                <a:tab pos="482600" algn="l"/>
                <a:tab pos="722313" algn="l"/>
                <a:tab pos="1330325" algn="l"/>
              </a:tabLst>
            </a:pPr>
            <a:r>
              <a:rPr lang="en-US" sz="1800" dirty="0">
                <a:solidFill>
                  <a:srgbClr val="4D4D4D"/>
                </a:solidFill>
                <a:latin typeface="Arial" pitchFamily="34" charset="0"/>
              </a:rPr>
              <a:t>		The PEST(EL) analysis is an appropriate means to roughly illustrate 		external conditions and potential forces which may affect business 		activities.</a:t>
            </a:r>
          </a:p>
        </p:txBody>
      </p:sp>
      <p:sp>
        <p:nvSpPr>
          <p:cNvPr id="14" name="Freeform 41"/>
          <p:cNvSpPr>
            <a:spLocks/>
          </p:cNvSpPr>
          <p:nvPr/>
        </p:nvSpPr>
        <p:spPr bwMode="auto">
          <a:xfrm>
            <a:off x="609460" y="4897958"/>
            <a:ext cx="434148" cy="603250"/>
          </a:xfrm>
          <a:custGeom>
            <a:avLst/>
            <a:gdLst>
              <a:gd name="T0" fmla="*/ 0 w 67"/>
              <a:gd name="T1" fmla="*/ 0 h 380"/>
              <a:gd name="T2" fmla="*/ 0 w 67"/>
              <a:gd name="T3" fmla="*/ 2147483647 h 380"/>
              <a:gd name="T4" fmla="*/ 2147483647 w 67"/>
              <a:gd name="T5" fmla="*/ 2147483647 h 380"/>
              <a:gd name="T6" fmla="*/ 0 w 67"/>
              <a:gd name="T7" fmla="*/ 0 h 380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80"/>
              <a:gd name="T14" fmla="*/ 67 w 67"/>
              <a:gd name="T15" fmla="*/ 380 h 3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80">
                <a:moveTo>
                  <a:pt x="0" y="0"/>
                </a:moveTo>
                <a:lnTo>
                  <a:pt x="0" y="380"/>
                </a:lnTo>
                <a:lnTo>
                  <a:pt x="67" y="184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66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</a:rPr>
              <a:t>To successfully develop a strategy and strategy alternatives, a firm needs to understand its position</a:t>
            </a:r>
          </a:p>
          <a:p>
            <a:endParaRPr lang="en-US" dirty="0"/>
          </a:p>
        </p:txBody>
      </p:sp>
      <p:cxnSp>
        <p:nvCxnSpPr>
          <p:cNvPr id="6" name="Gerade Verbindung 35"/>
          <p:cNvCxnSpPr/>
          <p:nvPr/>
        </p:nvCxnSpPr>
        <p:spPr bwMode="auto">
          <a:xfrm>
            <a:off x="395556" y="3837950"/>
            <a:ext cx="1281834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Gerade Verbindung 36"/>
          <p:cNvCxnSpPr/>
          <p:nvPr/>
        </p:nvCxnSpPr>
        <p:spPr bwMode="auto">
          <a:xfrm>
            <a:off x="3284260" y="3837950"/>
            <a:ext cx="1281834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21"/>
          <p:cNvSpPr>
            <a:spLocks noChangeAspect="1" noChangeArrowheads="1"/>
          </p:cNvSpPr>
          <p:nvPr/>
        </p:nvSpPr>
        <p:spPr bwMode="auto">
          <a:xfrm>
            <a:off x="6324816" y="1988790"/>
            <a:ext cx="2500330" cy="3600450"/>
          </a:xfrm>
          <a:prstGeom prst="rect">
            <a:avLst/>
          </a:prstGeom>
          <a:solidFill>
            <a:srgbClr val="336699"/>
          </a:solidFill>
          <a:ln w="6350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lIns="324000" tIns="0" rIns="0" bIns="0" anchor="ctr"/>
          <a:lstStyle/>
          <a:p>
            <a:pPr>
              <a:defRPr/>
            </a:pPr>
            <a:r>
              <a:rPr lang="en-US" sz="1800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Basic questions build the foundation of strategy analysis</a:t>
            </a:r>
          </a:p>
        </p:txBody>
      </p:sp>
      <p:sp>
        <p:nvSpPr>
          <p:cNvPr id="9" name="AutoShape 23"/>
          <p:cNvSpPr>
            <a:spLocks noChangeAspect="1" noChangeArrowheads="1"/>
          </p:cNvSpPr>
          <p:nvPr/>
        </p:nvSpPr>
        <p:spPr bwMode="auto">
          <a:xfrm>
            <a:off x="683264" y="2126897"/>
            <a:ext cx="5924534" cy="745327"/>
          </a:xfrm>
          <a:prstGeom prst="homePlate">
            <a:avLst>
              <a:gd name="adj" fmla="val 26916"/>
            </a:avLst>
          </a:prstGeom>
          <a:solidFill>
            <a:schemeClr val="bg1"/>
          </a:solidFill>
          <a:ln w="10160">
            <a:solidFill>
              <a:srgbClr val="4D4D4D"/>
            </a:solidFill>
            <a:miter lim="800000"/>
            <a:headEnd/>
            <a:tailEnd/>
          </a:ln>
        </p:spPr>
        <p:txBody>
          <a:bodyPr lIns="324000" tIns="0" rIns="72000" bIns="0" anchor="ctr"/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Do we have the strengths to exploit opportunities?</a:t>
            </a:r>
          </a:p>
        </p:txBody>
      </p:sp>
      <p:sp>
        <p:nvSpPr>
          <p:cNvPr id="10" name="Rectangle 24"/>
          <p:cNvSpPr>
            <a:spLocks noChangeAspect="1" noChangeArrowheads="1"/>
          </p:cNvSpPr>
          <p:nvPr/>
        </p:nvSpPr>
        <p:spPr bwMode="auto">
          <a:xfrm>
            <a:off x="405119" y="2309060"/>
            <a:ext cx="557603" cy="381000"/>
          </a:xfrm>
          <a:prstGeom prst="rect">
            <a:avLst/>
          </a:prstGeom>
          <a:solidFill>
            <a:srgbClr val="336699"/>
          </a:solidFill>
          <a:ln w="6350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kumimoji="1" lang="en-US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endParaRPr kumimoji="1" lang="en-US" b="1" dirty="0">
              <a:solidFill>
                <a:srgbClr val="0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AutoShape 29"/>
          <p:cNvSpPr>
            <a:spLocks noChangeAspect="1" noChangeArrowheads="1"/>
          </p:cNvSpPr>
          <p:nvPr/>
        </p:nvSpPr>
        <p:spPr bwMode="auto">
          <a:xfrm>
            <a:off x="683264" y="3855089"/>
            <a:ext cx="5924534" cy="745327"/>
          </a:xfrm>
          <a:prstGeom prst="homePlate">
            <a:avLst>
              <a:gd name="adj" fmla="val 26916"/>
            </a:avLst>
          </a:prstGeom>
          <a:solidFill>
            <a:schemeClr val="bg1"/>
          </a:solidFill>
          <a:ln w="10160">
            <a:solidFill>
              <a:srgbClr val="4D4D4D"/>
            </a:solidFill>
            <a:miter lim="800000"/>
            <a:headEnd/>
            <a:tailEnd/>
          </a:ln>
        </p:spPr>
        <p:txBody>
          <a:bodyPr lIns="324000" tIns="0" rIns="72000" bIns="0" anchor="ctr"/>
          <a:lstStyle/>
          <a:p>
            <a:r>
              <a:rPr lang="en-US" dirty="0">
                <a:solidFill>
                  <a:srgbClr val="4D4D4D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Which opportunities are we missing due to our  </a:t>
            </a:r>
          </a:p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weaknesses?</a:t>
            </a:r>
          </a:p>
        </p:txBody>
      </p:sp>
      <p:sp>
        <p:nvSpPr>
          <p:cNvPr id="12" name="Rectangle 30"/>
          <p:cNvSpPr>
            <a:spLocks noChangeAspect="1" noChangeArrowheads="1"/>
          </p:cNvSpPr>
          <p:nvPr/>
        </p:nvSpPr>
        <p:spPr bwMode="auto">
          <a:xfrm>
            <a:off x="405119" y="4045983"/>
            <a:ext cx="557603" cy="363538"/>
          </a:xfrm>
          <a:prstGeom prst="rect">
            <a:avLst/>
          </a:prstGeom>
          <a:solidFill>
            <a:srgbClr val="336699"/>
          </a:solidFill>
          <a:ln w="6350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kumimoji="1" lang="en-US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kumimoji="1" lang="en-US" b="1" dirty="0">
              <a:solidFill>
                <a:srgbClr val="0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AutoShape 32"/>
          <p:cNvSpPr>
            <a:spLocks noChangeAspect="1" noChangeArrowheads="1"/>
          </p:cNvSpPr>
          <p:nvPr/>
        </p:nvSpPr>
        <p:spPr bwMode="auto">
          <a:xfrm>
            <a:off x="683264" y="4719185"/>
            <a:ext cx="5924534" cy="745327"/>
          </a:xfrm>
          <a:prstGeom prst="homePlate">
            <a:avLst>
              <a:gd name="adj" fmla="val 26916"/>
            </a:avLst>
          </a:prstGeom>
          <a:solidFill>
            <a:schemeClr val="bg1"/>
          </a:solidFill>
          <a:ln w="10160">
            <a:solidFill>
              <a:srgbClr val="4D4D4D"/>
            </a:solidFill>
            <a:miter lim="800000"/>
            <a:headEnd/>
            <a:tailEnd/>
          </a:ln>
        </p:spPr>
        <p:txBody>
          <a:bodyPr lIns="324000" tIns="0" rIns="72000" bIns="0" anchor="ctr"/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Which risks are we exposed to due to our weaknesses?</a:t>
            </a:r>
          </a:p>
        </p:txBody>
      </p:sp>
      <p:sp>
        <p:nvSpPr>
          <p:cNvPr id="14" name="Rectangle 33"/>
          <p:cNvSpPr>
            <a:spLocks noChangeAspect="1" noChangeArrowheads="1"/>
          </p:cNvSpPr>
          <p:nvPr/>
        </p:nvSpPr>
        <p:spPr bwMode="auto">
          <a:xfrm>
            <a:off x="405119" y="4902142"/>
            <a:ext cx="557603" cy="379413"/>
          </a:xfrm>
          <a:prstGeom prst="rect">
            <a:avLst/>
          </a:prstGeom>
          <a:solidFill>
            <a:srgbClr val="336699"/>
          </a:solidFill>
          <a:ln w="6350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kumimoji="1" lang="en-US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endParaRPr kumimoji="1" lang="en-US" b="1" dirty="0">
              <a:solidFill>
                <a:srgbClr val="0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AutoShape 23"/>
          <p:cNvSpPr>
            <a:spLocks noChangeAspect="1" noChangeArrowheads="1"/>
          </p:cNvSpPr>
          <p:nvPr/>
        </p:nvSpPr>
        <p:spPr bwMode="auto">
          <a:xfrm>
            <a:off x="677590" y="2990993"/>
            <a:ext cx="5924534" cy="745327"/>
          </a:xfrm>
          <a:prstGeom prst="homePlate">
            <a:avLst>
              <a:gd name="adj" fmla="val 26916"/>
            </a:avLst>
          </a:prstGeom>
          <a:solidFill>
            <a:schemeClr val="bg1"/>
          </a:solidFill>
          <a:ln w="10160">
            <a:solidFill>
              <a:srgbClr val="4D4D4D"/>
            </a:solidFill>
            <a:miter lim="800000"/>
            <a:headEnd/>
            <a:tailEnd/>
          </a:ln>
        </p:spPr>
        <p:txBody>
          <a:bodyPr lIns="324000" tIns="0" rIns="72000" bIns="0" anchor="ctr"/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Do we have the strengths to overcome risks?</a:t>
            </a:r>
          </a:p>
        </p:txBody>
      </p:sp>
      <p:sp>
        <p:nvSpPr>
          <p:cNvPr id="16" name="Rectangle 27"/>
          <p:cNvSpPr>
            <a:spLocks noChangeAspect="1" noChangeArrowheads="1"/>
          </p:cNvSpPr>
          <p:nvPr/>
        </p:nvSpPr>
        <p:spPr bwMode="auto">
          <a:xfrm>
            <a:off x="405119" y="3181887"/>
            <a:ext cx="557603" cy="363538"/>
          </a:xfrm>
          <a:prstGeom prst="rect">
            <a:avLst/>
          </a:prstGeom>
          <a:solidFill>
            <a:srgbClr val="336699"/>
          </a:solidFill>
          <a:ln w="6350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kumimoji="1" lang="en-US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endParaRPr kumimoji="1" lang="en-US" b="1" dirty="0">
              <a:solidFill>
                <a:srgbClr val="0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1028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THINKCELLPRESENTATIONDONOTDELETE" val="&lt;?xml version=&quot;1.0&quot; encoding=&quot;UTF-16&quot; standalone=&quot;yes&quot;?&gt;&lt;root reqver=&quot;23045&quot;&gt;&lt;version val=&quot;2509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4&quot;&gt;&lt;elem m_fUsage=&quot;1.62900000000000000355E+00&quot;&gt;&lt;m_msothmcolidx val=&quot;0&quot;/&gt;&lt;m_rgb r=&quot;5B&quot; g=&quot;9B&quot; b=&quot;D5&quot;/&gt;&lt;m_nBrightness val=&quot;0&quot;/&gt;&lt;/elem&gt;&lt;elem m_fUsage=&quot;1.00000000000000000000E+00&quot;&gt;&lt;m_msothmcolidx val=&quot;0&quot;/&gt;&lt;m_rgb r=&quot;7F&quot; g=&quot;7F&quot; b=&quot;7F&quot;/&gt;&lt;m_nBrightness val=&quot;0&quot;/&gt;&lt;/elem&gt;&lt;elem m_fUsage=&quot;8.10000000000000053291E-01&quot;&gt;&lt;m_msothmcolidx val=&quot;0&quot;/&gt;&lt;m_rgb r=&quot;44&quot; g=&quot;54&quot; b=&quot;6A&quot;/&gt;&lt;m_nBrightness val=&quot;0&quot;/&gt;&lt;/elem&gt;&lt;elem m_fUsage=&quot;6.56100000000000127542E-01&quot;&gt;&lt;m_msothmcolidx val=&quot;0&quot;/&gt;&lt;m_rgb r=&quot;A6&quot; g=&quot;A6&quot; b=&quot;A6&quot;/&gt;&lt;m_nBrightness val=&quot;0&quot;/&gt;&lt;/elem&gt;&lt;/m_vecMRU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dEGvTU.SMCHvBf1Zlc6v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hrstuhl-Präsentation quer">
  <a:themeElements>
    <a:clrScheme name="Benutzerdefini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7F7F7F"/>
      </a:hlink>
      <a:folHlink>
        <a:srgbClr val="B2B2B2"/>
      </a:folHlink>
    </a:clrScheme>
    <a:fontScheme name="Lehrstuhl-Präsentation quer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336699"/>
        </a:solidFill>
        <a:ln w="22225">
          <a:noFill/>
          <a:round/>
          <a:headEnd/>
          <a:tailEnd/>
        </a:ln>
      </a:spPr>
      <a:bodyPr anchor="ctr" anchorCtr="0"/>
      <a:lstStyle>
        <a:defPPr algn="l">
          <a:lnSpc>
            <a:spcPts val="1800"/>
          </a:lnSpc>
          <a:defRPr kumimoji="1" sz="1800" dirty="0" smtClean="0">
            <a:solidFill>
              <a:schemeClr val="bg1"/>
            </a:solidFill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hrstuhl-Präsentation qu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hrstuhl-Präsentation quer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727</Words>
  <Application>Microsoft Office PowerPoint</Application>
  <PresentationFormat>On-screen Show (4:3)</PresentationFormat>
  <Paragraphs>164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Arial Narrow</vt:lpstr>
      <vt:lpstr>Symbol</vt:lpstr>
      <vt:lpstr>Times New Roman</vt:lpstr>
      <vt:lpstr>Verdana</vt:lpstr>
      <vt:lpstr>Wingdings</vt:lpstr>
      <vt:lpstr>Lehrstuhl-Präsentation quer</vt:lpstr>
      <vt:lpstr>think-cell Folie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Kein Folientitel</dc:title>
  <dc:creator>jpuck</dc:creator>
  <cp:lastModifiedBy>Arne Floh</cp:lastModifiedBy>
  <cp:revision>3329</cp:revision>
  <cp:lastPrinted>2017-05-30T14:51:03Z</cp:lastPrinted>
  <dcterms:created xsi:type="dcterms:W3CDTF">2009-11-21T16:13:03Z</dcterms:created>
  <dcterms:modified xsi:type="dcterms:W3CDTF">2026-07-06T18:20:40Z</dcterms:modified>
</cp:coreProperties>
</file>