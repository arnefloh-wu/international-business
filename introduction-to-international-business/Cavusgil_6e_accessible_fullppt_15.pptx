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4"/>
    <p:sldMasterId id="2147483659" r:id="rId5"/>
  </p:sldMasterIdLst>
  <p:notesMasterIdLst>
    <p:notesMasterId r:id="rId44"/>
  </p:notesMasterIdLst>
  <p:handoutMasterIdLst>
    <p:handoutMasterId r:id="rId45"/>
  </p:handoutMasterIdLst>
  <p:sldIdLst>
    <p:sldId id="330" r:id="rId6"/>
    <p:sldId id="272" r:id="rId7"/>
    <p:sldId id="907" r:id="rId8"/>
    <p:sldId id="930" r:id="rId9"/>
    <p:sldId id="931" r:id="rId10"/>
    <p:sldId id="912" r:id="rId11"/>
    <p:sldId id="932" r:id="rId12"/>
    <p:sldId id="933" r:id="rId13"/>
    <p:sldId id="934" r:id="rId14"/>
    <p:sldId id="935" r:id="rId15"/>
    <p:sldId id="936" r:id="rId16"/>
    <p:sldId id="937" r:id="rId17"/>
    <p:sldId id="938" r:id="rId18"/>
    <p:sldId id="939" r:id="rId19"/>
    <p:sldId id="940" r:id="rId20"/>
    <p:sldId id="941" r:id="rId21"/>
    <p:sldId id="942" r:id="rId22"/>
    <p:sldId id="844" r:id="rId23"/>
    <p:sldId id="943" r:id="rId24"/>
    <p:sldId id="944" r:id="rId25"/>
    <p:sldId id="945" r:id="rId26"/>
    <p:sldId id="946" r:id="rId27"/>
    <p:sldId id="947" r:id="rId28"/>
    <p:sldId id="867" r:id="rId29"/>
    <p:sldId id="948" r:id="rId30"/>
    <p:sldId id="949" r:id="rId31"/>
    <p:sldId id="950" r:id="rId32"/>
    <p:sldId id="951" r:id="rId33"/>
    <p:sldId id="899" r:id="rId34"/>
    <p:sldId id="923" r:id="rId35"/>
    <p:sldId id="952" r:id="rId36"/>
    <p:sldId id="953" r:id="rId37"/>
    <p:sldId id="954" r:id="rId38"/>
    <p:sldId id="956" r:id="rId39"/>
    <p:sldId id="955" r:id="rId40"/>
    <p:sldId id="957" r:id="rId41"/>
    <p:sldId id="928" r:id="rId42"/>
    <p:sldId id="298" r:id="rId43"/>
  </p:sldIdLst>
  <p:sldSz cx="9144000" cy="6858000" type="screen4x3"/>
  <p:notesSz cx="6858000" cy="9144000"/>
  <p:embeddedFontLst>
    <p:embeddedFont>
      <p:font typeface="Verdana" panose="020B060403050404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32" userDrawn="1">
          <p15:clr>
            <a:srgbClr val="A4A3A4"/>
          </p15:clr>
        </p15:guide>
        <p15:guide id="2" pos="226" userDrawn="1">
          <p15:clr>
            <a:srgbClr val="A4A3A4"/>
          </p15:clr>
        </p15:guide>
        <p15:guide id="4" orient="horz" pos="368" userDrawn="1">
          <p15:clr>
            <a:srgbClr val="A4A3A4"/>
          </p15:clr>
        </p15:guide>
        <p15:guide id="5" pos="5488" userDrawn="1">
          <p15:clr>
            <a:srgbClr val="A4A3A4"/>
          </p15:clr>
        </p15:guide>
        <p15:guide id="6" orient="horz" pos="1185" userDrawn="1">
          <p15:clr>
            <a:srgbClr val="A4A3A4"/>
          </p15:clr>
        </p15:guide>
        <p15:guide id="7" orient="horz" pos="75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3"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68" autoAdjust="0"/>
    <p:restoredTop sz="96374" autoAdjust="0"/>
  </p:normalViewPr>
  <p:slideViewPr>
    <p:cSldViewPr snapToGrid="0" snapToObjects="1">
      <p:cViewPr varScale="1">
        <p:scale>
          <a:sx n="72" d="100"/>
          <a:sy n="72" d="100"/>
        </p:scale>
        <p:origin x="1608" y="72"/>
      </p:cViewPr>
      <p:guideLst>
        <p:guide orient="horz" pos="4032"/>
        <p:guide pos="226"/>
        <p:guide orient="horz" pos="368"/>
        <p:guide pos="5488"/>
        <p:guide orient="horz" pos="1185"/>
        <p:guide orient="horz" pos="754"/>
      </p:guideLst>
    </p:cSldViewPr>
  </p:slideViewPr>
  <p:outlineViewPr>
    <p:cViewPr>
      <p:scale>
        <a:sx n="33" d="100"/>
        <a:sy n="33" d="100"/>
      </p:scale>
      <p:origin x="0" y="-2831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88" d="100"/>
          <a:sy n="88" d="100"/>
        </p:scale>
        <p:origin x="304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2.fntdata"/><Relationship Id="rId50" Type="http://schemas.openxmlformats.org/officeDocument/2006/relationships/commentAuthors" Target="commentAuthors.xml"/><Relationship Id="rId55"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1.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3"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4.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3.fntdata"/><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endParaRPr lang="en-US" dirty="0"/>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IN" dirty="0"/>
              <a:t>Contractual entry strategies in international business are cross-border exchanges in which the relationship between the focal firm and its foreign partner is governed by an explicit contract. Intellectual property describes ideas or works that individuals or firms create, including discoveries and inventions; artistic, musical, and literary works; and words, phrases, symbols, and designs. Harry Potter is a leading example. Intellectual property is safeguarded through intellectual property rights, the legal claim through which proprietary assets are protected from unauthorized use by other parties.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33659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11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37487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11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68860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lgn="l" rtl="0">
              <a:lnSpc>
                <a:spcPct val="80000"/>
              </a:lnSpc>
              <a:spcBef>
                <a:spcPts val="0"/>
              </a:spcBef>
              <a:spcAft>
                <a:spcPts val="0"/>
              </a:spcAft>
              <a:buAutoNum type="arabicPeriod"/>
            </a:pPr>
            <a:r>
              <a:rPr lang="en-US" sz="1200" dirty="0">
                <a:latin typeface="Arial"/>
                <a:ea typeface="Arial"/>
                <a:cs typeface="Arial"/>
                <a:sym typeface="Arial"/>
              </a:rPr>
              <a:t>FDI is far more taxing on the firm’s resources and capabilities than any other entry strategy. The U.S. firm General Electric owns more than $400 billion in factories, subsidiaries, and other operations outside the United States.</a:t>
            </a:r>
          </a:p>
          <a:p>
            <a:pPr marL="0" lvl="0" indent="0" algn="l" rtl="0">
              <a:lnSpc>
                <a:spcPct val="80000"/>
              </a:lnSpc>
              <a:spcBef>
                <a:spcPts val="0"/>
              </a:spcBef>
              <a:spcAft>
                <a:spcPts val="0"/>
              </a:spcAft>
              <a:buNone/>
            </a:pPr>
            <a:endParaRPr lang="en-US" dirty="0"/>
          </a:p>
          <a:p>
            <a:pPr marL="0" lvl="0" indent="0" algn="l" rtl="0">
              <a:lnSpc>
                <a:spcPct val="80000"/>
              </a:lnSpc>
              <a:spcBef>
                <a:spcPts val="306"/>
              </a:spcBef>
              <a:spcAft>
                <a:spcPts val="0"/>
              </a:spcAft>
              <a:buNone/>
            </a:pPr>
            <a:r>
              <a:rPr lang="en-US" sz="1200" dirty="0">
                <a:latin typeface="Arial"/>
                <a:ea typeface="Arial"/>
                <a:cs typeface="Arial"/>
                <a:sym typeface="Arial"/>
              </a:rPr>
              <a:t>2. Through F D I, management establishes direct contact with customers, intermediaries, facilitators, and the government sector. Although based in Switzerland, Nestlé generates more than 90 percent of its sales from abroad. The Indian M N E Tata Consultancy Services generates most of its revenues in North America, while rival I B M, a U.S. company, obtains nearly two-thirds of its sales from abroad.</a:t>
            </a:r>
          </a:p>
          <a:p>
            <a:pPr marL="0" lvl="0" indent="0" algn="l" rtl="0">
              <a:lnSpc>
                <a:spcPct val="80000"/>
              </a:lnSpc>
              <a:spcBef>
                <a:spcPts val="306"/>
              </a:spcBef>
              <a:spcAft>
                <a:spcPts val="0"/>
              </a:spcAft>
              <a:buNone/>
            </a:pPr>
            <a:endParaRPr lang="en-US" dirty="0"/>
          </a:p>
          <a:p>
            <a:pPr marL="0" lvl="0" indent="0" algn="l" rtl="0">
              <a:lnSpc>
                <a:spcPct val="80000"/>
              </a:lnSpc>
              <a:spcBef>
                <a:spcPts val="306"/>
              </a:spcBef>
              <a:spcAft>
                <a:spcPts val="0"/>
              </a:spcAft>
              <a:buNone/>
            </a:pPr>
            <a:r>
              <a:rPr lang="en-US" sz="1200" dirty="0">
                <a:latin typeface="Arial"/>
                <a:ea typeface="Arial"/>
                <a:cs typeface="Arial"/>
                <a:sym typeface="Arial"/>
              </a:rPr>
              <a:t>3. Managers choose particular countries in which to invest, based on the advantages these locations offer. Thus, firms tend to: perform R&amp;D activities in those countries with leading-edge knowledge and experience for their industry; source from countries where suppliers provide the best-value products; build production facilities at locations that provide the best ratio of productivity to labor costs; and establish marketing subsidiaries in countries with the greatest sales potential.</a:t>
            </a:r>
            <a:endParaRPr lang="en-US" dirty="0"/>
          </a:p>
          <a:p>
            <a:pPr marL="0" lvl="0" indent="0" algn="l" rtl="0">
              <a:lnSpc>
                <a:spcPct val="80000"/>
              </a:lnSpc>
              <a:spcBef>
                <a:spcPts val="306"/>
              </a:spcBef>
              <a:spcAft>
                <a:spcPts val="0"/>
              </a:spcAft>
              <a:buNone/>
            </a:pPr>
            <a:endParaRPr lang="en-US" sz="1200" dirty="0">
              <a:latin typeface="Arial"/>
              <a:ea typeface="Arial"/>
              <a:cs typeface="Arial"/>
              <a:sym typeface="Arial"/>
            </a:endParaRPr>
          </a:p>
          <a:p>
            <a:pPr marL="0" lvl="0" indent="0" algn="l" rtl="0">
              <a:lnSpc>
                <a:spcPct val="80000"/>
              </a:lnSpc>
              <a:spcBef>
                <a:spcPts val="306"/>
              </a:spcBef>
              <a:spcAft>
                <a:spcPts val="0"/>
              </a:spcAft>
              <a:buNone/>
            </a:pPr>
            <a:r>
              <a:rPr lang="en-US" sz="1200" dirty="0">
                <a:latin typeface="Arial"/>
                <a:ea typeface="Arial"/>
                <a:cs typeface="Arial"/>
                <a:sym typeface="Arial"/>
              </a:rPr>
              <a:t>4. Compared to other entry strategies, establishing a permanent, fixed presence in a foreign country makes the firm vulnerable to country risk and intervention by local government on issues such as wages, hiring practices, and product pricing. Direct investors also must contend with inflation, recessions, and other local economic conditions. French automaker Renault recently paid $1 billion to obtain a 25 percent stake in </a:t>
            </a:r>
            <a:r>
              <a:rPr lang="en-US" sz="1200" dirty="0" err="1">
                <a:latin typeface="Arial"/>
                <a:ea typeface="Arial"/>
                <a:cs typeface="Arial"/>
                <a:sym typeface="Arial"/>
              </a:rPr>
              <a:t>AvtoVAZ</a:t>
            </a:r>
            <a:r>
              <a:rPr lang="en-US" sz="1200" dirty="0">
                <a:latin typeface="Arial"/>
                <a:ea typeface="Arial"/>
                <a:cs typeface="Arial"/>
                <a:sym typeface="Arial"/>
              </a:rPr>
              <a:t> (www.lada-auto.ru), a car factory in Russia. Renault management wants to produce Lada brand cars for the local market. But the </a:t>
            </a:r>
            <a:r>
              <a:rPr lang="en-US" sz="1200" dirty="0" err="1">
                <a:latin typeface="Arial"/>
                <a:ea typeface="Arial"/>
                <a:cs typeface="Arial"/>
                <a:sym typeface="Arial"/>
              </a:rPr>
              <a:t>AvtoVAZ</a:t>
            </a:r>
            <a:r>
              <a:rPr lang="en-US" sz="1200" dirty="0">
                <a:latin typeface="Arial"/>
                <a:ea typeface="Arial"/>
                <a:cs typeface="Arial"/>
                <a:sym typeface="Arial"/>
              </a:rPr>
              <a:t> plant is 40 years old and plagued by inefficient operations and a slow-moving workforce with origins in the Soviet era of communism, and has a history of organized crime. </a:t>
            </a:r>
            <a:br>
              <a:rPr lang="en-US" sz="1200" dirty="0">
                <a:latin typeface="Arial"/>
                <a:ea typeface="Arial"/>
                <a:cs typeface="Arial"/>
                <a:sym typeface="Arial"/>
              </a:rPr>
            </a:br>
            <a:endParaRPr lang="en-US" sz="1200" dirty="0">
              <a:latin typeface="Arial"/>
              <a:ea typeface="Arial"/>
              <a:cs typeface="Arial"/>
              <a:sym typeface="Arial"/>
            </a:endParaRPr>
          </a:p>
          <a:p>
            <a:pPr marL="0" lvl="0" indent="0" algn="l" rtl="0">
              <a:lnSpc>
                <a:spcPct val="80000"/>
              </a:lnSpc>
              <a:spcBef>
                <a:spcPts val="306"/>
              </a:spcBef>
              <a:spcAft>
                <a:spcPts val="0"/>
              </a:spcAft>
              <a:buNone/>
            </a:pPr>
            <a:r>
              <a:rPr lang="en-US" sz="1200" dirty="0">
                <a:latin typeface="Arial"/>
                <a:ea typeface="Arial"/>
                <a:cs typeface="Arial"/>
                <a:sym typeface="Arial"/>
              </a:rPr>
              <a:t>5. Even a large, well-established company like Disney experienced several failures in its foreign investing. When Disney established Tokyo Disneyland, its management incorrectly assumed the Disneyland experience could not be successfully transferred to Japan. So instead of investing, Disney opted to license rights in Japan for nominal profits. Tokyo Disneyland proved to be a huge success. Not wanting to repeat the same mistake, management opted to retain an F D I stake in its next theme park—Disneyland Paris. But it proved to be a financial sinkhole. Having learned from these experiences, Disney has made the latest theme park, Hong Kong Disneyland, more successful. Disney owns just 46 percent of the venture, making the Hong Kong government the major partner.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67079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11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42385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11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17686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11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15307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21811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90361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None/>
            </a:pPr>
            <a:r>
              <a:rPr lang="en-US" dirty="0"/>
              <a:t>Long Description:</a:t>
            </a:r>
          </a:p>
          <a:p>
            <a:pPr marL="0" lvl="0" indent="0" algn="l" rtl="0">
              <a:lnSpc>
                <a:spcPct val="90000"/>
              </a:lnSpc>
              <a:spcBef>
                <a:spcPts val="0"/>
              </a:spcBef>
              <a:spcAft>
                <a:spcPts val="0"/>
              </a:spcAft>
              <a:buNone/>
            </a:pPr>
            <a:r>
              <a:rPr lang="en-US" sz="1200" b="0" i="0" u="none" strike="noStrike" kern="1200" cap="none" dirty="0">
                <a:solidFill>
                  <a:schemeClr val="dk1"/>
                </a:solidFill>
                <a:effectLst/>
                <a:latin typeface="Arial"/>
                <a:ea typeface="Arial"/>
                <a:cs typeface="Arial"/>
                <a:sym typeface="Arial"/>
              </a:rPr>
              <a:t>The elements follow one after the next as follows: licensor; licensor provides the licensee a combination of: 1. Intellectual property (patent, trademark, design, copyright, or know-how); 2. Supporting products (parts, components, raw materials, etcetera); Licensee divides into two sections local sales and exports; licensee compensates the licensor through a combination of: 1. Lump-sum payment; 2. Down-payment plus royalty; 3. Products; 4. Know-how; 5. Cross-licensing.</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80256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1100"/>
              <a:buFont typeface="Arial"/>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09530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44516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4038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36099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17404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www.hoovers.com</a:t>
            </a:r>
          </a:p>
          <a:p>
            <a:r>
              <a:rPr lang="en-US" dirty="0"/>
              <a:t>www.licensemag.com/license-global/top-150-global-licensors-3</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8879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08884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Franchising is an advanced form of licensing in which the focal firm, the franchisor, allows an entrepreneur, the franchisee, the right to use an entire business system in exchange for compensation. As with licensing, an explicit contract defines the terms of the relationship. McDonald’s, Subway, Hertz, and FedEx are well-established international franchisors. Others that use franchising to expand abroad include Benetton, Body Shop, Yves Rocher, and Marks &amp; Spencer.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Franchising is common in international retailing. However, some retailers such as I K E A and Starbucks </a:t>
            </a:r>
            <a:r>
              <a:rPr lang="en-IN" dirty="0" err="1"/>
              <a:t>favor</a:t>
            </a:r>
            <a:r>
              <a:rPr lang="en-IN" dirty="0"/>
              <a:t> direct investment and internationalize through company-owned outlets. Ownership provides these firms with greater control over foreign operations but also typically restricts their ability to expand more rapidly abroad.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4108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Long Description:</a:t>
            </a:r>
          </a:p>
          <a:p>
            <a:pPr marL="0" lvl="0" indent="0" algn="l" rtl="0">
              <a:spcBef>
                <a:spcPts val="0"/>
              </a:spcBef>
              <a:spcAft>
                <a:spcPts val="0"/>
              </a:spcAft>
              <a:buNone/>
            </a:pPr>
            <a:r>
              <a:rPr lang="en-US" sz="1200" b="0" i="0" u="none" strike="noStrike" kern="1200" cap="none" dirty="0">
                <a:solidFill>
                  <a:schemeClr val="dk1"/>
                </a:solidFill>
                <a:effectLst/>
                <a:latin typeface="Arial"/>
                <a:ea typeface="Arial"/>
                <a:cs typeface="Arial"/>
                <a:sym typeface="Arial"/>
              </a:rPr>
              <a:t>The elements follow one after the next is as follows: franchisor; franchisor provides: 1. Trademark-protected business concept; plus; 2. Everything needed for its implementation (patents, know-how, training, services, products); franchisee; franchisee compensates the franchisor through a combination of: 1. Lump-sum payment; 2. Down-payment plus royalty; 3. Other mark-ups and contributions (for example, finance charges, sale of related products).</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83352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www.entrepreneur.com</a:t>
            </a:r>
          </a:p>
          <a:p>
            <a:r>
              <a:rPr lang="en-US" dirty="0"/>
              <a:t>www.franchisedirect.com</a:t>
            </a:r>
            <a:br>
              <a:rPr lang="en-US" dirty="0"/>
            </a:br>
            <a:r>
              <a:rPr lang="en-US" dirty="0"/>
              <a:t>Hoovers.com</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579426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1990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07690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33640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charset="0"/>
              <a:buNone/>
              <a:tabLst/>
              <a:defRPr/>
            </a:pPr>
            <a:r>
              <a:rPr lang="en-IN" dirty="0"/>
              <a:t>Licensing and franchising are especially salient contractual entry strategies. In addition, firms employ other contract-based approaches to venture abroad.. Other types of contractual agreements deal with building major construction projects, manufacturing products under contract, providing management and marketing services, or leasing major assets.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08333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969619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22973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88028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endParaRPr lang="en-US" sz="1200" dirty="0">
              <a:latin typeface="Arial"/>
              <a:ea typeface="Arial"/>
              <a:cs typeface="Arial"/>
              <a:sym typeface="Arial"/>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828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6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27222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932289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049563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13553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dirty="0"/>
              <a:t>www.cbp.gov</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570286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dirty="0"/>
              <a:t>www.cbp.gov</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47226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Arial" charset="0"/>
              <a:buNone/>
              <a:tabLst/>
              <a:defRPr/>
            </a:pPr>
            <a:r>
              <a:rPr lang="en-US" dirty="0"/>
              <a:t>www.cbp.gov</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05427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b="0"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vl1pPr>
          </a:lstStyle>
          <a:p>
            <a:pPr algn="r">
              <a:buSzPct val="25000"/>
              <a:defRPr/>
            </a:pPr>
            <a:r>
              <a:rPr lang="en-US" sz="900" dirty="0">
                <a:solidFill>
                  <a:srgbClr val="FFFFFF"/>
                </a:solidFill>
              </a:rPr>
              <a:t>1-3</a:t>
            </a: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151536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151536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151536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151536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3429000"/>
            <a:ext cx="1773238"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3338" y="3429000"/>
            <a:ext cx="1773237"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794250" y="3429000"/>
            <a:ext cx="1779588"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04025" y="3308350"/>
            <a:ext cx="1882775" cy="249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7452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28800" cy="76390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28800" cy="68770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28800" cy="68770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28800" cy="61912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2461261"/>
            <a:ext cx="1773237" cy="6324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2593" y="2461261"/>
            <a:ext cx="1749377" cy="563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664126" y="2369821"/>
            <a:ext cx="1852660" cy="6877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58647" y="2316480"/>
            <a:ext cx="1828153" cy="6191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E52047A-34B0-B956-AD76-DABE165D0777}"/>
              </a:ext>
            </a:extLst>
          </p:cNvPr>
          <p:cNvSpPr>
            <a:spLocks noGrp="1"/>
          </p:cNvSpPr>
          <p:nvPr>
            <p:ph sz="quarter" idx="21"/>
          </p:nvPr>
        </p:nvSpPr>
        <p:spPr>
          <a:xfrm>
            <a:off x="457200" y="3314700"/>
            <a:ext cx="1773238"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91E79D87-C71A-80C2-8558-006A71964F6A}"/>
              </a:ext>
            </a:extLst>
          </p:cNvPr>
          <p:cNvSpPr>
            <a:spLocks noGrp="1"/>
          </p:cNvSpPr>
          <p:nvPr>
            <p:ph sz="quarter" idx="22"/>
          </p:nvPr>
        </p:nvSpPr>
        <p:spPr>
          <a:xfrm>
            <a:off x="2573338" y="3375025"/>
            <a:ext cx="1749425"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1C0C8765-95C2-0DB5-D607-849AFFBA8C51}"/>
              </a:ext>
            </a:extLst>
          </p:cNvPr>
          <p:cNvSpPr>
            <a:spLocks noGrp="1"/>
          </p:cNvSpPr>
          <p:nvPr>
            <p:ph sz="quarter" idx="23"/>
          </p:nvPr>
        </p:nvSpPr>
        <p:spPr>
          <a:xfrm>
            <a:off x="4687888" y="3268663"/>
            <a:ext cx="1828800" cy="563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46CE01F6-0743-38E9-AF87-DAA5777F8F4F}"/>
              </a:ext>
            </a:extLst>
          </p:cNvPr>
          <p:cNvSpPr>
            <a:spLocks noGrp="1"/>
          </p:cNvSpPr>
          <p:nvPr>
            <p:ph sz="quarter" idx="24"/>
          </p:nvPr>
        </p:nvSpPr>
        <p:spPr>
          <a:xfrm>
            <a:off x="6881813" y="3187700"/>
            <a:ext cx="1773237" cy="752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a:extLst>
              <a:ext uri="{FF2B5EF4-FFF2-40B4-BE49-F238E27FC236}">
                <a16:creationId xmlns:a16="http://schemas.microsoft.com/office/drawing/2014/main" id="{6FA160C5-C2B6-646A-24C2-497BDD85C78E}"/>
              </a:ext>
            </a:extLst>
          </p:cNvPr>
          <p:cNvSpPr>
            <a:spLocks noGrp="1"/>
          </p:cNvSpPr>
          <p:nvPr>
            <p:ph sz="quarter" idx="25"/>
          </p:nvPr>
        </p:nvSpPr>
        <p:spPr>
          <a:xfrm>
            <a:off x="488950" y="4192588"/>
            <a:ext cx="1741488" cy="126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354DFDB5-A5D7-D3C2-9EF8-F8AE304C5236}"/>
              </a:ext>
            </a:extLst>
          </p:cNvPr>
          <p:cNvSpPr>
            <a:spLocks noGrp="1"/>
          </p:cNvSpPr>
          <p:nvPr>
            <p:ph sz="quarter" idx="26"/>
          </p:nvPr>
        </p:nvSpPr>
        <p:spPr>
          <a:xfrm>
            <a:off x="2735263" y="4192588"/>
            <a:ext cx="16668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2">
            <a:extLst>
              <a:ext uri="{FF2B5EF4-FFF2-40B4-BE49-F238E27FC236}">
                <a16:creationId xmlns:a16="http://schemas.microsoft.com/office/drawing/2014/main" id="{1A7D73FA-E2BD-CDFE-F443-0BF08320DEB5}"/>
              </a:ext>
            </a:extLst>
          </p:cNvPr>
          <p:cNvSpPr>
            <a:spLocks noGrp="1"/>
          </p:cNvSpPr>
          <p:nvPr>
            <p:ph sz="quarter" idx="27"/>
          </p:nvPr>
        </p:nvSpPr>
        <p:spPr>
          <a:xfrm>
            <a:off x="4770438" y="4297363"/>
            <a:ext cx="15652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2DE9E79D-3862-0315-17F8-2EE3AE3C8C5B}"/>
              </a:ext>
            </a:extLst>
          </p:cNvPr>
          <p:cNvSpPr>
            <a:spLocks noGrp="1"/>
          </p:cNvSpPr>
          <p:nvPr>
            <p:ph type="body" sz="quarter" idx="28"/>
          </p:nvPr>
        </p:nvSpPr>
        <p:spPr>
          <a:xfrm>
            <a:off x="7086600" y="4297363"/>
            <a:ext cx="1600200" cy="1158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4153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5739894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jp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1-1</a:t>
            </a:r>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Placeholder 21" descr="Pearson Logo">
            <a:extLst>
              <a:ext uri="{FF2B5EF4-FFF2-40B4-BE49-F238E27FC236}">
                <a16:creationId xmlns:a16="http://schemas.microsoft.com/office/drawing/2014/main" id="{70404F1E-C5CF-2FE6-8AE4-FD92A0B2DB16}"/>
              </a:ext>
            </a:extLst>
          </p:cNvPr>
          <p:cNvPicPr>
            <a:picLocks noChangeAspect="1"/>
          </p:cNvPicPr>
          <p:nvPr userDrawn="1"/>
        </p:nvPicPr>
        <p:blipFill>
          <a:blip r:embed="rId15"/>
          <a:srcRect t="22152" b="22152"/>
          <a:stretch>
            <a:fillRect/>
          </a:stretch>
        </p:blipFill>
        <p:spPr>
          <a:xfrm>
            <a:off x="332508" y="6431973"/>
            <a:ext cx="1153391" cy="290602"/>
          </a:xfrm>
          <a:prstGeom prst="rect">
            <a:avLst/>
          </a:prstGeom>
        </p:spPr>
      </p:pic>
      <p:sp>
        <p:nvSpPr>
          <p:cNvPr id="3" name="Content Placeholder 7">
            <a:extLst>
              <a:ext uri="{FF2B5EF4-FFF2-40B4-BE49-F238E27FC236}">
                <a16:creationId xmlns:a16="http://schemas.microsoft.com/office/drawing/2014/main" id="{BB5CE15C-340A-7A6B-8F07-DA5245C3AD6C}"/>
              </a:ext>
            </a:extLst>
          </p:cNvPr>
          <p:cNvSpPr txBox="1">
            <a:spLocks/>
          </p:cNvSpPr>
          <p:nvPr userDrawn="1"/>
        </p:nvSpPr>
        <p:spPr>
          <a:xfrm>
            <a:off x="3717421" y="6425373"/>
            <a:ext cx="5042116" cy="221018"/>
          </a:xfrm>
          <a:prstGeom prst="rect">
            <a:avLst/>
          </a:prstGeom>
        </p:spPr>
        <p:txBody>
          <a:bodyPr wrap="square" lIns="0" tIns="18000" rIns="0" bIns="180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smtClean="0">
                <a:latin typeface="Verdana"/>
                <a:ea typeface="Verdana" panose="020B0604030504040204" pitchFamily="34" charset="0"/>
                <a:cs typeface="Verdana" panose="020B0604030504040204" pitchFamily="34" charset="0"/>
              </a:rPr>
              <a:t>© 2025 Pearson Education Ltd. All Rights Reserved.</a:t>
            </a:r>
            <a:endParaRPr lang="en-US" altLang="en-US" sz="1200" dirty="0">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81" r:id="rId7"/>
    <p:sldLayoutId id="2147483671" r:id="rId8"/>
    <p:sldLayoutId id="2147483673" r:id="rId9"/>
    <p:sldLayoutId id="2147483670" r:id="rId10"/>
    <p:sldLayoutId id="2147483669" r:id="rId11"/>
    <p:sldLayoutId id="2147483655" r:id="rId12"/>
    <p:sldLayoutId id="214748368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www.hoovers.com/" TargetMode="External"/><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hyperlink" Target="http://www.licenseglobal.c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hyperlink" Target="http://www.franchisetimes.com/" TargetMode="External"/><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hyperlink" Target="Hoovers.com" TargetMode="External"/><Relationship Id="rId5" Type="http://schemas.openxmlformats.org/officeDocument/2006/relationships/hyperlink" Target="http://www.franchisedirect.com/" TargetMode="External"/><Relationship Id="rId4" Type="http://schemas.openxmlformats.org/officeDocument/2006/relationships/hyperlink" Target="http://www.entrepreneur.co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hyperlink" Target="http://www.cbp.gov/" TargetMode="External"/><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70560" y="116345"/>
            <a:ext cx="8341640" cy="1144347"/>
          </a:xfrm>
        </p:spPr>
        <p:txBody>
          <a:bodyPr wrap="square" lIns="0" tIns="18000" rIns="0" bIns="18000" anchor="ctr" anchorCtr="0">
            <a:spAutoFit/>
          </a:bodyPr>
          <a:lstStyle/>
          <a:p>
            <a:r>
              <a:rPr lang="en-US" dirty="0"/>
              <a:t>International Business: The New Realities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73268" y="1381497"/>
            <a:ext cx="4207357" cy="344128"/>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Sixth </a:t>
            </a:r>
            <a:r>
              <a:rPr lang="en-US" dirty="0">
                <a:latin typeface="Arial" panose="020B0604020202020204" pitchFamily="34" charset="0"/>
                <a:cs typeface="Arial" panose="020B0604020202020204" pitchFamily="34" charset="0"/>
              </a:rPr>
              <a:t>Edition, Global Edition</a:t>
            </a:r>
            <a:endParaRPr lang="en-US"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B297A484-CED4-47B7-9C47-4EB69D30DE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053" y="1928815"/>
            <a:ext cx="3297277" cy="4217822"/>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80626" y="2430301"/>
            <a:ext cx="1897812" cy="498016"/>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Chapter 15</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0626" y="3069205"/>
            <a:ext cx="3821502" cy="713460"/>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Licensing, Franchising, and Other Contractual Strategies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3692105" y="6425373"/>
            <a:ext cx="5067431" cy="221018"/>
          </a:xfrm>
        </p:spPr>
        <p:txBody>
          <a:bodyPr wrap="square" lIns="0" tIns="18000" rIns="0" bIns="18000" anchor="ctr" anchorCtr="0">
            <a:spAutoFit/>
          </a:bodyPr>
          <a:lstStyle/>
          <a:p>
            <a:r>
              <a:rPr lang="en-US" altLang="en-US" sz="1200" b="0" dirty="0" smtClean="0">
                <a:latin typeface="Verdana"/>
                <a:ea typeface="Verdana" panose="020B0604030504040204" pitchFamily="34" charset="0"/>
                <a:cs typeface="Verdana" panose="020B0604030504040204" pitchFamily="34" charset="0"/>
              </a:rPr>
              <a:t>© 2025 Pearson Education Ltd. All Rights Reserved.</a:t>
            </a:r>
            <a:endParaRPr lang="en-US" altLang="en-US" sz="1200" b="0" dirty="0">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367401" y="115154"/>
            <a:ext cx="8344799" cy="590349"/>
          </a:xfrm>
        </p:spPr>
        <p:txBody>
          <a:bodyPr wrap="square" lIns="0" tIns="18000" rIns="0" bIns="18000" anchor="ctr" anchorCtr="0">
            <a:spAutoFit/>
          </a:bodyPr>
          <a:lstStyle/>
          <a:p>
            <a:r>
              <a:rPr lang="en-US" noProof="0" dirty="0"/>
              <a:t>Learning Objectives</a:t>
            </a:r>
            <a:endParaRPr lang="en-US" sz="1800" b="0" noProof="0" dirty="0"/>
          </a:p>
        </p:txBody>
      </p:sp>
      <p:sp>
        <p:nvSpPr>
          <p:cNvPr id="3" name="Text Placeholder 2">
            <a:extLst>
              <a:ext uri="{FF2B5EF4-FFF2-40B4-BE49-F238E27FC236}">
                <a16:creationId xmlns:a16="http://schemas.microsoft.com/office/drawing/2014/main" id="{BCE5B0A6-16C1-4125-9AA8-71EF020B405F}"/>
              </a:ext>
            </a:extLst>
          </p:cNvPr>
          <p:cNvSpPr>
            <a:spLocks noGrp="1"/>
          </p:cNvSpPr>
          <p:nvPr>
            <p:ph sz="quarter" idx="13"/>
          </p:nvPr>
        </p:nvSpPr>
        <p:spPr>
          <a:xfrm>
            <a:off x="370936" y="860370"/>
            <a:ext cx="8341263" cy="4883832"/>
          </a:xfrm>
        </p:spPr>
        <p:txBody>
          <a:bodyPr wrap="square" lIns="0" tIns="18000" rIns="0" bIns="18000" anchor="ctr" anchorCtr="0">
            <a:spAutoFit/>
          </a:bodyPr>
          <a:lstStyle/>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15</a:t>
            </a:r>
            <a:r>
              <a:rPr lang="en-US" sz="2400" b="1" noProof="0" dirty="0">
                <a:solidFill>
                  <a:srgbClr val="007FA3"/>
                </a:solidFill>
                <a:latin typeface="Arial" panose="020B0604020202020204" pitchFamily="34" charset="0"/>
                <a:cs typeface="Arial" panose="020B0604020202020204" pitchFamily="34" charset="0"/>
              </a:rPr>
              <a:t>.1</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Explain contractual entry strategies.</a:t>
            </a:r>
            <a:endParaRPr lang="en-US" sz="2400" noProof="0" dirty="0">
              <a:latin typeface="Arial" panose="020B0604020202020204" pitchFamily="34" charset="0"/>
              <a:cs typeface="Arial" panose="020B0604020202020204" pitchFamily="34" charset="0"/>
            </a:endParaRPr>
          </a:p>
          <a:p>
            <a:pPr marL="715963" lvl="0" indent="-715963">
              <a:buClr>
                <a:schemeClr val="lt1"/>
              </a:buClr>
              <a:buSzPct val="25000"/>
              <a:buNone/>
            </a:pPr>
            <a:r>
              <a:rPr lang="en-US" sz="2400" b="1" noProof="0" dirty="0">
                <a:solidFill>
                  <a:srgbClr val="007FA3"/>
                </a:solidFill>
                <a:latin typeface="Arial" panose="020B0604020202020204" pitchFamily="34" charset="0"/>
                <a:cs typeface="Arial" panose="020B0604020202020204" pitchFamily="34" charset="0"/>
              </a:rPr>
              <a:t>15.2</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Understand licensing as an entry strategy.</a:t>
            </a:r>
            <a:endParaRPr lang="en-US" sz="2400" noProof="0" dirty="0">
              <a:latin typeface="Arial" panose="020B0604020202020204" pitchFamily="34" charset="0"/>
              <a:cs typeface="Arial" panose="020B0604020202020204" pitchFamily="34" charset="0"/>
            </a:endParaRPr>
          </a:p>
          <a:p>
            <a:pPr marL="715963" lvl="0" indent="-715963">
              <a:buClr>
                <a:schemeClr val="lt1"/>
              </a:buClr>
              <a:buSzPct val="25000"/>
              <a:buNone/>
            </a:pPr>
            <a:r>
              <a:rPr lang="en-US" sz="2400" b="1" noProof="0" dirty="0">
                <a:solidFill>
                  <a:srgbClr val="007FA3"/>
                </a:solidFill>
                <a:latin typeface="Arial" panose="020B0604020202020204" pitchFamily="34" charset="0"/>
                <a:cs typeface="Arial" panose="020B0604020202020204" pitchFamily="34" charset="0"/>
              </a:rPr>
              <a:t>15.3</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Describe the advantages and disadvantages of licensing.</a:t>
            </a:r>
          </a:p>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15.4</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Understand franchising as an entry strategy.</a:t>
            </a:r>
          </a:p>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15.5</a:t>
            </a:r>
            <a:r>
              <a:rPr lang="en-US" sz="2400" dirty="0">
                <a:latin typeface="Arial" panose="020B0604020202020204" pitchFamily="34" charset="0"/>
                <a:cs typeface="Arial" panose="020B0604020202020204" pitchFamily="34" charset="0"/>
              </a:rPr>
              <a:t> Explain the advantages and disadvantages of franchising.</a:t>
            </a:r>
          </a:p>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15.6 </a:t>
            </a:r>
            <a:r>
              <a:rPr lang="en-US" sz="2400" dirty="0">
                <a:latin typeface="Arial" panose="020B0604020202020204" pitchFamily="34" charset="0"/>
                <a:cs typeface="Arial" panose="020B0604020202020204" pitchFamily="34" charset="0"/>
              </a:rPr>
              <a:t>Understand other contractual entry strategies.</a:t>
            </a:r>
          </a:p>
          <a:p>
            <a:pPr marL="715963" lvl="0" indent="-7159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15.7</a:t>
            </a:r>
            <a:r>
              <a:rPr lang="en-US" sz="2400" dirty="0">
                <a:latin typeface="Arial" panose="020B0604020202020204" pitchFamily="34" charset="0"/>
                <a:cs typeface="Arial" panose="020B0604020202020204" pitchFamily="34" charset="0"/>
              </a:rPr>
              <a:t> Understand infringement of intellectual property, a global problem.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dirty="0"/>
              <a:t>Foundation Concepts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69386"/>
            <a:ext cx="8344578" cy="3437283"/>
          </a:xfrm>
        </p:spPr>
        <p:txBody>
          <a:bodyPr wrap="square" lIns="0" tIns="18000" rIns="0" bIns="18000" anchor="ctr" anchorCtr="0">
            <a:spAutoFit/>
          </a:bodyPr>
          <a:lstStyle/>
          <a:p>
            <a:pPr marL="342900" indent="-342900">
              <a:spcBef>
                <a:spcPts val="600"/>
              </a:spcBef>
            </a:pPr>
            <a:r>
              <a:rPr lang="en-US" sz="2400" b="1" dirty="0"/>
              <a:t>Contractual entry strategies in international business:</a:t>
            </a:r>
            <a:r>
              <a:rPr lang="en-US" sz="2400" dirty="0"/>
              <a:t> Cross-border exchanges in which the relationship between the focal firm and its foreign partner is governed by an explicit contract.</a:t>
            </a:r>
          </a:p>
          <a:p>
            <a:pPr marL="342900" indent="-342900">
              <a:spcBef>
                <a:spcPts val="600"/>
              </a:spcBef>
            </a:pPr>
            <a:r>
              <a:rPr lang="en-US" sz="2400" b="1" dirty="0"/>
              <a:t>Intellectual property: </a:t>
            </a:r>
            <a:r>
              <a:rPr lang="en-US" sz="2400" dirty="0"/>
              <a:t>Ideas or works created by firms or individuals, such as patents, trademarks, and copyrights. Includes such knowledge-based assets of the firm or individuals as industrial designs, trade secrets, inventions, works of art, literature, and other “creations of the mind”. </a:t>
            </a:r>
          </a:p>
        </p:txBody>
      </p:sp>
    </p:spTree>
    <p:extLst>
      <p:ext uri="{BB962C8B-B14F-4D97-AF65-F5344CB8AC3E}">
        <p14:creationId xmlns:p14="http://schemas.microsoft.com/office/powerpoint/2010/main" val="2612206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dirty="0"/>
              <a:t>Contractual Relationships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67021"/>
            <a:ext cx="8344578" cy="4252890"/>
          </a:xfrm>
        </p:spPr>
        <p:txBody>
          <a:bodyPr wrap="square" lIns="0" tIns="18000" rIns="0" bIns="18000" anchor="ctr" anchorCtr="0">
            <a:spAutoFit/>
          </a:bodyPr>
          <a:lstStyle/>
          <a:p>
            <a:pPr marL="342900" indent="-342900">
              <a:spcBef>
                <a:spcPts val="600"/>
              </a:spcBef>
            </a:pPr>
            <a:r>
              <a:rPr lang="en-US" sz="2400" b="1" dirty="0"/>
              <a:t>Licensing:</a:t>
            </a:r>
            <a:r>
              <a:rPr lang="en-US" sz="2400" dirty="0"/>
              <a:t> An arrangement in which the owner of intellectual property grants another firm the right to use that property for a specified period of time in exchange for royalties or other compensation. </a:t>
            </a:r>
          </a:p>
          <a:p>
            <a:pPr marL="342900" indent="-342900">
              <a:spcBef>
                <a:spcPts val="600"/>
              </a:spcBef>
            </a:pPr>
            <a:r>
              <a:rPr lang="en-US" sz="2400" b="1" dirty="0"/>
              <a:t>Franchising:</a:t>
            </a:r>
            <a:r>
              <a:rPr lang="en-US" sz="2400" dirty="0"/>
              <a:t> Arrangement in which the firm allows another the right to use an entire business system in exchange for fees, royalties or other compensation. </a:t>
            </a:r>
          </a:p>
          <a:p>
            <a:pPr marL="342900" indent="-342900">
              <a:spcBef>
                <a:spcPts val="600"/>
              </a:spcBef>
            </a:pPr>
            <a:r>
              <a:rPr lang="en-US" sz="2400" b="1" dirty="0"/>
              <a:t>Royalty: </a:t>
            </a:r>
            <a:r>
              <a:rPr lang="en-US" sz="2400" dirty="0"/>
              <a:t>A fee paid periodically to compensate a licensor for the temporary use of its intellectual property, often based on a percentage of gross sales generated from the use of the licensed asset.</a:t>
            </a:r>
          </a:p>
        </p:txBody>
      </p:sp>
    </p:spTree>
    <p:extLst>
      <p:ext uri="{BB962C8B-B14F-4D97-AF65-F5344CB8AC3E}">
        <p14:creationId xmlns:p14="http://schemas.microsoft.com/office/powerpoint/2010/main" val="3396903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42719"/>
            <a:ext cx="8344650" cy="559572"/>
          </a:xfrm>
        </p:spPr>
        <p:txBody>
          <a:bodyPr wrap="square" lIns="0" tIns="18000" rIns="0" bIns="18000" anchor="ctr" anchorCtr="0">
            <a:spAutoFit/>
          </a:bodyPr>
          <a:lstStyle/>
          <a:p>
            <a:r>
              <a:rPr lang="en-US" sz="3400" dirty="0"/>
              <a:t>Examples of Contractual Relationships</a:t>
            </a:r>
            <a:endParaRPr lang="en-US" sz="34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68165"/>
            <a:ext cx="8344578" cy="4699166"/>
          </a:xfrm>
        </p:spPr>
        <p:txBody>
          <a:bodyPr wrap="square" lIns="0" tIns="18000" rIns="0" bIns="18000" anchor="ctr" anchorCtr="0">
            <a:spAutoFit/>
          </a:bodyPr>
          <a:lstStyle/>
          <a:p>
            <a:pPr marL="342900" indent="-342900">
              <a:spcBef>
                <a:spcPts val="600"/>
              </a:spcBef>
            </a:pPr>
            <a:r>
              <a:rPr lang="en-US" sz="2400" dirty="0"/>
              <a:t>Japanese company Sanrio has licensed “Hello Kitty” to many manufacturers of cosmetics, food, calendars, toys, clothing, and numerous other products. </a:t>
            </a:r>
          </a:p>
          <a:p>
            <a:pPr marL="342900" indent="-342900">
              <a:spcBef>
                <a:spcPts val="600"/>
              </a:spcBef>
            </a:pPr>
            <a:r>
              <a:rPr lang="en-US" sz="2400" spc="-300" dirty="0"/>
              <a:t>C B </a:t>
            </a:r>
            <a:r>
              <a:rPr lang="en-US" sz="2400" dirty="0"/>
              <a:t>S signed a licensing deal with </a:t>
            </a:r>
            <a:r>
              <a:rPr lang="en-US" sz="2400" spc="-300" dirty="0"/>
              <a:t>P </a:t>
            </a:r>
            <a:r>
              <a:rPr lang="en-US" sz="2400" spc="-300" dirty="0" err="1"/>
              <a:t>P</a:t>
            </a:r>
            <a:r>
              <a:rPr lang="en-US" sz="2400" spc="-300" dirty="0"/>
              <a:t> T </a:t>
            </a:r>
            <a:r>
              <a:rPr lang="en-US" sz="2400" dirty="0"/>
              <a:t>V, China's leading video streaming service, to give streaming rights for </a:t>
            </a:r>
            <a:r>
              <a:rPr lang="en-US" sz="2400" spc="-300" dirty="0"/>
              <a:t>C B </a:t>
            </a:r>
            <a:r>
              <a:rPr lang="en-US" sz="2400" dirty="0"/>
              <a:t>S and Showtime programming in China. </a:t>
            </a:r>
          </a:p>
          <a:p>
            <a:pPr marL="342900" indent="-342900">
              <a:spcBef>
                <a:spcPts val="600"/>
              </a:spcBef>
            </a:pPr>
            <a:r>
              <a:rPr lang="en-US" sz="2400" dirty="0"/>
              <a:t>Pfizer (</a:t>
            </a:r>
            <a:r>
              <a:rPr lang="en-US" sz="2400" spc="-300" dirty="0"/>
              <a:t>U </a:t>
            </a:r>
            <a:r>
              <a:rPr lang="en-US" sz="2400" dirty="0"/>
              <a:t>S) and Novartis (Switzerland) periodically license pharmaceutical inventions to each other. </a:t>
            </a:r>
          </a:p>
          <a:p>
            <a:pPr marL="342900" indent="-342900">
              <a:spcBef>
                <a:spcPts val="600"/>
              </a:spcBef>
            </a:pPr>
            <a:r>
              <a:rPr lang="en-US" sz="2400" dirty="0"/>
              <a:t>7-Eleven has some 78,000 stores in 18 countries. While the parent firm in Japan owns most of the stores, many stores in Canada, Mexico, Asia, and Europe operate via licensing or franchising agreements.</a:t>
            </a:r>
          </a:p>
        </p:txBody>
      </p:sp>
    </p:spTree>
    <p:extLst>
      <p:ext uri="{BB962C8B-B14F-4D97-AF65-F5344CB8AC3E}">
        <p14:creationId xmlns:p14="http://schemas.microsoft.com/office/powerpoint/2010/main" val="2222136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Unique Aspects of Contractual Relationships</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548020"/>
            <a:ext cx="8340982" cy="3514227"/>
          </a:xfrm>
        </p:spPr>
        <p:txBody>
          <a:bodyPr wrap="square" lIns="0" tIns="18000" rIns="0" bIns="18000" anchor="ctr" anchorCtr="0">
            <a:spAutoFit/>
          </a:bodyPr>
          <a:lstStyle/>
          <a:p>
            <a:pPr marL="342900" indent="-342900">
              <a:spcBef>
                <a:spcPts val="600"/>
              </a:spcBef>
            </a:pPr>
            <a:r>
              <a:rPr lang="en-US" sz="2400" dirty="0"/>
              <a:t>Governed by a </a:t>
            </a:r>
            <a:r>
              <a:rPr lang="en-US" sz="2400" b="1" dirty="0"/>
              <a:t>contract</a:t>
            </a:r>
            <a:r>
              <a:rPr lang="en-US" sz="2400" dirty="0"/>
              <a:t> that provides the firm a moderate level of control over the foreign partner. Control reflects the ability of the firm to influence the decisions, operations, and strategic resources of a foreign venture.</a:t>
            </a:r>
          </a:p>
          <a:p>
            <a:pPr marL="342900" indent="-342900">
              <a:spcBef>
                <a:spcPts val="600"/>
              </a:spcBef>
            </a:pPr>
            <a:r>
              <a:rPr lang="en-US" sz="2400" dirty="0"/>
              <a:t>Typically involves exchange of </a:t>
            </a:r>
            <a:r>
              <a:rPr lang="en-US" sz="2400" b="1" dirty="0"/>
              <a:t>intangibles</a:t>
            </a:r>
            <a:r>
              <a:rPr lang="en-US" sz="2400" dirty="0"/>
              <a:t> (intellectual property) and services. Examples include technical assistance, know-how, and trademarks. </a:t>
            </a:r>
          </a:p>
          <a:p>
            <a:pPr marL="342900" indent="-342900">
              <a:spcBef>
                <a:spcPts val="600"/>
              </a:spcBef>
            </a:pPr>
            <a:r>
              <a:rPr lang="en-US" sz="2400" dirty="0"/>
              <a:t>Can be pursued independently or with other foreign market entry strategies, such as </a:t>
            </a:r>
            <a:r>
              <a:rPr lang="en-US" sz="2400" spc="-300" dirty="0"/>
              <a:t>F D </a:t>
            </a:r>
            <a:r>
              <a:rPr lang="en-US" sz="2400" dirty="0"/>
              <a:t>I and exporting.</a:t>
            </a:r>
          </a:p>
        </p:txBody>
      </p:sp>
    </p:spTree>
    <p:extLst>
      <p:ext uri="{BB962C8B-B14F-4D97-AF65-F5344CB8AC3E}">
        <p14:creationId xmlns:p14="http://schemas.microsoft.com/office/powerpoint/2010/main" val="143954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dirty="0"/>
              <a:t>Contractual Relationships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70532"/>
            <a:ext cx="8344578" cy="3883559"/>
          </a:xfrm>
        </p:spPr>
        <p:txBody>
          <a:bodyPr wrap="square" lIns="0" tIns="18000" rIns="0" bIns="18000" anchor="ctr" anchorCtr="0">
            <a:spAutoFit/>
          </a:bodyPr>
          <a:lstStyle/>
          <a:p>
            <a:pPr marL="342900" indent="-342900">
              <a:spcBef>
                <a:spcPts val="600"/>
              </a:spcBef>
            </a:pPr>
            <a:r>
              <a:rPr lang="en-US" sz="2400" dirty="0"/>
              <a:t>Provide dynamic, flexible choice, where firms may use contractual agreements to make their initial entry in foreign markets. Then, as conditions evolve, they switch to another entry strategy, such as </a:t>
            </a:r>
            <a:r>
              <a:rPr lang="en-US" sz="2400" spc="-300" dirty="0"/>
              <a:t>F D </a:t>
            </a:r>
            <a:r>
              <a:rPr lang="en-US" sz="2400" dirty="0"/>
              <a:t>I. </a:t>
            </a:r>
          </a:p>
          <a:p>
            <a:pPr marL="342900" indent="-342900">
              <a:spcBef>
                <a:spcPts val="600"/>
              </a:spcBef>
            </a:pPr>
            <a:r>
              <a:rPr lang="en-US" sz="2400" dirty="0"/>
              <a:t>Can reduce perceptions of the firm as a foreign enterprise. A contractual relationship with a local firm facilitates blending into the local market. </a:t>
            </a:r>
          </a:p>
          <a:p>
            <a:pPr marL="342900" indent="-342900">
              <a:spcBef>
                <a:spcPts val="600"/>
              </a:spcBef>
            </a:pPr>
            <a:r>
              <a:rPr lang="en-US" sz="2400" dirty="0"/>
              <a:t>Generate a consistent earnings from foreign operations, compared with </a:t>
            </a:r>
            <a:r>
              <a:rPr lang="en-US" sz="2400" spc="-300" dirty="0"/>
              <a:t>F D </a:t>
            </a:r>
            <a:r>
              <a:rPr lang="en-US" sz="2400" dirty="0"/>
              <a:t>I, as contractual arrangements are less susceptible to volatility and risk.</a:t>
            </a:r>
          </a:p>
        </p:txBody>
      </p:sp>
    </p:spTree>
    <p:extLst>
      <p:ext uri="{BB962C8B-B14F-4D97-AF65-F5344CB8AC3E}">
        <p14:creationId xmlns:p14="http://schemas.microsoft.com/office/powerpoint/2010/main" val="3334797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dirty="0"/>
              <a:t>Typical Types of Intellectual Property</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65115"/>
            <a:ext cx="5144657" cy="5360886"/>
          </a:xfrm>
        </p:spPr>
        <p:txBody>
          <a:bodyPr wrap="square" lIns="0" tIns="18000" rIns="0" bIns="18000" anchor="ctr" anchorCtr="0">
            <a:spAutoFit/>
          </a:bodyPr>
          <a:lstStyle/>
          <a:p>
            <a:pPr marL="342900" indent="-342900">
              <a:spcBef>
                <a:spcPts val="600"/>
              </a:spcBef>
            </a:pPr>
            <a:r>
              <a:rPr lang="en-US" sz="2400" dirty="0"/>
              <a:t>A </a:t>
            </a:r>
            <a:r>
              <a:rPr lang="en-US" sz="2400" i="1" dirty="0"/>
              <a:t>patent</a:t>
            </a:r>
            <a:r>
              <a:rPr lang="en-US" sz="2400" dirty="0"/>
              <a:t> provides the right to prevent others from using an invention for a fixed period. It is granted to anyone who invents a new process, product, or useful improvement. </a:t>
            </a:r>
          </a:p>
          <a:p>
            <a:pPr marL="342900" indent="-342900">
              <a:spcBef>
                <a:spcPts val="600"/>
              </a:spcBef>
            </a:pPr>
            <a:r>
              <a:rPr lang="en-US" sz="2400" dirty="0"/>
              <a:t>A </a:t>
            </a:r>
            <a:r>
              <a:rPr lang="en-US" sz="2400" i="1" dirty="0"/>
              <a:t>trademark</a:t>
            </a:r>
            <a:r>
              <a:rPr lang="en-US" sz="2400" dirty="0"/>
              <a:t> is a distinctive design or symbol that identifies a product or service. For example, Nike’s swoosh symbol.</a:t>
            </a:r>
          </a:p>
          <a:p>
            <a:pPr marL="342900" indent="-342900">
              <a:spcBef>
                <a:spcPts val="600"/>
              </a:spcBef>
            </a:pPr>
            <a:r>
              <a:rPr lang="en-US" sz="2400" dirty="0"/>
              <a:t>A </a:t>
            </a:r>
            <a:r>
              <a:rPr lang="en-US" sz="2400" i="1" dirty="0"/>
              <a:t>copyright</a:t>
            </a:r>
            <a:r>
              <a:rPr lang="en-US" sz="2400" dirty="0"/>
              <a:t> protects original works of authorship. Typically covers works of music, art, literature, movies, or software.</a:t>
            </a:r>
          </a:p>
        </p:txBody>
      </p:sp>
      <p:pic>
        <p:nvPicPr>
          <p:cNvPr id="4" name="Picture 3" descr="A sample patent, a trademark, and a copyright.">
            <a:extLst>
              <a:ext uri="{FF2B5EF4-FFF2-40B4-BE49-F238E27FC236}">
                <a16:creationId xmlns:a16="http://schemas.microsoft.com/office/drawing/2014/main" id="{28A7E410-DED4-4FE3-88B6-C23DAE79BBCB}"/>
              </a:ext>
            </a:extLst>
          </p:cNvPr>
          <p:cNvPicPr>
            <a:picLocks noChangeAspect="1"/>
          </p:cNvPicPr>
          <p:nvPr/>
        </p:nvPicPr>
        <p:blipFill>
          <a:blip r:embed="rId3"/>
          <a:stretch>
            <a:fillRect/>
          </a:stretch>
        </p:blipFill>
        <p:spPr>
          <a:xfrm>
            <a:off x="5892589" y="930215"/>
            <a:ext cx="2310384" cy="4876800"/>
          </a:xfrm>
          <a:prstGeom prst="rect">
            <a:avLst/>
          </a:prstGeom>
        </p:spPr>
      </p:pic>
    </p:spTree>
    <p:extLst>
      <p:ext uri="{BB962C8B-B14F-4D97-AF65-F5344CB8AC3E}">
        <p14:creationId xmlns:p14="http://schemas.microsoft.com/office/powerpoint/2010/main" val="3136614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8705"/>
            <a:ext cx="8344650" cy="590349"/>
          </a:xfrm>
        </p:spPr>
        <p:txBody>
          <a:bodyPr wrap="square" lIns="0" tIns="18000" rIns="0" bIns="18000" anchor="ctr" anchorCtr="0">
            <a:spAutoFit/>
          </a:bodyPr>
          <a:lstStyle/>
          <a:p>
            <a:r>
              <a:rPr lang="en-US" dirty="0"/>
              <a:t>Intellectual Property Rights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874044"/>
            <a:ext cx="8344578" cy="3514227"/>
          </a:xfrm>
        </p:spPr>
        <p:txBody>
          <a:bodyPr wrap="square" lIns="0" tIns="18000" rIns="0" bIns="18000" anchor="ctr" anchorCtr="0">
            <a:spAutoFit/>
          </a:bodyPr>
          <a:lstStyle/>
          <a:p>
            <a:pPr marL="342900" indent="-342900">
              <a:spcBef>
                <a:spcPts val="600"/>
              </a:spcBef>
            </a:pPr>
            <a:r>
              <a:rPr lang="en-US" sz="2400" dirty="0"/>
              <a:t>The legal claim through which the proprietary assets of firms and individuals are protected from unauthorized use by other parties.</a:t>
            </a:r>
          </a:p>
          <a:p>
            <a:pPr marL="342900" indent="-342900">
              <a:spcBef>
                <a:spcPts val="600"/>
              </a:spcBef>
            </a:pPr>
            <a:r>
              <a:rPr lang="en-US" sz="2400" dirty="0"/>
              <a:t>Provide inventors with a monopoly advantage, for a specified period of time, so they can exploit their inventions and create commercial advantage.</a:t>
            </a:r>
          </a:p>
          <a:p>
            <a:pPr marL="342900" indent="-342900">
              <a:spcBef>
                <a:spcPts val="600"/>
              </a:spcBef>
            </a:pPr>
            <a:r>
              <a:rPr lang="en-US" sz="2400" dirty="0"/>
              <a:t>Without legal protection and the assurance of commercial rewards, most firms and individuals would have little incentive to invent.</a:t>
            </a:r>
          </a:p>
        </p:txBody>
      </p:sp>
    </p:spTree>
    <p:extLst>
      <p:ext uri="{BB962C8B-B14F-4D97-AF65-F5344CB8AC3E}">
        <p14:creationId xmlns:p14="http://schemas.microsoft.com/office/powerpoint/2010/main" val="1838151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Licensing </a:t>
            </a:r>
            <a:r>
              <a:rPr lang="en-US" sz="2800" dirty="0"/>
              <a:t>(1 of 2)</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85604"/>
            <a:ext cx="8341261" cy="1144347"/>
          </a:xfrm>
        </p:spPr>
        <p:txBody>
          <a:bodyPr wrap="square" lIns="0" tIns="18000" rIns="0" bIns="18000" anchor="ctr" anchorCtr="0">
            <a:spAutoFit/>
          </a:bodyPr>
          <a:lstStyle/>
          <a:p>
            <a:pPr marL="342900" indent="-342900">
              <a:spcBef>
                <a:spcPts val="600"/>
              </a:spcBef>
            </a:pPr>
            <a:r>
              <a:rPr lang="en-US" sz="2400" dirty="0"/>
              <a:t>A licensing agreement specifies the nature of the relationship between the licensor (owner of intellectual property) and the licensee (the user).</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38" y="2148304"/>
            <a:ext cx="1440609" cy="405683"/>
          </a:xfrm>
        </p:spPr>
        <p:txBody>
          <a:bodyPr wrap="square" lIns="0" tIns="18000" rIns="0" bIns="18000" anchor="ctr" anchorCtr="0">
            <a:spAutoFit/>
          </a:bodyPr>
          <a:lstStyle/>
          <a:p>
            <a:pPr marL="0" indent="0">
              <a:buNone/>
            </a:pPr>
            <a:r>
              <a:rPr lang="en-US" sz="2400" dirty="0"/>
              <a:t>Examples:</a:t>
            </a:r>
          </a:p>
        </p:txBody>
      </p:sp>
      <p:sp>
        <p:nvSpPr>
          <p:cNvPr id="5" name="Content Placeholder 4">
            <a:extLst>
              <a:ext uri="{FF2B5EF4-FFF2-40B4-BE49-F238E27FC236}">
                <a16:creationId xmlns:a16="http://schemas.microsoft.com/office/drawing/2014/main" id="{A80E8481-8DB6-BE3E-EFA7-C91A4BDCB610}"/>
              </a:ext>
            </a:extLst>
          </p:cNvPr>
          <p:cNvSpPr>
            <a:spLocks noGrp="1"/>
          </p:cNvSpPr>
          <p:nvPr>
            <p:ph sz="quarter" idx="15"/>
          </p:nvPr>
        </p:nvSpPr>
        <p:spPr>
          <a:xfrm>
            <a:off x="367400" y="2662221"/>
            <a:ext cx="8344800" cy="2406231"/>
          </a:xfrm>
        </p:spPr>
        <p:txBody>
          <a:bodyPr wrap="square" lIns="0" tIns="18000" rIns="0" bIns="18000" anchor="ctr" anchorCtr="0">
            <a:spAutoFit/>
          </a:bodyPr>
          <a:lstStyle/>
          <a:p>
            <a:pPr marL="342900" indent="-342900">
              <a:spcBef>
                <a:spcPts val="600"/>
              </a:spcBef>
            </a:pPr>
            <a:r>
              <a:rPr lang="en-US" sz="2400" dirty="0"/>
              <a:t>Intel licensed the right to a new process for manufacturing computer chips to a firm in Germany. </a:t>
            </a:r>
          </a:p>
          <a:p>
            <a:pPr marL="342900" indent="-342900">
              <a:spcBef>
                <a:spcPts val="600"/>
              </a:spcBef>
            </a:pPr>
            <a:r>
              <a:rPr lang="en-US" sz="2400" dirty="0"/>
              <a:t>Warner licenses images from the Harry Potter books and movies to companies worldwide. </a:t>
            </a:r>
          </a:p>
          <a:p>
            <a:pPr marL="342900" indent="-342900">
              <a:spcBef>
                <a:spcPts val="600"/>
              </a:spcBef>
            </a:pPr>
            <a:r>
              <a:rPr lang="en-US" sz="2400" dirty="0"/>
              <a:t>Disney licenses the right to use its cartoon characters in producing shirts and hats to clothing manufacturers in Asia.</a:t>
            </a:r>
          </a:p>
        </p:txBody>
      </p:sp>
    </p:spTree>
    <p:extLst>
      <p:ext uri="{BB962C8B-B14F-4D97-AF65-F5344CB8AC3E}">
        <p14:creationId xmlns:p14="http://schemas.microsoft.com/office/powerpoint/2010/main" val="2979674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Licensing </a:t>
            </a:r>
            <a:r>
              <a:rPr lang="en-US" sz="2800" dirty="0"/>
              <a:t>(2 of 2)</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67401" y="863067"/>
            <a:ext cx="4616975" cy="4545278"/>
          </a:xfrm>
        </p:spPr>
        <p:txBody>
          <a:bodyPr wrap="square" lIns="0" tIns="18000" rIns="0" bIns="18000" anchor="ctr" anchorCtr="0">
            <a:spAutoFit/>
          </a:bodyPr>
          <a:lstStyle/>
          <a:p>
            <a:pPr marL="342900" indent="-342900">
              <a:spcBef>
                <a:spcPts val="600"/>
              </a:spcBef>
            </a:pPr>
            <a:r>
              <a:rPr lang="en-US" sz="2400" dirty="0"/>
              <a:t>In a typical deal, the licensee pays the licensor a fixed amount upfront and an ongoing royalty (usually 2–5 percent) on gross sales generated from using the licensed asset. </a:t>
            </a:r>
          </a:p>
          <a:p>
            <a:pPr marL="342900" indent="-342900">
              <a:spcBef>
                <a:spcPts val="600"/>
              </a:spcBef>
            </a:pPr>
            <a:r>
              <a:rPr lang="en-US" sz="2400" dirty="0"/>
              <a:t>The fixed amount covers the licensor’s initial costs of </a:t>
            </a:r>
            <a:br>
              <a:rPr lang="en-US" sz="2400" dirty="0"/>
            </a:br>
            <a:r>
              <a:rPr lang="en-US" sz="2400" dirty="0"/>
              <a:t>transferring the licensed asset to the licensee, including training, engineering, or adaptation.</a:t>
            </a:r>
          </a:p>
        </p:txBody>
      </p:sp>
      <p:pic>
        <p:nvPicPr>
          <p:cNvPr id="7" name="Picture 6" descr="People are walking in the theme park of the wizarding world of Harry Potter in Universal Parks and Resorts' Universal Studios. ">
            <a:extLst>
              <a:ext uri="{FF2B5EF4-FFF2-40B4-BE49-F238E27FC236}">
                <a16:creationId xmlns:a16="http://schemas.microsoft.com/office/drawing/2014/main" id="{8B93FA04-1DBB-4481-89EE-A2980ECA992E}"/>
              </a:ext>
            </a:extLst>
          </p:cNvPr>
          <p:cNvPicPr>
            <a:picLocks noChangeAspect="1"/>
          </p:cNvPicPr>
          <p:nvPr/>
        </p:nvPicPr>
        <p:blipFill>
          <a:blip r:embed="rId3"/>
          <a:stretch>
            <a:fillRect/>
          </a:stretch>
        </p:blipFill>
        <p:spPr>
          <a:xfrm>
            <a:off x="5085343" y="885368"/>
            <a:ext cx="3372782" cy="2533852"/>
          </a:xfrm>
          <a:prstGeom prst="rect">
            <a:avLst/>
          </a:prstGeom>
        </p:spPr>
      </p:pic>
      <p:sp>
        <p:nvSpPr>
          <p:cNvPr id="5" name="Content Placeholder 4">
            <a:extLst>
              <a:ext uri="{FF2B5EF4-FFF2-40B4-BE49-F238E27FC236}">
                <a16:creationId xmlns:a16="http://schemas.microsoft.com/office/drawing/2014/main" id="{A80E8481-8DB6-BE3E-EFA7-C91A4BDCB610}"/>
              </a:ext>
            </a:extLst>
          </p:cNvPr>
          <p:cNvSpPr>
            <a:spLocks noGrp="1"/>
          </p:cNvSpPr>
          <p:nvPr>
            <p:ph sz="quarter" idx="15"/>
          </p:nvPr>
        </p:nvSpPr>
        <p:spPr>
          <a:xfrm>
            <a:off x="5080958" y="3498049"/>
            <a:ext cx="3631241" cy="405683"/>
          </a:xfrm>
        </p:spPr>
        <p:txBody>
          <a:bodyPr wrap="square" lIns="0" tIns="18000" rIns="0" bIns="18000" anchor="ctr" anchorCtr="0">
            <a:spAutoFit/>
          </a:bodyPr>
          <a:lstStyle/>
          <a:p>
            <a:pPr marL="0" indent="0">
              <a:spcBef>
                <a:spcPts val="600"/>
              </a:spcBef>
              <a:buNone/>
            </a:pPr>
            <a:r>
              <a:rPr lang="en-US" sz="1200" dirty="0"/>
              <a:t>The Wizarding World of Harry Potter, Universal Studios, Japan is a venue for many licensed products</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41" y="5474832"/>
            <a:ext cx="8341259" cy="775015"/>
          </a:xfrm>
        </p:spPr>
        <p:txBody>
          <a:bodyPr wrap="square" lIns="0" tIns="18000" rIns="0" bIns="18000" anchor="ctr" anchorCtr="0">
            <a:spAutoFit/>
          </a:bodyPr>
          <a:lstStyle/>
          <a:p>
            <a:pPr marL="342900" indent="-342900"/>
            <a:r>
              <a:rPr lang="en-US" sz="2400" dirty="0"/>
              <a:t>Certain types of licensable assets, such as copyrights and trademarks, have much lower transfer costs.</a:t>
            </a:r>
          </a:p>
        </p:txBody>
      </p:sp>
    </p:spTree>
    <p:extLst>
      <p:ext uri="{BB962C8B-B14F-4D97-AF65-F5344CB8AC3E}">
        <p14:creationId xmlns:p14="http://schemas.microsoft.com/office/powerpoint/2010/main" val="850723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200"/>
            <a:ext cx="8341260" cy="1144347"/>
          </a:xfrm>
        </p:spPr>
        <p:txBody>
          <a:bodyPr wrap="square" lIns="0" tIns="18000" rIns="0" bIns="18000" anchor="ctr" anchorCtr="0">
            <a:spAutoFit/>
          </a:bodyPr>
          <a:lstStyle/>
          <a:p>
            <a:r>
              <a:rPr lang="en-US" dirty="0"/>
              <a:t>Licensing as a Foreign Market Entry Strategy</a:t>
            </a:r>
            <a:endParaRPr lang="en-US" sz="1800" b="0" dirty="0"/>
          </a:p>
        </p:txBody>
      </p:sp>
      <p:pic>
        <p:nvPicPr>
          <p:cNvPr id="4" name="Picture 3" descr="A cyclical illustration represents the nature of the licensing agreement.&#10;Long description is available in notes, press F6.">
            <a:extLst>
              <a:ext uri="{FF2B5EF4-FFF2-40B4-BE49-F238E27FC236}">
                <a16:creationId xmlns:a16="http://schemas.microsoft.com/office/drawing/2014/main" id="{897E1372-04F2-4E11-ACBC-05E82F4395E1}"/>
              </a:ext>
            </a:extLst>
          </p:cNvPr>
          <p:cNvPicPr>
            <a:picLocks noChangeAspect="1"/>
          </p:cNvPicPr>
          <p:nvPr/>
        </p:nvPicPr>
        <p:blipFill>
          <a:blip r:embed="rId3"/>
          <a:stretch>
            <a:fillRect/>
          </a:stretch>
        </p:blipFill>
        <p:spPr>
          <a:xfrm>
            <a:off x="1496537" y="1447692"/>
            <a:ext cx="6150927" cy="4859756"/>
          </a:xfrm>
          <a:prstGeom prst="rect">
            <a:avLst/>
          </a:prstGeom>
        </p:spPr>
      </p:pic>
    </p:spTree>
    <p:extLst>
      <p:ext uri="{BB962C8B-B14F-4D97-AF65-F5344CB8AC3E}">
        <p14:creationId xmlns:p14="http://schemas.microsoft.com/office/powerpoint/2010/main" val="1539266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550" y="117750"/>
            <a:ext cx="8344650" cy="1144347"/>
          </a:xfrm>
        </p:spPr>
        <p:txBody>
          <a:bodyPr wrap="square" lIns="0" tIns="18000" rIns="0" bIns="18000" anchor="ctr" anchorCtr="0">
            <a:spAutoFit/>
          </a:bodyPr>
          <a:lstStyle/>
          <a:p>
            <a:r>
              <a:rPr lang="en-US" dirty="0"/>
              <a:t>International Licensing Is Fairly Common</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622" y="1569700"/>
            <a:ext cx="8344578" cy="4745333"/>
          </a:xfrm>
        </p:spPr>
        <p:txBody>
          <a:bodyPr wrap="square" lIns="0" tIns="18000" rIns="0" bIns="18000" anchor="ctr" anchorCtr="0">
            <a:spAutoFit/>
          </a:bodyPr>
          <a:lstStyle/>
          <a:p>
            <a:pPr marL="342900" indent="-342900">
              <a:spcBef>
                <a:spcPts val="600"/>
              </a:spcBef>
            </a:pPr>
            <a:r>
              <a:rPr lang="en-US" sz="2200" dirty="0"/>
              <a:t>Planters and Sunkist are owned by U.S. firms and sold in Britain and Japan via licensing agreements.</a:t>
            </a:r>
          </a:p>
          <a:p>
            <a:pPr marL="342900" indent="-342900">
              <a:spcBef>
                <a:spcPts val="600"/>
              </a:spcBef>
            </a:pPr>
            <a:r>
              <a:rPr lang="en-US" sz="2200" dirty="0"/>
              <a:t>Budweiser is brewed in Japan by Kirin under license from Anheuser Busch </a:t>
            </a:r>
          </a:p>
          <a:p>
            <a:pPr marL="342900" indent="-342900">
              <a:spcBef>
                <a:spcPts val="600"/>
              </a:spcBef>
            </a:pPr>
            <a:r>
              <a:rPr lang="en-US" sz="2200" dirty="0"/>
              <a:t>Kit Kat chocolate bars are owned by Switzerland’s Nestlé and distributed in the United States through a licensing agreement with Nestlé’s competitor, Hershey. </a:t>
            </a:r>
          </a:p>
          <a:p>
            <a:pPr marL="342900" indent="-342900">
              <a:spcBef>
                <a:spcPts val="600"/>
              </a:spcBef>
            </a:pPr>
            <a:r>
              <a:rPr lang="en-US" sz="2200" dirty="0"/>
              <a:t>Game shows such as Price Is Right and Family Feud are owned by </a:t>
            </a:r>
            <a:r>
              <a:rPr lang="en-US" sz="2200" dirty="0" err="1"/>
              <a:t>FremantleMedia</a:t>
            </a:r>
            <a:r>
              <a:rPr lang="en-US" sz="2200" dirty="0"/>
              <a:t>, a </a:t>
            </a:r>
            <a:r>
              <a:rPr lang="en-US" sz="2200" spc="-300" dirty="0"/>
              <a:t>U </a:t>
            </a:r>
            <a:r>
              <a:rPr lang="en-US" sz="2200" dirty="0"/>
              <a:t>K company that licenses these programs for broadcast around the world.</a:t>
            </a:r>
          </a:p>
          <a:p>
            <a:pPr marL="342900" indent="-342900">
              <a:spcBef>
                <a:spcPts val="600"/>
              </a:spcBef>
            </a:pPr>
            <a:r>
              <a:rPr lang="en-US" sz="2200" dirty="0"/>
              <a:t>A review of 120 of the largest multinational food companies revealed that at least half are involved in some form of international product licensing.</a:t>
            </a:r>
          </a:p>
        </p:txBody>
      </p:sp>
    </p:spTree>
    <p:extLst>
      <p:ext uri="{BB962C8B-B14F-4D97-AF65-F5344CB8AC3E}">
        <p14:creationId xmlns:p14="http://schemas.microsoft.com/office/powerpoint/2010/main" val="3681986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48"/>
            <a:ext cx="8341260" cy="590349"/>
          </a:xfrm>
        </p:spPr>
        <p:txBody>
          <a:bodyPr wrap="square" lIns="0" tIns="18000" rIns="0" bIns="18000" anchor="ctr" anchorCtr="0">
            <a:spAutoFit/>
          </a:bodyPr>
          <a:lstStyle/>
          <a:p>
            <a:r>
              <a:rPr lang="en-US" dirty="0"/>
              <a:t>Trademark Licensing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64473"/>
            <a:ext cx="8353425" cy="4329835"/>
          </a:xfrm>
        </p:spPr>
        <p:txBody>
          <a:bodyPr wrap="square" lIns="0" tIns="18000" rIns="0" bIns="18000" anchor="ctr" anchorCtr="0">
            <a:spAutoFit/>
          </a:bodyPr>
          <a:lstStyle/>
          <a:p>
            <a:pPr marL="342900" indent="-342900">
              <a:spcBef>
                <a:spcPts val="600"/>
              </a:spcBef>
            </a:pPr>
            <a:r>
              <a:rPr lang="en-US" sz="2400" dirty="0"/>
              <a:t>Involves a firm granting another firm permission to use its proprietary names, characters, or logos for a specified period of time in exchange for a royalty. </a:t>
            </a:r>
          </a:p>
          <a:p>
            <a:pPr marL="342900" indent="-342900">
              <a:spcBef>
                <a:spcPts val="600"/>
              </a:spcBef>
            </a:pPr>
            <a:r>
              <a:rPr lang="en-US" sz="2400" dirty="0"/>
              <a:t>Trademarks appear on clothing, food, toys, home furnishings, and numerous other goods and services. For example, Coca Cola, Harley-Davidson, Laura Ashley, Disney, Michael Jordan, and your favorite university. </a:t>
            </a:r>
          </a:p>
          <a:p>
            <a:pPr marL="342900" indent="-342900">
              <a:spcBef>
                <a:spcPts val="600"/>
              </a:spcBef>
            </a:pPr>
            <a:r>
              <a:rPr lang="en-US" sz="2400" dirty="0"/>
              <a:t>A trademark like Harry Potter generates millions of dollars for the owner with little effort. </a:t>
            </a:r>
          </a:p>
          <a:p>
            <a:pPr marL="342900" indent="-342900">
              <a:spcBef>
                <a:spcPts val="600"/>
              </a:spcBef>
            </a:pPr>
            <a:r>
              <a:rPr lang="en-US" sz="2400" dirty="0"/>
              <a:t> Worldwide retail sales of licensed merchandise exceed $260 billion annually.</a:t>
            </a:r>
          </a:p>
        </p:txBody>
      </p:sp>
    </p:spTree>
    <p:extLst>
      <p:ext uri="{BB962C8B-B14F-4D97-AF65-F5344CB8AC3E}">
        <p14:creationId xmlns:p14="http://schemas.microsoft.com/office/powerpoint/2010/main" val="4248277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48"/>
            <a:ext cx="8341260" cy="590349"/>
          </a:xfrm>
        </p:spPr>
        <p:txBody>
          <a:bodyPr wrap="square" lIns="0" tIns="18000" rIns="0" bIns="18000" anchor="ctr" anchorCtr="0">
            <a:spAutoFit/>
          </a:bodyPr>
          <a:lstStyle/>
          <a:p>
            <a:r>
              <a:rPr lang="en-US" dirty="0"/>
              <a:t>Trademark Licensing </a:t>
            </a:r>
            <a:r>
              <a:rPr lang="en-US" sz="2800" dirty="0"/>
              <a:t>(2 of 2)</a:t>
            </a:r>
            <a:endParaRPr lang="en-US" sz="2800" b="0" dirty="0"/>
          </a:p>
        </p:txBody>
      </p:sp>
      <p:pic>
        <p:nvPicPr>
          <p:cNvPr id="4" name="Picture 3" descr="An exterior view of a clock tower in Shanghai Disney store plaza.">
            <a:extLst>
              <a:ext uri="{FF2B5EF4-FFF2-40B4-BE49-F238E27FC236}">
                <a16:creationId xmlns:a16="http://schemas.microsoft.com/office/drawing/2014/main" id="{95B4C639-8CFE-4C17-8A75-A46B7CEEEB44}"/>
              </a:ext>
            </a:extLst>
          </p:cNvPr>
          <p:cNvPicPr>
            <a:picLocks noChangeAspect="1"/>
          </p:cNvPicPr>
          <p:nvPr/>
        </p:nvPicPr>
        <p:blipFill>
          <a:blip r:embed="rId3"/>
          <a:stretch>
            <a:fillRect/>
          </a:stretch>
        </p:blipFill>
        <p:spPr>
          <a:xfrm>
            <a:off x="2924240" y="858376"/>
            <a:ext cx="3295521" cy="4951466"/>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5975183"/>
            <a:ext cx="8353425" cy="405683"/>
          </a:xfrm>
        </p:spPr>
        <p:txBody>
          <a:bodyPr wrap="square" lIns="0" tIns="18000" rIns="0" bIns="18000" anchor="ctr" anchorCtr="0">
            <a:spAutoFit/>
          </a:bodyPr>
          <a:lstStyle/>
          <a:p>
            <a:pPr marL="0" indent="0">
              <a:spcBef>
                <a:spcPts val="600"/>
              </a:spcBef>
              <a:buNone/>
            </a:pPr>
            <a:r>
              <a:rPr lang="en-US" sz="1200" dirty="0"/>
              <a:t>The Walt Disney Company licenses its trademark characters to apparel and accessory manufacturers, generating substantial revenue. Shown is the Disney store in Shanghai, China.</a:t>
            </a:r>
          </a:p>
        </p:txBody>
      </p:sp>
    </p:spTree>
    <p:extLst>
      <p:ext uri="{BB962C8B-B14F-4D97-AF65-F5344CB8AC3E}">
        <p14:creationId xmlns:p14="http://schemas.microsoft.com/office/powerpoint/2010/main" val="4255877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48"/>
            <a:ext cx="8341260" cy="590349"/>
          </a:xfrm>
        </p:spPr>
        <p:txBody>
          <a:bodyPr wrap="square" lIns="0" tIns="18000" rIns="0" bIns="18000" anchor="ctr" anchorCtr="0">
            <a:spAutoFit/>
          </a:bodyPr>
          <a:lstStyle/>
          <a:p>
            <a:r>
              <a:rPr lang="en-US" dirty="0"/>
              <a:t>Copyright Licensing</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71497"/>
            <a:ext cx="8353425" cy="3591171"/>
          </a:xfrm>
        </p:spPr>
        <p:txBody>
          <a:bodyPr wrap="square" lIns="0" tIns="18000" rIns="0" bIns="18000" anchor="ctr" anchorCtr="0">
            <a:spAutoFit/>
          </a:bodyPr>
          <a:lstStyle/>
          <a:p>
            <a:pPr marL="342900" indent="-342900">
              <a:spcBef>
                <a:spcPts val="600"/>
              </a:spcBef>
            </a:pPr>
            <a:r>
              <a:rPr lang="en-US" sz="2400" dirty="0"/>
              <a:t>A copyright gives the owner the exclusive right to reproduce art, music, literature, software, and other such works, as well as prepare derivative works, distribute copies, or perform or display the work publicly.</a:t>
            </a:r>
          </a:p>
          <a:p>
            <a:pPr marL="342900" indent="-342900">
              <a:spcBef>
                <a:spcPts val="600"/>
              </a:spcBef>
            </a:pPr>
            <a:r>
              <a:rPr lang="en-US" sz="2400" dirty="0"/>
              <a:t>The term of protection varies by country, but the creator’s life plus 50 years is typical. </a:t>
            </a:r>
          </a:p>
          <a:p>
            <a:pPr marL="342900" indent="-342900">
              <a:spcBef>
                <a:spcPts val="600"/>
              </a:spcBef>
            </a:pPr>
            <a:r>
              <a:rPr lang="en-US" sz="2400" dirty="0"/>
              <a:t>Many countries offer little or no copyright protection.</a:t>
            </a:r>
          </a:p>
          <a:p>
            <a:pPr marL="342900" indent="-342900">
              <a:spcBef>
                <a:spcPts val="600"/>
              </a:spcBef>
            </a:pPr>
            <a:r>
              <a:rPr lang="en-US" sz="2400" dirty="0"/>
              <a:t>Thus, it is wise to investigate local copyright laws before publishing a work abroad.</a:t>
            </a:r>
          </a:p>
        </p:txBody>
      </p:sp>
    </p:spTree>
    <p:extLst>
      <p:ext uri="{BB962C8B-B14F-4D97-AF65-F5344CB8AC3E}">
        <p14:creationId xmlns:p14="http://schemas.microsoft.com/office/powerpoint/2010/main" val="500271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48"/>
            <a:ext cx="8341260" cy="590349"/>
          </a:xfrm>
        </p:spPr>
        <p:txBody>
          <a:bodyPr wrap="square" lIns="0" tIns="18000" rIns="0" bIns="18000" anchor="ctr" anchorCtr="0">
            <a:spAutoFit/>
          </a:bodyPr>
          <a:lstStyle/>
          <a:p>
            <a:r>
              <a:rPr lang="en-US" dirty="0"/>
              <a:t>Know-How Licensing</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70347"/>
            <a:ext cx="8353425" cy="3144895"/>
          </a:xfrm>
        </p:spPr>
        <p:txBody>
          <a:bodyPr wrap="square" lIns="0" tIns="18000" rIns="0" bIns="18000" anchor="ctr" anchorCtr="0">
            <a:spAutoFit/>
          </a:bodyPr>
          <a:lstStyle/>
          <a:p>
            <a:pPr marL="342900" indent="-342900">
              <a:spcBef>
                <a:spcPts val="600"/>
              </a:spcBef>
            </a:pPr>
            <a:r>
              <a:rPr lang="en-US" sz="2400" dirty="0"/>
              <a:t>Involves a contract in which the focal firm provides technological or management knowledge about how to design, manufacture, or deliver a product or a service. </a:t>
            </a:r>
          </a:p>
          <a:p>
            <a:pPr marL="342900" indent="-342900">
              <a:spcBef>
                <a:spcPts val="600"/>
              </a:spcBef>
            </a:pPr>
            <a:r>
              <a:rPr lang="en-US" sz="2400" dirty="0"/>
              <a:t>The licensor makes its patents, trade secrets, or other know-how available to a licensee in exchange for a royalty. </a:t>
            </a:r>
          </a:p>
          <a:p>
            <a:pPr marL="342900" indent="-342900">
              <a:spcBef>
                <a:spcPts val="600"/>
              </a:spcBef>
            </a:pPr>
            <a:r>
              <a:rPr lang="en-US" sz="2400" dirty="0"/>
              <a:t>The royalty may be a lump sum, a “running royalty” based on the volume of products produced from the know-how, or a combination of both.</a:t>
            </a:r>
          </a:p>
        </p:txBody>
      </p:sp>
    </p:spTree>
    <p:extLst>
      <p:ext uri="{BB962C8B-B14F-4D97-AF65-F5344CB8AC3E}">
        <p14:creationId xmlns:p14="http://schemas.microsoft.com/office/powerpoint/2010/main" val="2063211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7402" y="171523"/>
            <a:ext cx="8353424" cy="528794"/>
          </a:xfrm>
        </p:spPr>
        <p:txBody>
          <a:bodyPr wrap="square" lIns="0" tIns="18000" rIns="0" bIns="18000" anchor="ctr" anchorCtr="0">
            <a:spAutoFit/>
          </a:bodyPr>
          <a:lstStyle/>
          <a:p>
            <a:r>
              <a:rPr lang="en-US" sz="3200" dirty="0"/>
              <a:t>Leading Licensors by Licensing Revenues</a:t>
            </a:r>
            <a:endParaRPr lang="en-US" sz="3200" b="0" dirty="0"/>
          </a:p>
        </p:txBody>
      </p:sp>
      <p:graphicFrame>
        <p:nvGraphicFramePr>
          <p:cNvPr id="19" name="Table 18">
            <a:extLst>
              <a:ext uri="{FF2B5EF4-FFF2-40B4-BE49-F238E27FC236}">
                <a16:creationId xmlns:a16="http://schemas.microsoft.com/office/drawing/2014/main" id="{51C0FFFB-00BD-49A9-8D46-E1A81A5F5FA4}"/>
              </a:ext>
            </a:extLst>
          </p:cNvPr>
          <p:cNvGraphicFramePr>
            <a:graphicFrameLocks noGrp="1"/>
          </p:cNvGraphicFramePr>
          <p:nvPr>
            <p:extLst>
              <p:ext uri="{D42A27DB-BD31-4B8C-83A1-F6EECF244321}">
                <p14:modId xmlns:p14="http://schemas.microsoft.com/office/powerpoint/2010/main" val="1670517491"/>
              </p:ext>
            </p:extLst>
          </p:nvPr>
        </p:nvGraphicFramePr>
        <p:xfrm>
          <a:off x="370172" y="885059"/>
          <a:ext cx="8392828" cy="4855822"/>
        </p:xfrm>
        <a:graphic>
          <a:graphicData uri="http://schemas.openxmlformats.org/drawingml/2006/table">
            <a:tbl>
              <a:tblPr firstRow="1" bandRow="1">
                <a:tableStyleId>{2D5ABB26-0587-4C30-8999-92F81FD0307C}</a:tableStyleId>
              </a:tblPr>
              <a:tblGrid>
                <a:gridCol w="613239">
                  <a:extLst>
                    <a:ext uri="{9D8B030D-6E8A-4147-A177-3AD203B41FA5}">
                      <a16:colId xmlns:a16="http://schemas.microsoft.com/office/drawing/2014/main" val="20000"/>
                    </a:ext>
                  </a:extLst>
                </a:gridCol>
                <a:gridCol w="1958197">
                  <a:extLst>
                    <a:ext uri="{9D8B030D-6E8A-4147-A177-3AD203B41FA5}">
                      <a16:colId xmlns:a16="http://schemas.microsoft.com/office/drawing/2014/main" val="20001"/>
                    </a:ext>
                  </a:extLst>
                </a:gridCol>
                <a:gridCol w="1716656">
                  <a:extLst>
                    <a:ext uri="{9D8B030D-6E8A-4147-A177-3AD203B41FA5}">
                      <a16:colId xmlns:a16="http://schemas.microsoft.com/office/drawing/2014/main" val="20002"/>
                    </a:ext>
                  </a:extLst>
                </a:gridCol>
                <a:gridCol w="4104736">
                  <a:extLst>
                    <a:ext uri="{9D8B030D-6E8A-4147-A177-3AD203B41FA5}">
                      <a16:colId xmlns:a16="http://schemas.microsoft.com/office/drawing/2014/main" val="20003"/>
                    </a:ext>
                  </a:extLst>
                </a:gridCol>
              </a:tblGrid>
              <a:tr h="201739">
                <a:tc>
                  <a:txBody>
                    <a:bodyPr/>
                    <a:lstStyle/>
                    <a:p>
                      <a:r>
                        <a:rPr lang="en-US" sz="1200" b="1" baseline="0" noProof="0">
                          <a:solidFill>
                            <a:schemeClr val="bg1"/>
                          </a:solidFill>
                          <a:latin typeface="Arial" panose="020B0604020202020204" pitchFamily="34" charset="0"/>
                          <a:cs typeface="Arial" panose="020B0604020202020204" pitchFamily="34" charset="0"/>
                        </a:rPr>
                        <a:t>Rank</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200" b="1" noProof="0">
                          <a:solidFill>
                            <a:schemeClr val="bg1"/>
                          </a:solidFill>
                          <a:latin typeface="Arial" panose="020B0604020202020204" pitchFamily="34" charset="0"/>
                          <a:cs typeface="Arial" panose="020B0604020202020204" pitchFamily="34" charset="0"/>
                        </a:rPr>
                        <a:t>Firm Name</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b="1" noProof="0">
                          <a:solidFill>
                            <a:schemeClr val="bg1"/>
                          </a:solidFill>
                          <a:latin typeface="Arial" panose="020B0604020202020204" pitchFamily="34" charset="0"/>
                          <a:cs typeface="Arial" panose="020B0604020202020204" pitchFamily="34" charset="0"/>
                        </a:rPr>
                        <a:t>Annual Licensing</a:t>
                      </a:r>
                      <a:r>
                        <a:rPr lang="en-US" sz="1200" b="1" baseline="0" noProof="0">
                          <a:solidFill>
                            <a:schemeClr val="bg1"/>
                          </a:solidFill>
                          <a:latin typeface="Arial" panose="020B0604020202020204" pitchFamily="34" charset="0"/>
                          <a:cs typeface="Arial" panose="020B0604020202020204" pitchFamily="34" charset="0"/>
                        </a:rPr>
                        <a:t> </a:t>
                      </a:r>
                      <a:r>
                        <a:rPr lang="en-US" sz="1200" b="1" noProof="0">
                          <a:solidFill>
                            <a:schemeClr val="bg1"/>
                          </a:solidFill>
                          <a:latin typeface="Arial" panose="020B0604020202020204" pitchFamily="34" charset="0"/>
                          <a:cs typeface="Arial" panose="020B0604020202020204" pitchFamily="34" charset="0"/>
                        </a:rPr>
                        <a:t>Revenues (U.S. $</a:t>
                      </a:r>
                      <a:r>
                        <a:rPr lang="en-US" sz="1200" b="1" baseline="0" noProof="0">
                          <a:solidFill>
                            <a:schemeClr val="bg1"/>
                          </a:solidFill>
                          <a:latin typeface="Arial" panose="020B0604020202020204" pitchFamily="34" charset="0"/>
                          <a:cs typeface="Arial" panose="020B0604020202020204" pitchFamily="34" charset="0"/>
                        </a:rPr>
                        <a:t> </a:t>
                      </a:r>
                      <a:r>
                        <a:rPr lang="en-US" sz="1200" b="1" noProof="0">
                          <a:solidFill>
                            <a:schemeClr val="bg1"/>
                          </a:solidFill>
                          <a:latin typeface="Arial" panose="020B0604020202020204" pitchFamily="34" charset="0"/>
                          <a:cs typeface="Arial" panose="020B0604020202020204" pitchFamily="34" charset="0"/>
                        </a:rPr>
                        <a:t>billions)</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b="1" noProof="0">
                          <a:solidFill>
                            <a:schemeClr val="bg1"/>
                          </a:solidFill>
                          <a:latin typeface="Arial" panose="020B0604020202020204" pitchFamily="34" charset="0"/>
                          <a:cs typeface="Arial" panose="020B0604020202020204" pitchFamily="34" charset="0"/>
                        </a:rPr>
                        <a:t>Typical Deals</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139700">
                <a:tc>
                  <a:txBody>
                    <a:bodyPr/>
                    <a:lstStyle/>
                    <a:p>
                      <a:r>
                        <a:rPr lang="en-US" sz="1200" noProof="0">
                          <a:latin typeface="Arial" panose="020B0604020202020204" pitchFamily="34" charset="0"/>
                          <a:cs typeface="Arial" panose="020B0604020202020204" pitchFamily="34" charset="0"/>
                        </a:rPr>
                        <a:t>1</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The Walt Disney Company</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$56.6</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Toy and apparel licensing for Disney movies such as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Little Mermaid </a:t>
                      </a: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and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Toy Story </a:t>
                      </a: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and characters such as Winnie the Pooh and the Frozen princesses</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135547">
                <a:tc>
                  <a:txBody>
                    <a:bodyPr/>
                    <a:lstStyle/>
                    <a:p>
                      <a:r>
                        <a:rPr lang="en-US" sz="1200" noProof="0">
                          <a:latin typeface="Arial" panose="020B0604020202020204" pitchFamily="34" charset="0"/>
                          <a:cs typeface="Arial" panose="020B0604020202020204" pitchFamily="34" charset="0"/>
                        </a:rPr>
                        <a:t>2</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Dotdash Meredith</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35.9</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Bedding, furniture, and other products related to the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Better Homes and Gardens </a:t>
                      </a: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brand</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85174">
                <a:tc>
                  <a:txBody>
                    <a:bodyPr/>
                    <a:lstStyle/>
                    <a:p>
                      <a:r>
                        <a:rPr lang="en-US" sz="1200" noProof="0">
                          <a:latin typeface="Arial" panose="020B0604020202020204" pitchFamily="34" charset="0"/>
                          <a:cs typeface="Arial" panose="020B0604020202020204" pitchFamily="34" charset="0"/>
                        </a:rPr>
                        <a:t>3</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Authentic Brands Group</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21.7</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Apparel licensing for such brands as Izod and Forever 21</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135547">
                <a:tc>
                  <a:txBody>
                    <a:bodyPr/>
                    <a:lstStyle/>
                    <a:p>
                      <a:r>
                        <a:rPr lang="en-US" sz="1200" noProof="0">
                          <a:latin typeface="Arial" panose="020B0604020202020204" pitchFamily="34" charset="0"/>
                          <a:cs typeface="Arial" panose="020B0604020202020204" pitchFamily="34" charset="0"/>
                        </a:rPr>
                        <a:t>4</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WarnerMedia/Warner Bros. Consumer Products</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15.0</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Toy and apparel licensing from movies such as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Batman, Harry Potter</a:t>
                      </a: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 and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The Hobbit</a:t>
                      </a:r>
                      <a:endParaRPr lang="en-US" sz="1200" i="1"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135547">
                <a:tc>
                  <a:txBody>
                    <a:bodyPr/>
                    <a:lstStyle/>
                    <a:p>
                      <a:r>
                        <a:rPr lang="en-US" sz="1200" noProof="0">
                          <a:latin typeface="Arial" panose="020B0604020202020204" pitchFamily="34" charset="0"/>
                          <a:cs typeface="Arial" panose="020B0604020202020204" pitchFamily="34" charset="0"/>
                        </a:rPr>
                        <a:t>5</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The Pokémon Company </a:t>
                      </a:r>
                    </a:p>
                    <a:p>
                      <a:r>
                        <a:rPr lang="en-US" sz="1200" noProof="0">
                          <a:latin typeface="Arial" panose="020B0604020202020204" pitchFamily="34" charset="0"/>
                          <a:cs typeface="Arial" panose="020B0604020202020204" pitchFamily="34" charset="0"/>
                        </a:rPr>
                        <a:t>International</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8.5</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Video game software, anime television series, films, and home entertainment products based on the Pokémon characters</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135547">
                <a:tc>
                  <a:txBody>
                    <a:bodyPr/>
                    <a:lstStyle/>
                    <a:p>
                      <a:r>
                        <a:rPr lang="en-US" sz="1200" noProof="0">
                          <a:latin typeface="Arial" panose="020B0604020202020204" pitchFamily="34" charset="0"/>
                          <a:cs typeface="Arial" panose="020B0604020202020204" pitchFamily="34" charset="0"/>
                        </a:rPr>
                        <a:t>6</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Hasbro</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8.4</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Toy and apparel licensing for TV programs and movies such as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My Little Pony </a:t>
                      </a: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and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Transformers</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135547">
                <a:tc>
                  <a:txBody>
                    <a:bodyPr/>
                    <a:lstStyle/>
                    <a:p>
                      <a:r>
                        <a:rPr lang="en-US" sz="1200" noProof="0">
                          <a:latin typeface="Arial" panose="020B0604020202020204" pitchFamily="34" charset="0"/>
                          <a:cs typeface="Arial" panose="020B0604020202020204" pitchFamily="34" charset="0"/>
                        </a:rPr>
                        <a:t>7</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NBC Universal / Universal Brand Development</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8.3</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Toys and digital products licensing for movies such as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The Secret Life of Pets </a:t>
                      </a: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and </a:t>
                      </a:r>
                      <a:r>
                        <a:rPr lang="en-US" sz="1200" b="0" i="1" u="none" strike="noStrike" cap="none" baseline="0" noProof="0">
                          <a:solidFill>
                            <a:schemeClr val="tx1"/>
                          </a:solidFill>
                          <a:latin typeface="Arial" panose="020B0604020202020204" pitchFamily="34" charset="0"/>
                          <a:ea typeface="+mn-ea"/>
                          <a:cs typeface="Arial" panose="020B0604020202020204" pitchFamily="34" charset="0"/>
                          <a:sym typeface="Arial"/>
                        </a:rPr>
                        <a:t>Despicable Me</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135547">
                <a:tc>
                  <a:txBody>
                    <a:bodyPr/>
                    <a:lstStyle/>
                    <a:p>
                      <a:r>
                        <a:rPr lang="en-US" sz="1200" noProof="0">
                          <a:latin typeface="Arial" panose="020B0604020202020204" pitchFamily="34" charset="0"/>
                          <a:cs typeface="Arial" panose="020B0604020202020204" pitchFamily="34" charset="0"/>
                        </a:rPr>
                        <a:t>8</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Mattel</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7.4</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Licensing for popular Mattel toys and games like Barbie, Fisher-Price, and American Girl</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135547">
                <a:tc>
                  <a:txBody>
                    <a:bodyPr/>
                    <a:lstStyle/>
                    <a:p>
                      <a:r>
                        <a:rPr lang="en-US" sz="1200" noProof="0">
                          <a:latin typeface="Arial" panose="020B0604020202020204" pitchFamily="34" charset="0"/>
                          <a:cs typeface="Arial" panose="020B0604020202020204" pitchFamily="34" charset="0"/>
                        </a:rPr>
                        <a:t>9</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Bluestar Alliance</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6.5</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Sportswear and accessories licensing for popular brands like Hurley, Justice, Tahari, and Brookstone</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198031">
                <a:tc>
                  <a:txBody>
                    <a:bodyPr/>
                    <a:lstStyle/>
                    <a:p>
                      <a:r>
                        <a:rPr lang="en-US" sz="1200" noProof="0">
                          <a:latin typeface="Arial" panose="020B0604020202020204" pitchFamily="34" charset="0"/>
                          <a:cs typeface="Arial" panose="020B0604020202020204" pitchFamily="34" charset="0"/>
                        </a:rPr>
                        <a:t>10</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Paramount Global / </a:t>
                      </a:r>
                    </a:p>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Paramount Consumer </a:t>
                      </a:r>
                    </a:p>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Products &amp; Experiences</a:t>
                      </a:r>
                      <a:endParaRPr lang="en-US" sz="1200" noProof="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noProof="0">
                          <a:latin typeface="Arial" panose="020B0604020202020204" pitchFamily="34" charset="0"/>
                          <a:cs typeface="Arial" panose="020B0604020202020204" pitchFamily="34" charset="0"/>
                        </a:rPr>
                        <a:t>6.0</a:t>
                      </a: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dirty="0">
                          <a:solidFill>
                            <a:schemeClr val="tx1"/>
                          </a:solidFill>
                          <a:latin typeface="Arial" panose="020B0604020202020204" pitchFamily="34" charset="0"/>
                          <a:ea typeface="+mn-ea"/>
                          <a:cs typeface="Arial" panose="020B0604020202020204" pitchFamily="34" charset="0"/>
                          <a:sym typeface="Arial"/>
                        </a:rPr>
                        <a:t>Licensing for entertainment offerings like Baby Shark, Teenage Mutant Ninja Turtles, SpongeBob SquarePants, and Star Trek.</a:t>
                      </a:r>
                      <a:endParaRPr lang="en-US" sz="1200" noProof="0" dirty="0">
                        <a:latin typeface="Arial" panose="020B0604020202020204" pitchFamily="34" charset="0"/>
                        <a:cs typeface="Arial" panose="020B0604020202020204" pitchFamily="34" charset="0"/>
                      </a:endParaRPr>
                    </a:p>
                  </a:txBody>
                  <a:tcPr marT="12901" marB="1290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bl>
          </a:graphicData>
        </a:graphic>
      </p:graphicFrame>
      <p:sp>
        <p:nvSpPr>
          <p:cNvPr id="40" name="Content Placeholder 39">
            <a:extLst>
              <a:ext uri="{FF2B5EF4-FFF2-40B4-BE49-F238E27FC236}">
                <a16:creationId xmlns:a16="http://schemas.microsoft.com/office/drawing/2014/main" id="{B243213F-639C-53D3-68E9-5F0F47C4CC30}"/>
              </a:ext>
            </a:extLst>
          </p:cNvPr>
          <p:cNvSpPr>
            <a:spLocks noGrp="1"/>
          </p:cNvSpPr>
          <p:nvPr>
            <p:ph sz="quarter" idx="13"/>
          </p:nvPr>
        </p:nvSpPr>
        <p:spPr>
          <a:xfrm>
            <a:off x="358775" y="5915278"/>
            <a:ext cx="5160476" cy="221018"/>
          </a:xfrm>
        </p:spPr>
        <p:txBody>
          <a:bodyPr wrap="square" lIns="0" tIns="18000" rIns="0" bIns="18000" anchor="ctr" anchorCtr="0">
            <a:spAutoFit/>
          </a:bodyPr>
          <a:lstStyle/>
          <a:p>
            <a:pPr marL="0" indent="0">
              <a:buNone/>
            </a:pPr>
            <a:r>
              <a:rPr lang="en-US" sz="1200" b="1" dirty="0">
                <a:solidFill>
                  <a:schemeClr val="tx1"/>
                </a:solidFill>
              </a:rPr>
              <a:t>Source:</a:t>
            </a:r>
            <a:r>
              <a:rPr lang="en-US" sz="1200" dirty="0">
                <a:solidFill>
                  <a:schemeClr val="tx1"/>
                </a:solidFill>
              </a:rPr>
              <a:t> Based on annual reports of the individual firms; company profiles at</a:t>
            </a:r>
            <a:endParaRPr lang="en-US" sz="1200" dirty="0"/>
          </a:p>
        </p:txBody>
      </p:sp>
      <p:sp>
        <p:nvSpPr>
          <p:cNvPr id="41" name="Content Placeholder 40">
            <a:extLst>
              <a:ext uri="{FF2B5EF4-FFF2-40B4-BE49-F238E27FC236}">
                <a16:creationId xmlns:a16="http://schemas.microsoft.com/office/drawing/2014/main" id="{C450D8F4-C103-CDE7-B6CA-E5692517B41F}"/>
              </a:ext>
            </a:extLst>
          </p:cNvPr>
          <p:cNvSpPr>
            <a:spLocks noGrp="1"/>
          </p:cNvSpPr>
          <p:nvPr>
            <p:ph sz="quarter" idx="14"/>
          </p:nvPr>
        </p:nvSpPr>
        <p:spPr>
          <a:xfrm>
            <a:off x="5552571" y="5912242"/>
            <a:ext cx="1278589" cy="221018"/>
          </a:xfrm>
        </p:spPr>
        <p:txBody>
          <a:bodyPr wrap="square" lIns="0" tIns="18000" rIns="0" bIns="18000" anchor="ctr" anchorCtr="0">
            <a:spAutoFit/>
          </a:bodyPr>
          <a:lstStyle/>
          <a:p>
            <a:pPr marL="0" indent="0">
              <a:buNone/>
            </a:pPr>
            <a:r>
              <a:rPr lang="en-US" sz="1200" dirty="0">
                <a:solidFill>
                  <a:schemeClr val="tx1"/>
                </a:solidFill>
                <a:hlinkClick r:id="rId3" tooltip="www.hoovers.com"/>
              </a:rPr>
              <a:t>www.hoovers.com</a:t>
            </a:r>
            <a:endParaRPr lang="en-US" sz="1200" dirty="0">
              <a:solidFill>
                <a:schemeClr val="tx1"/>
              </a:solidFill>
            </a:endParaRPr>
          </a:p>
        </p:txBody>
      </p:sp>
      <p:sp>
        <p:nvSpPr>
          <p:cNvPr id="42" name="Content Placeholder 41">
            <a:extLst>
              <a:ext uri="{FF2B5EF4-FFF2-40B4-BE49-F238E27FC236}">
                <a16:creationId xmlns:a16="http://schemas.microsoft.com/office/drawing/2014/main" id="{A6A4509C-D0F1-8EE3-8732-212983FDED9C}"/>
              </a:ext>
            </a:extLst>
          </p:cNvPr>
          <p:cNvSpPr>
            <a:spLocks noGrp="1"/>
          </p:cNvSpPr>
          <p:nvPr>
            <p:ph sz="quarter" idx="15"/>
          </p:nvPr>
        </p:nvSpPr>
        <p:spPr>
          <a:xfrm>
            <a:off x="6852708" y="5912242"/>
            <a:ext cx="1889666" cy="221018"/>
          </a:xfrm>
        </p:spPr>
        <p:txBody>
          <a:bodyPr wrap="square" lIns="0" tIns="18000" rIns="0" bIns="18000" anchor="ctr" anchorCtr="0">
            <a:spAutoFit/>
          </a:bodyPr>
          <a:lstStyle/>
          <a:p>
            <a:pPr marL="0" indent="0">
              <a:buNone/>
            </a:pPr>
            <a:r>
              <a:rPr lang="en-US" sz="1200" dirty="0">
                <a:solidFill>
                  <a:schemeClr val="tx1"/>
                </a:solidFill>
              </a:rPr>
              <a:t>; “The Top Global Licensors</a:t>
            </a:r>
          </a:p>
        </p:txBody>
      </p:sp>
      <p:sp>
        <p:nvSpPr>
          <p:cNvPr id="43" name="Content Placeholder 42">
            <a:extLst>
              <a:ext uri="{FF2B5EF4-FFF2-40B4-BE49-F238E27FC236}">
                <a16:creationId xmlns:a16="http://schemas.microsoft.com/office/drawing/2014/main" id="{9E472C2B-B397-57A1-A02B-FBFC4660353C}"/>
              </a:ext>
            </a:extLst>
          </p:cNvPr>
          <p:cNvSpPr>
            <a:spLocks noGrp="1"/>
          </p:cNvSpPr>
          <p:nvPr>
            <p:ph sz="quarter" idx="16"/>
          </p:nvPr>
        </p:nvSpPr>
        <p:spPr>
          <a:xfrm>
            <a:off x="367402" y="6173913"/>
            <a:ext cx="2936875" cy="221018"/>
          </a:xfrm>
        </p:spPr>
        <p:txBody>
          <a:bodyPr wrap="square" lIns="0" tIns="18000" rIns="0" bIns="18000" anchor="ctr" anchorCtr="0">
            <a:spAutoFit/>
          </a:bodyPr>
          <a:lstStyle/>
          <a:p>
            <a:pPr marL="0" indent="0">
              <a:buNone/>
            </a:pPr>
            <a:r>
              <a:rPr lang="en-US" sz="1200" dirty="0">
                <a:solidFill>
                  <a:schemeClr val="tx1"/>
                </a:solidFill>
              </a:rPr>
              <a:t>Report 2022,” </a:t>
            </a:r>
            <a:r>
              <a:rPr lang="en-US" sz="1200" i="1" dirty="0">
                <a:solidFill>
                  <a:schemeClr val="tx1"/>
                </a:solidFill>
              </a:rPr>
              <a:t>License Global</a:t>
            </a:r>
            <a:r>
              <a:rPr lang="en-US" sz="1200" dirty="0">
                <a:solidFill>
                  <a:schemeClr val="tx1"/>
                </a:solidFill>
              </a:rPr>
              <a:t>, July 1, 2022, </a:t>
            </a:r>
          </a:p>
        </p:txBody>
      </p:sp>
      <p:sp>
        <p:nvSpPr>
          <p:cNvPr id="44" name="Content Placeholder 43">
            <a:extLst>
              <a:ext uri="{FF2B5EF4-FFF2-40B4-BE49-F238E27FC236}">
                <a16:creationId xmlns:a16="http://schemas.microsoft.com/office/drawing/2014/main" id="{C5929316-1ED8-423C-C5E6-E772BE709CCB}"/>
              </a:ext>
            </a:extLst>
          </p:cNvPr>
          <p:cNvSpPr>
            <a:spLocks noGrp="1"/>
          </p:cNvSpPr>
          <p:nvPr>
            <p:ph sz="quarter" idx="17"/>
          </p:nvPr>
        </p:nvSpPr>
        <p:spPr>
          <a:xfrm>
            <a:off x="3336921" y="6169637"/>
            <a:ext cx="1597025" cy="221018"/>
          </a:xfrm>
        </p:spPr>
        <p:txBody>
          <a:bodyPr wrap="square" lIns="0" tIns="18000" rIns="0" bIns="18000" anchor="ctr" anchorCtr="0">
            <a:spAutoFit/>
          </a:bodyPr>
          <a:lstStyle/>
          <a:p>
            <a:pPr marL="0" indent="0">
              <a:buNone/>
            </a:pPr>
            <a:r>
              <a:rPr lang="en-US" sz="1200" dirty="0">
                <a:hlinkClick r:id="rId4" tooltip="www.licenseglobal.com"/>
              </a:rPr>
              <a:t>www.licenseglobal.com</a:t>
            </a:r>
            <a:endParaRPr lang="en-US" sz="1200" dirty="0">
              <a:solidFill>
                <a:schemeClr val="tx1"/>
              </a:solidFill>
            </a:endParaRPr>
          </a:p>
        </p:txBody>
      </p:sp>
      <p:sp>
        <p:nvSpPr>
          <p:cNvPr id="45" name="Content Placeholder 44">
            <a:extLst>
              <a:ext uri="{FF2B5EF4-FFF2-40B4-BE49-F238E27FC236}">
                <a16:creationId xmlns:a16="http://schemas.microsoft.com/office/drawing/2014/main" id="{D7CB0124-6B5E-8A5C-0E2C-3B3E405D01CB}"/>
              </a:ext>
            </a:extLst>
          </p:cNvPr>
          <p:cNvSpPr>
            <a:spLocks noGrp="1"/>
          </p:cNvSpPr>
          <p:nvPr>
            <p:ph sz="quarter" idx="18"/>
          </p:nvPr>
        </p:nvSpPr>
        <p:spPr>
          <a:xfrm>
            <a:off x="4952304" y="6170409"/>
            <a:ext cx="140627" cy="221018"/>
          </a:xfrm>
        </p:spPr>
        <p:txBody>
          <a:bodyPr wrap="square" lIns="0" tIns="18000" rIns="0" bIns="18000" anchor="ctr" anchorCtr="0">
            <a:spAutoFit/>
          </a:bodyPr>
          <a:lstStyle/>
          <a:p>
            <a:pPr marL="0" indent="0">
              <a:buNone/>
            </a:pPr>
            <a:r>
              <a:rPr lang="en-US" sz="1200" dirty="0">
                <a:solidFill>
                  <a:schemeClr val="tx1"/>
                </a:solidFill>
              </a:rPr>
              <a:t>.</a:t>
            </a:r>
          </a:p>
        </p:txBody>
      </p:sp>
    </p:spTree>
    <p:extLst>
      <p:ext uri="{BB962C8B-B14F-4D97-AF65-F5344CB8AC3E}">
        <p14:creationId xmlns:p14="http://schemas.microsoft.com/office/powerpoint/2010/main" val="3695393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4201"/>
            <a:ext cx="8341262" cy="1144347"/>
          </a:xfrm>
        </p:spPr>
        <p:txBody>
          <a:bodyPr wrap="square" lIns="0" tIns="18000" rIns="0" bIns="18000" anchor="ctr" anchorCtr="0">
            <a:spAutoFit/>
          </a:bodyPr>
          <a:lstStyle/>
          <a:p>
            <a:r>
              <a:rPr lang="en-US" dirty="0"/>
              <a:t>Main Advantages and Disadvantages of Licensing</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67402" y="1557236"/>
            <a:ext cx="4290862" cy="2190788"/>
          </a:xfrm>
        </p:spPr>
        <p:txBody>
          <a:bodyPr wrap="square" lIns="0" tIns="18000" rIns="0" bIns="18000" anchor="ctr" anchorCtr="0">
            <a:spAutoFit/>
          </a:bodyPr>
          <a:lstStyle/>
          <a:p>
            <a:pPr marL="0" indent="0">
              <a:spcBef>
                <a:spcPts val="600"/>
              </a:spcBef>
              <a:buNone/>
            </a:pPr>
            <a:r>
              <a:rPr lang="en-US" sz="2400" b="1" dirty="0"/>
              <a:t>Advantages for licensor</a:t>
            </a:r>
          </a:p>
          <a:p>
            <a:pPr marL="342900" indent="-342900">
              <a:spcBef>
                <a:spcPts val="600"/>
              </a:spcBef>
            </a:pPr>
            <a:r>
              <a:rPr lang="en-US" sz="2400" dirty="0"/>
              <a:t>Low investment</a:t>
            </a:r>
          </a:p>
          <a:p>
            <a:pPr marL="342900" indent="-342900">
              <a:spcBef>
                <a:spcPts val="600"/>
              </a:spcBef>
            </a:pPr>
            <a:r>
              <a:rPr lang="en-US" sz="2400" dirty="0"/>
              <a:t>Low involvement</a:t>
            </a:r>
          </a:p>
          <a:p>
            <a:pPr marL="342900" indent="-342900">
              <a:spcBef>
                <a:spcPts val="600"/>
              </a:spcBef>
            </a:pPr>
            <a:r>
              <a:rPr lang="en-US" sz="2400" dirty="0"/>
              <a:t>Low effort, once established </a:t>
            </a:r>
          </a:p>
          <a:p>
            <a:pPr marL="342900" indent="-342900">
              <a:spcBef>
                <a:spcPts val="600"/>
              </a:spcBef>
            </a:pPr>
            <a:r>
              <a:rPr lang="en-US" sz="2400" dirty="0"/>
              <a:t>Low-cost initial entry strategy</a:t>
            </a:r>
          </a:p>
        </p:txBody>
      </p:sp>
      <p:pic>
        <p:nvPicPr>
          <p:cNvPr id="9" name="Picture 8" descr="A close-up of a group of different Barbie dolls.">
            <a:extLst>
              <a:ext uri="{FF2B5EF4-FFF2-40B4-BE49-F238E27FC236}">
                <a16:creationId xmlns:a16="http://schemas.microsoft.com/office/drawing/2014/main" id="{FF462694-553A-4FA8-9664-BDF284ECFC39}"/>
              </a:ext>
            </a:extLst>
          </p:cNvPr>
          <p:cNvPicPr>
            <a:picLocks noChangeAspect="1"/>
          </p:cNvPicPr>
          <p:nvPr/>
        </p:nvPicPr>
        <p:blipFill>
          <a:blip r:embed="rId3"/>
          <a:stretch>
            <a:fillRect/>
          </a:stretch>
        </p:blipFill>
        <p:spPr>
          <a:xfrm>
            <a:off x="5083494" y="1380912"/>
            <a:ext cx="3428235" cy="2319143"/>
          </a:xfrm>
          <a:prstGeom prst="rect">
            <a:avLst/>
          </a:prstGeom>
        </p:spPr>
      </p:pic>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67401" y="3886655"/>
            <a:ext cx="8341259" cy="1744511"/>
          </a:xfrm>
        </p:spPr>
        <p:txBody>
          <a:bodyPr wrap="square" lIns="0" tIns="18000" rIns="0" bIns="18000" anchor="ctr" anchorCtr="0">
            <a:spAutoFit/>
          </a:bodyPr>
          <a:lstStyle/>
          <a:p>
            <a:pPr marL="0" indent="0">
              <a:spcBef>
                <a:spcPts val="600"/>
              </a:spcBef>
              <a:buNone/>
            </a:pPr>
            <a:r>
              <a:rPr lang="en-US" sz="2400" b="1" dirty="0"/>
              <a:t>Disadvantages for licensor</a:t>
            </a:r>
          </a:p>
          <a:p>
            <a:pPr marL="342900" indent="-342900">
              <a:spcBef>
                <a:spcPts val="600"/>
              </a:spcBef>
            </a:pPr>
            <a:r>
              <a:rPr lang="en-US" sz="2400" dirty="0"/>
              <a:t>Performance depends on the foreign licensee</a:t>
            </a:r>
          </a:p>
          <a:p>
            <a:pPr marL="342900" indent="-342900">
              <a:spcBef>
                <a:spcPts val="600"/>
              </a:spcBef>
            </a:pPr>
            <a:r>
              <a:rPr lang="en-US" sz="2400" dirty="0"/>
              <a:t>Licensor has limited control over its asset(s) abroad</a:t>
            </a:r>
          </a:p>
          <a:p>
            <a:pPr marL="342900" indent="-342900">
              <a:spcBef>
                <a:spcPts val="600"/>
              </a:spcBef>
            </a:pPr>
            <a:r>
              <a:rPr lang="en-US" sz="2400" dirty="0"/>
              <a:t>Runs the risk of creating a future competitor</a:t>
            </a:r>
          </a:p>
        </p:txBody>
      </p:sp>
    </p:spTree>
    <p:extLst>
      <p:ext uri="{BB962C8B-B14F-4D97-AF65-F5344CB8AC3E}">
        <p14:creationId xmlns:p14="http://schemas.microsoft.com/office/powerpoint/2010/main" val="2464177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48"/>
            <a:ext cx="8341260" cy="590349"/>
          </a:xfrm>
        </p:spPr>
        <p:txBody>
          <a:bodyPr wrap="square" lIns="0" tIns="18000" rIns="0" bIns="18000" anchor="ctr" anchorCtr="0">
            <a:spAutoFit/>
          </a:bodyPr>
          <a:lstStyle/>
          <a:p>
            <a:r>
              <a:rPr lang="en-US" dirty="0"/>
              <a:t>Franchising</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71951"/>
            <a:ext cx="8353425" cy="3883559"/>
          </a:xfrm>
        </p:spPr>
        <p:txBody>
          <a:bodyPr wrap="square" lIns="0" tIns="18000" rIns="0" bIns="18000" anchor="ctr" anchorCtr="0">
            <a:spAutoFit/>
          </a:bodyPr>
          <a:lstStyle/>
          <a:p>
            <a:pPr marL="342900" indent="-342900">
              <a:spcBef>
                <a:spcPts val="600"/>
              </a:spcBef>
            </a:pPr>
            <a:r>
              <a:rPr lang="en-US" sz="2400" dirty="0"/>
              <a:t>Most typical arrangement is </a:t>
            </a:r>
            <a:r>
              <a:rPr lang="en-US" sz="2400" i="1" dirty="0"/>
              <a:t>business format franchising</a:t>
            </a:r>
            <a:r>
              <a:rPr lang="en-US" sz="2400" dirty="0"/>
              <a:t>, in which franchisor transfers to the franchisee a total business method—including production and marketing methods, sales systems, procedures, training, and the use of its name. </a:t>
            </a:r>
          </a:p>
          <a:p>
            <a:pPr marL="342900" indent="-342900">
              <a:spcBef>
                <a:spcPts val="600"/>
              </a:spcBef>
            </a:pPr>
            <a:r>
              <a:rPr lang="en-US" sz="2400" dirty="0"/>
              <a:t>More comprehensive and longer-term than licensing.</a:t>
            </a:r>
          </a:p>
          <a:p>
            <a:pPr marL="342900" indent="-342900">
              <a:spcBef>
                <a:spcPts val="600"/>
              </a:spcBef>
            </a:pPr>
            <a:r>
              <a:rPr lang="en-US" sz="2400" b="1" dirty="0"/>
              <a:t>Master franchiser</a:t>
            </a:r>
            <a:r>
              <a:rPr lang="en-US" sz="2400" dirty="0"/>
              <a:t>: An independent company authorized to establish, develop, and manage the entire franchising network in its market. For example, McDonald's in Japan, Hertz in Denmark.</a:t>
            </a:r>
          </a:p>
        </p:txBody>
      </p:sp>
    </p:spTree>
    <p:extLst>
      <p:ext uri="{BB962C8B-B14F-4D97-AF65-F5344CB8AC3E}">
        <p14:creationId xmlns:p14="http://schemas.microsoft.com/office/powerpoint/2010/main" val="1720360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48"/>
            <a:ext cx="8341260" cy="590349"/>
          </a:xfrm>
        </p:spPr>
        <p:txBody>
          <a:bodyPr wrap="square" lIns="0" tIns="18000" rIns="0" bIns="18000" anchor="ctr" anchorCtr="0">
            <a:spAutoFit/>
          </a:bodyPr>
          <a:lstStyle/>
          <a:p>
            <a:r>
              <a:rPr lang="en-US" dirty="0"/>
              <a:t>Franchising as an Entry Strategy</a:t>
            </a:r>
            <a:endParaRPr lang="en-US" sz="2800" b="0" dirty="0"/>
          </a:p>
        </p:txBody>
      </p:sp>
      <p:pic>
        <p:nvPicPr>
          <p:cNvPr id="7" name="Picture 6" descr="A cyclical illustration represents the nature of the franchising agreement.&#10;Long description is available in notes, press F6.">
            <a:extLst>
              <a:ext uri="{FF2B5EF4-FFF2-40B4-BE49-F238E27FC236}">
                <a16:creationId xmlns:a16="http://schemas.microsoft.com/office/drawing/2014/main" id="{4192B544-3786-48E0-BD5D-B4BF465D0907}"/>
              </a:ext>
            </a:extLst>
          </p:cNvPr>
          <p:cNvPicPr>
            <a:picLocks noChangeAspect="1"/>
          </p:cNvPicPr>
          <p:nvPr/>
        </p:nvPicPr>
        <p:blipFill>
          <a:blip r:embed="rId3"/>
          <a:stretch>
            <a:fillRect/>
          </a:stretch>
        </p:blipFill>
        <p:spPr>
          <a:xfrm>
            <a:off x="1583256" y="916286"/>
            <a:ext cx="5977489" cy="5318723"/>
          </a:xfrm>
          <a:prstGeom prst="rect">
            <a:avLst/>
          </a:prstGeom>
        </p:spPr>
      </p:pic>
    </p:spTree>
    <p:extLst>
      <p:ext uri="{BB962C8B-B14F-4D97-AF65-F5344CB8AC3E}">
        <p14:creationId xmlns:p14="http://schemas.microsoft.com/office/powerpoint/2010/main" val="1025607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95828"/>
            <a:ext cx="8341260" cy="498016"/>
          </a:xfrm>
        </p:spPr>
        <p:txBody>
          <a:bodyPr wrap="square" lIns="0" tIns="18000" rIns="0" bIns="18000" anchor="ctr" anchorCtr="0">
            <a:spAutoFit/>
          </a:bodyPr>
          <a:lstStyle/>
          <a:p>
            <a:r>
              <a:rPr lang="en-US" sz="3000" dirty="0"/>
              <a:t>Examples of Leading International Franchises</a:t>
            </a:r>
            <a:endParaRPr lang="en-US" sz="3000" b="0" dirty="0"/>
          </a:p>
        </p:txBody>
      </p:sp>
      <p:graphicFrame>
        <p:nvGraphicFramePr>
          <p:cNvPr id="37" name="Table 36">
            <a:extLst>
              <a:ext uri="{FF2B5EF4-FFF2-40B4-BE49-F238E27FC236}">
                <a16:creationId xmlns:a16="http://schemas.microsoft.com/office/drawing/2014/main" id="{B1B35C41-6C4A-4FFB-B297-9DEC6F646A4A}"/>
              </a:ext>
            </a:extLst>
          </p:cNvPr>
          <p:cNvGraphicFramePr>
            <a:graphicFrameLocks noGrp="1"/>
          </p:cNvGraphicFramePr>
          <p:nvPr>
            <p:extLst>
              <p:ext uri="{D42A27DB-BD31-4B8C-83A1-F6EECF244321}">
                <p14:modId xmlns:p14="http://schemas.microsoft.com/office/powerpoint/2010/main" val="1393598374"/>
              </p:ext>
            </p:extLst>
          </p:nvPr>
        </p:nvGraphicFramePr>
        <p:xfrm>
          <a:off x="396498" y="987582"/>
          <a:ext cx="8364417" cy="4290920"/>
        </p:xfrm>
        <a:graphic>
          <a:graphicData uri="http://schemas.openxmlformats.org/drawingml/2006/table">
            <a:tbl>
              <a:tblPr firstRow="1" bandRow="1">
                <a:tableStyleId>{2D5ABB26-0587-4C30-8999-92F81FD0307C}</a:tableStyleId>
              </a:tblPr>
              <a:tblGrid>
                <a:gridCol w="1356102">
                  <a:extLst>
                    <a:ext uri="{9D8B030D-6E8A-4147-A177-3AD203B41FA5}">
                      <a16:colId xmlns:a16="http://schemas.microsoft.com/office/drawing/2014/main" val="20000"/>
                    </a:ext>
                  </a:extLst>
                </a:gridCol>
                <a:gridCol w="1566343">
                  <a:extLst>
                    <a:ext uri="{9D8B030D-6E8A-4147-A177-3AD203B41FA5}">
                      <a16:colId xmlns:a16="http://schemas.microsoft.com/office/drawing/2014/main" val="20001"/>
                    </a:ext>
                  </a:extLst>
                </a:gridCol>
                <a:gridCol w="1027419">
                  <a:extLst>
                    <a:ext uri="{9D8B030D-6E8A-4147-A177-3AD203B41FA5}">
                      <a16:colId xmlns:a16="http://schemas.microsoft.com/office/drawing/2014/main" val="20002"/>
                    </a:ext>
                  </a:extLst>
                </a:gridCol>
                <a:gridCol w="2450936">
                  <a:extLst>
                    <a:ext uri="{9D8B030D-6E8A-4147-A177-3AD203B41FA5}">
                      <a16:colId xmlns:a16="http://schemas.microsoft.com/office/drawing/2014/main" val="20003"/>
                    </a:ext>
                  </a:extLst>
                </a:gridCol>
                <a:gridCol w="1963617">
                  <a:extLst>
                    <a:ext uri="{9D8B030D-6E8A-4147-A177-3AD203B41FA5}">
                      <a16:colId xmlns:a16="http://schemas.microsoft.com/office/drawing/2014/main" val="20004"/>
                    </a:ext>
                  </a:extLst>
                </a:gridCol>
              </a:tblGrid>
              <a:tr h="346826">
                <a:tc>
                  <a:txBody>
                    <a:bodyPr/>
                    <a:lstStyle/>
                    <a:p>
                      <a:r>
                        <a:rPr lang="en-US" sz="1200" b="1" noProof="0">
                          <a:solidFill>
                            <a:schemeClr val="bg1"/>
                          </a:solidFill>
                          <a:latin typeface="Arial" panose="020B0604020202020204" pitchFamily="34" charset="0"/>
                          <a:cs typeface="Arial" panose="020B0604020202020204" pitchFamily="34" charset="0"/>
                        </a:rPr>
                        <a:t>Franchisor</a:t>
                      </a:r>
                    </a:p>
                  </a:txBody>
                  <a:tcPr marT="22522" marB="22522">
                    <a:lnB>
                      <a:noFill/>
                    </a:lnB>
                    <a:solidFill>
                      <a:schemeClr val="tx2"/>
                    </a:solidFill>
                  </a:tcPr>
                </a:tc>
                <a:tc>
                  <a:txBody>
                    <a:bodyPr/>
                    <a:lstStyle/>
                    <a:p>
                      <a:r>
                        <a:rPr lang="en-US" sz="1200" b="1" noProof="0">
                          <a:solidFill>
                            <a:schemeClr val="bg1"/>
                          </a:solidFill>
                          <a:latin typeface="Arial" panose="020B0604020202020204" pitchFamily="34" charset="0"/>
                          <a:cs typeface="Arial" panose="020B0604020202020204" pitchFamily="34" charset="0"/>
                        </a:rPr>
                        <a:t>Type of Business</a:t>
                      </a:r>
                    </a:p>
                  </a:txBody>
                  <a:tcPr marT="22522" marB="22522">
                    <a:lnB>
                      <a:noFill/>
                    </a:lnB>
                    <a:solidFill>
                      <a:schemeClr val="tx2"/>
                    </a:solidFill>
                  </a:tcPr>
                </a:tc>
                <a:tc>
                  <a:txBody>
                    <a:bodyPr/>
                    <a:lstStyle/>
                    <a:p>
                      <a:r>
                        <a:rPr lang="en-US" sz="1200" b="1" noProof="0">
                          <a:solidFill>
                            <a:schemeClr val="bg1"/>
                          </a:solidFill>
                          <a:latin typeface="Arial" panose="020B0604020202020204" pitchFamily="34" charset="0"/>
                          <a:cs typeface="Arial" panose="020B0604020202020204" pitchFamily="34" charset="0"/>
                        </a:rPr>
                        <a:t>Total</a:t>
                      </a:r>
                      <a:r>
                        <a:rPr lang="en-US" sz="1200" b="1" baseline="0" noProof="0">
                          <a:solidFill>
                            <a:schemeClr val="bg1"/>
                          </a:solidFill>
                          <a:latin typeface="Arial" panose="020B0604020202020204" pitchFamily="34" charset="0"/>
                          <a:cs typeface="Arial" panose="020B0604020202020204" pitchFamily="34" charset="0"/>
                        </a:rPr>
                        <a:t> </a:t>
                      </a:r>
                      <a:r>
                        <a:rPr lang="en-US" sz="1200" b="1" noProof="0">
                          <a:solidFill>
                            <a:schemeClr val="bg1"/>
                          </a:solidFill>
                          <a:latin typeface="Arial" panose="020B0604020202020204" pitchFamily="34" charset="0"/>
                          <a:cs typeface="Arial" panose="020B0604020202020204" pitchFamily="34" charset="0"/>
                        </a:rPr>
                        <a:t>Number of</a:t>
                      </a:r>
                      <a:r>
                        <a:rPr lang="en-US" sz="1200" b="1" baseline="0" noProof="0">
                          <a:solidFill>
                            <a:schemeClr val="bg1"/>
                          </a:solidFill>
                          <a:latin typeface="Arial" panose="020B0604020202020204" pitchFamily="34" charset="0"/>
                          <a:cs typeface="Arial" panose="020B0604020202020204" pitchFamily="34" charset="0"/>
                        </a:rPr>
                        <a:t> Franchises</a:t>
                      </a:r>
                    </a:p>
                  </a:txBody>
                  <a:tcPr marT="22522" marB="22522">
                    <a:lnB>
                      <a:noFill/>
                    </a:lnB>
                    <a:solidFill>
                      <a:schemeClr val="tx2"/>
                    </a:solidFill>
                  </a:tcPr>
                </a:tc>
                <a:tc>
                  <a:txBody>
                    <a:bodyPr/>
                    <a:lstStyle/>
                    <a:p>
                      <a:r>
                        <a:rPr lang="en-US" sz="1200" b="1" noProof="0">
                          <a:solidFill>
                            <a:schemeClr val="bg1"/>
                          </a:solidFill>
                          <a:latin typeface="Arial" panose="020B0604020202020204" pitchFamily="34" charset="0"/>
                          <a:cs typeface="Arial" panose="020B0604020202020204" pitchFamily="34" charset="0"/>
                        </a:rPr>
                        <a:t>International Franchises</a:t>
                      </a:r>
                    </a:p>
                  </a:txBody>
                  <a:tcPr marT="22522" marB="22522">
                    <a:lnB>
                      <a:noFill/>
                    </a:lnB>
                    <a:solidFill>
                      <a:schemeClr val="tx2"/>
                    </a:solidFill>
                  </a:tcPr>
                </a:tc>
                <a:tc>
                  <a:txBody>
                    <a:bodyPr/>
                    <a:lstStyle/>
                    <a:p>
                      <a:r>
                        <a:rPr lang="en-US" sz="1200" b="1" noProof="0">
                          <a:solidFill>
                            <a:schemeClr val="bg1"/>
                          </a:solidFill>
                          <a:latin typeface="Arial" panose="020B0604020202020204" pitchFamily="34" charset="0"/>
                          <a:cs typeface="Arial" panose="020B0604020202020204" pitchFamily="34" charset="0"/>
                        </a:rPr>
                        <a:t>Example Markets</a:t>
                      </a:r>
                    </a:p>
                  </a:txBody>
                  <a:tcPr marT="22522" marB="22522">
                    <a:lnB>
                      <a:noFill/>
                    </a:lnB>
                    <a:solidFill>
                      <a:schemeClr val="tx2"/>
                    </a:solidFill>
                  </a:tcPr>
                </a:tc>
                <a:extLst>
                  <a:ext uri="{0D108BD9-81ED-4DB2-BD59-A6C34878D82A}">
                    <a16:rowId xmlns:a16="http://schemas.microsoft.com/office/drawing/2014/main" val="10000"/>
                  </a:ext>
                </a:extLst>
              </a:tr>
              <a:tr h="346826">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7-Eleven</a:t>
                      </a:r>
                      <a:endParaRPr lang="en-US" sz="1200" noProof="0">
                        <a:latin typeface="Arial" panose="020B0604020202020204" pitchFamily="34" charset="0"/>
                        <a:cs typeface="Arial" panose="020B0604020202020204" pitchFamily="34" charset="0"/>
                      </a:endParaRPr>
                    </a:p>
                  </a:txBody>
                  <a:tcPr marT="22522" marB="22522">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Convenience stores</a:t>
                      </a:r>
                      <a:endParaRPr lang="en-US" sz="1200" noProof="0">
                        <a:latin typeface="Arial" panose="020B0604020202020204" pitchFamily="34" charset="0"/>
                        <a:cs typeface="Arial" panose="020B0604020202020204" pitchFamily="34" charset="0"/>
                      </a:endParaRPr>
                    </a:p>
                  </a:txBody>
                  <a:tcPr marT="22522" marB="22522">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78,413</a:t>
                      </a:r>
                      <a:endParaRPr lang="en-US" sz="1200" noProof="0">
                        <a:latin typeface="Arial" panose="020B0604020202020204" pitchFamily="34" charset="0"/>
                        <a:cs typeface="Arial" panose="020B0604020202020204" pitchFamily="34" charset="0"/>
                      </a:endParaRPr>
                    </a:p>
                  </a:txBody>
                  <a:tcPr marT="22522" marB="22522">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69,874 franchises in 18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Australia, Denmark, India, Mexico</a:t>
                      </a:r>
                    </a:p>
                  </a:txBody>
                  <a:tcPr marT="22522" marB="22522">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46826">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McDonald’s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Hamburger restaurants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40,031</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23,644 franchises in 120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France, China, United Kingdom, Australia, </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46826">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Subway</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Sandwiches, salad restaurants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37,147</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21,796 franchises in 113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Australia, Brazil, Canada, Mexico</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46826">
                <a:tc>
                  <a:txBody>
                    <a:bodyPr/>
                    <a:lstStyle/>
                    <a:p>
                      <a:r>
                        <a:rPr lang="en-US" sz="1200" b="0" i="0" u="none" strike="noStrike" cap="none" spc="-150" baseline="0" noProof="0" dirty="0">
                          <a:solidFill>
                            <a:schemeClr val="tx1"/>
                          </a:solidFill>
                          <a:latin typeface="Arial" panose="020B0604020202020204" pitchFamily="34" charset="0"/>
                          <a:ea typeface="+mn-ea"/>
                          <a:cs typeface="Arial" panose="020B0604020202020204" pitchFamily="34" charset="0"/>
                          <a:sym typeface="Arial"/>
                        </a:rPr>
                        <a:t>K F </a:t>
                      </a:r>
                      <a:r>
                        <a:rPr lang="en-US" sz="1200" b="0" i="0" u="none" strike="noStrike" cap="none" baseline="0" noProof="0" dirty="0">
                          <a:solidFill>
                            <a:schemeClr val="tx1"/>
                          </a:solidFill>
                          <a:latin typeface="Arial" panose="020B0604020202020204" pitchFamily="34" charset="0"/>
                          <a:ea typeface="+mn-ea"/>
                          <a:cs typeface="Arial" panose="020B0604020202020204" pitchFamily="34" charset="0"/>
                          <a:sym typeface="Arial"/>
                        </a:rPr>
                        <a:t>C</a:t>
                      </a:r>
                      <a:endParaRPr lang="en-US" sz="1200" noProof="0" dirty="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dirty="0">
                          <a:solidFill>
                            <a:schemeClr val="tx1"/>
                          </a:solidFill>
                          <a:latin typeface="Arial" panose="020B0604020202020204" pitchFamily="34" charset="0"/>
                          <a:ea typeface="+mn-ea"/>
                          <a:cs typeface="Arial" panose="020B0604020202020204" pitchFamily="34" charset="0"/>
                          <a:sym typeface="Arial"/>
                        </a:rPr>
                        <a:t>Chicken restaurants</a:t>
                      </a:r>
                      <a:endParaRPr lang="en-US" sz="1200" noProof="0" dirty="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26,934</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23,039 franchises in 150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Brazil, Canada, Japan, France</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46826">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Burger King</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Hamburger restaurants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19,247</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11,990 franchises in 102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Ecuador, Finland, South Africa, Thailand</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46826">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Domino’s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Pizza and pasta</a:t>
                      </a:r>
                    </a:p>
                    <a:p>
                      <a:r>
                        <a:rPr lang="en-US" sz="1200" noProof="0">
                          <a:latin typeface="Arial" panose="020B0604020202020204" pitchFamily="34" charset="0"/>
                          <a:cs typeface="Arial" panose="020B0604020202020204" pitchFamily="34" charset="0"/>
                        </a:rPr>
                        <a:t>restaurants</a:t>
                      </a: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18,848</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12,128 franchises in 83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dirty="0">
                          <a:solidFill>
                            <a:schemeClr val="tx1"/>
                          </a:solidFill>
                          <a:latin typeface="Arial" panose="020B0604020202020204" pitchFamily="34" charset="0"/>
                          <a:ea typeface="+mn-ea"/>
                          <a:cs typeface="Arial" panose="020B0604020202020204" pitchFamily="34" charset="0"/>
                          <a:sym typeface="Arial"/>
                        </a:rPr>
                        <a:t>Canada, Ireland, Thailand, </a:t>
                      </a:r>
                      <a:r>
                        <a:rPr lang="en-US" sz="1200" b="0" i="0" u="none" strike="noStrike" cap="none" spc="-150" baseline="0" noProof="0" dirty="0">
                          <a:solidFill>
                            <a:schemeClr val="tx1"/>
                          </a:solidFill>
                          <a:latin typeface="Arial" panose="020B0604020202020204" pitchFamily="34" charset="0"/>
                          <a:ea typeface="+mn-ea"/>
                          <a:cs typeface="Arial" panose="020B0604020202020204" pitchFamily="34" charset="0"/>
                          <a:sym typeface="Arial"/>
                        </a:rPr>
                        <a:t>U S </a:t>
                      </a:r>
                      <a:r>
                        <a:rPr lang="en-US" sz="1200" b="0" i="0" u="none" strike="noStrike" cap="none" baseline="0" noProof="0" dirty="0">
                          <a:solidFill>
                            <a:schemeClr val="tx1"/>
                          </a:solidFill>
                          <a:latin typeface="Arial" panose="020B0604020202020204" pitchFamily="34" charset="0"/>
                          <a:ea typeface="+mn-ea"/>
                          <a:cs typeface="Arial" panose="020B0604020202020204" pitchFamily="34" charset="0"/>
                          <a:sym typeface="Arial"/>
                        </a:rPr>
                        <a:t>A</a:t>
                      </a:r>
                      <a:endParaRPr lang="en-US" sz="1200" noProof="0" dirty="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46826">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Pizza Hut</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Pizza and pasta restaurants</a:t>
                      </a: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18,381</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14,808 franchises in 92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China, Brazil, Canada, Japan</a:t>
                      </a: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208966">
                <a:tc>
                  <a:txBody>
                    <a:bodyPr/>
                    <a:lstStyle/>
                    <a:p>
                      <a:r>
                        <a:rPr lang="en-US" sz="1200" baseline="0" noProof="0">
                          <a:latin typeface="Arial" panose="020B0604020202020204" pitchFamily="34" charset="0"/>
                          <a:cs typeface="Arial" panose="020B0604020202020204" pitchFamily="34" charset="0"/>
                        </a:rPr>
                        <a:t>Dunkin Donuts / Dunkin</a:t>
                      </a: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Donut and coffee shops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12,957</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4,457 franchises in 42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a:latin typeface="Arial" panose="020B0604020202020204" pitchFamily="34" charset="0"/>
                          <a:cs typeface="Arial" panose="020B0604020202020204" pitchFamily="34" charset="0"/>
                        </a:rPr>
                        <a:t>China, Germany, India, South Korea</a:t>
                      </a: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195935">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Circle K</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Convenience stores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11,154</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b="0" i="0" u="none" strike="noStrike" cap="none" baseline="0" noProof="0">
                          <a:solidFill>
                            <a:schemeClr val="tx1"/>
                          </a:solidFill>
                          <a:latin typeface="Arial" panose="020B0604020202020204" pitchFamily="34" charset="0"/>
                          <a:ea typeface="+mn-ea"/>
                          <a:cs typeface="Arial" panose="020B0604020202020204" pitchFamily="34" charset="0"/>
                          <a:sym typeface="Arial"/>
                        </a:rPr>
                        <a:t>5,230 franchises in 27 countries</a:t>
                      </a:r>
                      <a:endParaRPr lang="en-US" sz="1200" noProof="0">
                        <a:latin typeface="Arial" panose="020B0604020202020204" pitchFamily="34" charset="0"/>
                        <a:cs typeface="Arial" panose="020B0604020202020204" pitchFamily="34" charset="0"/>
                      </a:endParaRP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200" noProof="0" dirty="0">
                          <a:latin typeface="Arial" panose="020B0604020202020204" pitchFamily="34" charset="0"/>
                          <a:cs typeface="Arial" panose="020B0604020202020204" pitchFamily="34" charset="0"/>
                        </a:rPr>
                        <a:t>Cambodia, Indonesia, Ireland, Mexico</a:t>
                      </a:r>
                    </a:p>
                  </a:txBody>
                  <a:tcPr marT="22522" marB="22522">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bl>
          </a:graphicData>
        </a:graphic>
      </p:graphicFrame>
      <p:sp>
        <p:nvSpPr>
          <p:cNvPr id="15" name="Content Placeholder 14">
            <a:extLst>
              <a:ext uri="{FF2B5EF4-FFF2-40B4-BE49-F238E27FC236}">
                <a16:creationId xmlns:a16="http://schemas.microsoft.com/office/drawing/2014/main" id="{DAC1FD9F-1873-4974-AAD9-3A68694E04FA}"/>
              </a:ext>
            </a:extLst>
          </p:cNvPr>
          <p:cNvSpPr>
            <a:spLocks noGrp="1"/>
          </p:cNvSpPr>
          <p:nvPr>
            <p:ph sz="quarter" idx="13"/>
          </p:nvPr>
        </p:nvSpPr>
        <p:spPr>
          <a:xfrm>
            <a:off x="370941" y="5577800"/>
            <a:ext cx="4856668" cy="221018"/>
          </a:xfrm>
        </p:spPr>
        <p:txBody>
          <a:bodyPr wrap="square" lIns="0" tIns="18000" rIns="0" bIns="18000" anchor="ctr" anchorCtr="0">
            <a:spAutoFit/>
          </a:bodyPr>
          <a:lstStyle/>
          <a:p>
            <a:pPr marL="0" indent="0">
              <a:buNone/>
            </a:pPr>
            <a:r>
              <a:rPr lang="en-US" sz="1200" b="1" dirty="0"/>
              <a:t>Sources:</a:t>
            </a:r>
            <a:r>
              <a:rPr lang="en-US" sz="1200" dirty="0"/>
              <a:t> Based on </a:t>
            </a:r>
            <a:r>
              <a:rPr lang="en-US" sz="1200" dirty="0" err="1"/>
              <a:t>FranchiseTimes</a:t>
            </a:r>
            <a:r>
              <a:rPr lang="en-US" sz="1200" dirty="0"/>
              <a:t>, “Franchise Times Top 500,” 2023,</a:t>
            </a:r>
          </a:p>
        </p:txBody>
      </p:sp>
      <p:sp>
        <p:nvSpPr>
          <p:cNvPr id="16" name="Content Placeholder 15">
            <a:extLst>
              <a:ext uri="{FF2B5EF4-FFF2-40B4-BE49-F238E27FC236}">
                <a16:creationId xmlns:a16="http://schemas.microsoft.com/office/drawing/2014/main" id="{AC6D647E-B73F-4AF5-BA01-09A6C6D2D805}"/>
              </a:ext>
            </a:extLst>
          </p:cNvPr>
          <p:cNvSpPr>
            <a:spLocks noGrp="1"/>
          </p:cNvSpPr>
          <p:nvPr>
            <p:ph sz="quarter" idx="14"/>
          </p:nvPr>
        </p:nvSpPr>
        <p:spPr>
          <a:xfrm>
            <a:off x="5250456" y="5579264"/>
            <a:ext cx="1686702" cy="221018"/>
          </a:xfrm>
        </p:spPr>
        <p:txBody>
          <a:bodyPr wrap="square" lIns="0" tIns="18000" rIns="0" bIns="18000" anchor="ctr" anchorCtr="0">
            <a:spAutoFit/>
          </a:bodyPr>
          <a:lstStyle/>
          <a:p>
            <a:pPr marL="0" indent="0">
              <a:buNone/>
            </a:pPr>
            <a:r>
              <a:rPr lang="en-US" sz="1200" dirty="0">
                <a:hlinkClick r:id="rId3" tooltip="www.franchisetimes.com"/>
              </a:rPr>
              <a:t>www.franchisetimes.com</a:t>
            </a:r>
            <a:endParaRPr lang="en-US" sz="1200" dirty="0"/>
          </a:p>
        </p:txBody>
      </p:sp>
      <p:sp>
        <p:nvSpPr>
          <p:cNvPr id="17" name="Content Placeholder 16">
            <a:extLst>
              <a:ext uri="{FF2B5EF4-FFF2-40B4-BE49-F238E27FC236}">
                <a16:creationId xmlns:a16="http://schemas.microsoft.com/office/drawing/2014/main" id="{35B7D1B7-A27D-41CD-AD81-C5A2E52C24D9}"/>
              </a:ext>
            </a:extLst>
          </p:cNvPr>
          <p:cNvSpPr>
            <a:spLocks noGrp="1"/>
          </p:cNvSpPr>
          <p:nvPr>
            <p:ph sz="quarter" idx="15"/>
          </p:nvPr>
        </p:nvSpPr>
        <p:spPr>
          <a:xfrm>
            <a:off x="6981921" y="5577800"/>
            <a:ext cx="1490564" cy="221018"/>
          </a:xfrm>
        </p:spPr>
        <p:txBody>
          <a:bodyPr wrap="square" lIns="0" tIns="18000" rIns="0" bIns="18000" anchor="ctr" anchorCtr="0">
            <a:spAutoFit/>
          </a:bodyPr>
          <a:lstStyle/>
          <a:p>
            <a:pPr marL="0" indent="0">
              <a:buNone/>
            </a:pPr>
            <a:r>
              <a:rPr lang="en-US" sz="1200" dirty="0"/>
              <a:t>; Entrepreneur, “2023 </a:t>
            </a:r>
          </a:p>
        </p:txBody>
      </p:sp>
      <p:sp>
        <p:nvSpPr>
          <p:cNvPr id="18" name="Content Placeholder 17">
            <a:extLst>
              <a:ext uri="{FF2B5EF4-FFF2-40B4-BE49-F238E27FC236}">
                <a16:creationId xmlns:a16="http://schemas.microsoft.com/office/drawing/2014/main" id="{009E7150-F2AF-4931-92A3-CCFBD43BD986}"/>
              </a:ext>
            </a:extLst>
          </p:cNvPr>
          <p:cNvSpPr>
            <a:spLocks noGrp="1"/>
          </p:cNvSpPr>
          <p:nvPr>
            <p:ph sz="quarter" idx="16"/>
          </p:nvPr>
        </p:nvSpPr>
        <p:spPr>
          <a:xfrm>
            <a:off x="370941" y="5845730"/>
            <a:ext cx="2230755" cy="221018"/>
          </a:xfrm>
        </p:spPr>
        <p:txBody>
          <a:bodyPr wrap="square" lIns="0" tIns="18000" rIns="0" bIns="18000" anchor="ctr" anchorCtr="0">
            <a:spAutoFit/>
          </a:bodyPr>
          <a:lstStyle/>
          <a:p>
            <a:pPr marL="0" indent="0">
              <a:buNone/>
            </a:pPr>
            <a:r>
              <a:rPr lang="en-US" sz="1200" dirty="0"/>
              <a:t>Top Global Franchises Ranking,”</a:t>
            </a:r>
          </a:p>
        </p:txBody>
      </p:sp>
      <p:sp>
        <p:nvSpPr>
          <p:cNvPr id="19" name="Content Placeholder 18">
            <a:extLst>
              <a:ext uri="{FF2B5EF4-FFF2-40B4-BE49-F238E27FC236}">
                <a16:creationId xmlns:a16="http://schemas.microsoft.com/office/drawing/2014/main" id="{436091CB-0341-402A-AEB5-510E24AC9E96}"/>
              </a:ext>
            </a:extLst>
          </p:cNvPr>
          <p:cNvSpPr>
            <a:spLocks noGrp="1"/>
          </p:cNvSpPr>
          <p:nvPr>
            <p:ph sz="quarter" idx="17"/>
          </p:nvPr>
        </p:nvSpPr>
        <p:spPr>
          <a:xfrm>
            <a:off x="2654086" y="5859154"/>
            <a:ext cx="1587927" cy="221018"/>
          </a:xfrm>
        </p:spPr>
        <p:txBody>
          <a:bodyPr wrap="square" lIns="0" tIns="18000" rIns="0" bIns="18000" anchor="ctr" anchorCtr="0">
            <a:spAutoFit/>
          </a:bodyPr>
          <a:lstStyle/>
          <a:p>
            <a:pPr marL="0" indent="0">
              <a:buNone/>
            </a:pPr>
            <a:r>
              <a:rPr lang="en-US" sz="1200" dirty="0">
                <a:hlinkClick r:id="rId4" tooltip="www.entrepreneur.com"/>
              </a:rPr>
              <a:t>www.entrepreneur.com</a:t>
            </a:r>
            <a:endParaRPr lang="en-US" sz="1200" dirty="0"/>
          </a:p>
        </p:txBody>
      </p:sp>
      <p:sp>
        <p:nvSpPr>
          <p:cNvPr id="20" name="Content Placeholder 19">
            <a:extLst>
              <a:ext uri="{FF2B5EF4-FFF2-40B4-BE49-F238E27FC236}">
                <a16:creationId xmlns:a16="http://schemas.microsoft.com/office/drawing/2014/main" id="{5B82256F-DAAC-4611-8B11-16D1D48CD676}"/>
              </a:ext>
            </a:extLst>
          </p:cNvPr>
          <p:cNvSpPr>
            <a:spLocks noGrp="1"/>
          </p:cNvSpPr>
          <p:nvPr>
            <p:ph sz="quarter" idx="18"/>
          </p:nvPr>
        </p:nvSpPr>
        <p:spPr>
          <a:xfrm>
            <a:off x="4294188" y="5868916"/>
            <a:ext cx="3669254" cy="221018"/>
          </a:xfrm>
        </p:spPr>
        <p:txBody>
          <a:bodyPr wrap="square" lIns="0" tIns="18000" rIns="0" bIns="18000" anchor="ctr" anchorCtr="0">
            <a:spAutoFit/>
          </a:bodyPr>
          <a:lstStyle/>
          <a:p>
            <a:pPr marL="0" indent="0">
              <a:buNone/>
            </a:pPr>
            <a:r>
              <a:rPr lang="en-US" sz="1200" dirty="0"/>
              <a:t>; Franchise Direct, “2023 Top 100 Franchises Report,”</a:t>
            </a:r>
          </a:p>
        </p:txBody>
      </p:sp>
      <p:sp>
        <p:nvSpPr>
          <p:cNvPr id="21" name="Content Placeholder 20">
            <a:extLst>
              <a:ext uri="{FF2B5EF4-FFF2-40B4-BE49-F238E27FC236}">
                <a16:creationId xmlns:a16="http://schemas.microsoft.com/office/drawing/2014/main" id="{291089D3-AE56-47D1-BEE5-DE1D42D767A0}"/>
              </a:ext>
            </a:extLst>
          </p:cNvPr>
          <p:cNvSpPr>
            <a:spLocks noGrp="1"/>
          </p:cNvSpPr>
          <p:nvPr>
            <p:ph sz="quarter" idx="19"/>
          </p:nvPr>
        </p:nvSpPr>
        <p:spPr>
          <a:xfrm>
            <a:off x="370941" y="6134613"/>
            <a:ext cx="1699159" cy="221018"/>
          </a:xfrm>
        </p:spPr>
        <p:txBody>
          <a:bodyPr wrap="square" lIns="0" tIns="18000" rIns="0" bIns="18000" anchor="ctr" anchorCtr="0">
            <a:spAutoFit/>
          </a:bodyPr>
          <a:lstStyle/>
          <a:p>
            <a:pPr marL="0" indent="0">
              <a:buNone/>
            </a:pPr>
            <a:r>
              <a:rPr lang="en-US" sz="1200" dirty="0">
                <a:hlinkClick r:id="rId5" tooltip="www.franchisedirect.com"/>
              </a:rPr>
              <a:t>www.franchisedirect.com</a:t>
            </a:r>
            <a:endParaRPr lang="en-US" sz="1200" dirty="0"/>
          </a:p>
        </p:txBody>
      </p:sp>
      <p:sp>
        <p:nvSpPr>
          <p:cNvPr id="22" name="Content Placeholder 21">
            <a:extLst>
              <a:ext uri="{FF2B5EF4-FFF2-40B4-BE49-F238E27FC236}">
                <a16:creationId xmlns:a16="http://schemas.microsoft.com/office/drawing/2014/main" id="{4714FA67-E67D-4D2B-98D4-4076D8828A87}"/>
              </a:ext>
            </a:extLst>
          </p:cNvPr>
          <p:cNvSpPr>
            <a:spLocks noGrp="1"/>
          </p:cNvSpPr>
          <p:nvPr>
            <p:ph sz="quarter" idx="20"/>
          </p:nvPr>
        </p:nvSpPr>
        <p:spPr>
          <a:xfrm>
            <a:off x="2126728" y="6134613"/>
            <a:ext cx="1587927" cy="221018"/>
          </a:xfrm>
        </p:spPr>
        <p:txBody>
          <a:bodyPr wrap="square" lIns="0" tIns="18000" rIns="0" bIns="18000" anchor="ctr" anchorCtr="0">
            <a:spAutoFit/>
          </a:bodyPr>
          <a:lstStyle/>
          <a:p>
            <a:pPr marL="0" indent="0">
              <a:buNone/>
            </a:pPr>
            <a:r>
              <a:rPr lang="en-US" sz="1200" dirty="0"/>
              <a:t>; company profiles from</a:t>
            </a:r>
          </a:p>
        </p:txBody>
      </p:sp>
      <p:sp>
        <p:nvSpPr>
          <p:cNvPr id="23" name="Content Placeholder 22">
            <a:extLst>
              <a:ext uri="{FF2B5EF4-FFF2-40B4-BE49-F238E27FC236}">
                <a16:creationId xmlns:a16="http://schemas.microsoft.com/office/drawing/2014/main" id="{E35CA23A-2E7E-4D7C-96D4-66AF3D09BBA2}"/>
              </a:ext>
            </a:extLst>
          </p:cNvPr>
          <p:cNvSpPr>
            <a:spLocks noGrp="1"/>
          </p:cNvSpPr>
          <p:nvPr>
            <p:ph sz="quarter" idx="21"/>
          </p:nvPr>
        </p:nvSpPr>
        <p:spPr>
          <a:xfrm>
            <a:off x="3758583" y="6147963"/>
            <a:ext cx="908050" cy="221018"/>
          </a:xfrm>
        </p:spPr>
        <p:txBody>
          <a:bodyPr wrap="square" lIns="0" tIns="18000" rIns="0" bIns="18000" anchor="ctr" anchorCtr="0">
            <a:spAutoFit/>
          </a:bodyPr>
          <a:lstStyle/>
          <a:p>
            <a:pPr marL="0" indent="0">
              <a:buNone/>
            </a:pPr>
            <a:r>
              <a:rPr lang="en-US" sz="1200" dirty="0">
                <a:hlinkClick r:id="rId6" action="ppaction://hlinkfile" tooltip="Hoovers.com"/>
              </a:rPr>
              <a:t>Hoovers.com</a:t>
            </a:r>
            <a:endParaRPr lang="en-US" sz="1200" dirty="0"/>
          </a:p>
        </p:txBody>
      </p:sp>
      <p:sp>
        <p:nvSpPr>
          <p:cNvPr id="24" name="Content Placeholder 23">
            <a:extLst>
              <a:ext uri="{FF2B5EF4-FFF2-40B4-BE49-F238E27FC236}">
                <a16:creationId xmlns:a16="http://schemas.microsoft.com/office/drawing/2014/main" id="{1D904E37-79C2-4385-97A7-A729D029D614}"/>
              </a:ext>
            </a:extLst>
          </p:cNvPr>
          <p:cNvSpPr>
            <a:spLocks noGrp="1"/>
          </p:cNvSpPr>
          <p:nvPr>
            <p:ph sz="quarter" idx="22"/>
          </p:nvPr>
        </p:nvSpPr>
        <p:spPr>
          <a:xfrm>
            <a:off x="4710561" y="6147963"/>
            <a:ext cx="2230755" cy="221018"/>
          </a:xfrm>
        </p:spPr>
        <p:txBody>
          <a:bodyPr wrap="square" lIns="0" tIns="18000" rIns="0" bIns="18000" anchor="ctr" anchorCtr="0">
            <a:spAutoFit/>
          </a:bodyPr>
          <a:lstStyle/>
          <a:p>
            <a:pPr marL="0" indent="0">
              <a:buNone/>
            </a:pPr>
            <a:r>
              <a:rPr lang="en-US" sz="1200" dirty="0"/>
              <a:t>; company websites and reports.</a:t>
            </a:r>
          </a:p>
        </p:txBody>
      </p:sp>
    </p:spTree>
    <p:extLst>
      <p:ext uri="{BB962C8B-B14F-4D97-AF65-F5344CB8AC3E}">
        <p14:creationId xmlns:p14="http://schemas.microsoft.com/office/powerpoint/2010/main" val="4163354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4201"/>
            <a:ext cx="8341262" cy="1144347"/>
          </a:xfrm>
        </p:spPr>
        <p:txBody>
          <a:bodyPr wrap="square" lIns="0" tIns="18000" rIns="0" bIns="18000" anchor="ctr" anchorCtr="0">
            <a:spAutoFit/>
          </a:bodyPr>
          <a:lstStyle/>
          <a:p>
            <a:r>
              <a:rPr lang="en-US" dirty="0"/>
              <a:t>Advantages and Disadvantages of Franchising</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67402" y="1554037"/>
            <a:ext cx="4334138" cy="2852507"/>
          </a:xfrm>
        </p:spPr>
        <p:txBody>
          <a:bodyPr wrap="square" lIns="0" tIns="18000" rIns="0" bIns="18000" anchor="ctr" anchorCtr="0">
            <a:spAutoFit/>
          </a:bodyPr>
          <a:lstStyle/>
          <a:p>
            <a:pPr marL="0" indent="0">
              <a:spcBef>
                <a:spcPts val="600"/>
              </a:spcBef>
              <a:buNone/>
            </a:pPr>
            <a:r>
              <a:rPr lang="en-US" sz="2400" b="1" dirty="0"/>
              <a:t>Advantages for franchiser:</a:t>
            </a:r>
          </a:p>
          <a:p>
            <a:pPr marL="342900" indent="-342900">
              <a:spcBef>
                <a:spcPts val="600"/>
              </a:spcBef>
            </a:pPr>
            <a:r>
              <a:rPr lang="en-US" sz="2400" dirty="0"/>
              <a:t>Low investment; </a:t>
            </a:r>
          </a:p>
          <a:p>
            <a:pPr marL="342900" indent="-342900">
              <a:spcBef>
                <a:spcPts val="600"/>
              </a:spcBef>
            </a:pPr>
            <a:r>
              <a:rPr lang="en-US" sz="2400" dirty="0"/>
              <a:t>Can internationalize quickly to many markets;</a:t>
            </a:r>
          </a:p>
          <a:p>
            <a:pPr marL="342900" indent="-342900">
              <a:spcBef>
                <a:spcPts val="600"/>
              </a:spcBef>
            </a:pPr>
            <a:r>
              <a:rPr lang="en-US" sz="2400" dirty="0"/>
              <a:t>Low effort, once established; and Can leverage franchisees’ local knowledge.</a:t>
            </a:r>
          </a:p>
        </p:txBody>
      </p:sp>
      <p:pic>
        <p:nvPicPr>
          <p:cNvPr id="6" name="Picture 5" descr="An exterior view of a 7-Eleven convenience store shows an outdoor seating area and a woman walking in front of the store.">
            <a:extLst>
              <a:ext uri="{FF2B5EF4-FFF2-40B4-BE49-F238E27FC236}">
                <a16:creationId xmlns:a16="http://schemas.microsoft.com/office/drawing/2014/main" id="{EFFA4741-66BE-448D-91BA-A3939BF8877E}"/>
              </a:ext>
            </a:extLst>
          </p:cNvPr>
          <p:cNvPicPr>
            <a:picLocks noChangeAspect="1"/>
          </p:cNvPicPr>
          <p:nvPr/>
        </p:nvPicPr>
        <p:blipFill>
          <a:blip r:embed="rId3"/>
          <a:stretch>
            <a:fillRect/>
          </a:stretch>
        </p:blipFill>
        <p:spPr>
          <a:xfrm>
            <a:off x="4912830" y="1640557"/>
            <a:ext cx="3804062" cy="2541719"/>
          </a:xfrm>
          <a:prstGeom prst="rect">
            <a:avLst/>
          </a:prstGeom>
        </p:spPr>
      </p:pic>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67401" y="4481015"/>
            <a:ext cx="8341259" cy="1744511"/>
          </a:xfrm>
        </p:spPr>
        <p:txBody>
          <a:bodyPr wrap="square" lIns="0" tIns="18000" rIns="0" bIns="18000" anchor="ctr" anchorCtr="0">
            <a:spAutoFit/>
          </a:bodyPr>
          <a:lstStyle/>
          <a:p>
            <a:pPr marL="0" indent="0">
              <a:spcBef>
                <a:spcPts val="600"/>
              </a:spcBef>
              <a:buNone/>
            </a:pPr>
            <a:r>
              <a:rPr lang="en-US" sz="2400" b="1" dirty="0"/>
              <a:t>Disadvantages for franchiser:</a:t>
            </a:r>
          </a:p>
          <a:p>
            <a:pPr marL="342900" indent="-342900">
              <a:spcBef>
                <a:spcPts val="600"/>
              </a:spcBef>
            </a:pPr>
            <a:r>
              <a:rPr lang="en-US" sz="2400" dirty="0"/>
              <a:t>Maintaining control over franchisees may be difficult;</a:t>
            </a:r>
          </a:p>
          <a:p>
            <a:pPr marL="342900" indent="-342900">
              <a:spcBef>
                <a:spcPts val="600"/>
              </a:spcBef>
            </a:pPr>
            <a:r>
              <a:rPr lang="en-US" sz="2400" dirty="0"/>
              <a:t>Franchiser has limited control over its assets abroad; and </a:t>
            </a:r>
          </a:p>
          <a:p>
            <a:pPr marL="342900" indent="-342900">
              <a:spcBef>
                <a:spcPts val="600"/>
              </a:spcBef>
            </a:pPr>
            <a:r>
              <a:rPr lang="en-US" sz="2400" dirty="0"/>
              <a:t>Risks creating a future competitor.</a:t>
            </a:r>
          </a:p>
        </p:txBody>
      </p:sp>
    </p:spTree>
    <p:extLst>
      <p:ext uri="{BB962C8B-B14F-4D97-AF65-F5344CB8AC3E}">
        <p14:creationId xmlns:p14="http://schemas.microsoft.com/office/powerpoint/2010/main" val="2871439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dirty="0"/>
              <a:t>Franchising in Emerging Markets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861654"/>
            <a:ext cx="8341259" cy="4853055"/>
          </a:xfrm>
        </p:spPr>
        <p:txBody>
          <a:bodyPr wrap="square" lIns="0" tIns="18000" rIns="0" bIns="18000" anchor="ctr" anchorCtr="0">
            <a:spAutoFit/>
          </a:bodyPr>
          <a:lstStyle/>
          <a:p>
            <a:pPr marL="342900" indent="-342900">
              <a:spcBef>
                <a:spcPts val="600"/>
              </a:spcBef>
            </a:pPr>
            <a:r>
              <a:rPr lang="en-US" sz="2400" dirty="0"/>
              <a:t>China and India are home to more than 2.8 billion people and are promising markets for fast-food franchising. For example, </a:t>
            </a:r>
            <a:r>
              <a:rPr lang="en-US" sz="2400" spc="-300" dirty="0"/>
              <a:t>K F </a:t>
            </a:r>
            <a:r>
              <a:rPr lang="en-US" sz="2400" dirty="0"/>
              <a:t>C and Pizza Hut are big in China.</a:t>
            </a:r>
          </a:p>
          <a:p>
            <a:pPr marL="342900" indent="-342900">
              <a:spcBef>
                <a:spcPts val="600"/>
              </a:spcBef>
            </a:pPr>
            <a:r>
              <a:rPr lang="en-US" sz="2400" dirty="0"/>
              <a:t>Most residents of developing economies and emerging markets lack sufficient income to patronize restaurants. </a:t>
            </a:r>
          </a:p>
          <a:p>
            <a:pPr marL="342900" indent="-342900">
              <a:spcBef>
                <a:spcPts val="600"/>
              </a:spcBef>
            </a:pPr>
            <a:r>
              <a:rPr lang="en-US" sz="2400" dirty="0"/>
              <a:t>Most do not live in the major urbanized areas where international franchisors are concentrated.</a:t>
            </a:r>
          </a:p>
          <a:p>
            <a:pPr marL="342900" indent="-342900">
              <a:spcBef>
                <a:spcPts val="600"/>
              </a:spcBef>
            </a:pPr>
            <a:r>
              <a:rPr lang="en-US" sz="2400" dirty="0"/>
              <a:t>Laws in such countries vary and often evolve quickly. </a:t>
            </a:r>
          </a:p>
          <a:p>
            <a:pPr marL="342900" indent="-342900">
              <a:spcBef>
                <a:spcPts val="600"/>
              </a:spcBef>
            </a:pPr>
            <a:r>
              <a:rPr lang="en-US" sz="2400" dirty="0"/>
              <a:t>Food and eating habits are rooted in national culture. </a:t>
            </a:r>
          </a:p>
          <a:p>
            <a:pPr marL="342900" indent="-342900">
              <a:spcBef>
                <a:spcPts val="600"/>
              </a:spcBef>
            </a:pPr>
            <a:r>
              <a:rPr lang="en-US" sz="2400" dirty="0"/>
              <a:t>Successful franchisors carefully study economic, demographic, legal, and cultural dimensions before targeting foreign countries them with franchises.</a:t>
            </a:r>
          </a:p>
        </p:txBody>
      </p:sp>
    </p:spTree>
    <p:extLst>
      <p:ext uri="{BB962C8B-B14F-4D97-AF65-F5344CB8AC3E}">
        <p14:creationId xmlns:p14="http://schemas.microsoft.com/office/powerpoint/2010/main" val="3798434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22774"/>
            <a:ext cx="8341260" cy="590349"/>
          </a:xfrm>
        </p:spPr>
        <p:txBody>
          <a:bodyPr wrap="square" lIns="0" tIns="18000" rIns="0" bIns="18000" anchor="ctr" anchorCtr="0">
            <a:spAutoFit/>
          </a:bodyPr>
          <a:lstStyle/>
          <a:p>
            <a:r>
              <a:rPr lang="en-US" dirty="0"/>
              <a:t>Example: Yum! Brands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1" y="869136"/>
            <a:ext cx="8267642" cy="4406779"/>
          </a:xfrm>
        </p:spPr>
        <p:txBody>
          <a:bodyPr wrap="square" lIns="0" tIns="18000" rIns="0" bIns="18000" anchor="ctr" anchorCtr="0">
            <a:spAutoFit/>
          </a:bodyPr>
          <a:lstStyle/>
          <a:p>
            <a:pPr marL="342900" indent="-342900">
              <a:spcBef>
                <a:spcPts val="600"/>
              </a:spcBef>
            </a:pPr>
            <a:r>
              <a:rPr lang="en-US" sz="2400" dirty="0"/>
              <a:t>Yum! Brands, based in Kentucky, </a:t>
            </a:r>
            <a:r>
              <a:rPr lang="en-US" sz="2400" spc="-300" dirty="0"/>
              <a:t>U S </a:t>
            </a:r>
            <a:r>
              <a:rPr lang="en-US" sz="2400" dirty="0"/>
              <a:t>A, is the owner and operator of several restaurant chains, including </a:t>
            </a:r>
            <a:r>
              <a:rPr lang="en-US" sz="2400" spc="-300" dirty="0"/>
              <a:t>K F </a:t>
            </a:r>
            <a:r>
              <a:rPr lang="en-US" sz="2400" dirty="0"/>
              <a:t>C, Pizza Hut, and Taco Bell.</a:t>
            </a:r>
          </a:p>
          <a:p>
            <a:pPr marL="342900" indent="-342900">
              <a:spcBef>
                <a:spcPts val="600"/>
              </a:spcBef>
            </a:pPr>
            <a:r>
              <a:rPr lang="en-US" sz="2400" dirty="0"/>
              <a:t>Yum! operates about 53,000 fast food outlets, the most worldwide, and most as franchises.</a:t>
            </a:r>
          </a:p>
          <a:p>
            <a:pPr marL="342900" indent="-342900">
              <a:spcBef>
                <a:spcPts val="600"/>
              </a:spcBef>
            </a:pPr>
            <a:r>
              <a:rPr lang="en-US" sz="2400" dirty="0"/>
              <a:t>In 2015, about one-half of </a:t>
            </a:r>
            <a:r>
              <a:rPr lang="en-US" sz="2400" dirty="0" err="1"/>
              <a:t>Yum!’s</a:t>
            </a:r>
            <a:r>
              <a:rPr lang="en-US" sz="2400" dirty="0"/>
              <a:t> revenues came from one country—China.</a:t>
            </a:r>
          </a:p>
          <a:p>
            <a:pPr marL="342900" indent="-342900">
              <a:spcBef>
                <a:spcPts val="600"/>
              </a:spcBef>
            </a:pPr>
            <a:r>
              <a:rPr lang="en-US" sz="2400" dirty="0"/>
              <a:t>In 2016, Yum! spun off the China division to create Yum China, the country’s largest restaurant company. </a:t>
            </a:r>
          </a:p>
          <a:p>
            <a:pPr marL="342900" indent="-342900">
              <a:spcBef>
                <a:spcPts val="600"/>
              </a:spcBef>
            </a:pPr>
            <a:r>
              <a:rPr lang="en-US" sz="2400" dirty="0"/>
              <a:t>In China, Pizza Hut is the largest casual dining restaurant chain and </a:t>
            </a:r>
            <a:r>
              <a:rPr lang="en-US" sz="2400" spc="-300" dirty="0"/>
              <a:t>K F </a:t>
            </a:r>
            <a:r>
              <a:rPr lang="en-US" sz="2400" dirty="0"/>
              <a:t>C is the largest fast-food chain.</a:t>
            </a:r>
          </a:p>
        </p:txBody>
      </p:sp>
    </p:spTree>
    <p:extLst>
      <p:ext uri="{BB962C8B-B14F-4D97-AF65-F5344CB8AC3E}">
        <p14:creationId xmlns:p14="http://schemas.microsoft.com/office/powerpoint/2010/main" val="4185724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48"/>
            <a:ext cx="8341260" cy="590349"/>
          </a:xfrm>
        </p:spPr>
        <p:txBody>
          <a:bodyPr wrap="square" lIns="0" tIns="18000" rIns="0" bIns="18000" anchor="ctr" anchorCtr="0">
            <a:spAutoFit/>
          </a:bodyPr>
          <a:lstStyle/>
          <a:p>
            <a:r>
              <a:rPr lang="en-US" dirty="0"/>
              <a:t>Other Contractual Arrangements</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400" y="791501"/>
            <a:ext cx="8344799" cy="4406779"/>
          </a:xfrm>
        </p:spPr>
        <p:txBody>
          <a:bodyPr wrap="square" lIns="0" tIns="18000" rIns="0" bIns="18000" anchor="ctr" anchorCtr="0">
            <a:spAutoFit/>
          </a:bodyPr>
          <a:lstStyle/>
          <a:p>
            <a:pPr marL="342900" indent="-342900">
              <a:spcBef>
                <a:spcPts val="600"/>
              </a:spcBef>
            </a:pPr>
            <a:r>
              <a:rPr lang="en-US" sz="2400" b="1" dirty="0"/>
              <a:t>Turnkey contracting</a:t>
            </a:r>
            <a:r>
              <a:rPr lang="en-US" sz="2400" dirty="0"/>
              <a:t>: Arrangement where a firm plans, finances, organizes, manages, and implements all phases of a project abroad, and hands it over to a foreign country after training local personnel. Typical in the construction and engineering services industries.</a:t>
            </a:r>
          </a:p>
          <a:p>
            <a:pPr marL="342900" indent="-342900">
              <a:spcBef>
                <a:spcPts val="600"/>
              </a:spcBef>
            </a:pPr>
            <a:r>
              <a:rPr lang="en-US" sz="2400" dirty="0"/>
              <a:t>Under a </a:t>
            </a:r>
            <a:r>
              <a:rPr lang="en-US" sz="2400" b="1" dirty="0"/>
              <a:t>management contract</a:t>
            </a:r>
            <a:r>
              <a:rPr lang="en-US" sz="2400" dirty="0"/>
              <a:t>, a contractor supplies managerial know-how to operate a hotel, resort, airport, hospital, or other facility, in exchange for compensation. </a:t>
            </a:r>
          </a:p>
          <a:p>
            <a:pPr marL="342900" indent="-342900">
              <a:spcBef>
                <a:spcPts val="600"/>
              </a:spcBef>
            </a:pPr>
            <a:r>
              <a:rPr lang="en-US" sz="2400" dirty="0"/>
              <a:t>With </a:t>
            </a:r>
            <a:r>
              <a:rPr lang="en-US" sz="2400" b="1" dirty="0"/>
              <a:t>international leasing</a:t>
            </a:r>
            <a:r>
              <a:rPr lang="en-US" sz="2400" dirty="0"/>
              <a:t>, the lesser rents out machinery or equipment to clients abroad, often for several years at a time. For example, Airlines lease aircraft.</a:t>
            </a:r>
          </a:p>
        </p:txBody>
      </p:sp>
    </p:spTree>
    <p:extLst>
      <p:ext uri="{BB962C8B-B14F-4D97-AF65-F5344CB8AC3E}">
        <p14:creationId xmlns:p14="http://schemas.microsoft.com/office/powerpoint/2010/main" val="2062310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2"/>
            <a:ext cx="8341262" cy="590349"/>
          </a:xfrm>
        </p:spPr>
        <p:txBody>
          <a:bodyPr wrap="square" lIns="0" tIns="18000" rIns="0" bIns="18000" anchor="ctr" anchorCtr="0">
            <a:spAutoFit/>
          </a:bodyPr>
          <a:lstStyle/>
          <a:p>
            <a:r>
              <a:rPr lang="en-US" dirty="0"/>
              <a:t>Example of Turnkey Projects </a:t>
            </a:r>
            <a:r>
              <a:rPr lang="en-US" sz="2800" dirty="0"/>
              <a:t>(1 of 2)</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67402" y="875826"/>
            <a:ext cx="4584160" cy="2621675"/>
          </a:xfrm>
        </p:spPr>
        <p:txBody>
          <a:bodyPr wrap="square" lIns="0" tIns="18000" rIns="0" bIns="18000" anchor="ctr" anchorCtr="0">
            <a:spAutoFit/>
          </a:bodyPr>
          <a:lstStyle/>
          <a:p>
            <a:pPr marL="342900" indent="-342900">
              <a:spcBef>
                <a:spcPts val="600"/>
              </a:spcBef>
            </a:pPr>
            <a:r>
              <a:rPr lang="en-US" sz="2400" dirty="0"/>
              <a:t>The most popular projects </a:t>
            </a:r>
            <a:br>
              <a:rPr lang="en-US" sz="2400" dirty="0"/>
            </a:br>
            <a:r>
              <a:rPr lang="en-US" sz="2400" dirty="0"/>
              <a:t>are extensions and upgrades </a:t>
            </a:r>
            <a:br>
              <a:rPr lang="en-US" sz="2400" dirty="0"/>
            </a:br>
            <a:r>
              <a:rPr lang="en-US" sz="2400" dirty="0"/>
              <a:t>to metro systems, such as </a:t>
            </a:r>
            <a:br>
              <a:rPr lang="en-US" sz="2400" dirty="0"/>
            </a:br>
            <a:r>
              <a:rPr lang="en-US" sz="2400" dirty="0"/>
              <a:t>bridges, roadways, and </a:t>
            </a:r>
            <a:br>
              <a:rPr lang="en-US" sz="2400" dirty="0"/>
            </a:br>
            <a:r>
              <a:rPr lang="en-US" sz="2400" dirty="0"/>
              <a:t>railways. Other projects include </a:t>
            </a:r>
            <a:br>
              <a:rPr lang="en-US" sz="2400" dirty="0"/>
            </a:br>
            <a:r>
              <a:rPr lang="en-US" sz="2400" dirty="0"/>
              <a:t>airports, oil refineries, and </a:t>
            </a:r>
            <a:br>
              <a:rPr lang="en-US" sz="2400" dirty="0"/>
            </a:br>
            <a:r>
              <a:rPr lang="en-US" sz="2400" dirty="0"/>
              <a:t>hospitals. </a:t>
            </a:r>
          </a:p>
        </p:txBody>
      </p:sp>
      <p:pic>
        <p:nvPicPr>
          <p:cNvPr id="6" name="Picture 5" descr="A rapid transit car with the text, Delhi Metro on its side.">
            <a:extLst>
              <a:ext uri="{FF2B5EF4-FFF2-40B4-BE49-F238E27FC236}">
                <a16:creationId xmlns:a16="http://schemas.microsoft.com/office/drawing/2014/main" id="{814022D2-F23A-471D-8045-7442D4343E9D}"/>
              </a:ext>
            </a:extLst>
          </p:cNvPr>
          <p:cNvPicPr>
            <a:picLocks noChangeAspect="1"/>
          </p:cNvPicPr>
          <p:nvPr/>
        </p:nvPicPr>
        <p:blipFill>
          <a:blip r:embed="rId3"/>
          <a:stretch>
            <a:fillRect/>
          </a:stretch>
        </p:blipFill>
        <p:spPr>
          <a:xfrm>
            <a:off x="5155931" y="988824"/>
            <a:ext cx="3559409" cy="2068140"/>
          </a:xfrm>
          <a:prstGeom prst="rect">
            <a:avLst/>
          </a:prstGeom>
        </p:spPr>
      </p:pic>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67401" y="3562416"/>
            <a:ext cx="8341259" cy="1959955"/>
          </a:xfrm>
        </p:spPr>
        <p:txBody>
          <a:bodyPr wrap="square" lIns="0" tIns="18000" rIns="0" bIns="18000" anchor="ctr" anchorCtr="0">
            <a:spAutoFit/>
          </a:bodyPr>
          <a:lstStyle/>
          <a:p>
            <a:pPr marL="342900" indent="-342900">
              <a:spcBef>
                <a:spcPts val="600"/>
              </a:spcBef>
            </a:pPr>
            <a:r>
              <a:rPr lang="en-US" sz="2400" dirty="0"/>
              <a:t>One of the world's largest publicly-funded turnkey projects is in Delhi, India, to build roads and tunnels that run through the city. </a:t>
            </a:r>
          </a:p>
          <a:p>
            <a:pPr marL="342900" indent="-342900">
              <a:spcBef>
                <a:spcPts val="600"/>
              </a:spcBef>
            </a:pPr>
            <a:r>
              <a:rPr lang="en-US" sz="2400" dirty="0"/>
              <a:t>In Abu Dhabi, a collection of </a:t>
            </a:r>
            <a:r>
              <a:rPr lang="en-US" sz="2400" spc="-300" dirty="0"/>
              <a:t>M N E </a:t>
            </a:r>
            <a:r>
              <a:rPr lang="en-US" sz="2400" dirty="0"/>
              <a:t>s are under contract to build an integrated processing plant for natural gas.</a:t>
            </a:r>
          </a:p>
        </p:txBody>
      </p:sp>
    </p:spTree>
    <p:extLst>
      <p:ext uri="{BB962C8B-B14F-4D97-AF65-F5344CB8AC3E}">
        <p14:creationId xmlns:p14="http://schemas.microsoft.com/office/powerpoint/2010/main" val="3554796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2"/>
            <a:ext cx="8341262" cy="590349"/>
          </a:xfrm>
        </p:spPr>
        <p:txBody>
          <a:bodyPr wrap="square" lIns="0" tIns="18000" rIns="0" bIns="18000" anchor="ctr" anchorCtr="0">
            <a:spAutoFit/>
          </a:bodyPr>
          <a:lstStyle/>
          <a:p>
            <a:r>
              <a:rPr lang="en-US" dirty="0"/>
              <a:t>Example of Turnkey Projects </a:t>
            </a:r>
            <a:r>
              <a:rPr lang="en-US" sz="2800" dirty="0"/>
              <a:t>(2 of 2)</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67401" y="870406"/>
            <a:ext cx="4730809" cy="4099002"/>
          </a:xfrm>
        </p:spPr>
        <p:txBody>
          <a:bodyPr wrap="square" lIns="0" tIns="18000" rIns="0" bIns="18000" anchor="ctr" anchorCtr="0">
            <a:spAutoFit/>
          </a:bodyPr>
          <a:lstStyle/>
          <a:p>
            <a:pPr marL="0" indent="0">
              <a:spcBef>
                <a:spcPts val="600"/>
              </a:spcBef>
              <a:buNone/>
            </a:pPr>
            <a:r>
              <a:rPr lang="en-US" sz="2400" dirty="0"/>
              <a:t>The spectacular Petronas Twin Towers complex in Kuala Lumpur, Malaysia, was a seven-year turnkey project built by </a:t>
            </a:r>
            <a:r>
              <a:rPr lang="en-US" sz="2400" dirty="0" err="1"/>
              <a:t>Bovis</a:t>
            </a:r>
            <a:r>
              <a:rPr lang="en-US" sz="2400" dirty="0"/>
              <a:t> Lend Lease, one of the world’s leading project management and construction companies. Among the firms with offices in the Towers are Accenture, Al Jazeera English, Huawei Technologies, Microsoft, and Reuters. </a:t>
            </a:r>
          </a:p>
        </p:txBody>
      </p:sp>
      <p:pic>
        <p:nvPicPr>
          <p:cNvPr id="11" name="Picture 10" descr="A drone view of the Petronas Twin Towers complex and a cityscape with a cluster of high-rise buildings during sunset in Kuala Lumpur, Malaysia.">
            <a:extLst>
              <a:ext uri="{FF2B5EF4-FFF2-40B4-BE49-F238E27FC236}">
                <a16:creationId xmlns:a16="http://schemas.microsoft.com/office/drawing/2014/main" id="{54D8557C-3763-4350-850F-D81284530843}"/>
              </a:ext>
            </a:extLst>
          </p:cNvPr>
          <p:cNvPicPr>
            <a:picLocks noChangeAspect="1"/>
          </p:cNvPicPr>
          <p:nvPr/>
        </p:nvPicPr>
        <p:blipFill>
          <a:blip r:embed="rId3"/>
          <a:stretch>
            <a:fillRect/>
          </a:stretch>
        </p:blipFill>
        <p:spPr>
          <a:xfrm>
            <a:off x="5436475" y="851291"/>
            <a:ext cx="3274371" cy="4258277"/>
          </a:xfrm>
          <a:prstGeom prst="rect">
            <a:avLst/>
          </a:prstGeom>
        </p:spPr>
      </p:pic>
    </p:spTree>
    <p:extLst>
      <p:ext uri="{BB962C8B-B14F-4D97-AF65-F5344CB8AC3E}">
        <p14:creationId xmlns:p14="http://schemas.microsoft.com/office/powerpoint/2010/main" val="3222416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Management of Licensing and Franchising</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553130"/>
            <a:ext cx="8340982" cy="3883559"/>
          </a:xfrm>
        </p:spPr>
        <p:txBody>
          <a:bodyPr wrap="square" lIns="0" tIns="18000" rIns="0" bIns="18000" anchor="ctr" anchorCtr="0">
            <a:spAutoFit/>
          </a:bodyPr>
          <a:lstStyle/>
          <a:p>
            <a:pPr marL="342900" indent="-342900">
              <a:spcBef>
                <a:spcPts val="600"/>
              </a:spcBef>
            </a:pPr>
            <a:r>
              <a:rPr lang="en-US" sz="2400" dirty="0"/>
              <a:t>Licensing and franchising are complex undertakings, requiring skillful research, planning, and execution.</a:t>
            </a:r>
          </a:p>
          <a:p>
            <a:pPr marL="342900" indent="-342900">
              <a:spcBef>
                <a:spcPts val="600"/>
              </a:spcBef>
            </a:pPr>
            <a:r>
              <a:rPr lang="en-US" sz="2400" dirty="0"/>
              <a:t>The firm must research in advance the host country's laws on intellectual property rights, repatriation of royalties, and contracting with local partners. </a:t>
            </a:r>
          </a:p>
          <a:p>
            <a:pPr marL="342900" indent="-342900">
              <a:spcBef>
                <a:spcPts val="600"/>
              </a:spcBef>
            </a:pPr>
            <a:r>
              <a:rPr lang="en-US" sz="2400" dirty="0"/>
              <a:t>Key challenges include: establishing whose national law takes precedence for the contract; deciding whether to grant an exclusive or nonexclusive arrangement; and determining the geographic scope of territory to be granted to the foreign partner.</a:t>
            </a:r>
          </a:p>
        </p:txBody>
      </p:sp>
    </p:spTree>
    <p:extLst>
      <p:ext uri="{BB962C8B-B14F-4D97-AF65-F5344CB8AC3E}">
        <p14:creationId xmlns:p14="http://schemas.microsoft.com/office/powerpoint/2010/main" val="3684460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Infringement of Intellectual Property</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85601"/>
            <a:ext cx="8341261" cy="1144347"/>
          </a:xfrm>
        </p:spPr>
        <p:txBody>
          <a:bodyPr wrap="square" lIns="0" tIns="18000" rIns="0" bIns="18000" anchor="ctr" anchorCtr="0">
            <a:spAutoFit/>
          </a:bodyPr>
          <a:lstStyle/>
          <a:p>
            <a:pPr marL="0" indent="0">
              <a:spcBef>
                <a:spcPts val="600"/>
              </a:spcBef>
              <a:buNone/>
            </a:pPr>
            <a:r>
              <a:rPr lang="en-US" sz="2400" dirty="0"/>
              <a:t>The unauthorized use, publication, or reproduction of products or services protected by a patent, copyright, trademark, or other intellectual property right.</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37" y="2106712"/>
            <a:ext cx="8341260" cy="2852507"/>
          </a:xfrm>
        </p:spPr>
        <p:txBody>
          <a:bodyPr wrap="square" lIns="0" tIns="18000" rIns="0" bIns="18000" anchor="ctr" anchorCtr="0">
            <a:spAutoFit/>
          </a:bodyPr>
          <a:lstStyle/>
          <a:p>
            <a:pPr marL="342900" indent="-342900">
              <a:spcBef>
                <a:spcPts val="600"/>
              </a:spcBef>
            </a:pPr>
            <a:r>
              <a:rPr lang="en-US" sz="2400" dirty="0"/>
              <a:t>Especially a problem in emerging markets and developing economies, where people are especially vulnerable.</a:t>
            </a:r>
          </a:p>
          <a:p>
            <a:pPr marL="342900" indent="-342900">
              <a:spcBef>
                <a:spcPts val="600"/>
              </a:spcBef>
            </a:pPr>
            <a:r>
              <a:rPr lang="en-US" sz="2400" dirty="0"/>
              <a:t>Negatively affects consumer attitudes about the branding and quality of legitimate goods. </a:t>
            </a:r>
          </a:p>
          <a:p>
            <a:pPr marL="342900" indent="-342900">
              <a:spcBef>
                <a:spcPts val="600"/>
              </a:spcBef>
            </a:pPr>
            <a:r>
              <a:rPr lang="en-US" sz="2400" dirty="0"/>
              <a:t>The quality of counterfeit goods is almost always inferior to that of original, proprietary goods.</a:t>
            </a:r>
          </a:p>
          <a:p>
            <a:pPr marL="342900" indent="-342900">
              <a:spcBef>
                <a:spcPts val="600"/>
              </a:spcBef>
            </a:pPr>
            <a:r>
              <a:rPr lang="en-US" sz="2400" dirty="0"/>
              <a:t>Hinders company inventiveness and innovation.</a:t>
            </a:r>
          </a:p>
        </p:txBody>
      </p:sp>
    </p:spTree>
    <p:extLst>
      <p:ext uri="{BB962C8B-B14F-4D97-AF65-F5344CB8AC3E}">
        <p14:creationId xmlns:p14="http://schemas.microsoft.com/office/powerpoint/2010/main" val="563100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2"/>
            <a:ext cx="8341262" cy="590349"/>
          </a:xfrm>
        </p:spPr>
        <p:txBody>
          <a:bodyPr wrap="square" lIns="0" tIns="18000" rIns="0" bIns="18000" anchor="ctr" anchorCtr="0">
            <a:spAutoFit/>
          </a:bodyPr>
          <a:lstStyle/>
          <a:p>
            <a:r>
              <a:rPr lang="en-US" dirty="0"/>
              <a:t>Counterfeiting</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67401" y="874153"/>
            <a:ext cx="8341262" cy="3591171"/>
          </a:xfrm>
        </p:spPr>
        <p:txBody>
          <a:bodyPr wrap="square" lIns="0" tIns="18000" rIns="0" bIns="18000" anchor="ctr" anchorCtr="0">
            <a:spAutoFit/>
          </a:bodyPr>
          <a:lstStyle/>
          <a:p>
            <a:pPr marL="342900" indent="-342900">
              <a:spcBef>
                <a:spcPts val="600"/>
              </a:spcBef>
            </a:pPr>
            <a:r>
              <a:rPr lang="en-US" sz="2400" dirty="0"/>
              <a:t>Total value of counterfeit and pirated goods traded internationally exceeds U.S. 2 trillion dollars. </a:t>
            </a:r>
          </a:p>
          <a:p>
            <a:pPr marL="342900" indent="-342900">
              <a:spcBef>
                <a:spcPts val="600"/>
              </a:spcBef>
            </a:pPr>
            <a:r>
              <a:rPr lang="en-US" sz="2400" dirty="0"/>
              <a:t>Typical knockoffs include clothing, fashion accessories, watches, medicines, and appliances. </a:t>
            </a:r>
          </a:p>
          <a:p>
            <a:pPr marL="342900" indent="-342900">
              <a:spcBef>
                <a:spcPts val="600"/>
              </a:spcBef>
            </a:pPr>
            <a:r>
              <a:rPr lang="en-US" sz="2400" dirty="0"/>
              <a:t>While companies such as Rolex, Louis Vuitton, and Tommy Hilfiger are well-known victims, counterfeiting is widespread even in industrial products. </a:t>
            </a:r>
          </a:p>
          <a:p>
            <a:pPr marL="342900" indent="-342900">
              <a:spcBef>
                <a:spcPts val="600"/>
              </a:spcBef>
            </a:pPr>
            <a:r>
              <a:rPr lang="en-US" sz="2400" dirty="0"/>
              <a:t>Other examples: pharmaceutical products, medical devices, car parts.</a:t>
            </a:r>
          </a:p>
        </p:txBody>
      </p:sp>
    </p:spTree>
    <p:extLst>
      <p:ext uri="{BB962C8B-B14F-4D97-AF65-F5344CB8AC3E}">
        <p14:creationId xmlns:p14="http://schemas.microsoft.com/office/powerpoint/2010/main" val="1931237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Guidelines for Safeguarding Intellectual Property</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1484118"/>
            <a:ext cx="8340982" cy="3883559"/>
          </a:xfrm>
        </p:spPr>
        <p:txBody>
          <a:bodyPr wrap="square" lIns="0" tIns="18000" rIns="0" bIns="18000" anchor="ctr" anchorCtr="0">
            <a:spAutoFit/>
          </a:bodyPr>
          <a:lstStyle/>
          <a:p>
            <a:pPr marL="342900" indent="-342900">
              <a:spcBef>
                <a:spcPts val="600"/>
              </a:spcBef>
            </a:pPr>
            <a:r>
              <a:rPr lang="en-US" sz="2400" dirty="0"/>
              <a:t>Intellectual property laws are weak in many countries.</a:t>
            </a:r>
          </a:p>
          <a:p>
            <a:pPr marL="342900" indent="-342900">
              <a:spcBef>
                <a:spcPts val="600"/>
              </a:spcBef>
            </a:pPr>
            <a:r>
              <a:rPr lang="en-US" sz="2400" dirty="0"/>
              <a:t>Key international treaties include: </a:t>
            </a:r>
          </a:p>
          <a:p>
            <a:pPr marL="829818" lvl="1" indent="-342900"/>
            <a:r>
              <a:rPr lang="en-US" sz="2400" dirty="0"/>
              <a:t>Paris Convention for the Protection of </a:t>
            </a:r>
            <a:r>
              <a:rPr lang="en-US" sz="2400" spc="-300" dirty="0"/>
              <a:t>I </a:t>
            </a:r>
            <a:r>
              <a:rPr lang="en-US" sz="2400" dirty="0"/>
              <a:t>P.</a:t>
            </a:r>
          </a:p>
          <a:p>
            <a:pPr marL="829818" lvl="1" indent="-342900"/>
            <a:r>
              <a:rPr lang="en-US" sz="2400" dirty="0"/>
              <a:t>Berne Convention for the Protection of Literary and Artistic Works.</a:t>
            </a:r>
          </a:p>
          <a:p>
            <a:pPr marL="829818" lvl="1" indent="-342900"/>
            <a:r>
              <a:rPr lang="en-US" sz="2400" dirty="0"/>
              <a:t>Rome Convention for the Protection of Performers and Broadcasting Organizations.</a:t>
            </a:r>
          </a:p>
          <a:p>
            <a:pPr marL="342900" indent="-342900">
              <a:spcBef>
                <a:spcPts val="600"/>
              </a:spcBef>
            </a:pPr>
            <a:r>
              <a:rPr lang="en-US" sz="2400" dirty="0"/>
              <a:t>The </a:t>
            </a:r>
            <a:r>
              <a:rPr lang="en-US" sz="2400" spc="-300" dirty="0"/>
              <a:t>W T </a:t>
            </a:r>
            <a:r>
              <a:rPr lang="en-US" sz="2400" dirty="0"/>
              <a:t>O created the Agreement </a:t>
            </a:r>
            <a:r>
              <a:rPr lang="en-US" sz="2400"/>
              <a:t>on Trade-Related </a:t>
            </a:r>
            <a:r>
              <a:rPr lang="en-US" sz="2400" dirty="0"/>
              <a:t>Aspects of Intellectual Property Rights (</a:t>
            </a:r>
            <a:r>
              <a:rPr lang="en-US" sz="2400" spc="-300" dirty="0"/>
              <a:t>T R I P </a:t>
            </a:r>
            <a:r>
              <a:rPr lang="en-US" sz="2400" dirty="0"/>
              <a:t>S).</a:t>
            </a:r>
          </a:p>
        </p:txBody>
      </p:sp>
    </p:spTree>
    <p:extLst>
      <p:ext uri="{BB962C8B-B14F-4D97-AF65-F5344CB8AC3E}">
        <p14:creationId xmlns:p14="http://schemas.microsoft.com/office/powerpoint/2010/main" val="4051279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39168"/>
            <a:ext cx="8341260" cy="559572"/>
          </a:xfrm>
        </p:spPr>
        <p:txBody>
          <a:bodyPr wrap="square" lIns="0" tIns="18000" rIns="0" bIns="18000" anchor="ctr" anchorCtr="0">
            <a:spAutoFit/>
          </a:bodyPr>
          <a:lstStyle/>
          <a:p>
            <a:r>
              <a:rPr lang="en-US" sz="3400" dirty="0"/>
              <a:t>Safeguarding Intellectual Property </a:t>
            </a:r>
            <a:r>
              <a:rPr lang="en-US" sz="2600" dirty="0"/>
              <a:t>(1 of 2)</a:t>
            </a:r>
            <a:endParaRPr lang="en-US" sz="26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868370"/>
            <a:ext cx="8340982" cy="4114391"/>
          </a:xfrm>
        </p:spPr>
        <p:txBody>
          <a:bodyPr wrap="square" lIns="0" tIns="18000" rIns="0" bIns="18000" anchor="ctr" anchorCtr="0">
            <a:spAutoFit/>
          </a:bodyPr>
          <a:lstStyle/>
          <a:p>
            <a:pPr marL="342900" indent="-342900">
              <a:spcBef>
                <a:spcPts val="600"/>
              </a:spcBef>
            </a:pPr>
            <a:r>
              <a:rPr lang="en-US" sz="2400" dirty="0"/>
              <a:t>Research </a:t>
            </a:r>
            <a:r>
              <a:rPr lang="en-US" sz="2400" spc="-300" dirty="0"/>
              <a:t>I </a:t>
            </a:r>
            <a:r>
              <a:rPr lang="en-US" sz="2400" dirty="0"/>
              <a:t>P laws and protections in target countries.</a:t>
            </a:r>
          </a:p>
          <a:p>
            <a:pPr marL="342900" indent="-342900">
              <a:spcBef>
                <a:spcPts val="600"/>
              </a:spcBef>
            </a:pPr>
            <a:r>
              <a:rPr lang="en-US" sz="2400" dirty="0"/>
              <a:t>Register core </a:t>
            </a:r>
            <a:r>
              <a:rPr lang="en-US" sz="2400" spc="-300" dirty="0"/>
              <a:t>I </a:t>
            </a:r>
            <a:r>
              <a:rPr lang="en-US" sz="2400" dirty="0"/>
              <a:t>P in top countries for business.</a:t>
            </a:r>
          </a:p>
          <a:p>
            <a:pPr marL="342900" indent="-342900">
              <a:spcBef>
                <a:spcPts val="600"/>
              </a:spcBef>
            </a:pPr>
            <a:r>
              <a:rPr lang="en-US" sz="2400" dirty="0"/>
              <a:t>Separate value-chain activities to maintain </a:t>
            </a:r>
            <a:r>
              <a:rPr lang="en-US" sz="2400" spc="-300" dirty="0"/>
              <a:t>I </a:t>
            </a:r>
            <a:r>
              <a:rPr lang="en-US" sz="2400" dirty="0"/>
              <a:t>P secrecy. For example, Keep R&amp;D and manufacturing separate so no one can learn the entire production process.</a:t>
            </a:r>
          </a:p>
          <a:p>
            <a:pPr marL="342900" indent="-342900">
              <a:spcBef>
                <a:spcPts val="600"/>
              </a:spcBef>
            </a:pPr>
            <a:r>
              <a:rPr lang="en-US" sz="2400" dirty="0"/>
              <a:t>Emphasize leading-edge or hard-to-understand technologies, which are usually harder to imitate.</a:t>
            </a:r>
          </a:p>
          <a:p>
            <a:pPr marL="342900" indent="-342900">
              <a:spcBef>
                <a:spcPts val="600"/>
              </a:spcBef>
            </a:pPr>
            <a:r>
              <a:rPr lang="en-US" sz="2400" dirty="0"/>
              <a:t>Hire employees who maintain high ethical standards.</a:t>
            </a:r>
          </a:p>
          <a:p>
            <a:pPr marL="342900" indent="-342900">
              <a:spcBef>
                <a:spcPts val="600"/>
              </a:spcBef>
            </a:pPr>
            <a:r>
              <a:rPr lang="en-US" sz="2400" dirty="0"/>
              <a:t>Collaborate with ethical partners. Choose reputable suppliers with no history of </a:t>
            </a:r>
            <a:r>
              <a:rPr lang="en-US" sz="2400" spc="-300" dirty="0"/>
              <a:t>I </a:t>
            </a:r>
            <a:r>
              <a:rPr lang="en-US" sz="2400" dirty="0"/>
              <a:t>P violations.</a:t>
            </a:r>
          </a:p>
        </p:txBody>
      </p:sp>
    </p:spTree>
    <p:extLst>
      <p:ext uri="{BB962C8B-B14F-4D97-AF65-F5344CB8AC3E}">
        <p14:creationId xmlns:p14="http://schemas.microsoft.com/office/powerpoint/2010/main" val="2867399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39168"/>
            <a:ext cx="8341260" cy="559572"/>
          </a:xfrm>
        </p:spPr>
        <p:txBody>
          <a:bodyPr wrap="square" lIns="0" tIns="18000" rIns="0" bIns="18000" anchor="ctr" anchorCtr="0">
            <a:spAutoFit/>
          </a:bodyPr>
          <a:lstStyle/>
          <a:p>
            <a:r>
              <a:rPr lang="en-US" sz="3400" dirty="0"/>
              <a:t>Safeguarding Intellectual Property </a:t>
            </a:r>
            <a:r>
              <a:rPr lang="en-US" sz="2600" dirty="0"/>
              <a:t>(2 of 2)</a:t>
            </a:r>
            <a:endParaRPr lang="en-US" sz="26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869062"/>
            <a:ext cx="8340982" cy="4268279"/>
          </a:xfrm>
        </p:spPr>
        <p:txBody>
          <a:bodyPr wrap="square" lIns="0" tIns="18000" rIns="0" bIns="18000" anchor="ctr" anchorCtr="0">
            <a:spAutoFit/>
          </a:bodyPr>
          <a:lstStyle/>
          <a:p>
            <a:pPr marL="342900" indent="-342900">
              <a:spcBef>
                <a:spcPts val="600"/>
              </a:spcBef>
            </a:pPr>
            <a:r>
              <a:rPr lang="en-US" sz="2400" dirty="0"/>
              <a:t>Regularly educate employees and partners about the harm of violating </a:t>
            </a:r>
            <a:r>
              <a:rPr lang="en-US" sz="2400" spc="-300" dirty="0"/>
              <a:t>I </a:t>
            </a:r>
            <a:r>
              <a:rPr lang="en-US" sz="2400" dirty="0"/>
              <a:t>P rights.</a:t>
            </a:r>
          </a:p>
          <a:p>
            <a:pPr marL="342900" indent="-342900">
              <a:spcBef>
                <a:spcPts val="600"/>
              </a:spcBef>
            </a:pPr>
            <a:r>
              <a:rPr lang="en-US" sz="2400" dirty="0"/>
              <a:t>Include provisions in partner contracts to protect </a:t>
            </a:r>
            <a:r>
              <a:rPr lang="en-US" sz="2400" spc="-300" dirty="0"/>
              <a:t>I </a:t>
            </a:r>
            <a:r>
              <a:rPr lang="en-US" sz="2400" dirty="0"/>
              <a:t>P.</a:t>
            </a:r>
          </a:p>
          <a:p>
            <a:pPr marL="342900" indent="-342900">
              <a:spcBef>
                <a:spcPts val="600"/>
              </a:spcBef>
            </a:pPr>
            <a:r>
              <a:rPr lang="en-US" sz="2400" dirty="0"/>
              <a:t>Develop trusting relations with partners.</a:t>
            </a:r>
          </a:p>
          <a:p>
            <a:pPr marL="342900" indent="-342900">
              <a:spcBef>
                <a:spcPts val="600"/>
              </a:spcBef>
            </a:pPr>
            <a:r>
              <a:rPr lang="en-US" sz="2400" dirty="0"/>
              <a:t>Perform audits to ensure partners protect your </a:t>
            </a:r>
            <a:r>
              <a:rPr lang="en-US" sz="2400" spc="-300" dirty="0"/>
              <a:t>I </a:t>
            </a:r>
            <a:r>
              <a:rPr lang="en-US" sz="2400" dirty="0"/>
              <a:t>P.</a:t>
            </a:r>
          </a:p>
          <a:p>
            <a:pPr marL="342900" indent="-342900">
              <a:spcBef>
                <a:spcPts val="600"/>
              </a:spcBef>
            </a:pPr>
            <a:r>
              <a:rPr lang="en-US" sz="2400" dirty="0"/>
              <a:t>Pursue </a:t>
            </a:r>
            <a:r>
              <a:rPr lang="en-US" sz="2400" spc="-300" dirty="0"/>
              <a:t>I </a:t>
            </a:r>
            <a:r>
              <a:rPr lang="en-US" sz="2400" dirty="0"/>
              <a:t>P violators via prosecution, other legal means.</a:t>
            </a:r>
          </a:p>
          <a:p>
            <a:pPr marL="342900" indent="-342900">
              <a:spcBef>
                <a:spcPts val="600"/>
              </a:spcBef>
            </a:pPr>
            <a:r>
              <a:rPr lang="en-US" sz="2400" dirty="0"/>
              <a:t>Educate customers on the harm of infringing on </a:t>
            </a:r>
            <a:r>
              <a:rPr lang="en-US" sz="2400" spc="-300" dirty="0"/>
              <a:t>I </a:t>
            </a:r>
            <a:r>
              <a:rPr lang="en-US" sz="2400" dirty="0"/>
              <a:t>P.</a:t>
            </a:r>
          </a:p>
          <a:p>
            <a:pPr marL="342900" indent="-342900">
              <a:spcBef>
                <a:spcPts val="600"/>
              </a:spcBef>
            </a:pPr>
            <a:r>
              <a:rPr lang="en-US" sz="2400" dirty="0"/>
              <a:t>Cultivate contacts in local and national governments involved in </a:t>
            </a:r>
            <a:r>
              <a:rPr lang="en-US" sz="2400" spc="-300" dirty="0"/>
              <a:t>I </a:t>
            </a:r>
            <a:r>
              <a:rPr lang="en-US" sz="2400" dirty="0"/>
              <a:t>P laws and enforcement.</a:t>
            </a:r>
          </a:p>
          <a:p>
            <a:pPr marL="342900" indent="-342900">
              <a:spcBef>
                <a:spcPts val="600"/>
              </a:spcBef>
            </a:pPr>
            <a:r>
              <a:rPr lang="en-US" sz="2400" dirty="0"/>
              <a:t>Lobby governments for stronger </a:t>
            </a:r>
            <a:r>
              <a:rPr lang="en-US" sz="2400" spc="-300" dirty="0"/>
              <a:t>I </a:t>
            </a:r>
            <a:r>
              <a:rPr lang="en-US" sz="2400" dirty="0"/>
              <a:t>P protections.</a:t>
            </a:r>
          </a:p>
        </p:txBody>
      </p:sp>
    </p:spTree>
    <p:extLst>
      <p:ext uri="{BB962C8B-B14F-4D97-AF65-F5344CB8AC3E}">
        <p14:creationId xmlns:p14="http://schemas.microsoft.com/office/powerpoint/2010/main" val="1153294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6" y="115157"/>
            <a:ext cx="8341263" cy="590349"/>
          </a:xfrm>
        </p:spPr>
        <p:txBody>
          <a:bodyPr wrap="square" lIns="0" tIns="18000" rIns="0" bIns="18000" anchor="ctr" anchorCtr="0">
            <a:spAutoFit/>
          </a:bodyPr>
          <a:lstStyle/>
          <a:p>
            <a:r>
              <a:rPr lang="en-US" dirty="0"/>
              <a:t>Ethical Connections</a:t>
            </a:r>
            <a:endParaRPr lang="en-US" sz="26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7928" y="876611"/>
            <a:ext cx="8344271" cy="3144895"/>
          </a:xfrm>
        </p:spPr>
        <p:txBody>
          <a:bodyPr wrap="square" lIns="0" tIns="18000" rIns="0" bIns="18000" anchor="ctr" anchorCtr="0">
            <a:spAutoFit/>
          </a:bodyPr>
          <a:lstStyle/>
          <a:p>
            <a:pPr marL="342900" indent="-342900">
              <a:spcBef>
                <a:spcPts val="600"/>
              </a:spcBef>
            </a:pPr>
            <a:r>
              <a:rPr lang="en-US" sz="2400" dirty="0"/>
              <a:t>Counterfeiting is not confined to lower-income countries.</a:t>
            </a:r>
          </a:p>
          <a:p>
            <a:pPr marL="342900" indent="-342900">
              <a:spcBef>
                <a:spcPts val="600"/>
              </a:spcBef>
            </a:pPr>
            <a:r>
              <a:rPr lang="en-US" sz="2400" dirty="0"/>
              <a:t>Raids of retail outlets in the United States net millions of dollars’ worth of counterfeit products every year. </a:t>
            </a:r>
          </a:p>
          <a:p>
            <a:pPr marL="342900" indent="-342900">
              <a:spcBef>
                <a:spcPts val="600"/>
              </a:spcBef>
            </a:pPr>
            <a:r>
              <a:rPr lang="en-US" sz="2400" dirty="0"/>
              <a:t>For example, city and federal authorities in New York arrested numerous people on charges of possessing millions of dollars in counterfeit fashions, including Gucci watches, Louis Vuitton handbags, North Face jackets, and much more.</a:t>
            </a:r>
          </a:p>
        </p:txBody>
      </p:sp>
      <p:sp>
        <p:nvSpPr>
          <p:cNvPr id="3" name="Content Placeholder 2">
            <a:extLst>
              <a:ext uri="{FF2B5EF4-FFF2-40B4-BE49-F238E27FC236}">
                <a16:creationId xmlns:a16="http://schemas.microsoft.com/office/drawing/2014/main" id="{BC8D458D-0C0C-4887-A0B7-FAEA82A5F6FB}"/>
              </a:ext>
            </a:extLst>
          </p:cNvPr>
          <p:cNvSpPr>
            <a:spLocks noGrp="1"/>
          </p:cNvSpPr>
          <p:nvPr>
            <p:ph sz="quarter" idx="14"/>
          </p:nvPr>
        </p:nvSpPr>
        <p:spPr>
          <a:xfrm>
            <a:off x="370936" y="4259322"/>
            <a:ext cx="5334540" cy="221018"/>
          </a:xfrm>
        </p:spPr>
        <p:txBody>
          <a:bodyPr wrap="square" lIns="0" tIns="18000" rIns="0" bIns="18000" anchor="ctr" anchorCtr="0">
            <a:spAutoFit/>
          </a:bodyPr>
          <a:lstStyle/>
          <a:p>
            <a:pPr marL="0" indent="0">
              <a:buNone/>
            </a:pPr>
            <a:r>
              <a:rPr lang="en-US" sz="1200" b="1" dirty="0"/>
              <a:t>Source:</a:t>
            </a:r>
            <a:r>
              <a:rPr lang="en-US" sz="1200" dirty="0"/>
              <a:t> </a:t>
            </a:r>
            <a:r>
              <a:rPr lang="en-US" sz="1200" spc="-150" dirty="0"/>
              <a:t>C B </a:t>
            </a:r>
            <a:r>
              <a:rPr lang="en-US" sz="1200" dirty="0"/>
              <a:t>P Office of International Trade, “Intellectual Property Rights,” 2017,</a:t>
            </a:r>
          </a:p>
        </p:txBody>
      </p:sp>
      <p:sp>
        <p:nvSpPr>
          <p:cNvPr id="4" name="Content Placeholder 3">
            <a:extLst>
              <a:ext uri="{FF2B5EF4-FFF2-40B4-BE49-F238E27FC236}">
                <a16:creationId xmlns:a16="http://schemas.microsoft.com/office/drawing/2014/main" id="{88F34CA5-0DAD-4C7D-B806-61E95FEFE1B9}"/>
              </a:ext>
            </a:extLst>
          </p:cNvPr>
          <p:cNvSpPr>
            <a:spLocks noGrp="1"/>
          </p:cNvSpPr>
          <p:nvPr>
            <p:ph sz="quarter" idx="15"/>
          </p:nvPr>
        </p:nvSpPr>
        <p:spPr>
          <a:xfrm>
            <a:off x="5737461" y="4256940"/>
            <a:ext cx="923502" cy="221018"/>
          </a:xfrm>
        </p:spPr>
        <p:txBody>
          <a:bodyPr wrap="square" lIns="0" tIns="18000" rIns="0" bIns="18000" anchor="ctr" anchorCtr="0">
            <a:spAutoFit/>
          </a:bodyPr>
          <a:lstStyle/>
          <a:p>
            <a:pPr marL="0" indent="0">
              <a:buNone/>
            </a:pPr>
            <a:r>
              <a:rPr lang="en-US" sz="1200" dirty="0">
                <a:hlinkClick r:id="rId3" tooltip="www.cbp.gov"/>
              </a:rPr>
              <a:t>www.cbp.gov</a:t>
            </a:r>
            <a:endParaRPr lang="en-US" sz="1200" dirty="0"/>
          </a:p>
        </p:txBody>
      </p:sp>
      <p:sp>
        <p:nvSpPr>
          <p:cNvPr id="6" name="Content Placeholder 5">
            <a:extLst>
              <a:ext uri="{FF2B5EF4-FFF2-40B4-BE49-F238E27FC236}">
                <a16:creationId xmlns:a16="http://schemas.microsoft.com/office/drawing/2014/main" id="{85649AF7-98E0-48BD-8F3A-7D28AB9E1CDC}"/>
              </a:ext>
            </a:extLst>
          </p:cNvPr>
          <p:cNvSpPr>
            <a:spLocks noGrp="1"/>
          </p:cNvSpPr>
          <p:nvPr>
            <p:ph sz="quarter" idx="16"/>
          </p:nvPr>
        </p:nvSpPr>
        <p:spPr>
          <a:xfrm>
            <a:off x="6697113" y="4270622"/>
            <a:ext cx="1541222" cy="221018"/>
          </a:xfrm>
        </p:spPr>
        <p:txBody>
          <a:bodyPr wrap="square" lIns="0" tIns="18000" rIns="0" bIns="18000" anchor="ctr" anchorCtr="0">
            <a:spAutoFit/>
          </a:bodyPr>
          <a:lstStyle/>
          <a:p>
            <a:pPr marL="0" indent="0">
              <a:buNone/>
            </a:pPr>
            <a:r>
              <a:rPr lang="en-US" sz="1200" i="1" dirty="0"/>
              <a:t>WWD: Women’s Wear</a:t>
            </a:r>
            <a:endParaRPr lang="en-US" sz="1200" dirty="0"/>
          </a:p>
        </p:txBody>
      </p:sp>
      <p:sp>
        <p:nvSpPr>
          <p:cNvPr id="7" name="Content Placeholder 6">
            <a:extLst>
              <a:ext uri="{FF2B5EF4-FFF2-40B4-BE49-F238E27FC236}">
                <a16:creationId xmlns:a16="http://schemas.microsoft.com/office/drawing/2014/main" id="{33F0FB3A-8099-4631-A29F-A8F6350EDDA5}"/>
              </a:ext>
            </a:extLst>
          </p:cNvPr>
          <p:cNvSpPr>
            <a:spLocks noGrp="1"/>
          </p:cNvSpPr>
          <p:nvPr>
            <p:ph sz="quarter" idx="17"/>
          </p:nvPr>
        </p:nvSpPr>
        <p:spPr>
          <a:xfrm>
            <a:off x="370936" y="4540335"/>
            <a:ext cx="5996305" cy="221018"/>
          </a:xfrm>
        </p:spPr>
        <p:txBody>
          <a:bodyPr wrap="square" lIns="0" tIns="18000" rIns="0" bIns="18000" anchor="ctr" anchorCtr="0">
            <a:spAutoFit/>
          </a:bodyPr>
          <a:lstStyle/>
          <a:p>
            <a:pPr marL="0" indent="0">
              <a:buNone/>
            </a:pPr>
            <a:r>
              <a:rPr lang="en-US" sz="1200" i="1" dirty="0"/>
              <a:t>Daily</a:t>
            </a:r>
            <a:r>
              <a:rPr lang="en-US" sz="1200" dirty="0"/>
              <a:t>, “Raid by N.Y. Police and Feds Nets $2 Million in Fakes,” December 10, 2014, p. 1.</a:t>
            </a:r>
          </a:p>
        </p:txBody>
      </p:sp>
    </p:spTree>
    <p:extLst>
      <p:ext uri="{BB962C8B-B14F-4D97-AF65-F5344CB8AC3E}">
        <p14:creationId xmlns:p14="http://schemas.microsoft.com/office/powerpoint/2010/main" val="2213807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52"/>
            <a:ext cx="8341260" cy="590349"/>
          </a:xfrm>
        </p:spPr>
        <p:txBody>
          <a:bodyPr wrap="square" lIns="0" tIns="18000" rIns="0" bIns="18000" anchor="ctr" anchorCtr="0">
            <a:spAutoFit/>
          </a:bodyPr>
          <a:lstStyle/>
          <a:p>
            <a:r>
              <a:rPr lang="en-US" dirty="0"/>
              <a:t>Recent Grad in </a:t>
            </a:r>
            <a:r>
              <a:rPr lang="en-US" spc="-500" dirty="0"/>
              <a:t>I </a:t>
            </a:r>
            <a:r>
              <a:rPr lang="en-US" dirty="0"/>
              <a:t>B: Juanita Velez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1218" y="861344"/>
            <a:ext cx="8340982" cy="4853055"/>
          </a:xfrm>
        </p:spPr>
        <p:txBody>
          <a:bodyPr wrap="square" lIns="0" tIns="18000" rIns="0" bIns="18000" anchor="ctr" anchorCtr="0">
            <a:spAutoFit/>
          </a:bodyPr>
          <a:lstStyle/>
          <a:p>
            <a:pPr marL="342900" indent="-342900">
              <a:spcBef>
                <a:spcPts val="600"/>
              </a:spcBef>
            </a:pPr>
            <a:r>
              <a:rPr lang="en-US" sz="2400" dirty="0"/>
              <a:t>Juanita’s degrees: Bachelor’s degree in psychology, master’s degree in international business</a:t>
            </a:r>
          </a:p>
          <a:p>
            <a:pPr marL="342900" indent="-342900">
              <a:spcBef>
                <a:spcPts val="600"/>
              </a:spcBef>
            </a:pPr>
            <a:r>
              <a:rPr lang="en-US" sz="2400" dirty="0"/>
              <a:t>Internships during college: International marketing intern, Convention and Visitors’ Bureau, Atlanta, Georgia, USA</a:t>
            </a:r>
          </a:p>
          <a:p>
            <a:pPr marL="342900" indent="-342900">
              <a:spcBef>
                <a:spcPts val="600"/>
              </a:spcBef>
            </a:pPr>
            <a:r>
              <a:rPr lang="en-US" sz="2400" dirty="0"/>
              <a:t>Jobs held since graduating:</a:t>
            </a:r>
          </a:p>
          <a:p>
            <a:pPr marL="829818" lvl="1" indent="-342900"/>
            <a:r>
              <a:rPr lang="en-US" sz="2400" dirty="0"/>
              <a:t>Director of digital marketing, Georgia Hispanic Chamber of Commerce, Atlanta, Georgia, </a:t>
            </a:r>
            <a:r>
              <a:rPr lang="en-US" sz="2400" spc="-300" dirty="0"/>
              <a:t>U S </a:t>
            </a:r>
            <a:r>
              <a:rPr lang="en-US" sz="2400" dirty="0"/>
              <a:t>A</a:t>
            </a:r>
          </a:p>
          <a:p>
            <a:pPr marL="829818" lvl="1" indent="-342900"/>
            <a:r>
              <a:rPr lang="en-US" sz="2400" dirty="0"/>
              <a:t>International digital integrated communications supervisor, </a:t>
            </a:r>
            <a:r>
              <a:rPr lang="en-US" sz="2400" spc="-300" dirty="0"/>
              <a:t>U P </a:t>
            </a:r>
            <a:r>
              <a:rPr lang="en-US" sz="2400" dirty="0"/>
              <a:t>S, Georgia, </a:t>
            </a:r>
            <a:r>
              <a:rPr lang="en-US" sz="2400" spc="-300" dirty="0"/>
              <a:t>U S </a:t>
            </a:r>
            <a:r>
              <a:rPr lang="en-US" sz="2400" dirty="0"/>
              <a:t>A</a:t>
            </a:r>
          </a:p>
          <a:p>
            <a:pPr marL="829818" lvl="1" indent="-342900"/>
            <a:r>
              <a:rPr lang="en-US" sz="2400" dirty="0"/>
              <a:t>International social media strategist and senior manager for diversity, equity and inclusion operations, Delta Air Lines, Atlanta, Georgia, </a:t>
            </a:r>
            <a:r>
              <a:rPr lang="en-US" sz="2400" spc="-300" dirty="0"/>
              <a:t>U S </a:t>
            </a:r>
            <a:r>
              <a:rPr lang="en-US" sz="2400" dirty="0"/>
              <a:t>A</a:t>
            </a:r>
          </a:p>
        </p:txBody>
      </p:sp>
    </p:spTree>
    <p:extLst>
      <p:ext uri="{BB962C8B-B14F-4D97-AF65-F5344CB8AC3E}">
        <p14:creationId xmlns:p14="http://schemas.microsoft.com/office/powerpoint/2010/main" val="3598331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38" y="115156"/>
            <a:ext cx="8341262" cy="590349"/>
          </a:xfrm>
        </p:spPr>
        <p:txBody>
          <a:bodyPr wrap="square" lIns="0" tIns="18000" rIns="0" bIns="18000" anchor="ctr" anchorCtr="0">
            <a:spAutoFit/>
          </a:bodyPr>
          <a:lstStyle/>
          <a:p>
            <a:r>
              <a:rPr lang="en-US" dirty="0"/>
              <a:t>Recent Grad in </a:t>
            </a:r>
            <a:r>
              <a:rPr lang="en-US" spc="-500" dirty="0"/>
              <a:t>I </a:t>
            </a:r>
            <a:r>
              <a:rPr lang="en-US" dirty="0"/>
              <a:t>B: Juanita Velez </a:t>
            </a:r>
            <a:r>
              <a:rPr lang="en-US" sz="2800" dirty="0"/>
              <a:t>(2 of 2)</a:t>
            </a:r>
            <a:endParaRPr lang="en-US" sz="2800" b="0" dirty="0"/>
          </a:p>
        </p:txBody>
      </p:sp>
      <p:sp>
        <p:nvSpPr>
          <p:cNvPr id="3" name="Content Placeholder 2">
            <a:extLst>
              <a:ext uri="{FF2B5EF4-FFF2-40B4-BE49-F238E27FC236}">
                <a16:creationId xmlns:a16="http://schemas.microsoft.com/office/drawing/2014/main" id="{57714E45-96E6-C0E6-7E26-77406238CFAA}"/>
              </a:ext>
            </a:extLst>
          </p:cNvPr>
          <p:cNvSpPr>
            <a:spLocks noGrp="1"/>
          </p:cNvSpPr>
          <p:nvPr>
            <p:ph sz="quarter" idx="13"/>
          </p:nvPr>
        </p:nvSpPr>
        <p:spPr>
          <a:xfrm>
            <a:off x="370936" y="871790"/>
            <a:ext cx="8341262" cy="2483175"/>
          </a:xfrm>
        </p:spPr>
        <p:txBody>
          <a:bodyPr wrap="square" lIns="0" tIns="18000" rIns="0" bIns="18000" anchor="ctr" anchorCtr="0">
            <a:spAutoFit/>
          </a:bodyPr>
          <a:lstStyle/>
          <a:p>
            <a:pPr marL="0" indent="0">
              <a:spcBef>
                <a:spcPts val="600"/>
              </a:spcBef>
              <a:buNone/>
            </a:pPr>
            <a:r>
              <a:rPr lang="en-US" sz="2400" dirty="0"/>
              <a:t>Success Factors</a:t>
            </a:r>
          </a:p>
          <a:p>
            <a:pPr marL="342900" indent="-342900">
              <a:spcBef>
                <a:spcPts val="600"/>
              </a:spcBef>
            </a:pPr>
            <a:r>
              <a:rPr lang="en-US" sz="2400" dirty="0"/>
              <a:t>Sought the advice of mentors </a:t>
            </a:r>
          </a:p>
          <a:p>
            <a:pPr marL="342900" indent="-342900">
              <a:spcBef>
                <a:spcPts val="600"/>
              </a:spcBef>
            </a:pPr>
            <a:r>
              <a:rPr lang="en-US" sz="2400" dirty="0"/>
              <a:t>Developed and leveraged her skills in communications and relationship-building </a:t>
            </a:r>
          </a:p>
          <a:p>
            <a:pPr marL="342900" indent="-342900">
              <a:spcBef>
                <a:spcPts val="600"/>
              </a:spcBef>
            </a:pPr>
            <a:r>
              <a:rPr lang="en-US" sz="2400" dirty="0"/>
              <a:t>Read inspirational and self-help books to better understand how to achieve her goals</a:t>
            </a:r>
          </a:p>
        </p:txBody>
      </p:sp>
      <p:sp>
        <p:nvSpPr>
          <p:cNvPr id="4" name="Content Placeholder 3">
            <a:extLst>
              <a:ext uri="{FF2B5EF4-FFF2-40B4-BE49-F238E27FC236}">
                <a16:creationId xmlns:a16="http://schemas.microsoft.com/office/drawing/2014/main" id="{8F431412-8EDD-BCC1-E161-A05EE6DA3575}"/>
              </a:ext>
            </a:extLst>
          </p:cNvPr>
          <p:cNvSpPr>
            <a:spLocks noGrp="1"/>
          </p:cNvSpPr>
          <p:nvPr>
            <p:ph sz="quarter" idx="14"/>
          </p:nvPr>
        </p:nvSpPr>
        <p:spPr>
          <a:xfrm>
            <a:off x="370937" y="3442196"/>
            <a:ext cx="5287991" cy="2113843"/>
          </a:xfrm>
        </p:spPr>
        <p:txBody>
          <a:bodyPr wrap="square" lIns="0" tIns="18000" rIns="0" bIns="18000" anchor="ctr" anchorCtr="0">
            <a:spAutoFit/>
          </a:bodyPr>
          <a:lstStyle/>
          <a:p>
            <a:pPr marL="0" indent="0">
              <a:spcBef>
                <a:spcPts val="600"/>
              </a:spcBef>
              <a:buNone/>
            </a:pPr>
            <a:r>
              <a:rPr lang="en-US" sz="2400" dirty="0"/>
              <a:t>Advice for an International Career</a:t>
            </a:r>
          </a:p>
          <a:p>
            <a:pPr marL="342900" indent="-342900">
              <a:spcBef>
                <a:spcPts val="600"/>
              </a:spcBef>
            </a:pPr>
            <a:r>
              <a:rPr lang="en-US" sz="2400" dirty="0"/>
              <a:t>Gain international experience</a:t>
            </a:r>
          </a:p>
          <a:p>
            <a:pPr marL="342900" indent="-342900">
              <a:spcBef>
                <a:spcPts val="600"/>
              </a:spcBef>
            </a:pPr>
            <a:r>
              <a:rPr lang="en-US" sz="2400" dirty="0"/>
              <a:t>Develop a solid educational </a:t>
            </a:r>
            <a:br>
              <a:rPr lang="en-US" sz="2400" dirty="0"/>
            </a:br>
            <a:r>
              <a:rPr lang="en-US" sz="2400" dirty="0"/>
              <a:t>background</a:t>
            </a:r>
          </a:p>
          <a:p>
            <a:pPr marL="342900" indent="-342900">
              <a:spcBef>
                <a:spcPts val="600"/>
              </a:spcBef>
            </a:pPr>
            <a:r>
              <a:rPr lang="en-US" sz="2400" dirty="0"/>
              <a:t>Learn to become a professional</a:t>
            </a:r>
          </a:p>
        </p:txBody>
      </p:sp>
      <p:pic>
        <p:nvPicPr>
          <p:cNvPr id="7" name="Picture 6" descr="Juanita Velez smiling and posing for a photograph.">
            <a:extLst>
              <a:ext uri="{FF2B5EF4-FFF2-40B4-BE49-F238E27FC236}">
                <a16:creationId xmlns:a16="http://schemas.microsoft.com/office/drawing/2014/main" id="{3D70B837-5C15-4858-9FB9-62834E172874}"/>
              </a:ext>
            </a:extLst>
          </p:cNvPr>
          <p:cNvPicPr>
            <a:picLocks noChangeAspect="1"/>
          </p:cNvPicPr>
          <p:nvPr/>
        </p:nvPicPr>
        <p:blipFill>
          <a:blip r:embed="rId3"/>
          <a:stretch>
            <a:fillRect/>
          </a:stretch>
        </p:blipFill>
        <p:spPr>
          <a:xfrm>
            <a:off x="5986119" y="3439372"/>
            <a:ext cx="2598118" cy="2618936"/>
          </a:xfrm>
          <a:prstGeom prst="rect">
            <a:avLst/>
          </a:prstGeom>
        </p:spPr>
      </p:pic>
    </p:spTree>
    <p:extLst>
      <p:ext uri="{BB962C8B-B14F-4D97-AF65-F5344CB8AC3E}">
        <p14:creationId xmlns:p14="http://schemas.microsoft.com/office/powerpoint/2010/main" val="22154431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374166" y="113325"/>
            <a:ext cx="8338033" cy="590349"/>
          </a:xfrm>
        </p:spPr>
        <p:txBody>
          <a:bodyPr wrap="square" lIns="0" tIns="18000" rIns="0" bIns="18000" anchor="ctr"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38400"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973"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marR="0" lvl="0" indent="0" algn="l" rtl="0">
              <a:spcBef>
                <a:spcPts val="0"/>
              </a:spcBef>
              <a:spcAft>
                <a:spcPts val="0"/>
              </a:spcAft>
              <a:buClr>
                <a:srgbClr val="007FA3"/>
              </a:buClr>
              <a:buSzPts val="1600"/>
              <a:buFont typeface="Arial"/>
              <a:buNone/>
            </a:pPr>
            <a:r>
              <a:rPr lang="en-US" sz="1600" b="1" i="0" u="none" strike="noStrike" cap="none" dirty="0">
                <a:solidFill>
                  <a:schemeClr val="dk1"/>
                </a:solidFill>
                <a:latin typeface="Arial"/>
                <a:ea typeface="Arial"/>
                <a:cs typeface="Arial"/>
                <a:sym typeface="Arial"/>
              </a:rPr>
              <a:t>This work is protected by </a:t>
            </a:r>
            <a:r>
              <a:rPr lang="en-US" sz="1600" b="1" i="0" u="none" strike="noStrike" cap="none">
                <a:solidFill>
                  <a:schemeClr val="dk1"/>
                </a:solidFill>
                <a:latin typeface="Arial"/>
                <a:ea typeface="Arial"/>
                <a:cs typeface="Arial"/>
                <a:sym typeface="Arial"/>
              </a:rPr>
              <a:t>United </a:t>
            </a:r>
            <a:r>
              <a:rPr lang="en-US" sz="1600" b="1" i="0" u="none" strike="noStrike" cap="none" smtClean="0">
                <a:solidFill>
                  <a:schemeClr val="dk1"/>
                </a:solidFill>
                <a:latin typeface="Arial"/>
                <a:ea typeface="Arial"/>
                <a:cs typeface="Arial"/>
                <a:sym typeface="Arial"/>
              </a:rPr>
              <a:t>Kingdom </a:t>
            </a:r>
            <a:r>
              <a:rPr lang="en-US" sz="1600" b="1" i="0" u="none" strike="noStrike" cap="none" dirty="0">
                <a:solidFill>
                  <a:schemeClr val="dk1"/>
                </a:solidFill>
                <a:latin typeface="Arial"/>
                <a:ea typeface="Arial"/>
                <a:cs typeface="Arial"/>
                <a:sym typeface="Arial"/>
              </a:rPr>
              <a:t>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b9fadcb-af02-401b-be33-537ac692cec8" xsi:nil="true"/>
    <_Flow_SignoffStatus xmlns="bed142bf-6b27-4f0a-a631-c747a1b49db8" xsi:nil="true"/>
    <_ip_UnifiedCompliancePolicyProperties xmlns="http://schemas.microsoft.com/sharepoint/v3" xsi:nil="true"/>
    <lcf76f155ced4ddcb4097134ff3c332f xmlns="bed142bf-6b27-4f0a-a631-c747a1b49db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49FD3D70555741B2521125A23ABE2B" ma:contentTypeVersion="20" ma:contentTypeDescription="Create a new document." ma:contentTypeScope="" ma:versionID="280eea5736409678759210edfb098e78">
  <xsd:schema xmlns:xsd="http://www.w3.org/2001/XMLSchema" xmlns:xs="http://www.w3.org/2001/XMLSchema" xmlns:p="http://schemas.microsoft.com/office/2006/metadata/properties" xmlns:ns1="http://schemas.microsoft.com/sharepoint/v3" xmlns:ns2="bed142bf-6b27-4f0a-a631-c747a1b49db8" xmlns:ns3="4b9fadcb-af02-401b-be33-537ac692cec8" targetNamespace="http://schemas.microsoft.com/office/2006/metadata/properties" ma:root="true" ma:fieldsID="8e0c0cd053b838f15d11a45110f9682a" ns1:_="" ns2:_="" ns3:_="">
    <xsd:import namespace="http://schemas.microsoft.com/sharepoint/v3"/>
    <xsd:import namespace="bed142bf-6b27-4f0a-a631-c747a1b49db8"/>
    <xsd:import namespace="4b9fadcb-af02-401b-be33-537ac692cec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_Flow_SignoffStatus"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ed142bf-6b27-4f0a-a631-c747a1b49d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Flow_SignoffStatus" ma:index="19" nillable="true" ma:displayName="Sign-off status" ma:internalName="Sign_x002d_off_x0020_status">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b9fadcb-af02-401b-be33-537ac692cec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109ad215-34d7-45f7-beab-6da1fa27942d}" ma:internalName="TaxCatchAll" ma:showField="CatchAllData" ma:web="4b9fadcb-af02-401b-be33-537ac692cec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1B5E40-5A21-427E-9166-C3BF54D5364D}">
  <ds:schemaRefs>
    <ds:schemaRef ds:uri="http://schemas.microsoft.com/sharepoint/v3/contenttype/forms"/>
  </ds:schemaRefs>
</ds:datastoreItem>
</file>

<file path=customXml/itemProps2.xml><?xml version="1.0" encoding="utf-8"?>
<ds:datastoreItem xmlns:ds="http://schemas.openxmlformats.org/officeDocument/2006/customXml" ds:itemID="{DD84FF8D-AE69-4548-9BA7-A8EE3AF7BF06}">
  <ds:schemaRefs>
    <ds:schemaRef ds:uri="http://schemas.microsoft.com/office/2006/documentManagement/types"/>
    <ds:schemaRef ds:uri="http://purl.org/dc/terms/"/>
    <ds:schemaRef ds:uri="http://purl.org/dc/dcmitype/"/>
    <ds:schemaRef ds:uri="4b9fadcb-af02-401b-be33-537ac692cec8"/>
    <ds:schemaRef ds:uri="http://schemas.microsoft.com/office/2006/metadata/properties"/>
    <ds:schemaRef ds:uri="http://www.w3.org/XML/1998/namespace"/>
    <ds:schemaRef ds:uri="bed142bf-6b27-4f0a-a631-c747a1b49db8"/>
    <ds:schemaRef ds:uri="http://schemas.microsoft.com/office/infopath/2007/PartnerControls"/>
    <ds:schemaRef ds:uri="http://schemas.openxmlformats.org/package/2006/metadata/core-properties"/>
    <ds:schemaRef ds:uri="http://schemas.microsoft.com/sharepoint/v3"/>
    <ds:schemaRef ds:uri="http://purl.org/dc/elements/1.1/"/>
  </ds:schemaRefs>
</ds:datastoreItem>
</file>

<file path=customXml/itemProps3.xml><?xml version="1.0" encoding="utf-8"?>
<ds:datastoreItem xmlns:ds="http://schemas.openxmlformats.org/officeDocument/2006/customXml" ds:itemID="{5CD783C8-0F8B-4E30-93C3-71AE94F00C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ed142bf-6b27-4f0a-a631-c747a1b49db8"/>
    <ds:schemaRef ds:uri="4b9fadcb-af02-401b-be33-537ac692ce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2925</TotalTime>
  <Words>4261</Words>
  <Application>Microsoft Office PowerPoint</Application>
  <PresentationFormat>On-screen Show (4:3)</PresentationFormat>
  <Paragraphs>368</Paragraphs>
  <Slides>38</Slides>
  <Notes>38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38</vt:i4>
      </vt:variant>
    </vt:vector>
  </HeadingPairs>
  <TitlesOfParts>
    <vt:vector size="43" baseType="lpstr">
      <vt:lpstr>Times New Roman</vt:lpstr>
      <vt:lpstr>Arial</vt:lpstr>
      <vt:lpstr>Verdana</vt:lpstr>
      <vt:lpstr>USHE</vt:lpstr>
      <vt:lpstr>USHE_slide options</vt:lpstr>
      <vt:lpstr>International Business: The New Realities</vt:lpstr>
      <vt:lpstr>Learning Objectives</vt:lpstr>
      <vt:lpstr>Foundation Concepts</vt:lpstr>
      <vt:lpstr>Contractual Relationships (1 of 2)</vt:lpstr>
      <vt:lpstr>Examples of Contractual Relationships</vt:lpstr>
      <vt:lpstr>Unique Aspects of Contractual Relationships</vt:lpstr>
      <vt:lpstr>Contractual Relationships (2 of 2)</vt:lpstr>
      <vt:lpstr>Typical Types of Intellectual Property</vt:lpstr>
      <vt:lpstr>Intellectual Property Rights</vt:lpstr>
      <vt:lpstr>Licensing (1 of 2)</vt:lpstr>
      <vt:lpstr>Licensing (2 of 2)</vt:lpstr>
      <vt:lpstr>Licensing as a Foreign Market Entry Strategy</vt:lpstr>
      <vt:lpstr>International Licensing Is Fairly Common</vt:lpstr>
      <vt:lpstr>Trademark Licensing (1 of 2)</vt:lpstr>
      <vt:lpstr>Trademark Licensing (2 of 2)</vt:lpstr>
      <vt:lpstr>Copyright Licensing</vt:lpstr>
      <vt:lpstr>Know-How Licensing</vt:lpstr>
      <vt:lpstr>Leading Licensors by Licensing Revenues</vt:lpstr>
      <vt:lpstr>Main Advantages and Disadvantages of Licensing</vt:lpstr>
      <vt:lpstr>Franchising</vt:lpstr>
      <vt:lpstr>Franchising as an Entry Strategy</vt:lpstr>
      <vt:lpstr>Examples of Leading International Franchises</vt:lpstr>
      <vt:lpstr>Advantages and Disadvantages of Franchising</vt:lpstr>
      <vt:lpstr>Franchising in Emerging Markets</vt:lpstr>
      <vt:lpstr>Example: Yum! Brands</vt:lpstr>
      <vt:lpstr>Other Contractual Arrangements</vt:lpstr>
      <vt:lpstr>Example of Turnkey Projects (1 of 2)</vt:lpstr>
      <vt:lpstr>Example of Turnkey Projects (2 of 2)</vt:lpstr>
      <vt:lpstr>Management of Licensing and Franchising</vt:lpstr>
      <vt:lpstr>Infringement of Intellectual Property</vt:lpstr>
      <vt:lpstr>Counterfeiting</vt:lpstr>
      <vt:lpstr>Guidelines for Safeguarding Intellectual Property</vt:lpstr>
      <vt:lpstr>Safeguarding Intellectual Property (1 of 2)</vt:lpstr>
      <vt:lpstr>Safeguarding Intellectual Property (2 of 2)</vt:lpstr>
      <vt:lpstr>Ethical Connections</vt:lpstr>
      <vt:lpstr>Recent Grad in I B: Juanita Velez (1 of 2)</vt:lpstr>
      <vt:lpstr>Recent Grad in I B: Juanita Velez (2 of 2)</vt:lpstr>
      <vt:lpstr>Copyright</vt:lpstr>
    </vt:vector>
  </TitlesOfParts>
  <Manager/>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Business: The New Realities, Sixth Edition, Chapter 15</dc:title>
  <dc:subject>Business</dc:subject>
  <dc:creator>Cavusgil/Knight/Riesenberger</dc:creator>
  <cp:keywords>International Business: The New Realities</cp:keywords>
  <dc:description>Additional information may be found in the Notes Pane of each slide by pressing F6.</dc:description>
  <cp:lastModifiedBy>Ashok</cp:lastModifiedBy>
  <cp:revision>1387</cp:revision>
  <dcterms:modified xsi:type="dcterms:W3CDTF">2024-09-01T19:10:36Z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0x010100E149FD3D70555741B2521125A23ABE2B</vt:lpwstr>
  </property>
</Properties>
</file>