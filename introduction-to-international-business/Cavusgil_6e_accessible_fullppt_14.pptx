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authors.xml" ContentType="application/vnd.ms-powerpoint.author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63" r:id="rId4"/>
    <p:sldMasterId id="2147483659" r:id="rId5"/>
  </p:sldMasterIdLst>
  <p:notesMasterIdLst>
    <p:notesMasterId r:id="rId47"/>
  </p:notesMasterIdLst>
  <p:handoutMasterIdLst>
    <p:handoutMasterId r:id="rId48"/>
  </p:handoutMasterIdLst>
  <p:sldIdLst>
    <p:sldId id="330" r:id="rId6"/>
    <p:sldId id="272" r:id="rId7"/>
    <p:sldId id="734" r:id="rId8"/>
    <p:sldId id="907" r:id="rId9"/>
    <p:sldId id="908" r:id="rId10"/>
    <p:sldId id="862" r:id="rId11"/>
    <p:sldId id="838" r:id="rId12"/>
    <p:sldId id="910" r:id="rId13"/>
    <p:sldId id="863" r:id="rId14"/>
    <p:sldId id="866" r:id="rId15"/>
    <p:sldId id="911" r:id="rId16"/>
    <p:sldId id="912" r:id="rId17"/>
    <p:sldId id="930" r:id="rId18"/>
    <p:sldId id="791" r:id="rId19"/>
    <p:sldId id="867" r:id="rId20"/>
    <p:sldId id="913" r:id="rId21"/>
    <p:sldId id="876" r:id="rId22"/>
    <p:sldId id="914" r:id="rId23"/>
    <p:sldId id="915" r:id="rId24"/>
    <p:sldId id="916" r:id="rId25"/>
    <p:sldId id="917" r:id="rId26"/>
    <p:sldId id="918" r:id="rId27"/>
    <p:sldId id="919" r:id="rId28"/>
    <p:sldId id="881" r:id="rId29"/>
    <p:sldId id="920" r:id="rId30"/>
    <p:sldId id="893" r:id="rId31"/>
    <p:sldId id="921" r:id="rId32"/>
    <p:sldId id="922" r:id="rId33"/>
    <p:sldId id="894" r:id="rId34"/>
    <p:sldId id="899" r:id="rId35"/>
    <p:sldId id="923" r:id="rId36"/>
    <p:sldId id="900" r:id="rId37"/>
    <p:sldId id="924" r:id="rId38"/>
    <p:sldId id="901" r:id="rId39"/>
    <p:sldId id="925" r:id="rId40"/>
    <p:sldId id="926" r:id="rId41"/>
    <p:sldId id="927" r:id="rId42"/>
    <p:sldId id="902" r:id="rId43"/>
    <p:sldId id="928" r:id="rId44"/>
    <p:sldId id="929" r:id="rId45"/>
    <p:sldId id="298" r:id="rId46"/>
  </p:sldIdLst>
  <p:sldSz cx="9144000" cy="6858000" type="screen4x3"/>
  <p:notesSz cx="6858000" cy="9144000"/>
  <p:embeddedFontLst>
    <p:embeddedFont>
      <p:font typeface="Calibri" panose="020F0502020204030204" pitchFamily="34" charset="0"/>
      <p:regular r:id="rId49"/>
      <p:bold r:id="rId50"/>
      <p:italic r:id="rId51"/>
      <p:boldItalic r:id="rId52"/>
    </p:embeddedFont>
    <p:embeddedFont>
      <p:font typeface="Verdana" panose="020B0604030504040204" pitchFamily="34" charset="0"/>
      <p:regular r:id="rId53"/>
      <p:bold r:id="rId54"/>
      <p:italic r:id="rId55"/>
      <p:boldItalic r:id="rId5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032" userDrawn="1">
          <p15:clr>
            <a:srgbClr val="A4A3A4"/>
          </p15:clr>
        </p15:guide>
        <p15:guide id="2" pos="226" userDrawn="1">
          <p15:clr>
            <a:srgbClr val="A4A3A4"/>
          </p15:clr>
        </p15:guide>
        <p15:guide id="4" orient="horz" pos="368" userDrawn="1">
          <p15:clr>
            <a:srgbClr val="A4A3A4"/>
          </p15:clr>
        </p15:guide>
        <p15:guide id="5" pos="5488" userDrawn="1">
          <p15:clr>
            <a:srgbClr val="A4A3A4"/>
          </p15:clr>
        </p15:guide>
        <p15:guide id="6" orient="horz" pos="1185" userDrawn="1">
          <p15:clr>
            <a:srgbClr val="A4A3A4"/>
          </p15:clr>
        </p15:guide>
        <p15:guide id="7" orient="horz" pos="754"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Author" initials="A" lastIdx="3" clrIdx="7"/>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EAE4"/>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464" autoAdjust="0"/>
    <p:restoredTop sz="94971" autoAdjust="0"/>
  </p:normalViewPr>
  <p:slideViewPr>
    <p:cSldViewPr snapToGrid="0" snapToObjects="1">
      <p:cViewPr varScale="1">
        <p:scale>
          <a:sx n="72" d="100"/>
          <a:sy n="72" d="100"/>
        </p:scale>
        <p:origin x="1614" y="72"/>
      </p:cViewPr>
      <p:guideLst>
        <p:guide orient="horz" pos="4032"/>
        <p:guide pos="226"/>
        <p:guide orient="horz" pos="368"/>
        <p:guide pos="5488"/>
        <p:guide orient="horz" pos="1185"/>
        <p:guide orient="horz" pos="754"/>
      </p:guideLst>
    </p:cSldViewPr>
  </p:slideViewPr>
  <p:outlineViewPr>
    <p:cViewPr>
      <p:scale>
        <a:sx n="33" d="100"/>
        <a:sy n="33" d="100"/>
      </p:scale>
      <p:origin x="0" y="-25338"/>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88" d="100"/>
          <a:sy n="88" d="100"/>
        </p:scale>
        <p:origin x="3042"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notesMaster" Target="notesMasters/notesMaster1.xml"/><Relationship Id="rId50" Type="http://schemas.openxmlformats.org/officeDocument/2006/relationships/font" Target="fonts/font2.fntdata"/><Relationship Id="rId55" Type="http://schemas.openxmlformats.org/officeDocument/2006/relationships/font" Target="fonts/font7.fntdata"/><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slide" Target="slides/slide36.xml"/><Relationship Id="rId54" Type="http://schemas.openxmlformats.org/officeDocument/2006/relationships/font" Target="fonts/font6.fntdata"/><Relationship Id="rId62"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font" Target="fonts/font5.fntdata"/><Relationship Id="rId58"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font" Target="fonts/font1.fntdata"/><Relationship Id="rId57" Type="http://schemas.openxmlformats.org/officeDocument/2006/relationships/commentAuthors" Target="commentAuthors.xml"/><Relationship Id="rId61"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font" Target="fonts/font4.fntdata"/><Relationship Id="rId6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handoutMaster" Target="handoutMasters/handoutMaster1.xml"/><Relationship Id="rId56" Type="http://schemas.openxmlformats.org/officeDocument/2006/relationships/font" Target="fonts/font8.fntdata"/><Relationship Id="rId8" Type="http://schemas.openxmlformats.org/officeDocument/2006/relationships/slide" Target="slides/slide3.xml"/><Relationship Id="rId51" Type="http://schemas.openxmlformats.org/officeDocument/2006/relationships/font" Target="fonts/font3.fntdata"/><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9/2/2024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dirty="0"/>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If this PowerPoint presentation contains mathematical equations, you may need to check that your computer has the following installed:</a:t>
            </a:r>
            <a:endParaRPr lang="en-US" dirty="0"/>
          </a:p>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1) </a:t>
            </a:r>
            <a:r>
              <a:rPr lang="en-US" sz="1200" b="0" i="0" u="none" strike="noStrike" cap="none" dirty="0" err="1">
                <a:solidFill>
                  <a:schemeClr val="dk1"/>
                </a:solidFill>
                <a:latin typeface="Arial"/>
                <a:ea typeface="Arial"/>
                <a:cs typeface="Arial"/>
                <a:sym typeface="Arial"/>
              </a:rPr>
              <a:t>MathType</a:t>
            </a:r>
            <a:r>
              <a:rPr lang="en-US" sz="1200" b="0" i="0" u="none" strike="noStrike" cap="none" dirty="0">
                <a:solidFill>
                  <a:schemeClr val="dk1"/>
                </a:solidFill>
                <a:latin typeface="Arial"/>
                <a:ea typeface="Arial"/>
                <a:cs typeface="Arial"/>
                <a:sym typeface="Arial"/>
              </a:rPr>
              <a:t> Plugin</a:t>
            </a:r>
            <a:endParaRPr lang="en-US" dirty="0"/>
          </a:p>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2) Math Player (free versions available)</a:t>
            </a:r>
            <a:endParaRPr lang="en-US" dirty="0"/>
          </a:p>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251233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Arial"/>
              <a:buNone/>
            </a:pPr>
            <a:endParaRPr lang="en-US" dirty="0"/>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a:t>
            </a:fld>
            <a:endParaRPr lang="en-US" sz="12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90000"/>
              </a:lnSpc>
              <a:spcBef>
                <a:spcPts val="0"/>
              </a:spcBef>
              <a:spcAft>
                <a:spcPts val="0"/>
              </a:spcAft>
              <a:buClr>
                <a:schemeClr val="dk1"/>
              </a:buClr>
              <a:buSzPts val="1100"/>
              <a:buFont typeface="Arial"/>
              <a:buNone/>
              <a:tabLst/>
              <a:defRPr/>
            </a:pPr>
            <a:r>
              <a:rPr lang="en-US" dirty="0">
                <a:latin typeface="Arial"/>
                <a:ea typeface="Arial"/>
                <a:cs typeface="Arial"/>
                <a:sym typeface="Arial"/>
              </a:rPr>
              <a:t>Consider the following example from the beer industry. In 2004, Brazilian private equity firm 3G Capital launched the Belgium-based brewer InBev. In 2008, </a:t>
            </a:r>
            <a:r>
              <a:rPr lang="en-US" dirty="0" err="1">
                <a:latin typeface="Arial"/>
                <a:ea typeface="Arial"/>
                <a:cs typeface="Arial"/>
                <a:sym typeface="Arial"/>
              </a:rPr>
              <a:t>Inbev</a:t>
            </a:r>
            <a:r>
              <a:rPr lang="en-US" dirty="0">
                <a:latin typeface="Arial"/>
                <a:ea typeface="Arial"/>
                <a:cs typeface="Arial"/>
                <a:sym typeface="Arial"/>
              </a:rPr>
              <a:t> established a major presence in the U.S. beer market by purchasing Anheuser-Busch for $52 billion. The new firm, called Anheuser-Busch InBev, in 2016 acquired SABMiller, based in London, which itself had been formed when South African Breweries purchased the American firm Miller Brewing. In 2013, Anheuser-Busch InBev also acquired Mexico’s largest brewer, Grupo </a:t>
            </a:r>
            <a:r>
              <a:rPr lang="en-US" dirty="0" err="1">
                <a:latin typeface="Arial"/>
                <a:ea typeface="Arial"/>
                <a:cs typeface="Arial"/>
                <a:sym typeface="Arial"/>
              </a:rPr>
              <a:t>Modelo</a:t>
            </a:r>
            <a:r>
              <a:rPr lang="en-US" dirty="0">
                <a:latin typeface="Arial"/>
                <a:ea typeface="Arial"/>
                <a:cs typeface="Arial"/>
                <a:sym typeface="Arial"/>
              </a:rPr>
              <a:t>, known for its Corona and </a:t>
            </a:r>
            <a:r>
              <a:rPr lang="en-US" dirty="0" err="1">
                <a:latin typeface="Arial"/>
                <a:ea typeface="Arial"/>
                <a:cs typeface="Arial"/>
                <a:sym typeface="Arial"/>
              </a:rPr>
              <a:t>Modelo</a:t>
            </a:r>
            <a:r>
              <a:rPr lang="en-US" dirty="0">
                <a:latin typeface="Arial"/>
                <a:ea typeface="Arial"/>
                <a:cs typeface="Arial"/>
                <a:sym typeface="Arial"/>
              </a:rPr>
              <a:t> Especial brands of beer. In 2017, Anheuser-Busch InBev formed a joint venture with Anadolu </a:t>
            </a:r>
            <a:r>
              <a:rPr lang="en-US" dirty="0" err="1">
                <a:latin typeface="Arial"/>
                <a:ea typeface="Arial"/>
                <a:cs typeface="Arial"/>
                <a:sym typeface="Arial"/>
              </a:rPr>
              <a:t>Efes</a:t>
            </a:r>
            <a:r>
              <a:rPr lang="en-US" dirty="0">
                <a:latin typeface="Arial"/>
                <a:ea typeface="Arial"/>
                <a:cs typeface="Arial"/>
                <a:sym typeface="Arial"/>
              </a:rPr>
              <a:t>, a Turkish brewery, with the goal of marketing beer in Russia. Through numerous F D I and collaborative ventures, Anheuser-Busch InBev has become the world’s largest brewer and operates more than 140 breweries across Asia, Europe, and North and South America. Brazilian investor 3 G Capital maintains a 23 percent stake in the firm.</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4787578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90000"/>
              </a:lnSpc>
              <a:spcBef>
                <a:spcPts val="0"/>
              </a:spcBef>
              <a:spcAft>
                <a:spcPts val="0"/>
              </a:spcAft>
              <a:buClr>
                <a:schemeClr val="dk1"/>
              </a:buClr>
              <a:buSzPts val="1100"/>
              <a:buFont typeface="Arial"/>
              <a:buNone/>
            </a:pP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6336599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0" fontAlgn="base" latinLnBrk="0" hangingPunct="0">
              <a:lnSpc>
                <a:spcPct val="100000"/>
              </a:lnSpc>
              <a:spcBef>
                <a:spcPct val="30000"/>
              </a:spcBef>
              <a:spcAft>
                <a:spcPct val="0"/>
              </a:spcAft>
              <a:buClr>
                <a:srgbClr val="000000"/>
              </a:buClr>
              <a:buSzPct val="100000"/>
              <a:buFont typeface="Times New Roman" charset="0"/>
              <a:buNone/>
              <a:tabLst/>
              <a:defRPr/>
            </a:pPr>
            <a:r>
              <a:rPr lang="en-US" dirty="0"/>
              <a:t>This slide can also be set up as a game, a cascading set of slides in which students must guess the country associated with each brand.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7979289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0" fontAlgn="base" latinLnBrk="0" hangingPunct="0">
              <a:lnSpc>
                <a:spcPct val="100000"/>
              </a:lnSpc>
              <a:spcBef>
                <a:spcPct val="30000"/>
              </a:spcBef>
              <a:spcAft>
                <a:spcPct val="0"/>
              </a:spcAft>
              <a:buClr>
                <a:srgbClr val="000000"/>
              </a:buClr>
              <a:buSzPct val="100000"/>
              <a:buFont typeface="Times New Roman" charset="0"/>
              <a:buNone/>
              <a:tabLst/>
              <a:defRPr/>
            </a:pPr>
            <a:r>
              <a:rPr lang="en-US" dirty="0"/>
              <a:t>www.hoovers.com</a:t>
            </a:r>
          </a:p>
          <a:p>
            <a:pPr marL="0" marR="0" lvl="0" indent="0" algn="l" defTabSz="457200" rtl="0" eaLnBrk="0" fontAlgn="base" latinLnBrk="0" hangingPunct="0">
              <a:lnSpc>
                <a:spcPct val="100000"/>
              </a:lnSpc>
              <a:spcBef>
                <a:spcPct val="30000"/>
              </a:spcBef>
              <a:spcAft>
                <a:spcPct val="0"/>
              </a:spcAft>
              <a:buClr>
                <a:srgbClr val="000000"/>
              </a:buClr>
              <a:buSzPct val="100000"/>
              <a:buFont typeface="Times New Roman" charset="0"/>
              <a:buNone/>
              <a:tabLst/>
              <a:defRPr/>
            </a:pPr>
            <a:r>
              <a:rPr lang="en-US" dirty="0"/>
              <a:t>www.unctad.org</a:t>
            </a:r>
          </a:p>
          <a:p>
            <a:pPr marL="0" marR="0" lvl="0" indent="0" algn="l" defTabSz="457200" rtl="0" eaLnBrk="0" fontAlgn="base" latinLnBrk="0" hangingPunct="0">
              <a:lnSpc>
                <a:spcPct val="100000"/>
              </a:lnSpc>
              <a:spcBef>
                <a:spcPct val="30000"/>
              </a:spcBef>
              <a:spcAft>
                <a:spcPct val="0"/>
              </a:spcAft>
              <a:buClr>
                <a:srgbClr val="000000"/>
              </a:buClr>
              <a:buSzPct val="100000"/>
              <a:buFont typeface="Times New Roman" charset="0"/>
              <a:buNone/>
              <a:tabLst/>
              <a:defRPr/>
            </a:pPr>
            <a:endParaRPr lang="en-US" dirty="0"/>
          </a:p>
          <a:p>
            <a:pPr marL="0" marR="0" lvl="0" indent="0" algn="l" defTabSz="457200" rtl="0" eaLnBrk="0" fontAlgn="base" latinLnBrk="0" hangingPunct="0">
              <a:lnSpc>
                <a:spcPct val="100000"/>
              </a:lnSpc>
              <a:spcBef>
                <a:spcPct val="30000"/>
              </a:spcBef>
              <a:spcAft>
                <a:spcPct val="0"/>
              </a:spcAft>
              <a:buClr>
                <a:srgbClr val="000000"/>
              </a:buClr>
              <a:buSzPct val="100000"/>
              <a:buFont typeface="Times New Roman" charset="0"/>
              <a:buNone/>
              <a:tabLst/>
              <a:defRPr/>
            </a:pPr>
            <a:r>
              <a:rPr lang="en-US" dirty="0"/>
              <a:t>Royal Dutch Shell, Toyota, and other firms in the exhibit are listed based on the value of factories, subsidiaries, and other assets they own in foreign countries. For example, Toyota has numerous subsidiaries around the world. Individual Toyota subsidiaries engage in various value-chain activities, including R&amp;D, manufacturing, marketing, sales, and customer service. The most internationally active MNEs are in the automotive and petroleum industries.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1638470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0" fontAlgn="base" latinLnBrk="0" hangingPunct="0">
              <a:lnSpc>
                <a:spcPct val="100000"/>
              </a:lnSpc>
              <a:spcBef>
                <a:spcPct val="30000"/>
              </a:spcBef>
              <a:spcAft>
                <a:spcPct val="0"/>
              </a:spcAft>
              <a:buClr>
                <a:srgbClr val="000000"/>
              </a:buClr>
              <a:buSzPct val="100000"/>
              <a:buFont typeface="Arial" charset="0"/>
              <a:buNone/>
              <a:tabLst/>
              <a:defRPr/>
            </a:pPr>
            <a:r>
              <a:rPr lang="en-US" dirty="0">
                <a:latin typeface="Arial"/>
                <a:ea typeface="Arial"/>
                <a:cs typeface="Arial"/>
                <a:sym typeface="Arial"/>
              </a:rPr>
              <a:t>Companies in the services sector, such as retailing, construction, and personal care, must offer their services where they are consumed. This requires establishing either a permanent presence through F D I (as in retailing) or a temporary relocation of the service company personnel (as in the construction industry). Management consulting is a service usually embodied in experts who interact directly with clients to dispense advice. To reach their customers, firms such as McKinsey and Cap Gemini have established numerous offices in foreign markets. Many support services, such as advertising, insurance, accounting, legal work, and overnight package delivery, are also best provided at the customer’s location. F D I is vital for internationalizing services. Intrawest, Inc., which is building several ski resorts in China, has offices at various locations in China. Banks establish branches around the world because banking services are usually provided directly to customers wherever they do business. </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0462011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www.forbes.com</a:t>
            </a:r>
          </a:p>
          <a:p>
            <a:r>
              <a:rPr lang="en-US" dirty="0"/>
              <a:t>www.fortune.com</a:t>
            </a:r>
          </a:p>
          <a:p>
            <a:r>
              <a:rPr lang="en-US" dirty="0"/>
              <a:t>www.hoovers.com</a:t>
            </a:r>
          </a:p>
          <a:p>
            <a:r>
              <a:rPr lang="en-US" dirty="0"/>
              <a:t>www.unctad.org</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3812647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0" fontAlgn="base" latinLnBrk="0" hangingPunct="0">
              <a:lnSpc>
                <a:spcPct val="100000"/>
              </a:lnSpc>
              <a:spcBef>
                <a:spcPct val="30000"/>
              </a:spcBef>
              <a:spcAft>
                <a:spcPct val="0"/>
              </a:spcAft>
              <a:buClr>
                <a:srgbClr val="000000"/>
              </a:buClr>
              <a:buSzPct val="100000"/>
              <a:buFont typeface="Arial" charset="0"/>
              <a:buNone/>
              <a:tabLst/>
              <a:defRPr/>
            </a:pPr>
            <a:r>
              <a:rPr lang="en-US" dirty="0">
                <a:latin typeface="Arial"/>
                <a:ea typeface="Arial"/>
                <a:cs typeface="Arial"/>
                <a:sym typeface="Arial"/>
              </a:rPr>
              <a:t>Advanced economies such as Australia, Britain, Canada, Japan, Netherlands, and the United States have long been popular destinations for F D I because of their strong G D P per capita, G D P growth rate, density of knowledge workers, and superior business infrastructure, such as telephone systems and energy sources. Dublin, Ireland is a popular destination for M N E s in high-tech industries; Dublin is a gateway to the European Union. In recent years, emerging markets are also gaining appeal as F D I destinations. According to A. T. Kearney’s Global Location Index, the top destinations for foreign investment today are China and India (www.atkearney.com). China is popular because of its size, rapid growth rate, and low labor costs. It is an important platform where M N E s manufacture products for export to key markets in Asia and elsewhere. India is popular because of its managerial talent, well-educated workforce, and relatively fewer cultural barriers. China and India are also attractive for strategic reasons: They have much long-term potential as target markets and new sources of competitive advantage. </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8623681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90000"/>
              </a:lnSpc>
              <a:spcBef>
                <a:spcPts val="0"/>
              </a:spcBef>
              <a:spcAft>
                <a:spcPts val="0"/>
              </a:spcAft>
              <a:buClr>
                <a:schemeClr val="dk1"/>
              </a:buClr>
              <a:buSzPts val="1100"/>
              <a:buFont typeface="Arial"/>
              <a:buNone/>
              <a:tabLst/>
              <a:defRPr/>
            </a:pPr>
            <a:r>
              <a:rPr lang="en-US" dirty="0">
                <a:latin typeface="Arial"/>
                <a:ea typeface="Arial"/>
                <a:cs typeface="Arial"/>
                <a:sym typeface="Arial"/>
              </a:rPr>
              <a:t>M N E s have been investing in Eastern Europe for numerous important reasons, especially low-cost and high-quality labor. Europe is popular due to market factors. Eastern European countries have established themselves as popular destinations in terms of political and government factors, legal and regulatory factors, infrastructure, and economic factors, generally. In the Czech Republic, giant Chinese electronics manufacturer Sichuan </a:t>
            </a:r>
            <a:r>
              <a:rPr lang="en-US" dirty="0" err="1">
                <a:latin typeface="Arial"/>
                <a:ea typeface="Arial"/>
                <a:cs typeface="Arial"/>
                <a:sym typeface="Arial"/>
              </a:rPr>
              <a:t>Changhong</a:t>
            </a:r>
            <a:r>
              <a:rPr lang="en-US" dirty="0">
                <a:latin typeface="Arial"/>
                <a:ea typeface="Arial"/>
                <a:cs typeface="Arial"/>
                <a:sym typeface="Arial"/>
              </a:rPr>
              <a:t> (www.changhong.com) built a $30 million factory that produces up to one million flat-screen televisions per year. Numerous automakers, from Ford to Nissan, have built factories in the region. Firms find the region attractive for various reasons. First, wages in Eastern Europe are relatively low; engineers in Slovakia earn half of what Western engineers make, and assembly line workers one-third to one-fifth. Second, East European governments offer incentives, from financing to low taxes, as in Slovakia where all taxes are a simple 19 percent. By comparison, personal income tax rates often exceed 30 percent in Germany. Third, local manufacturing allows firms to avoid trade barriers. Sichuan </a:t>
            </a:r>
            <a:r>
              <a:rPr lang="en-US" dirty="0" err="1">
                <a:latin typeface="Arial"/>
                <a:ea typeface="Arial"/>
                <a:cs typeface="Arial"/>
                <a:sym typeface="Arial"/>
              </a:rPr>
              <a:t>Changhong’s</a:t>
            </a:r>
            <a:r>
              <a:rPr lang="en-US" dirty="0">
                <a:latin typeface="Arial"/>
                <a:ea typeface="Arial"/>
                <a:cs typeface="Arial"/>
                <a:sym typeface="Arial"/>
              </a:rPr>
              <a:t> presence in the Czech Republic helps it avoid tariffs the European Union imposes on imports from China. Fourth, companies prefer Eastern Europe because of its physical proximity to the huge E U market. Many Eastern European countries are E U members themselves. Just as Eastern Europe has become a popular F D I destination, production of cars and other products is falling in much of Western Europe due to higher manufacturing costs, taxes, and strict labor rules. As these examples imply, managers examine a combination of criteria when making decisions about where in the world to establish operations via F D I. </a:t>
            </a:r>
          </a:p>
          <a:p>
            <a:pPr marL="0" marR="0" lvl="0" indent="0" algn="l" defTabSz="457200" rtl="0" eaLnBrk="1" fontAlgn="auto" latinLnBrk="0" hangingPunct="1">
              <a:lnSpc>
                <a:spcPct val="90000"/>
              </a:lnSpc>
              <a:spcBef>
                <a:spcPts val="0"/>
              </a:spcBef>
              <a:spcAft>
                <a:spcPts val="0"/>
              </a:spcAft>
              <a:buClr>
                <a:schemeClr val="dk1"/>
              </a:buClr>
              <a:buSzPts val="1100"/>
              <a:buFont typeface="Arial"/>
              <a:buNone/>
              <a:tabLst/>
              <a:defRPr/>
            </a:pPr>
            <a:endParaRPr lang="en-US" dirty="0">
              <a:latin typeface="Arial"/>
              <a:cs typeface="Arial"/>
              <a:sym typeface="Arial"/>
            </a:endParaRPr>
          </a:p>
          <a:p>
            <a:pPr marL="0" marR="0" lvl="0" indent="0" algn="l" defTabSz="457200" rtl="0" eaLnBrk="1" fontAlgn="auto" latinLnBrk="0" hangingPunct="1">
              <a:lnSpc>
                <a:spcPct val="90000"/>
              </a:lnSpc>
              <a:spcBef>
                <a:spcPts val="0"/>
              </a:spcBef>
              <a:spcAft>
                <a:spcPts val="0"/>
              </a:spcAft>
              <a:buClr>
                <a:schemeClr val="dk1"/>
              </a:buClr>
              <a:buSzPts val="1100"/>
              <a:buFont typeface="Arial"/>
              <a:buNone/>
              <a:tabLst/>
              <a:defRPr/>
            </a:pPr>
            <a:r>
              <a:rPr lang="en-US" dirty="0"/>
              <a:t>Long Description:</a:t>
            </a:r>
          </a:p>
          <a:p>
            <a:pPr marL="0" marR="0" lvl="0" indent="0" algn="l" defTabSz="457200" rtl="0" eaLnBrk="1" fontAlgn="auto" latinLnBrk="0" hangingPunct="1">
              <a:lnSpc>
                <a:spcPct val="90000"/>
              </a:lnSpc>
              <a:spcBef>
                <a:spcPts val="0"/>
              </a:spcBef>
              <a:spcAft>
                <a:spcPts val="0"/>
              </a:spcAft>
              <a:buClr>
                <a:schemeClr val="dk1"/>
              </a:buClr>
              <a:buSzPts val="1100"/>
              <a:buFont typeface="Arial"/>
              <a:buNone/>
              <a:tabLst/>
              <a:defRPr/>
            </a:pPr>
            <a:r>
              <a:rPr lang="en-US" sz="1200" b="0" i="0" u="none" strike="noStrike" kern="1200" cap="none" dirty="0">
                <a:solidFill>
                  <a:schemeClr val="dk1"/>
                </a:solidFill>
                <a:effectLst/>
                <a:latin typeface="Arial"/>
                <a:ea typeface="Arial"/>
                <a:cs typeface="Arial"/>
                <a:sym typeface="Arial"/>
              </a:rPr>
              <a:t>The following factors point to the factors to consider in selecting F D I locations: 1. Human resource factors: cost, availability, and productivity of skilled labor; involvement of labor unions; availability and quality of managerial workforce; employment regulations. 2. Infrastructural factors: availability and quality of local manufacturing; efficiency of physical distribution; cost, availability, and quality of utilities and finance; quality of marketing and distribution. 3. Profit retention factors: types and level of taxes; tax rates for profit repatriation; complexity of tax system; rate of inflation. 4. Economic factors: cost of land and facilities; state of the local economy; stability of currency; extent of regional integration and free trade. 5. Legal and regulatory factors: regulations on F D I and technology transfer; nature of legal system and laws; intellectual property protection; extent of tariffs, other trade barriers. 6. Political and governmental factors: political stability; openness to foreign investment; extent of bureaucracy and red tape; transparency and corruption. 7. Market factors: size and growth of national market; size and growth of regional market; proximity to key export markets.</a:t>
            </a:r>
            <a:r>
              <a:rPr lang="en-US" dirty="0"/>
              <a:t>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396789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0" fontAlgn="base" latinLnBrk="0" hangingPunct="0">
              <a:lnSpc>
                <a:spcPct val="100000"/>
              </a:lnSpc>
              <a:spcBef>
                <a:spcPct val="30000"/>
              </a:spcBef>
              <a:spcAft>
                <a:spcPct val="0"/>
              </a:spcAft>
              <a:buClr>
                <a:srgbClr val="000000"/>
              </a:buClr>
              <a:buSzPct val="100000"/>
              <a:buFont typeface="Times New Roman" charset="0"/>
              <a:buNone/>
              <a:tabLst/>
              <a:defRPr/>
            </a:pPr>
            <a:r>
              <a:rPr lang="en-US" dirty="0">
                <a:latin typeface="Arial"/>
                <a:ea typeface="Arial"/>
                <a:cs typeface="Arial"/>
                <a:sym typeface="Arial"/>
              </a:rPr>
              <a:t>There are several F D I-related trends in the contemporary global economy. First, companies from both advanced economies and emerging markets are active in F D I. Second, destination or recipient countries for such investments include both advanced economies and emerging markets. Third, companies employ multiple strategies to enter foreign markets as investors, including acquisitions and collaborative ventures. Fourth, companies from all types of industries, including services, are active in F D I and collaborative ventures. For example, major retailers began expanding abroad in the 1970s, including Walmart (United States), Carrefour (France), Royal Ahold (Netherlands), Metro AG (Germany), and Tesco (United Kingdom). Finally, direct investment by foreign companies occasionally raises patriotic sentiments among citizens. For example, the possibility of a Haier takeover of Maytag Corporation in 2005 stirred anxiety in the United States over East Asian companies gobbling up U.S. businesses. A bid by Chinese oil company C N O </a:t>
            </a:r>
            <a:r>
              <a:rPr lang="en-US" dirty="0" err="1">
                <a:latin typeface="Arial"/>
                <a:ea typeface="Arial"/>
                <a:cs typeface="Arial"/>
                <a:sym typeface="Arial"/>
              </a:rPr>
              <a:t>O</a:t>
            </a:r>
            <a:r>
              <a:rPr lang="en-US" dirty="0">
                <a:latin typeface="Arial"/>
                <a:ea typeface="Arial"/>
                <a:cs typeface="Arial"/>
                <a:sym typeface="Arial"/>
              </a:rPr>
              <a:t> C Ltd. to buy California-based Unocal Corporation for $18.5 billion raised concerns over the possibility of a Chinese state enterprise gaining control in the critical U.S. energy sector. Consequently, the U.S. Congress banned the deal. </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318029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lvl="0" indent="-228600" algn="l" rtl="0">
              <a:lnSpc>
                <a:spcPct val="80000"/>
              </a:lnSpc>
              <a:spcBef>
                <a:spcPts val="0"/>
              </a:spcBef>
              <a:spcAft>
                <a:spcPts val="0"/>
              </a:spcAft>
              <a:buAutoNum type="arabicPeriod"/>
            </a:pPr>
            <a:r>
              <a:rPr lang="en-US" sz="1200" dirty="0">
                <a:latin typeface="Arial"/>
                <a:ea typeface="Arial"/>
                <a:cs typeface="Arial"/>
                <a:sym typeface="Arial"/>
              </a:rPr>
              <a:t>FDI is far more taxing on the firm’s resources and capabilities than any other entry strategy. The U.S. firm General Electric owns more than $400 billion in factories, subsidiaries, and other operations outside the United States.</a:t>
            </a:r>
          </a:p>
          <a:p>
            <a:pPr marL="0" lvl="0" indent="0" algn="l" rtl="0">
              <a:lnSpc>
                <a:spcPct val="80000"/>
              </a:lnSpc>
              <a:spcBef>
                <a:spcPts val="0"/>
              </a:spcBef>
              <a:spcAft>
                <a:spcPts val="0"/>
              </a:spcAft>
              <a:buNone/>
            </a:pPr>
            <a:endParaRPr lang="en-US" dirty="0"/>
          </a:p>
          <a:p>
            <a:pPr marL="0" lvl="0" indent="0" algn="l" rtl="0">
              <a:lnSpc>
                <a:spcPct val="80000"/>
              </a:lnSpc>
              <a:spcBef>
                <a:spcPts val="306"/>
              </a:spcBef>
              <a:spcAft>
                <a:spcPts val="0"/>
              </a:spcAft>
              <a:buNone/>
            </a:pPr>
            <a:r>
              <a:rPr lang="en-US" sz="1200" dirty="0">
                <a:latin typeface="Arial"/>
                <a:ea typeface="Arial"/>
                <a:cs typeface="Arial"/>
                <a:sym typeface="Arial"/>
              </a:rPr>
              <a:t>2. Through F D I, management establishes direct contact with customers, intermediaries, facilitators, and the government sector. Although based in Switzerland, Nestlé generates more than 90 percent of its sales from abroad. The Indian M N E Tata Consultancy Services generates most of its revenues in North America, while rival I B M, a U.S. company, obtains nearly two-thirds of its sales from abroad.</a:t>
            </a:r>
          </a:p>
          <a:p>
            <a:pPr marL="0" lvl="0" indent="0" algn="l" rtl="0">
              <a:lnSpc>
                <a:spcPct val="80000"/>
              </a:lnSpc>
              <a:spcBef>
                <a:spcPts val="306"/>
              </a:spcBef>
              <a:spcAft>
                <a:spcPts val="0"/>
              </a:spcAft>
              <a:buNone/>
            </a:pPr>
            <a:endParaRPr lang="en-US" dirty="0"/>
          </a:p>
          <a:p>
            <a:pPr marL="0" lvl="0" indent="0" algn="l" rtl="0">
              <a:lnSpc>
                <a:spcPct val="80000"/>
              </a:lnSpc>
              <a:spcBef>
                <a:spcPts val="306"/>
              </a:spcBef>
              <a:spcAft>
                <a:spcPts val="0"/>
              </a:spcAft>
              <a:buNone/>
            </a:pPr>
            <a:r>
              <a:rPr lang="en-US" sz="1200" dirty="0">
                <a:latin typeface="Arial"/>
                <a:ea typeface="Arial"/>
                <a:cs typeface="Arial"/>
                <a:sym typeface="Arial"/>
              </a:rPr>
              <a:t>3. Managers choose particular countries in which to invest, based on the advantages these locations offer. Thus, firms tend to: perform R&amp;D activities in those countries with leading-edge knowledge and experience for their industry; source from countries where suppliers provide the best-value products; build production facilities at locations that provide the best ratio of productivity to labor costs; and establish marketing subsidiaries in countries with the greatest sales potential.</a:t>
            </a:r>
            <a:endParaRPr lang="en-US" dirty="0"/>
          </a:p>
          <a:p>
            <a:pPr marL="0" lvl="0" indent="0" algn="l" rtl="0">
              <a:lnSpc>
                <a:spcPct val="80000"/>
              </a:lnSpc>
              <a:spcBef>
                <a:spcPts val="306"/>
              </a:spcBef>
              <a:spcAft>
                <a:spcPts val="0"/>
              </a:spcAft>
              <a:buNone/>
            </a:pPr>
            <a:endParaRPr lang="en-US" sz="1200" dirty="0">
              <a:latin typeface="Arial"/>
              <a:ea typeface="Arial"/>
              <a:cs typeface="Arial"/>
              <a:sym typeface="Arial"/>
            </a:endParaRPr>
          </a:p>
          <a:p>
            <a:pPr marL="0" lvl="0" indent="0" algn="l" rtl="0">
              <a:lnSpc>
                <a:spcPct val="80000"/>
              </a:lnSpc>
              <a:spcBef>
                <a:spcPts val="306"/>
              </a:spcBef>
              <a:spcAft>
                <a:spcPts val="0"/>
              </a:spcAft>
              <a:buNone/>
            </a:pPr>
            <a:r>
              <a:rPr lang="en-US" sz="1200" dirty="0">
                <a:latin typeface="Arial"/>
                <a:ea typeface="Arial"/>
                <a:cs typeface="Arial"/>
                <a:sym typeface="Arial"/>
              </a:rPr>
              <a:t>4. Compared to other entry strategies, establishing a permanent, fixed presence in a foreign country makes the firm vulnerable to country risk and intervention by local government on issues such as wages, hiring practices, and product pricing. Direct investors also must contend with inflation, recessions, and other local economic conditions. French automaker Renault recently paid $1 billion to obtain a 25 percent stake in </a:t>
            </a:r>
            <a:r>
              <a:rPr lang="en-US" sz="1200" dirty="0" err="1">
                <a:latin typeface="Arial"/>
                <a:ea typeface="Arial"/>
                <a:cs typeface="Arial"/>
                <a:sym typeface="Arial"/>
              </a:rPr>
              <a:t>AvtoVAZ</a:t>
            </a:r>
            <a:r>
              <a:rPr lang="en-US" sz="1200" dirty="0">
                <a:latin typeface="Arial"/>
                <a:ea typeface="Arial"/>
                <a:cs typeface="Arial"/>
                <a:sym typeface="Arial"/>
              </a:rPr>
              <a:t> (www.lada-auto.ru), a car factory in Russia. Renault management wants to produce Lada brand cars for the local market. But the </a:t>
            </a:r>
            <a:r>
              <a:rPr lang="en-US" sz="1200" dirty="0" err="1">
                <a:latin typeface="Arial"/>
                <a:ea typeface="Arial"/>
                <a:cs typeface="Arial"/>
                <a:sym typeface="Arial"/>
              </a:rPr>
              <a:t>AvtoVAZ</a:t>
            </a:r>
            <a:r>
              <a:rPr lang="en-US" sz="1200" dirty="0">
                <a:latin typeface="Arial"/>
                <a:ea typeface="Arial"/>
                <a:cs typeface="Arial"/>
                <a:sym typeface="Arial"/>
              </a:rPr>
              <a:t> plant is 40 years old and plagued by inefficient operations and a slow-moving workforce with origins in the Soviet era of communism, and has a history of organized crime. </a:t>
            </a:r>
            <a:br>
              <a:rPr lang="en-US" sz="1200" dirty="0">
                <a:latin typeface="Arial"/>
                <a:ea typeface="Arial"/>
                <a:cs typeface="Arial"/>
                <a:sym typeface="Arial"/>
              </a:rPr>
            </a:br>
            <a:endParaRPr lang="en-US" sz="1200" dirty="0">
              <a:latin typeface="Arial"/>
              <a:ea typeface="Arial"/>
              <a:cs typeface="Arial"/>
              <a:sym typeface="Arial"/>
            </a:endParaRPr>
          </a:p>
          <a:p>
            <a:pPr marL="0" lvl="0" indent="0" algn="l" rtl="0">
              <a:lnSpc>
                <a:spcPct val="80000"/>
              </a:lnSpc>
              <a:spcBef>
                <a:spcPts val="306"/>
              </a:spcBef>
              <a:spcAft>
                <a:spcPts val="0"/>
              </a:spcAft>
              <a:buNone/>
            </a:pPr>
            <a:r>
              <a:rPr lang="en-US" sz="1200" dirty="0">
                <a:latin typeface="Arial"/>
                <a:ea typeface="Arial"/>
                <a:cs typeface="Arial"/>
                <a:sym typeface="Arial"/>
              </a:rPr>
              <a:t>5. Even a large, well-established company like Disney experienced several failures in its foreign investing. When Disney established Tokyo Disneyland, its management incorrectly assumed the Disneyland experience could not be successfully transferred to Japan. So instead of investing, Disney opted to license rights in Japan for nominal profits. Tokyo Disneyland proved to be a huge success. Not wanting to repeat the same mistake, management opted to retain an F D I stake in its next theme park—Disneyland Paris. But it proved to be a financial sinkhole. Having learned from these experiences, Disney has made the latest theme park, Hong Kong Disneyland, more successful. Disney owns just 46 percent of the venture, making the Hong Kong government the major partner. </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6670798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lvl="0" indent="-228600" algn="l" rtl="0">
              <a:lnSpc>
                <a:spcPct val="80000"/>
              </a:lnSpc>
              <a:spcBef>
                <a:spcPts val="0"/>
              </a:spcBef>
              <a:spcAft>
                <a:spcPts val="0"/>
              </a:spcAft>
              <a:buAutoNum type="arabicPeriod"/>
            </a:pPr>
            <a:r>
              <a:rPr lang="en-US" sz="1200" dirty="0">
                <a:latin typeface="Arial"/>
                <a:ea typeface="Arial"/>
                <a:cs typeface="Arial"/>
                <a:sym typeface="Arial"/>
              </a:rPr>
              <a:t>FDI is far more taxing on the firm’s resources and capabilities than any other entry strategy. The U.S. firm General Electric owns more than $400 billion in factories, subsidiaries, and other operations outside the United States.</a:t>
            </a:r>
          </a:p>
          <a:p>
            <a:pPr marL="0" lvl="0" indent="0" algn="l" rtl="0">
              <a:lnSpc>
                <a:spcPct val="80000"/>
              </a:lnSpc>
              <a:spcBef>
                <a:spcPts val="0"/>
              </a:spcBef>
              <a:spcAft>
                <a:spcPts val="0"/>
              </a:spcAft>
              <a:buNone/>
            </a:pPr>
            <a:endParaRPr lang="en-US" dirty="0"/>
          </a:p>
          <a:p>
            <a:pPr marL="0" lvl="0" indent="0" algn="l" rtl="0">
              <a:lnSpc>
                <a:spcPct val="80000"/>
              </a:lnSpc>
              <a:spcBef>
                <a:spcPts val="306"/>
              </a:spcBef>
              <a:spcAft>
                <a:spcPts val="0"/>
              </a:spcAft>
              <a:buNone/>
            </a:pPr>
            <a:r>
              <a:rPr lang="en-US" sz="1200" dirty="0">
                <a:latin typeface="Arial"/>
                <a:ea typeface="Arial"/>
                <a:cs typeface="Arial"/>
                <a:sym typeface="Arial"/>
              </a:rPr>
              <a:t>2. Through F D I, management establishes direct contact with customers, intermediaries, facilitators, and the government sector. Although based in Switzerland, Nestlé generates more than 90 percent of its sales from abroad. The Indian M N E Tata Consultancy Services generates most of its revenues in North America, while rival I B M, a U.S. company, obtains nearly two-thirds of its sales from abroad.</a:t>
            </a:r>
          </a:p>
          <a:p>
            <a:pPr marL="0" lvl="0" indent="0" algn="l" rtl="0">
              <a:lnSpc>
                <a:spcPct val="80000"/>
              </a:lnSpc>
              <a:spcBef>
                <a:spcPts val="306"/>
              </a:spcBef>
              <a:spcAft>
                <a:spcPts val="0"/>
              </a:spcAft>
              <a:buNone/>
            </a:pPr>
            <a:endParaRPr lang="en-US" dirty="0"/>
          </a:p>
          <a:p>
            <a:pPr marL="0" lvl="0" indent="0" algn="l" rtl="0">
              <a:lnSpc>
                <a:spcPct val="80000"/>
              </a:lnSpc>
              <a:spcBef>
                <a:spcPts val="306"/>
              </a:spcBef>
              <a:spcAft>
                <a:spcPts val="0"/>
              </a:spcAft>
              <a:buNone/>
            </a:pPr>
            <a:r>
              <a:rPr lang="en-US" sz="1200" dirty="0">
                <a:latin typeface="Arial"/>
                <a:ea typeface="Arial"/>
                <a:cs typeface="Arial"/>
                <a:sym typeface="Arial"/>
              </a:rPr>
              <a:t>3. Managers choose particular countries in which to invest, based on the advantages these locations offer. Thus, firms tend to: perform R&amp;D activities in those countries with leading-edge knowledge and experience for their industry; source from countries where suppliers provide the best-value products; build production facilities at locations that provide the best ratio of productivity to labor costs; and establish marketing subsidiaries in countries with the greatest sales potential.</a:t>
            </a:r>
            <a:endParaRPr lang="en-US" dirty="0"/>
          </a:p>
          <a:p>
            <a:pPr marL="0" lvl="0" indent="0" algn="l" rtl="0">
              <a:lnSpc>
                <a:spcPct val="80000"/>
              </a:lnSpc>
              <a:spcBef>
                <a:spcPts val="306"/>
              </a:spcBef>
              <a:spcAft>
                <a:spcPts val="0"/>
              </a:spcAft>
              <a:buNone/>
            </a:pPr>
            <a:endParaRPr lang="en-US" sz="1200" dirty="0">
              <a:latin typeface="Arial"/>
              <a:ea typeface="Arial"/>
              <a:cs typeface="Arial"/>
              <a:sym typeface="Arial"/>
            </a:endParaRPr>
          </a:p>
          <a:p>
            <a:pPr marL="0" lvl="0" indent="0" algn="l" rtl="0">
              <a:lnSpc>
                <a:spcPct val="80000"/>
              </a:lnSpc>
              <a:spcBef>
                <a:spcPts val="306"/>
              </a:spcBef>
              <a:spcAft>
                <a:spcPts val="0"/>
              </a:spcAft>
              <a:buNone/>
            </a:pPr>
            <a:r>
              <a:rPr lang="en-US" sz="1200" dirty="0">
                <a:latin typeface="Arial"/>
                <a:ea typeface="Arial"/>
                <a:cs typeface="Arial"/>
                <a:sym typeface="Arial"/>
              </a:rPr>
              <a:t>4. Compared to other entry strategies, establishing a permanent, fixed presence in a foreign country makes the firm vulnerable to country risk and intervention by local government on issues such as wages, hiring practices, and product pricing. Direct investors also must contend with inflation, recessions, and other local economic conditions. French automaker Renault recently paid $1 billion to obtain a 25 percent stake in </a:t>
            </a:r>
            <a:r>
              <a:rPr lang="en-US" sz="1200" dirty="0" err="1">
                <a:latin typeface="Arial"/>
                <a:ea typeface="Arial"/>
                <a:cs typeface="Arial"/>
                <a:sym typeface="Arial"/>
              </a:rPr>
              <a:t>AvtoVAZ</a:t>
            </a:r>
            <a:r>
              <a:rPr lang="en-US" sz="1200" dirty="0">
                <a:latin typeface="Arial"/>
                <a:ea typeface="Arial"/>
                <a:cs typeface="Arial"/>
                <a:sym typeface="Arial"/>
              </a:rPr>
              <a:t> (www.lada-auto.ru), a car factory in Russia. Renault management wants to produce Lada brand cars for the local market. But the </a:t>
            </a:r>
            <a:r>
              <a:rPr lang="en-US" sz="1200" dirty="0" err="1">
                <a:latin typeface="Arial"/>
                <a:ea typeface="Arial"/>
                <a:cs typeface="Arial"/>
                <a:sym typeface="Arial"/>
              </a:rPr>
              <a:t>AvtoVAZ</a:t>
            </a:r>
            <a:r>
              <a:rPr lang="en-US" sz="1200" dirty="0">
                <a:latin typeface="Arial"/>
                <a:ea typeface="Arial"/>
                <a:cs typeface="Arial"/>
                <a:sym typeface="Arial"/>
              </a:rPr>
              <a:t> plant is 40 years old and plagued by inefficient operations and a slow-moving workforce with origins in the Soviet era of communism, and has a history of organized crime. </a:t>
            </a:r>
            <a:br>
              <a:rPr lang="en-US" sz="1200" dirty="0">
                <a:latin typeface="Arial"/>
                <a:ea typeface="Arial"/>
                <a:cs typeface="Arial"/>
                <a:sym typeface="Arial"/>
              </a:rPr>
            </a:br>
            <a:endParaRPr lang="en-US" sz="1200" dirty="0">
              <a:latin typeface="Arial"/>
              <a:ea typeface="Arial"/>
              <a:cs typeface="Arial"/>
              <a:sym typeface="Arial"/>
            </a:endParaRPr>
          </a:p>
          <a:p>
            <a:pPr marL="0" lvl="0" indent="0" algn="l" rtl="0">
              <a:lnSpc>
                <a:spcPct val="80000"/>
              </a:lnSpc>
              <a:spcBef>
                <a:spcPts val="306"/>
              </a:spcBef>
              <a:spcAft>
                <a:spcPts val="0"/>
              </a:spcAft>
              <a:buNone/>
            </a:pPr>
            <a:r>
              <a:rPr lang="en-US" sz="1200" dirty="0">
                <a:latin typeface="Arial"/>
                <a:ea typeface="Arial"/>
                <a:cs typeface="Arial"/>
                <a:sym typeface="Arial"/>
              </a:rPr>
              <a:t>5. Even a large, well-established company like Disney experienced several failures in its foreign investing. When Disney established Tokyo Disneyland, its management incorrectly assumed the Disneyland experience could not be successfully transferred to Japan. So instead of investing, Disney opted to license rights in Japan for nominal profits. Tokyo Disneyland proved to be a huge success. Not wanting to repeat the same mistake, management opted to retain an F D I stake in its next theme park—Disneyland Paris. But it proved to be a financial sinkhole. Having learned from these experiences, Disney has made the latest theme park, Hong Kong Disneyland, more successful. Disney owns just 46 percent of the venture, making the Hong Kong government the major partner. </a:t>
            </a:r>
          </a:p>
          <a:p>
            <a:pPr marL="0" lvl="0" indent="0" algn="l" rtl="0">
              <a:lnSpc>
                <a:spcPct val="80000"/>
              </a:lnSpc>
              <a:spcBef>
                <a:spcPts val="306"/>
              </a:spcBef>
              <a:spcAft>
                <a:spcPts val="0"/>
              </a:spcAft>
              <a:buNone/>
            </a:pPr>
            <a:endParaRPr lang="en-US" sz="1200" dirty="0">
              <a:latin typeface="Arial"/>
              <a:cs typeface="Arial"/>
              <a:sym typeface="Arial"/>
            </a:endParaRPr>
          </a:p>
          <a:p>
            <a:pPr marL="0" lvl="0" indent="0" algn="l" rtl="0">
              <a:lnSpc>
                <a:spcPct val="80000"/>
              </a:lnSpc>
              <a:spcBef>
                <a:spcPts val="306"/>
              </a:spcBef>
              <a:spcAft>
                <a:spcPts val="0"/>
              </a:spcAft>
              <a:buNone/>
            </a:pPr>
            <a:r>
              <a:rPr lang="en-US" dirty="0"/>
              <a:t>Long Description:</a:t>
            </a:r>
          </a:p>
          <a:p>
            <a:pPr marL="0" lvl="0" indent="0" algn="l" rtl="0">
              <a:lnSpc>
                <a:spcPct val="80000"/>
              </a:lnSpc>
              <a:spcBef>
                <a:spcPts val="306"/>
              </a:spcBef>
              <a:spcAft>
                <a:spcPts val="0"/>
              </a:spcAft>
              <a:buNone/>
            </a:pPr>
            <a:r>
              <a:rPr lang="en-IN" sz="1200" b="0" i="0" u="none" strike="noStrike" kern="1200" cap="none" dirty="0">
                <a:solidFill>
                  <a:schemeClr val="dk1"/>
                </a:solidFill>
                <a:effectLst/>
                <a:latin typeface="Arial"/>
                <a:ea typeface="Arial"/>
                <a:cs typeface="Arial"/>
                <a:sym typeface="Arial"/>
              </a:rPr>
              <a:t>The horizontal axis lists countries. The vertical axis shows percentage ranges from 0 percent to 50 percent in increments of 5. Ethiopia, 2,600; Cameroon, 4,065; Haiti, 3,127; Nigeria, 5,459; Laos, 8,674; Zimbabwe, 2,445; Nepal, 4,261; Ghana, 6,178; Paraguay, 13,976; Honduras, 6,253; Mongolia, 12,863; Bolivia, 9,030; Serbia, 21,432; El Salvador, 9,669; Bangladesh, 6,613; Vietnam, 11,553; Chile, 29,104; Mexico, 20,037; Iraq, 10,409.</a:t>
            </a:r>
            <a:r>
              <a:rPr lang="en-IN" dirty="0"/>
              <a:t> </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588797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90000"/>
              </a:lnSpc>
              <a:spcBef>
                <a:spcPts val="0"/>
              </a:spcBef>
              <a:spcAft>
                <a:spcPts val="0"/>
              </a:spcAft>
              <a:buNone/>
            </a:pP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5998005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b="1" dirty="0">
                <a:latin typeface="Arial"/>
                <a:ea typeface="Arial"/>
                <a:cs typeface="Arial"/>
                <a:sym typeface="Arial"/>
              </a:rPr>
              <a:t>Market-Seeking Motives</a:t>
            </a:r>
            <a:endParaRPr lang="en-US" dirty="0">
              <a:latin typeface="Arial"/>
              <a:ea typeface="Arial"/>
              <a:cs typeface="Arial"/>
              <a:sym typeface="Arial"/>
            </a:endParaRPr>
          </a:p>
          <a:p>
            <a:pPr marL="0" lvl="0" indent="0" algn="l" rtl="0">
              <a:spcBef>
                <a:spcPts val="360"/>
              </a:spcBef>
              <a:spcAft>
                <a:spcPts val="0"/>
              </a:spcAft>
              <a:buNone/>
            </a:pPr>
            <a:r>
              <a:rPr lang="en-US" dirty="0">
                <a:latin typeface="Arial"/>
                <a:ea typeface="Arial"/>
                <a:cs typeface="Arial"/>
                <a:sym typeface="Arial"/>
              </a:rPr>
              <a:t>Managers may seek new market opportunities as a result of either unfavorable developments in their home market (that is, they may be pushed into international markets) or attractive opportunities abroad (they may be pulled into international markets). There are three primary market-seeking motivations: </a:t>
            </a:r>
          </a:p>
          <a:p>
            <a:pPr marL="0" lvl="0" indent="0" algn="l" rtl="0">
              <a:spcBef>
                <a:spcPts val="360"/>
              </a:spcBef>
              <a:spcAft>
                <a:spcPts val="0"/>
              </a:spcAft>
              <a:buNone/>
            </a:pPr>
            <a:r>
              <a:rPr lang="en-US" dirty="0">
                <a:latin typeface="Arial"/>
                <a:ea typeface="Arial"/>
                <a:cs typeface="Arial"/>
                <a:sym typeface="Arial"/>
              </a:rPr>
              <a:t/>
            </a:r>
            <a:br>
              <a:rPr lang="en-US" dirty="0">
                <a:latin typeface="Arial"/>
                <a:ea typeface="Arial"/>
                <a:cs typeface="Arial"/>
                <a:sym typeface="Arial"/>
              </a:rPr>
            </a:br>
            <a:r>
              <a:rPr lang="en-US" b="1" dirty="0">
                <a:latin typeface="Arial"/>
                <a:ea typeface="Arial"/>
                <a:cs typeface="Arial"/>
                <a:sym typeface="Arial"/>
              </a:rPr>
              <a:t>1. </a:t>
            </a:r>
            <a:r>
              <a:rPr lang="en-US" i="1" dirty="0">
                <a:latin typeface="Arial"/>
                <a:ea typeface="Arial"/>
                <a:cs typeface="Arial"/>
                <a:sym typeface="Arial"/>
              </a:rPr>
              <a:t>Gain access to new markets or opportunities. The</a:t>
            </a:r>
            <a:r>
              <a:rPr lang="en-US" dirty="0">
                <a:latin typeface="Arial"/>
                <a:ea typeface="Arial"/>
                <a:cs typeface="Arial"/>
                <a:sym typeface="Arial"/>
              </a:rPr>
              <a:t> existence of a substantial market motivates many firms to produce offerings at or near customer locations. Local production improves customer service and reduces the cost of transporting goods to buyer locations. Coca-Cola, Samsung, and Siemens all generate more sales abroad than in their home markets. The giant chip-maker Intel expects big sales from China, where incomes are still rising and few Chinese families have bought a computer yet.</a:t>
            </a:r>
          </a:p>
          <a:p>
            <a:pPr marL="0" lvl="0" indent="0" algn="l" rtl="0">
              <a:spcBef>
                <a:spcPts val="360"/>
              </a:spcBef>
              <a:spcAft>
                <a:spcPts val="0"/>
              </a:spcAft>
              <a:buNone/>
            </a:pPr>
            <a:endParaRPr lang="en-US" dirty="0"/>
          </a:p>
          <a:p>
            <a:pPr marL="0" lvl="0" indent="0" algn="l" rtl="0">
              <a:spcBef>
                <a:spcPts val="360"/>
              </a:spcBef>
              <a:spcAft>
                <a:spcPts val="0"/>
              </a:spcAft>
              <a:buNone/>
            </a:pPr>
            <a:r>
              <a:rPr lang="en-US" b="1" dirty="0">
                <a:latin typeface="Arial"/>
                <a:ea typeface="Arial"/>
                <a:cs typeface="Arial"/>
                <a:sym typeface="Arial"/>
              </a:rPr>
              <a:t>2. </a:t>
            </a:r>
            <a:r>
              <a:rPr lang="en-US" i="1" dirty="0">
                <a:latin typeface="Arial"/>
                <a:ea typeface="Arial"/>
                <a:cs typeface="Arial"/>
                <a:sym typeface="Arial"/>
              </a:rPr>
              <a:t>Follow key customers. </a:t>
            </a:r>
            <a:r>
              <a:rPr lang="en-US" dirty="0">
                <a:latin typeface="Arial"/>
                <a:ea typeface="Arial"/>
                <a:cs typeface="Arial"/>
                <a:sym typeface="Arial"/>
              </a:rPr>
              <a:t>Firms often follow their key customers abroad to preempt other vendors from serving them. Establishing local operations also positions the firm to better serve customer needs. </a:t>
            </a:r>
            <a:r>
              <a:rPr lang="en-US" dirty="0" err="1">
                <a:latin typeface="Arial"/>
                <a:ea typeface="Arial"/>
                <a:cs typeface="Arial"/>
                <a:sym typeface="Arial"/>
              </a:rPr>
              <a:t>Tradegar</a:t>
            </a:r>
            <a:r>
              <a:rPr lang="en-US" dirty="0">
                <a:latin typeface="Arial"/>
                <a:ea typeface="Arial"/>
                <a:cs typeface="Arial"/>
                <a:sym typeface="Arial"/>
              </a:rPr>
              <a:t> Industries supplies the plastic that its customer Procter &amp; Gamble uses to manufacture disposable diapers. When P&amp;G built a plant in China, </a:t>
            </a:r>
            <a:r>
              <a:rPr lang="en-US" dirty="0" err="1">
                <a:latin typeface="Arial"/>
                <a:ea typeface="Arial"/>
                <a:cs typeface="Arial"/>
                <a:sym typeface="Arial"/>
              </a:rPr>
              <a:t>Tradegar</a:t>
            </a:r>
            <a:r>
              <a:rPr lang="en-US" dirty="0">
                <a:latin typeface="Arial"/>
                <a:ea typeface="Arial"/>
                <a:cs typeface="Arial"/>
                <a:sym typeface="Arial"/>
              </a:rPr>
              <a:t> established production there as well. </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5076903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0" fontAlgn="base" latinLnBrk="0" hangingPunct="0">
              <a:lnSpc>
                <a:spcPct val="100000"/>
              </a:lnSpc>
              <a:spcBef>
                <a:spcPct val="30000"/>
              </a:spcBef>
              <a:spcAft>
                <a:spcPct val="0"/>
              </a:spcAft>
              <a:buClr>
                <a:srgbClr val="000000"/>
              </a:buClr>
              <a:buSzPct val="100000"/>
              <a:buFont typeface="Arial" charset="0"/>
              <a:buNone/>
              <a:tabLst/>
              <a:defRPr/>
            </a:pPr>
            <a:r>
              <a:rPr lang="en-US" b="1" dirty="0">
                <a:latin typeface="Arial"/>
                <a:ea typeface="Arial"/>
                <a:cs typeface="Arial"/>
                <a:sym typeface="Arial"/>
              </a:rPr>
              <a:t>3. </a:t>
            </a:r>
            <a:r>
              <a:rPr lang="en-US" i="1" dirty="0">
                <a:latin typeface="Arial"/>
                <a:ea typeface="Arial"/>
                <a:cs typeface="Arial"/>
                <a:sym typeface="Arial"/>
              </a:rPr>
              <a:t>Compete with key rivals in their own markets. </a:t>
            </a:r>
            <a:r>
              <a:rPr lang="en-US" dirty="0">
                <a:latin typeface="Arial"/>
                <a:ea typeface="Arial"/>
                <a:cs typeface="Arial"/>
                <a:sym typeface="Arial"/>
              </a:rPr>
              <a:t>Some M N E s may choose to confront current or potential competitors directly, in the competitors’ home market. The strategic purpose is to weaken the competitor by forcing it to expend resources to defend its market. In the earth-moving equipment industry, Caterpillar entered a joint venture with Mitsubishi to put pressure on the market share and profitability of their common rival, Japan’s Komatsu. The expenditure of substantial resources to defend its home market hampered Komatsu’s ability to expand its activities abroad.</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145016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70000"/>
              </a:lnSpc>
              <a:spcBef>
                <a:spcPts val="0"/>
              </a:spcBef>
              <a:spcAft>
                <a:spcPts val="0"/>
              </a:spcAft>
              <a:buNone/>
            </a:pPr>
            <a:r>
              <a:rPr lang="en-US" sz="1200" b="1" dirty="0">
                <a:latin typeface="Arial"/>
                <a:ea typeface="Arial"/>
                <a:cs typeface="Arial"/>
                <a:sym typeface="Arial"/>
              </a:rPr>
              <a:t>Resource- or Asset-Seeking Motives</a:t>
            </a:r>
            <a:endParaRPr lang="en-US" sz="1200" dirty="0">
              <a:latin typeface="Arial"/>
              <a:ea typeface="Arial"/>
              <a:cs typeface="Arial"/>
              <a:sym typeface="Arial"/>
            </a:endParaRPr>
          </a:p>
          <a:p>
            <a:pPr marL="0" lvl="0" indent="0" algn="l" rtl="0">
              <a:lnSpc>
                <a:spcPct val="70000"/>
              </a:lnSpc>
              <a:spcBef>
                <a:spcPts val="333"/>
              </a:spcBef>
              <a:spcAft>
                <a:spcPts val="0"/>
              </a:spcAft>
              <a:buNone/>
            </a:pPr>
            <a:r>
              <a:rPr lang="en-US" sz="1200" dirty="0">
                <a:latin typeface="Arial"/>
                <a:ea typeface="Arial"/>
                <a:cs typeface="Arial"/>
                <a:sym typeface="Arial"/>
              </a:rPr>
              <a:t>Firms frequently want to acquire production factors that are more abundant or less costly in a foreign market. They may also seek complementary resources and capabilities of partner companies headquartered abroad. Specifically, F D I or collaborative ventures may be motivated by the firm’s desire to attain the following assets.</a:t>
            </a:r>
          </a:p>
          <a:p>
            <a:pPr marL="0" lvl="0" indent="0" algn="l" rtl="0">
              <a:lnSpc>
                <a:spcPct val="70000"/>
              </a:lnSpc>
              <a:spcBef>
                <a:spcPts val="333"/>
              </a:spcBef>
              <a:spcAft>
                <a:spcPts val="0"/>
              </a:spcAft>
              <a:buNone/>
            </a:pPr>
            <a:endParaRPr lang="en-US" dirty="0"/>
          </a:p>
          <a:p>
            <a:pPr marL="0" lvl="0" indent="0" algn="l" rtl="0">
              <a:lnSpc>
                <a:spcPct val="70000"/>
              </a:lnSpc>
              <a:spcBef>
                <a:spcPts val="333"/>
              </a:spcBef>
              <a:spcAft>
                <a:spcPts val="0"/>
              </a:spcAft>
              <a:buNone/>
            </a:pPr>
            <a:r>
              <a:rPr lang="en-US" sz="1200" b="1" dirty="0">
                <a:latin typeface="Arial"/>
                <a:ea typeface="Arial"/>
                <a:cs typeface="Arial"/>
                <a:sym typeface="Arial"/>
              </a:rPr>
              <a:t>1. </a:t>
            </a:r>
            <a:r>
              <a:rPr lang="en-US" sz="1200" i="1" dirty="0">
                <a:latin typeface="Arial"/>
                <a:ea typeface="Arial"/>
                <a:cs typeface="Arial"/>
                <a:sym typeface="Arial"/>
              </a:rPr>
              <a:t>Raw materials needed in extractive and agricultural industries. </a:t>
            </a:r>
            <a:r>
              <a:rPr lang="en-US" sz="1200" dirty="0">
                <a:latin typeface="Arial"/>
                <a:ea typeface="Arial"/>
                <a:cs typeface="Arial"/>
                <a:sym typeface="Arial"/>
              </a:rPr>
              <a:t>Firms in the mining, oil, and crop-growing industries have little choice but to go where the raw materials are located. In the wine industry, companies establish wineries in countries suited for growing grapes, such as France and Chile. Oil companies establish refineries in countries with abundant petroleum reserves such as Kuwait.</a:t>
            </a:r>
          </a:p>
          <a:p>
            <a:pPr marL="0" lvl="0" indent="0" algn="l" rtl="0">
              <a:lnSpc>
                <a:spcPct val="70000"/>
              </a:lnSpc>
              <a:spcBef>
                <a:spcPts val="333"/>
              </a:spcBef>
              <a:spcAft>
                <a:spcPts val="0"/>
              </a:spcAft>
              <a:buNone/>
            </a:pPr>
            <a:endParaRPr lang="en-US" dirty="0"/>
          </a:p>
          <a:p>
            <a:pPr marL="0" lvl="0" indent="0" algn="l" rtl="0">
              <a:lnSpc>
                <a:spcPct val="70000"/>
              </a:lnSpc>
              <a:spcBef>
                <a:spcPts val="333"/>
              </a:spcBef>
              <a:spcAft>
                <a:spcPts val="0"/>
              </a:spcAft>
              <a:buNone/>
            </a:pPr>
            <a:r>
              <a:rPr lang="en-US" sz="1200" b="1" dirty="0">
                <a:latin typeface="Arial"/>
                <a:ea typeface="Arial"/>
                <a:cs typeface="Arial"/>
                <a:sym typeface="Arial"/>
              </a:rPr>
              <a:t>2. </a:t>
            </a:r>
            <a:r>
              <a:rPr lang="en-US" sz="1200" i="1" dirty="0">
                <a:latin typeface="Arial"/>
                <a:ea typeface="Arial"/>
                <a:cs typeface="Arial"/>
                <a:sym typeface="Arial"/>
              </a:rPr>
              <a:t>Knowledge or other assets. </a:t>
            </a:r>
            <a:r>
              <a:rPr lang="en-US" sz="1200" dirty="0">
                <a:latin typeface="Arial"/>
                <a:ea typeface="Arial"/>
                <a:cs typeface="Arial"/>
                <a:sym typeface="Arial"/>
              </a:rPr>
              <a:t>By establishing a local presence through F D I, the firm is better positioned to deepen its understanding of target markets. F D I provides the foreign firm better access to market knowledge, customers, distribution systems, and control over local operations. By collaborating in R&amp;D, manufacturing, and marketing, the focal firm can benefit from the partner’s know-how. When Whirlpool entered Europe, it partnered with Philips to benefit from the latter’s well-known brand name and distribution network. General Motors and Toyota jointly established N U M </a:t>
            </a:r>
            <a:r>
              <a:rPr lang="en-US" sz="1200" dirty="0" err="1">
                <a:latin typeface="Arial"/>
                <a:ea typeface="Arial"/>
                <a:cs typeface="Arial"/>
                <a:sym typeface="Arial"/>
              </a:rPr>
              <a:t>M</a:t>
            </a:r>
            <a:r>
              <a:rPr lang="en-US" sz="1200" dirty="0">
                <a:latin typeface="Arial"/>
                <a:ea typeface="Arial"/>
                <a:cs typeface="Arial"/>
                <a:sym typeface="Arial"/>
              </a:rPr>
              <a:t> I, Inc., in California to build vehicles for the U.S. market. Through this venture, G M learned about Toyota’s production techniques for manufacturing high-quality vehicles. Toyota obtained technology and design expertise from G M that allowed it to develop cars better suited for U.S. consumers. </a:t>
            </a:r>
          </a:p>
          <a:p>
            <a:pPr marL="0" lvl="0" indent="0" algn="l" rtl="0">
              <a:lnSpc>
                <a:spcPct val="70000"/>
              </a:lnSpc>
              <a:spcBef>
                <a:spcPts val="333"/>
              </a:spcBef>
              <a:spcAft>
                <a:spcPts val="0"/>
              </a:spcAft>
              <a:buNone/>
            </a:pPr>
            <a:endParaRPr lang="en-US" dirty="0"/>
          </a:p>
          <a:p>
            <a:pPr marL="0" lvl="0" indent="0" algn="l" rtl="0">
              <a:lnSpc>
                <a:spcPct val="70000"/>
              </a:lnSpc>
              <a:spcBef>
                <a:spcPts val="333"/>
              </a:spcBef>
              <a:spcAft>
                <a:spcPts val="0"/>
              </a:spcAft>
              <a:buNone/>
            </a:pPr>
            <a:r>
              <a:rPr lang="en-US" sz="1200" b="1" dirty="0">
                <a:latin typeface="Arial"/>
                <a:ea typeface="Arial"/>
                <a:cs typeface="Arial"/>
                <a:sym typeface="Arial"/>
              </a:rPr>
              <a:t>3. </a:t>
            </a:r>
            <a:r>
              <a:rPr lang="en-US" sz="1200" i="1" dirty="0">
                <a:latin typeface="Arial"/>
                <a:ea typeface="Arial"/>
                <a:cs typeface="Arial"/>
                <a:sym typeface="Arial"/>
              </a:rPr>
              <a:t>Technological and managerial know-how. </a:t>
            </a:r>
            <a:r>
              <a:rPr lang="en-US" sz="1200" dirty="0">
                <a:latin typeface="Arial"/>
                <a:ea typeface="Arial"/>
                <a:cs typeface="Arial"/>
                <a:sym typeface="Arial"/>
              </a:rPr>
              <a:t>The firm may benefit by establishing a presence in a key industrial cluster, such as the robotics industry in Japan, chemicals in Germany, fashion in Italy, or software in the United States. Companies can obtain many advantages from locating at the hub of knowledge development and innovation in a given industry. Denmark, Finland, Israel, New Zealand, Sweden, and the United States are considered ideal for R&amp;D in the biotechnology industry because they all have abundant pools of biotech knowledge workers.</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4650861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b="1" dirty="0">
                <a:latin typeface="Arial"/>
                <a:ea typeface="Arial"/>
                <a:cs typeface="Arial"/>
                <a:sym typeface="Arial"/>
              </a:rPr>
              <a:t>Efficiency-Seeking Motives</a:t>
            </a:r>
            <a:endParaRPr lang="en-US" dirty="0">
              <a:latin typeface="Arial"/>
              <a:ea typeface="Arial"/>
              <a:cs typeface="Arial"/>
              <a:sym typeface="Arial"/>
            </a:endParaRPr>
          </a:p>
          <a:p>
            <a:pPr marL="0" lvl="0" indent="0" algn="l" rtl="0">
              <a:spcBef>
                <a:spcPts val="360"/>
              </a:spcBef>
              <a:spcAft>
                <a:spcPts val="0"/>
              </a:spcAft>
              <a:buNone/>
            </a:pPr>
            <a:r>
              <a:rPr lang="en-US" dirty="0">
                <a:latin typeface="Arial"/>
                <a:ea typeface="Arial"/>
                <a:cs typeface="Arial"/>
                <a:sym typeface="Arial"/>
              </a:rPr>
              <a:t>M N E s usually concentrate production in only a few locations as a way to increase the efficiency of manufacturing.10 Firms typically disseminate their best practices in production and other activities to all their foreign subsidiaries to increase the efficiency of their operations worldwide. Many develop global brands to increase the efficiency of marketing activities. There are four major efficiency-seeking motives:</a:t>
            </a:r>
          </a:p>
          <a:p>
            <a:pPr marL="0" lvl="0" indent="0" algn="l" rtl="0">
              <a:spcBef>
                <a:spcPts val="360"/>
              </a:spcBef>
              <a:spcAft>
                <a:spcPts val="0"/>
              </a:spcAft>
              <a:buNone/>
            </a:pPr>
            <a:endParaRPr lang="en-US" dirty="0"/>
          </a:p>
          <a:p>
            <a:pPr marL="0" lvl="0" indent="0" algn="l" rtl="0">
              <a:spcBef>
                <a:spcPts val="360"/>
              </a:spcBef>
              <a:spcAft>
                <a:spcPts val="0"/>
              </a:spcAft>
              <a:buNone/>
            </a:pPr>
            <a:r>
              <a:rPr lang="en-US" b="1" dirty="0">
                <a:latin typeface="Arial"/>
                <a:ea typeface="Arial"/>
                <a:cs typeface="Arial"/>
                <a:sym typeface="Arial"/>
              </a:rPr>
              <a:t>1. </a:t>
            </a:r>
            <a:r>
              <a:rPr lang="en-US" i="1" dirty="0">
                <a:latin typeface="Arial"/>
                <a:ea typeface="Arial"/>
                <a:cs typeface="Arial"/>
                <a:sym typeface="Arial"/>
              </a:rPr>
              <a:t>Reduce sourcing and production costs by accessing inexpensive labor and other cheap inputs to the production process. </a:t>
            </a:r>
            <a:r>
              <a:rPr lang="en-US" dirty="0">
                <a:latin typeface="Arial"/>
                <a:ea typeface="Arial"/>
                <a:cs typeface="Arial"/>
                <a:sym typeface="Arial"/>
              </a:rPr>
              <a:t>This motive accounts for the massive investment by foreign firms in factories and service-producing facilities in China, Mexico, Eastern Europe, and India. M N E s establish factories in such locations to reduce production costs. </a:t>
            </a:r>
          </a:p>
          <a:p>
            <a:pPr marL="0" lvl="0" indent="0" algn="l" rtl="0">
              <a:spcBef>
                <a:spcPts val="360"/>
              </a:spcBef>
              <a:spcAft>
                <a:spcPts val="0"/>
              </a:spcAft>
              <a:buNone/>
            </a:pPr>
            <a:endParaRPr lang="en-US" dirty="0"/>
          </a:p>
          <a:p>
            <a:pPr marL="0" lvl="0" indent="0" algn="l" rtl="0">
              <a:spcBef>
                <a:spcPts val="360"/>
              </a:spcBef>
              <a:spcAft>
                <a:spcPts val="0"/>
              </a:spcAft>
              <a:buNone/>
            </a:pPr>
            <a:r>
              <a:rPr lang="en-US" b="1" dirty="0">
                <a:latin typeface="Arial"/>
                <a:ea typeface="Arial"/>
                <a:cs typeface="Arial"/>
                <a:sym typeface="Arial"/>
              </a:rPr>
              <a:t>2. </a:t>
            </a:r>
            <a:r>
              <a:rPr lang="en-US" i="1" dirty="0">
                <a:latin typeface="Arial"/>
                <a:ea typeface="Arial"/>
                <a:cs typeface="Arial"/>
                <a:sym typeface="Arial"/>
              </a:rPr>
              <a:t>Locate production near customers. </a:t>
            </a:r>
            <a:r>
              <a:rPr lang="en-US" dirty="0">
                <a:latin typeface="Arial"/>
                <a:ea typeface="Arial"/>
                <a:cs typeface="Arial"/>
                <a:sym typeface="Arial"/>
              </a:rPr>
              <a:t>In industries that need to be especially sensitive to customer needs or in which tastes change rapidly, managers often locate factories or assembly operations near important customers. Zara and Forever 21 locate much of their garment production in key fashion markets such as Europe. Production is more expensive, but the clothing gets into shops faster and more closely represents the latest fashion trends.</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5413586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b="1" dirty="0">
                <a:latin typeface="Arial"/>
                <a:ea typeface="Arial"/>
                <a:cs typeface="Arial"/>
                <a:sym typeface="Arial"/>
              </a:rPr>
              <a:t>3. </a:t>
            </a:r>
            <a:r>
              <a:rPr lang="en-US" i="1" dirty="0">
                <a:latin typeface="Arial"/>
                <a:ea typeface="Arial"/>
                <a:cs typeface="Arial"/>
                <a:sym typeface="Arial"/>
              </a:rPr>
              <a:t>Take advantage of government incentives. </a:t>
            </a:r>
            <a:r>
              <a:rPr lang="en-US" dirty="0">
                <a:latin typeface="Arial"/>
                <a:ea typeface="Arial"/>
                <a:cs typeface="Arial"/>
                <a:sym typeface="Arial"/>
              </a:rPr>
              <a:t>In addition to restricting imports, governments frequently offer subsidies and tax concessions to foreign firms to encourage them to invest locally. Governments encourage inward F D I because it provides local jobs and capital, increases tax revenue, and transfers skills and technologies.</a:t>
            </a:r>
          </a:p>
          <a:p>
            <a:pPr marL="0" lvl="0" indent="0" algn="l" rtl="0">
              <a:spcBef>
                <a:spcPts val="0"/>
              </a:spcBef>
              <a:spcAft>
                <a:spcPts val="0"/>
              </a:spcAft>
              <a:buNone/>
            </a:pPr>
            <a:endParaRPr lang="en-US" dirty="0"/>
          </a:p>
          <a:p>
            <a:pPr marL="0" lvl="0" indent="0" algn="l" rtl="0">
              <a:spcBef>
                <a:spcPts val="360"/>
              </a:spcBef>
              <a:spcAft>
                <a:spcPts val="0"/>
              </a:spcAft>
              <a:buNone/>
            </a:pPr>
            <a:r>
              <a:rPr lang="en-US" b="1" dirty="0">
                <a:latin typeface="Arial"/>
                <a:ea typeface="Arial"/>
                <a:cs typeface="Arial"/>
                <a:sym typeface="Arial"/>
              </a:rPr>
              <a:t>4. </a:t>
            </a:r>
            <a:r>
              <a:rPr lang="en-US" i="1" dirty="0">
                <a:latin typeface="Arial"/>
                <a:ea typeface="Arial"/>
                <a:cs typeface="Arial"/>
                <a:sym typeface="Arial"/>
              </a:rPr>
              <a:t>Avoid trade barriers. </a:t>
            </a:r>
            <a:r>
              <a:rPr lang="en-US" dirty="0">
                <a:latin typeface="Arial"/>
                <a:ea typeface="Arial"/>
                <a:cs typeface="Arial"/>
                <a:sym typeface="Arial"/>
              </a:rPr>
              <a:t>Companies often enter markets via F D I to avoid tariffs and other trade barriers, as these usually apply only to exporting. By establishing a physical presence inside a country or an economic bloc, the foreign company obtains the same advantages as local firms. Partnering with a local firm also helps overcome regulations or trade barriers and satisfy local content rules. The desire to avoid trade barriers helps explain why numerous Japanese automakers established factories in the United States. </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9351602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
                <a:schemeClr val="dk1"/>
              </a:buClr>
              <a:buSzPts val="1200"/>
              <a:buFont typeface="Arial"/>
              <a:buNone/>
              <a:tabLst/>
              <a:defRPr/>
            </a:pP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6123392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
                <a:schemeClr val="dk1"/>
              </a:buClr>
              <a:buSzPts val="1200"/>
              <a:buFont typeface="Arial"/>
              <a:buNone/>
              <a:tabLst/>
              <a:defRPr/>
            </a:pP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701333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70000"/>
              </a:lnSpc>
              <a:spcBef>
                <a:spcPts val="0"/>
              </a:spcBef>
              <a:spcAft>
                <a:spcPts val="0"/>
              </a:spcAft>
              <a:buNone/>
            </a:pPr>
            <a:r>
              <a:rPr lang="en-US" sz="1200" b="1" dirty="0">
                <a:latin typeface="Arial"/>
                <a:ea typeface="Arial"/>
                <a:cs typeface="Arial"/>
                <a:sym typeface="Arial"/>
              </a:rPr>
              <a:t>Greenfield investment </a:t>
            </a:r>
            <a:r>
              <a:rPr lang="en-US" sz="1200" dirty="0">
                <a:latin typeface="Arial"/>
                <a:ea typeface="Arial"/>
                <a:cs typeface="Arial"/>
                <a:sym typeface="Arial"/>
              </a:rPr>
              <a:t>occurs when a firm invests to build a new manufacturing, marketing, or administrative facility, as opposed to acquiring existing facilities. As the name </a:t>
            </a:r>
            <a:r>
              <a:rPr lang="en-US" sz="1200" i="1" dirty="0">
                <a:latin typeface="Arial"/>
                <a:ea typeface="Arial"/>
                <a:cs typeface="Arial"/>
                <a:sym typeface="Arial"/>
              </a:rPr>
              <a:t>greenfield </a:t>
            </a:r>
            <a:r>
              <a:rPr lang="en-US" sz="1200" dirty="0">
                <a:latin typeface="Arial"/>
                <a:ea typeface="Arial"/>
                <a:cs typeface="Arial"/>
                <a:sym typeface="Arial"/>
              </a:rPr>
              <a:t>implies, the investing firm typically buys an empty plot of land and builds a production plant, marketing subsidiary, or other facility there for its own use. This is exactly what Ford did, for example, when it established its large factory outside Valencia, Spain.</a:t>
            </a:r>
            <a:endParaRPr lang="en-US" dirty="0"/>
          </a:p>
          <a:p>
            <a:pPr marL="0" lvl="0" indent="0" algn="l" rtl="0">
              <a:lnSpc>
                <a:spcPct val="70000"/>
              </a:lnSpc>
              <a:spcBef>
                <a:spcPts val="333"/>
              </a:spcBef>
              <a:spcAft>
                <a:spcPts val="0"/>
              </a:spcAft>
              <a:buNone/>
            </a:pPr>
            <a:endParaRPr lang="en-US" sz="1200" dirty="0">
              <a:latin typeface="Arial"/>
              <a:ea typeface="Arial"/>
              <a:cs typeface="Arial"/>
              <a:sym typeface="Arial"/>
            </a:endParaRPr>
          </a:p>
          <a:p>
            <a:pPr marL="0" lvl="0" indent="0" algn="l" rtl="0">
              <a:lnSpc>
                <a:spcPct val="70000"/>
              </a:lnSpc>
              <a:spcBef>
                <a:spcPts val="333"/>
              </a:spcBef>
              <a:spcAft>
                <a:spcPts val="0"/>
              </a:spcAft>
              <a:buNone/>
            </a:pPr>
            <a:r>
              <a:rPr lang="en-US" sz="1200" dirty="0">
                <a:latin typeface="Arial"/>
                <a:ea typeface="Arial"/>
                <a:cs typeface="Arial"/>
                <a:sym typeface="Arial"/>
              </a:rPr>
              <a:t>An </a:t>
            </a:r>
            <a:r>
              <a:rPr lang="en-US" sz="1200" b="1" dirty="0">
                <a:latin typeface="Arial"/>
                <a:ea typeface="Arial"/>
                <a:cs typeface="Arial"/>
                <a:sym typeface="Arial"/>
              </a:rPr>
              <a:t>acquisition </a:t>
            </a:r>
            <a:r>
              <a:rPr lang="en-US" sz="1200" dirty="0">
                <a:latin typeface="Arial"/>
                <a:ea typeface="Arial"/>
                <a:cs typeface="Arial"/>
                <a:sym typeface="Arial"/>
              </a:rPr>
              <a:t>is the purchase of an existing company or facility. When Home Depot entered Mexico, it acquired the stores and assets of an existing retailer of building products, Home Mart. The Chinese personal computer manufacturer Lenovo made an ambitious acquisition of I B M’s P C business, which now accounts for some two-thirds of its annual revenue. The deal provided Lenovo with valuable strategic assets such as brands and distribution networks and helped it rapidly extend its market reach and become a global player. Multinational enterprises may favor acquisition over greenfield F D I because, by acquiring an existing company, they gain access to its accumulated assets. They gain ownership of existing assets such as plant, equipment, and human resources, as well as access to existing suppliers and customers. Unlike greenfield F D I, acquisition provides an immediate stream of revenue and accelerates the M N E’s return on investment.</a:t>
            </a:r>
            <a:endParaRPr lang="en-US" dirty="0"/>
          </a:p>
          <a:p>
            <a:pPr marL="0" lvl="0" indent="0" algn="l" rtl="0">
              <a:lnSpc>
                <a:spcPct val="70000"/>
              </a:lnSpc>
              <a:spcBef>
                <a:spcPts val="333"/>
              </a:spcBef>
              <a:spcAft>
                <a:spcPts val="0"/>
              </a:spcAft>
              <a:buNone/>
            </a:pPr>
            <a:endParaRPr lang="en-US" sz="1200" dirty="0">
              <a:latin typeface="Arial"/>
              <a:ea typeface="Arial"/>
              <a:cs typeface="Arial"/>
              <a:sym typeface="Arial"/>
            </a:endParaRPr>
          </a:p>
          <a:p>
            <a:pPr marL="0" lvl="0" indent="0" algn="l" rtl="0">
              <a:lnSpc>
                <a:spcPct val="70000"/>
              </a:lnSpc>
              <a:spcBef>
                <a:spcPts val="333"/>
              </a:spcBef>
              <a:spcAft>
                <a:spcPts val="0"/>
              </a:spcAft>
              <a:buNone/>
            </a:pPr>
            <a:r>
              <a:rPr lang="en-US" sz="1200" dirty="0">
                <a:latin typeface="Arial"/>
                <a:ea typeface="Arial"/>
                <a:cs typeface="Arial"/>
                <a:sym typeface="Arial"/>
              </a:rPr>
              <a:t>A </a:t>
            </a:r>
            <a:r>
              <a:rPr lang="en-US" sz="1200" b="1" dirty="0">
                <a:latin typeface="Arial"/>
                <a:ea typeface="Arial"/>
                <a:cs typeface="Arial"/>
                <a:sym typeface="Arial"/>
              </a:rPr>
              <a:t>merger </a:t>
            </a:r>
            <a:r>
              <a:rPr lang="en-US" sz="1200" dirty="0">
                <a:latin typeface="Arial"/>
                <a:ea typeface="Arial"/>
                <a:cs typeface="Arial"/>
                <a:sym typeface="Arial"/>
              </a:rPr>
              <a:t>is a special type of acquisition in which two companies join to form a new, larger firm. Mergers are more common between companies of similar size because they are capable of integrating their operations on a relatively equal basis. One example is the merger between Lucent Technologies in the United States and Alcatel in France. This deal created the world’s largest firm in the global telecommunications equipment industry (Alcatel-Lucent). Like joint ventures, mergers can generate many positive outcomes, including </a:t>
            </a:r>
            <a:r>
              <a:rPr lang="en-US" sz="1200" dirty="0" err="1">
                <a:latin typeface="Arial"/>
                <a:ea typeface="Arial"/>
                <a:cs typeface="Arial"/>
                <a:sym typeface="Arial"/>
              </a:rPr>
              <a:t>interpartner</a:t>
            </a:r>
            <a:r>
              <a:rPr lang="en-US" sz="1200" dirty="0">
                <a:latin typeface="Arial"/>
                <a:ea typeface="Arial"/>
                <a:cs typeface="Arial"/>
                <a:sym typeface="Arial"/>
              </a:rPr>
              <a:t> learning and resource sharing, increased economies of scale, cost savings from elimination of duplicative activities, a broader range of products and services for sale, and greater market power. Cross-border mergers confront many challenges due to national differences in culture, competition policy, corporate values, and operating methods. Success requires substantial advance research, planning, and commitment. </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9402148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60000"/>
              </a:lnSpc>
              <a:spcBef>
                <a:spcPts val="0"/>
              </a:spcBef>
              <a:spcAft>
                <a:spcPts val="0"/>
              </a:spcAft>
              <a:buClrTx/>
              <a:buSzTx/>
              <a:buFontTx/>
              <a:buNone/>
              <a:tabLst/>
              <a:defRPr/>
            </a:pPr>
            <a:r>
              <a:rPr lang="en-US" noProof="0"/>
              <a:t>One way to illustrate the pattern of F D I worldwide is to examine F D I stock. F D I stock refers to the total value of assets that M N E s own in foreign countries. The map portrays the volume of F D I stock per capita by country. High levels of F D I stock suggest that a country is a popular investment destination and that M N E managers are confident about the country’s economic health and prospects. </a:t>
            </a:r>
          </a:p>
          <a:p>
            <a:pPr marL="0" marR="0" lvl="0" indent="0" algn="l" defTabSz="457200" rtl="0" eaLnBrk="1" fontAlgn="auto" latinLnBrk="0" hangingPunct="1">
              <a:lnSpc>
                <a:spcPct val="60000"/>
              </a:lnSpc>
              <a:spcBef>
                <a:spcPts val="0"/>
              </a:spcBef>
              <a:spcAft>
                <a:spcPts val="0"/>
              </a:spcAft>
              <a:buClrTx/>
              <a:buSzTx/>
              <a:buFontTx/>
              <a:buNone/>
              <a:tabLst/>
              <a:defRPr/>
            </a:pPr>
            <a:endParaRPr lang="en-US" noProof="0"/>
          </a:p>
          <a:p>
            <a:pPr marL="0" marR="0" lvl="0" indent="0" algn="l" defTabSz="457200" rtl="0" eaLnBrk="1" fontAlgn="auto" latinLnBrk="0" hangingPunct="1">
              <a:lnSpc>
                <a:spcPct val="60000"/>
              </a:lnSpc>
              <a:spcBef>
                <a:spcPts val="0"/>
              </a:spcBef>
              <a:spcAft>
                <a:spcPts val="0"/>
              </a:spcAft>
              <a:buClrTx/>
              <a:buSzTx/>
              <a:buFontTx/>
              <a:buNone/>
              <a:tabLst/>
              <a:defRPr/>
            </a:pPr>
            <a:r>
              <a:rPr lang="en-US" noProof="0"/>
              <a:t>Long Description:</a:t>
            </a:r>
          </a:p>
          <a:p>
            <a:pPr marL="0" marR="0" lvl="0" indent="0" algn="l" defTabSz="457200" rtl="0" eaLnBrk="1" fontAlgn="auto" latinLnBrk="0" hangingPunct="1">
              <a:lnSpc>
                <a:spcPct val="60000"/>
              </a:lnSpc>
              <a:spcBef>
                <a:spcPts val="0"/>
              </a:spcBef>
              <a:spcAft>
                <a:spcPts val="0"/>
              </a:spcAft>
              <a:buClrTx/>
              <a:buSzTx/>
              <a:buFontTx/>
              <a:buNone/>
              <a:tabLst/>
              <a:defRPr/>
            </a:pPr>
            <a:r>
              <a:rPr lang="en-US" sz="1200" b="0" i="0" u="none" strike="noStrike" kern="1200" cap="none" noProof="0">
                <a:solidFill>
                  <a:schemeClr val="dk1"/>
                </a:solidFill>
                <a:effectLst/>
                <a:latin typeface="Arial"/>
                <a:ea typeface="Arial"/>
                <a:cs typeface="Arial"/>
                <a:sym typeface="Arial"/>
              </a:rPr>
              <a:t>Seven sets of data are the F D I stock per capita in U.S. dollars plotted in the map. Greater than 15,000: Alaska; Canada; United States of America; Iceland; United Kingdom; Norway; Sweden; Finland; Estonia; Denmark; Ireland; Netherlands; Spain; Portugal; Cyprus; Australia; New Caledonia; New Zealand; Belgium; Czech Republic; Austria; United Arab Emirates; 12,001 to 15,000: Panama; Guyana; Suriname; Germany; Belgium; Luxembourg; France; Switzerland; Monaco; Latvia; Lebanon; 9,001 to 12,000: Chile; Lithuania; Slovakia; Hungary; Equatorial Guinea; 6,001 to 9,000: Jamaica; Trinidad and Tobago; Uruguay; Poland; Slovenia; Croatia; San Marino; Bosnia; Herzegovina; Italy; Albania; Serbia; Montenegro; Bulgaria; Kosovo; Macedonia; Kazakhstan; Mongolia; Turkmenistan; Uzbekistan; Kuwait; Bahrain; Qatar; Saudi Arabia; Oman; Congo Republic; Gabon; Fiji; 3,001 to 6,000: Mexico; Dominican Republic; Colombia; Peru; Russia; Moldova; Romania; Greece; Israel; Jordan; Georgia; Azerbaijan; Thailand; Malaysia; Singapore; Brunei Darussalam; South Korea; Taiwan; 0 to 3,000: Guatemala; Belize; El Salvador; Honduras; Nicaragua; Haiti; Venezuela; Ecuador; Brazil; Bolivia; Paraguay; Argentina; Belarus; Ukraine; South Africa; Lesotho; Botswana; Namibia; Zimbabwe; Mozambique; Malawi; Zambia; Angola; Tanzania; Burundi; Rwanda; Kenya; Uganda; Democratic Congo Republic; Kenya; Uganda; Cameroon; Central African Republic; South Sudan; Somalia; Ethiopia; Cote D’Ivoire; Gambia; Djibouti; Eritrea; North Sudan; Chad; Egypt; Tunisia; Algeria; Morocco; Mauritania; Mali; Niger; Senegal; Guinea-Bissau; Guinea; Sierra Leone; Liberia; Burkina Faso; Ghana; Togo; Benin; Nigeria; Yemen; Albania; Greece; Turkey; Armenia; Syria; Iraq; Iran; Uzbekistan; Kyrgyzstan; Tajikistan; Afghanistan; Pakistan; China; Nepal; Bhutan; Bangladesh; Myanmar; India; Sri Lanka; Myanmar (Burma); Laos; Vietnam; Cambodia; North Korea; Japan; Philippines; Indonesia; Papua New Guinea; Solomon Islands; Madagascar; no data: Greenland; Cuba; Swaziland; French Guiana; Falkland Islands or Malvinas; Western Sahara; Timor-Leste.</a:t>
            </a:r>
            <a:r>
              <a:rPr lang="en-US" noProof="0"/>
              <a:t>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499220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80000"/>
              </a:lnSpc>
              <a:spcBef>
                <a:spcPts val="0"/>
              </a:spcBef>
              <a:spcAft>
                <a:spcPts val="0"/>
              </a:spcAft>
              <a:buNone/>
            </a:pPr>
            <a:r>
              <a:rPr lang="en-US" sz="1200" dirty="0">
                <a:latin typeface="Arial"/>
                <a:ea typeface="Arial"/>
                <a:cs typeface="Arial"/>
                <a:sym typeface="Arial"/>
              </a:rPr>
              <a:t>Control is accomplished through full or partial ownership, resulting in a commensurate degree of control over decision making on such issues as product development, expansion, and profit distribution. Firms can choose between a wholly owned or joint venture to secure control, which also determines the extent of their financial commitment. If the focal firm is pursuing partial ownership in an existing firm, known as </a:t>
            </a:r>
            <a:r>
              <a:rPr lang="en-US" sz="1200" b="1" dirty="0">
                <a:latin typeface="Arial"/>
                <a:ea typeface="Arial"/>
                <a:cs typeface="Arial"/>
                <a:sym typeface="Arial"/>
              </a:rPr>
              <a:t>equity participation</a:t>
            </a:r>
            <a:r>
              <a:rPr lang="en-US" sz="1200" dirty="0">
                <a:latin typeface="Arial"/>
                <a:ea typeface="Arial"/>
                <a:cs typeface="Arial"/>
                <a:sym typeface="Arial"/>
              </a:rPr>
              <a:t>.</a:t>
            </a:r>
          </a:p>
          <a:p>
            <a:pPr marL="0" lvl="0" indent="0" algn="l" rtl="0">
              <a:lnSpc>
                <a:spcPct val="80000"/>
              </a:lnSpc>
              <a:spcBef>
                <a:spcPts val="0"/>
              </a:spcBef>
              <a:spcAft>
                <a:spcPts val="0"/>
              </a:spcAft>
              <a:buNone/>
            </a:pPr>
            <a:endParaRPr lang="en-US" dirty="0"/>
          </a:p>
          <a:p>
            <a:pPr marL="0" lvl="0" indent="0" algn="l" rtl="0">
              <a:lnSpc>
                <a:spcPct val="80000"/>
              </a:lnSpc>
              <a:spcBef>
                <a:spcPts val="333"/>
              </a:spcBef>
              <a:spcAft>
                <a:spcPts val="0"/>
              </a:spcAft>
              <a:buNone/>
            </a:pPr>
            <a:r>
              <a:rPr lang="en-US" sz="1200" dirty="0">
                <a:latin typeface="Arial"/>
                <a:ea typeface="Arial"/>
                <a:cs typeface="Arial"/>
                <a:sym typeface="Arial"/>
              </a:rPr>
              <a:t>Using </a:t>
            </a:r>
            <a:r>
              <a:rPr lang="en-US" sz="1200" b="1" dirty="0">
                <a:latin typeface="Arial"/>
                <a:ea typeface="Arial"/>
                <a:cs typeface="Arial"/>
                <a:sym typeface="Arial"/>
              </a:rPr>
              <a:t>wholly owned direct investment</a:t>
            </a:r>
            <a:r>
              <a:rPr lang="en-US" sz="1200" dirty="0">
                <a:latin typeface="Arial"/>
                <a:ea typeface="Arial"/>
                <a:cs typeface="Arial"/>
                <a:sym typeface="Arial"/>
              </a:rPr>
              <a:t>,</a:t>
            </a:r>
            <a:r>
              <a:rPr lang="en-US" sz="1200" b="1" dirty="0">
                <a:latin typeface="Arial"/>
                <a:ea typeface="Arial"/>
                <a:cs typeface="Arial"/>
                <a:sym typeface="Arial"/>
              </a:rPr>
              <a:t> </a:t>
            </a:r>
            <a:r>
              <a:rPr lang="en-US" sz="1200" dirty="0">
                <a:latin typeface="Arial"/>
                <a:ea typeface="Arial"/>
                <a:cs typeface="Arial"/>
                <a:sym typeface="Arial"/>
              </a:rPr>
              <a:t>many foreign automotive firms have established fully owned manufacturing plants in the United States to serve this large market from within. In contrast to wholly owned direct investment, an </a:t>
            </a:r>
            <a:r>
              <a:rPr lang="en-US" sz="1200" b="1" dirty="0">
                <a:latin typeface="Arial"/>
                <a:ea typeface="Arial"/>
                <a:cs typeface="Arial"/>
                <a:sym typeface="Arial"/>
              </a:rPr>
              <a:t>equity joint venture </a:t>
            </a:r>
            <a:r>
              <a:rPr lang="en-US" sz="1200" dirty="0">
                <a:latin typeface="Arial"/>
                <a:ea typeface="Arial"/>
                <a:cs typeface="Arial"/>
                <a:sym typeface="Arial"/>
              </a:rPr>
              <a:t>is a type of partnership in which a separate firm is created through the investment or pooling of assets by two or more parent firms that gain joint ownership of the new legal entity. A partner in a joint venture may hold majority, equal (50–50), or minority ownership. Minority ownership provides little control over the operation.</a:t>
            </a:r>
            <a:endParaRPr lang="en-US" dirty="0"/>
          </a:p>
          <a:p>
            <a:pPr marL="0" lvl="0" indent="0" algn="l" rtl="0">
              <a:lnSpc>
                <a:spcPct val="80000"/>
              </a:lnSpc>
              <a:spcBef>
                <a:spcPts val="333"/>
              </a:spcBef>
              <a:spcAft>
                <a:spcPts val="0"/>
              </a:spcAft>
              <a:buNone/>
            </a:pPr>
            <a:r>
              <a:rPr lang="en-US" sz="1200" dirty="0">
                <a:latin typeface="Arial"/>
                <a:ea typeface="Arial"/>
                <a:cs typeface="Arial"/>
                <a:sym typeface="Arial"/>
              </a:rPr>
              <a:t>Many firms find joint ventures attractive because of the complexity of foreign markets. Collaborating with a local partner increases the foreign entrant’s ability to navigate the local market. Collaborative ventures also benefit small and medium-sized enterprises by providing them with needed capital and other assets. For example, Shanghai based Tri Star International acquired a majority stake in Illinois-based Adams Pressed Metals, a manufacturer of parts for tractors and other earth-moving equipment. The cash infusion saved forty jobs at Adams and gave Tri Star access to the U.S. market and marketing know-how.</a:t>
            </a:r>
          </a:p>
          <a:p>
            <a:pPr marL="0" lvl="0" indent="0" algn="l" rtl="0">
              <a:lnSpc>
                <a:spcPct val="80000"/>
              </a:lnSpc>
              <a:spcBef>
                <a:spcPts val="333"/>
              </a:spcBef>
              <a:spcAft>
                <a:spcPts val="0"/>
              </a:spcAft>
              <a:buNone/>
            </a:pPr>
            <a:endParaRPr lang="en-US" dirty="0"/>
          </a:p>
          <a:p>
            <a:pPr marL="0" lvl="0" indent="0" algn="l" rtl="0">
              <a:lnSpc>
                <a:spcPct val="80000"/>
              </a:lnSpc>
              <a:spcBef>
                <a:spcPts val="333"/>
              </a:spcBef>
              <a:spcAft>
                <a:spcPts val="0"/>
              </a:spcAft>
              <a:buNone/>
            </a:pPr>
            <a:r>
              <a:rPr lang="en-US" sz="1200" dirty="0">
                <a:latin typeface="Arial"/>
                <a:ea typeface="Arial"/>
                <a:cs typeface="Arial"/>
                <a:sym typeface="Arial"/>
              </a:rPr>
              <a:t>A joint venture with a local partner may sometimes be the only entry strategy available to the focal firm, as when the government of a target country seeks to protect its important industries by prohibiting 100 percent foreign ownership in local enterprises. However, governments are relaxing such regulations in most industries, and they are now relatively receptive to F D I. </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940665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dirty="0">
                <a:latin typeface="Arial"/>
                <a:ea typeface="Arial"/>
                <a:cs typeface="Arial"/>
                <a:sym typeface="Arial"/>
              </a:rPr>
              <a:t>Another way of classifying F D I is by whether integration takes place vertically or horizontally. </a:t>
            </a:r>
            <a:r>
              <a:rPr lang="en-US" b="1" dirty="0">
                <a:latin typeface="Arial"/>
                <a:ea typeface="Arial"/>
                <a:cs typeface="Arial"/>
                <a:sym typeface="Arial"/>
              </a:rPr>
              <a:t>Vertical integration </a:t>
            </a:r>
            <a:r>
              <a:rPr lang="en-US" dirty="0">
                <a:latin typeface="Arial"/>
                <a:ea typeface="Arial"/>
                <a:cs typeface="Arial"/>
                <a:sym typeface="Arial"/>
              </a:rPr>
              <a:t>is an arrangement whereby the firm owns, or seeks to own, multiple stages of a value chain for producing, selling, and delivering a product or service. Vertical F D I takes two forms. In </a:t>
            </a:r>
            <a:r>
              <a:rPr lang="en-US" i="1" dirty="0">
                <a:latin typeface="Arial"/>
                <a:ea typeface="Arial"/>
                <a:cs typeface="Arial"/>
                <a:sym typeface="Arial"/>
              </a:rPr>
              <a:t>forward </a:t>
            </a:r>
            <a:r>
              <a:rPr lang="en-US" dirty="0">
                <a:latin typeface="Arial"/>
                <a:ea typeface="Arial"/>
                <a:cs typeface="Arial"/>
                <a:sym typeface="Arial"/>
              </a:rPr>
              <a:t>vertical integration, the firm develops the capacity to sell its outputs by investing in downstream value-chain facilities—that is, in marketing and selling operations. Forward vertical integration is less common than </a:t>
            </a:r>
            <a:r>
              <a:rPr lang="en-US" i="1" dirty="0">
                <a:latin typeface="Arial"/>
                <a:ea typeface="Arial"/>
                <a:cs typeface="Arial"/>
                <a:sym typeface="Arial"/>
              </a:rPr>
              <a:t>backward </a:t>
            </a:r>
            <a:r>
              <a:rPr lang="en-US" dirty="0">
                <a:latin typeface="Arial"/>
                <a:ea typeface="Arial"/>
                <a:cs typeface="Arial"/>
                <a:sym typeface="Arial"/>
              </a:rPr>
              <a:t>vertical integration, in which the firm acquires the capacity abroad to provide inputs for its foreign or domestic production processes by investing in upstream facilities, typically factories, assembly plants, or refining operations. Firms can own both backward and forward vertical integration. In various countries, Honda owns both suppliers of car parts and dealerships that sell and distribute cars. </a:t>
            </a:r>
          </a:p>
          <a:p>
            <a:pPr marL="0" lvl="0" indent="0" algn="l" rtl="0">
              <a:spcBef>
                <a:spcPts val="0"/>
              </a:spcBef>
              <a:spcAft>
                <a:spcPts val="0"/>
              </a:spcAft>
              <a:buNone/>
            </a:pPr>
            <a:r>
              <a:rPr lang="en-US" dirty="0">
                <a:latin typeface="Arial"/>
                <a:ea typeface="Arial"/>
                <a:cs typeface="Arial"/>
                <a:sym typeface="Arial"/>
              </a:rPr>
              <a:t/>
            </a:r>
            <a:br>
              <a:rPr lang="en-US" dirty="0">
                <a:latin typeface="Arial"/>
                <a:ea typeface="Arial"/>
                <a:cs typeface="Arial"/>
                <a:sym typeface="Arial"/>
              </a:rPr>
            </a:br>
            <a:r>
              <a:rPr lang="en-US" b="1" dirty="0">
                <a:latin typeface="Arial"/>
                <a:ea typeface="Arial"/>
                <a:cs typeface="Arial"/>
                <a:sym typeface="Arial"/>
              </a:rPr>
              <a:t>Horizontal integration </a:t>
            </a:r>
            <a:r>
              <a:rPr lang="en-US" dirty="0">
                <a:latin typeface="Arial"/>
                <a:ea typeface="Arial"/>
                <a:cs typeface="Arial"/>
                <a:sym typeface="Arial"/>
              </a:rPr>
              <a:t>is an arrangement whereby the firm owns, or seeks to own, the activities performed in a single stage of its value chain. Microsoft’s primary business is developing computer software. In addition to producing operating systems, word processing, and spreadsheet software, it has also developed subsidiaries abroad that make other types of software, such as a Montreal-based firm that produces software for creating movie animations. As this example suggests, companies invest abroad in their own industry to expand their capacity and activities. A firm may acquire another firm engaged in an identical value-chain activity to achieve economies of scale, expand its product line, increase its profitability, or, in some cases, eliminate a competitor. </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712825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60000"/>
              </a:lnSpc>
              <a:spcBef>
                <a:spcPts val="0"/>
              </a:spcBef>
              <a:spcAft>
                <a:spcPts val="0"/>
              </a:spcAft>
              <a:buNone/>
            </a:pP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3065819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60000"/>
              </a:lnSpc>
              <a:spcBef>
                <a:spcPts val="0"/>
              </a:spcBef>
              <a:spcAft>
                <a:spcPts val="0"/>
              </a:spcAft>
              <a:buNone/>
            </a:pP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7194820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60000"/>
              </a:lnSpc>
              <a:spcBef>
                <a:spcPts val="0"/>
              </a:spcBef>
              <a:spcAft>
                <a:spcPts val="0"/>
              </a:spcAft>
              <a:buNone/>
            </a:pP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59106946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dirty="0">
                <a:latin typeface="Arial"/>
                <a:ea typeface="Arial"/>
                <a:cs typeface="Arial"/>
                <a:sym typeface="Arial"/>
              </a:rPr>
              <a:t>Collaborative ventures, sometimes called </a:t>
            </a:r>
            <a:r>
              <a:rPr lang="en-US" i="1" dirty="0">
                <a:latin typeface="Arial"/>
                <a:ea typeface="Arial"/>
                <a:cs typeface="Arial"/>
                <a:sym typeface="Arial"/>
              </a:rPr>
              <a:t>international partnerships </a:t>
            </a:r>
            <a:r>
              <a:rPr lang="en-US" dirty="0">
                <a:latin typeface="Arial"/>
                <a:ea typeface="Arial"/>
                <a:cs typeface="Arial"/>
                <a:sym typeface="Arial"/>
              </a:rPr>
              <a:t>or </a:t>
            </a:r>
            <a:r>
              <a:rPr lang="en-US" i="1" dirty="0">
                <a:latin typeface="Arial"/>
                <a:ea typeface="Arial"/>
                <a:cs typeface="Arial"/>
                <a:sym typeface="Arial"/>
              </a:rPr>
              <a:t>international strategic alliances</a:t>
            </a:r>
            <a:r>
              <a:rPr lang="en-US" dirty="0">
                <a:latin typeface="Arial"/>
                <a:ea typeface="Arial"/>
                <a:cs typeface="Arial"/>
                <a:sym typeface="Arial"/>
              </a:rPr>
              <a:t>, are essentially partnerships between two or more firms. They help companies overcome together the often substantial risks and costs involved in achieving international projects that might exceed the capabilities of any one firm operating alone. Groups of firms sometimes form partnerships to accomplish large-scale goals such as developing new technologies or completing major projects such as power plants. By collaborating, the focal firm can draw on a range of complementary technologies, accessible only from other firms, to innovate and develop new products. Advantages like these help explain why the volume of such partnerships has grown substantially in the last few decades.</a:t>
            </a:r>
          </a:p>
          <a:p>
            <a:pPr marL="0" lvl="0" indent="0" algn="l" rtl="0">
              <a:spcBef>
                <a:spcPts val="0"/>
              </a:spcBef>
              <a:spcAft>
                <a:spcPts val="0"/>
              </a:spcAft>
              <a:buNone/>
            </a:pPr>
            <a:endParaRPr lang="en-US" dirty="0"/>
          </a:p>
          <a:p>
            <a:pPr marL="0" lvl="0" indent="0" algn="l" rtl="0">
              <a:spcBef>
                <a:spcPts val="360"/>
              </a:spcBef>
              <a:spcAft>
                <a:spcPts val="0"/>
              </a:spcAft>
              <a:buNone/>
            </a:pPr>
            <a:r>
              <a:rPr lang="en-US" dirty="0">
                <a:latin typeface="Arial"/>
                <a:ea typeface="Arial"/>
                <a:cs typeface="Arial"/>
                <a:sym typeface="Arial"/>
              </a:rPr>
              <a:t>While collaboration can take place at similar or different levels of the value chain, it is typically focused on R&amp;D, manufacturing, or marketing. International collaborative ventures have been on the rise and have led to joint R&amp;D in knowledge-intensive, high-technology sectors such as robotics, semiconductors, aircraft manufacturing, medical instruments, and pharmaceuticals.</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11920507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80000"/>
              </a:lnSpc>
              <a:spcBef>
                <a:spcPts val="0"/>
              </a:spcBef>
              <a:spcAft>
                <a:spcPts val="0"/>
              </a:spcAft>
              <a:buNone/>
            </a:pPr>
            <a:r>
              <a:rPr lang="en-US" sz="1200" dirty="0">
                <a:latin typeface="Arial"/>
                <a:ea typeface="Arial"/>
                <a:cs typeface="Arial"/>
                <a:sym typeface="Arial"/>
              </a:rPr>
              <a:t>Joint ventures are normally formed when no one party possesses all the assets needed to exploit an available opportunity. In a typical international deal, the foreign partner contributes capital, technology, management expertise, training, or some type of product. The local partner contributes the use of its factory or other facilities, knowledge of the local language and culture, market navigation know-how, useful connections to the host country government, or lower-cost production factors such as labor or raw materials. Procter &amp; Gamble (P&amp;G) is in a joint venture with Dolce &amp; Gabbana, an Italian fashion house. Under the deal, P&amp;G produces perfumes, while the Italian firm markets them in Europe, leveraging the local strength of its brand name. The partnership provides both firms superior access to each other’s strategic assets in R&amp;D, production, branding, distribution, and market knowledge.</a:t>
            </a:r>
          </a:p>
          <a:p>
            <a:pPr marL="0" lvl="0" indent="0" algn="l" rtl="0">
              <a:lnSpc>
                <a:spcPct val="80000"/>
              </a:lnSpc>
              <a:spcBef>
                <a:spcPts val="0"/>
              </a:spcBef>
              <a:spcAft>
                <a:spcPts val="0"/>
              </a:spcAft>
              <a:buNone/>
            </a:pPr>
            <a:r>
              <a:rPr lang="en-US" sz="1200" dirty="0">
                <a:latin typeface="Arial"/>
                <a:ea typeface="Arial"/>
                <a:cs typeface="Arial"/>
                <a:sym typeface="Arial"/>
              </a:rPr>
              <a:t/>
            </a:r>
            <a:br>
              <a:rPr lang="en-US" sz="1200" dirty="0">
                <a:latin typeface="Arial"/>
                <a:ea typeface="Arial"/>
                <a:cs typeface="Arial"/>
                <a:sym typeface="Arial"/>
              </a:rPr>
            </a:br>
            <a:r>
              <a:rPr lang="en-US" sz="1200" dirty="0">
                <a:latin typeface="Arial"/>
                <a:ea typeface="Arial"/>
                <a:cs typeface="Arial"/>
                <a:sym typeface="Arial"/>
              </a:rPr>
              <a:t>Increasingly common in cross-border business, the </a:t>
            </a:r>
            <a:r>
              <a:rPr lang="en-US" sz="1200" b="1" dirty="0">
                <a:latin typeface="Arial"/>
                <a:ea typeface="Arial"/>
                <a:cs typeface="Arial"/>
                <a:sym typeface="Arial"/>
              </a:rPr>
              <a:t>project-based, nonequity venture </a:t>
            </a:r>
            <a:r>
              <a:rPr lang="en-US" sz="1200" dirty="0">
                <a:latin typeface="Arial"/>
                <a:ea typeface="Arial"/>
                <a:cs typeface="Arial"/>
                <a:sym typeface="Arial"/>
              </a:rPr>
              <a:t>is a collaboration in which the partners create a project with a relatively narrow scope and a well-defined timetable, without creating a new legal entity. Combining staff, resources, and capabilities, the partners collaborate on new technologies or products until the venture bears fruit or they no longer consider collaboration valuable. Such partnering reduces the enormous fixed costs of R&amp;D, especially in technology and knowledge intensive industries, and helps firms catch up with rivals. Sony developed the microprocessor used in </a:t>
            </a:r>
            <a:r>
              <a:rPr lang="en-US" sz="1200" dirty="0" err="1">
                <a:latin typeface="Arial"/>
                <a:ea typeface="Arial"/>
                <a:cs typeface="Arial"/>
                <a:sym typeface="Arial"/>
              </a:rPr>
              <a:t>Playstation</a:t>
            </a:r>
            <a:r>
              <a:rPr lang="en-US" sz="1200" dirty="0">
                <a:latin typeface="Arial"/>
                <a:ea typeface="Arial"/>
                <a:cs typeface="Arial"/>
                <a:sym typeface="Arial"/>
              </a:rPr>
              <a:t> 3 in partnership with IBM and Toshiba. The venture led to the creation of the Cell chip, which is ten times faster than Intel’s most powerful Pentium chip and permits more graphics-intensive gaming.</a:t>
            </a:r>
          </a:p>
          <a:p>
            <a:pPr marL="0" lvl="0" indent="0" algn="l" rtl="0">
              <a:lnSpc>
                <a:spcPct val="80000"/>
              </a:lnSpc>
              <a:spcBef>
                <a:spcPts val="0"/>
              </a:spcBef>
              <a:spcAft>
                <a:spcPts val="0"/>
              </a:spcAft>
              <a:buNone/>
            </a:pPr>
            <a:r>
              <a:rPr lang="en-US" sz="1200" dirty="0">
                <a:latin typeface="Arial"/>
                <a:ea typeface="Arial"/>
                <a:cs typeface="Arial"/>
                <a:sym typeface="Arial"/>
              </a:rPr>
              <a:t/>
            </a:r>
            <a:br>
              <a:rPr lang="en-US" sz="1200" dirty="0">
                <a:latin typeface="Arial"/>
                <a:ea typeface="Arial"/>
                <a:cs typeface="Arial"/>
                <a:sym typeface="Arial"/>
              </a:rPr>
            </a:br>
            <a:r>
              <a:rPr lang="en-US" sz="1200" dirty="0">
                <a:latin typeface="Arial"/>
                <a:ea typeface="Arial"/>
                <a:cs typeface="Arial"/>
                <a:sym typeface="Arial"/>
              </a:rPr>
              <a:t>I B M entered a strategic partnership for a limited period in which it provided outsourcing services to N T </a:t>
            </a:r>
            <a:r>
              <a:rPr lang="en-US" sz="1200" dirty="0" err="1">
                <a:latin typeface="Arial"/>
                <a:ea typeface="Arial"/>
                <a:cs typeface="Arial"/>
                <a:sym typeface="Arial"/>
              </a:rPr>
              <a:t>T</a:t>
            </a:r>
            <a:r>
              <a:rPr lang="en-US" sz="1200" dirty="0">
                <a:latin typeface="Arial"/>
                <a:ea typeface="Arial"/>
                <a:cs typeface="Arial"/>
                <a:sym typeface="Arial"/>
              </a:rPr>
              <a:t>, the Japanese telecommunications carrier, and N T </a:t>
            </a:r>
            <a:r>
              <a:rPr lang="en-US" sz="1200" dirty="0" err="1">
                <a:latin typeface="Arial"/>
                <a:ea typeface="Arial"/>
                <a:cs typeface="Arial"/>
                <a:sym typeface="Arial"/>
              </a:rPr>
              <a:t>T</a:t>
            </a:r>
            <a:r>
              <a:rPr lang="en-US" sz="1200" dirty="0">
                <a:latin typeface="Arial"/>
                <a:ea typeface="Arial"/>
                <a:cs typeface="Arial"/>
                <a:sym typeface="Arial"/>
              </a:rPr>
              <a:t> in turn provided outsourcing services and contacts for IBM to offer computer services sales to customers in Japan. Germany’s Siemens teamed with Motorola to develop the next generation of 300-mm 12-inch wafers, an important innovation in the global semiconductor industry. Motorola provided its expertise in advanced logic products and leading-edge. </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8802856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80000"/>
              </a:lnSpc>
              <a:spcBef>
                <a:spcPts val="0"/>
              </a:spcBef>
              <a:spcAft>
                <a:spcPts val="0"/>
              </a:spcAft>
              <a:buNone/>
            </a:pPr>
            <a:r>
              <a:rPr lang="en-US" sz="1200" dirty="0">
                <a:latin typeface="Arial"/>
                <a:ea typeface="Arial"/>
                <a:cs typeface="Arial"/>
                <a:sym typeface="Arial"/>
              </a:rPr>
              <a:t>A </a:t>
            </a:r>
            <a:r>
              <a:rPr lang="en-US" sz="1200" b="1" dirty="0">
                <a:latin typeface="Arial"/>
                <a:ea typeface="Arial"/>
                <a:cs typeface="Arial"/>
                <a:sym typeface="Arial"/>
              </a:rPr>
              <a:t>consortium </a:t>
            </a:r>
            <a:r>
              <a:rPr lang="en-US" sz="1200" dirty="0">
                <a:latin typeface="Arial"/>
                <a:ea typeface="Arial"/>
                <a:cs typeface="Arial"/>
                <a:sym typeface="Arial"/>
              </a:rPr>
              <a:t>is a project-based, usually nonequity venture initiated by multiple partners to fulfill a large-scale project. It is typically formed with a contract, which delineates the rights and obligations of each member. Work is allocated to the members on the same basis as profits. Thus, each partner in a three-partner consortium performs one-third of the work and earns one-third of the resulting profits. Consortia are popular for innovation in industries such as commercial aircraft, computers, pharmaceuticals, and telecommunications, where the costs of developing and marketing a new product often reach hundreds of millions of dollars and require sweeping expertise. For example, Boeing, Fuji, Kawasaki, and Mitsubishi joined forces to design and manufacture major components of the Boeing 767 aircraft.</a:t>
            </a:r>
          </a:p>
          <a:p>
            <a:pPr marL="0" lvl="0" indent="0" algn="l" rtl="0">
              <a:lnSpc>
                <a:spcPct val="80000"/>
              </a:lnSpc>
              <a:spcBef>
                <a:spcPts val="0"/>
              </a:spcBef>
              <a:spcAft>
                <a:spcPts val="0"/>
              </a:spcAft>
              <a:buNone/>
            </a:pPr>
            <a:endParaRPr lang="en-US" dirty="0"/>
          </a:p>
          <a:p>
            <a:pPr marL="0" lvl="0" indent="0" algn="l" rtl="0">
              <a:lnSpc>
                <a:spcPct val="80000"/>
              </a:lnSpc>
              <a:spcBef>
                <a:spcPts val="333"/>
              </a:spcBef>
              <a:spcAft>
                <a:spcPts val="0"/>
              </a:spcAft>
              <a:buNone/>
            </a:pPr>
            <a:r>
              <a:rPr lang="en-US" sz="1200" dirty="0">
                <a:latin typeface="Arial"/>
                <a:ea typeface="Arial"/>
                <a:cs typeface="Arial"/>
                <a:sym typeface="Arial"/>
              </a:rPr>
              <a:t>Often, several firms pool their resources to bid on a major project, such as building a power plant or a high-tech manufacturing facility. Each brings a unique specialty to the project but would be unable to win the bid on its own. No formal legal entity is created; each firm retains its individual identity. In this way, if one party withdraws, the consortium can continue with the remaining participants. </a:t>
            </a:r>
            <a:r>
              <a:rPr lang="en-US" sz="1200" dirty="0" err="1">
                <a:latin typeface="Arial"/>
                <a:ea typeface="Arial"/>
                <a:cs typeface="Arial"/>
                <a:sym typeface="Arial"/>
              </a:rPr>
              <a:t>iNavSat</a:t>
            </a:r>
            <a:r>
              <a:rPr lang="en-US" sz="1200" dirty="0">
                <a:latin typeface="Arial"/>
                <a:ea typeface="Arial"/>
                <a:cs typeface="Arial"/>
                <a:sym typeface="Arial"/>
              </a:rPr>
              <a:t> is a consortium formed among several European firms to develop and manage Europe’s global satellite navigation system.</a:t>
            </a:r>
            <a:endParaRPr lang="en-US" dirty="0"/>
          </a:p>
          <a:p>
            <a:pPr marL="0" lvl="0" indent="0" algn="l" rtl="0">
              <a:lnSpc>
                <a:spcPct val="80000"/>
              </a:lnSpc>
              <a:spcBef>
                <a:spcPts val="333"/>
              </a:spcBef>
              <a:spcAft>
                <a:spcPts val="0"/>
              </a:spcAft>
              <a:buNone/>
            </a:pPr>
            <a:endParaRPr lang="en-US" sz="1200" dirty="0">
              <a:latin typeface="Arial"/>
              <a:ea typeface="Arial"/>
              <a:cs typeface="Arial"/>
              <a:sym typeface="Arial"/>
            </a:endParaRPr>
          </a:p>
          <a:p>
            <a:pPr marL="0" lvl="0" indent="0" algn="l" rtl="0">
              <a:lnSpc>
                <a:spcPct val="80000"/>
              </a:lnSpc>
              <a:spcBef>
                <a:spcPts val="333"/>
              </a:spcBef>
              <a:spcAft>
                <a:spcPts val="0"/>
              </a:spcAft>
              <a:buNone/>
            </a:pPr>
            <a:r>
              <a:rPr lang="en-US" sz="1200" b="1" dirty="0">
                <a:latin typeface="Arial"/>
                <a:ea typeface="Arial"/>
                <a:cs typeface="Arial"/>
                <a:sym typeface="Arial"/>
              </a:rPr>
              <a:t>Across-licensing agreement </a:t>
            </a:r>
            <a:r>
              <a:rPr lang="en-US" sz="1200" dirty="0">
                <a:latin typeface="Arial"/>
                <a:ea typeface="Arial"/>
                <a:cs typeface="Arial"/>
                <a:sym typeface="Arial"/>
              </a:rPr>
              <a:t>is a type of a project-based, nonequity venture whose partners each agree to access licensed intellectual property developed by the other on preferential terms. For example, Microsoft entered such an agreement with Japan’s JVC to share patented knowledge on software and other products. Two firms also might enter a cross-distribution agreement, in which each partner has the right to distribute products or services produced by the other on preferential terms. For instance, the Star Alliance is an agreement among over twenty-five airlines—including Air Canada, United, Lufthansa, SAS, Singapore Airlines, and a cross-distribution agreement, in which each partner has the right to distribute products or services produced by the other on preferential terms. For instance, the Star Alliance is an agreement among over twenty-five airlines—including Air Canada, United, Lufthansa, SAS, and Singapore Airlines.</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7582894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90000"/>
              </a:lnSpc>
              <a:spcBef>
                <a:spcPts val="0"/>
              </a:spcBef>
              <a:spcAft>
                <a:spcPts val="0"/>
              </a:spcAft>
              <a:buNone/>
            </a:pP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63638525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0" fontAlgn="base" latinLnBrk="0" hangingPunct="0">
              <a:lnSpc>
                <a:spcPct val="100000"/>
              </a:lnSpc>
              <a:spcBef>
                <a:spcPct val="30000"/>
              </a:spcBef>
              <a:spcAft>
                <a:spcPct val="0"/>
              </a:spcAft>
              <a:buClr>
                <a:srgbClr val="000000"/>
              </a:buClr>
              <a:buSzPct val="100000"/>
              <a:buFont typeface="Times New Roman" charset="0"/>
              <a:buNone/>
              <a:tabLst/>
              <a:defRPr/>
            </a:pPr>
            <a:r>
              <a:rPr lang="en-US" dirty="0">
                <a:latin typeface="Arial"/>
                <a:ea typeface="Arial"/>
                <a:cs typeface="Arial"/>
                <a:sym typeface="Arial"/>
              </a:rPr>
              <a:t>The potential partner may be a current or potential competitor, is likely to have its own agenda, and will likely gain important competitive advantages from the relationship. Management must protect its hard-won capabilities and other organizational assets to preserve its bargaining power and ability to compete. Harmony is not necessarily the most important goal, and accepting some conflict and tension between the partners may be preferable to surrendering core skills. The firm does not want to become too dependent on its partner. In collaborations with partners in China, Intel has been careful not to share too much of its proprietary technology. It has avoided building computer chip factories there because Intel’s microprocessor devices are the heart of its intellectual property. In a country known for weak intellectual property rights, management worries about theft of not only its chip designs but also of its design and manufacturing methods.</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28048747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0" fontAlgn="base" latinLnBrk="0" hangingPunct="0">
              <a:lnSpc>
                <a:spcPct val="100000"/>
              </a:lnSpc>
              <a:spcBef>
                <a:spcPct val="30000"/>
              </a:spcBef>
              <a:spcAft>
                <a:spcPct val="0"/>
              </a:spcAft>
              <a:buClr>
                <a:srgbClr val="000000"/>
              </a:buClr>
              <a:buSzPct val="100000"/>
              <a:buFont typeface="Times New Roman" charset="0"/>
              <a:buNone/>
              <a:tabLst/>
              <a:defRPr/>
            </a:pPr>
            <a:r>
              <a:rPr lang="en-US" dirty="0">
                <a:latin typeface="Arial"/>
                <a:ea typeface="Arial"/>
                <a:cs typeface="Arial"/>
                <a:sym typeface="Arial"/>
              </a:rPr>
              <a:t>The potential partner may be a current or potential competitor, is likely to have its own agenda, and will likely gain important competitive advantages from the relationship. Management must protect its hard-won capabilities and other organizational assets to preserve its bargaining power and ability to compete. Harmony is not necessarily the most important goal, and accepting some conflict and tension between the partners may be preferable to surrendering core skills. The firm does not want to become too dependent on its partner. In collaborations with partners in China, Intel has been careful not to share too much of its proprietary technology. It has avoided building computer chip factories there because Intel’s microprocessor devices are the heart of its intellectual property. In a country known for weak intellectual property rights, management worries about theft of not only its chip designs but also of its design and manufacturing methods. </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8036160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70000"/>
              </a:lnSpc>
              <a:spcBef>
                <a:spcPts val="0"/>
              </a:spcBef>
              <a:spcAft>
                <a:spcPts val="0"/>
              </a:spcAft>
              <a:buClrTx/>
              <a:buSzTx/>
              <a:buFontTx/>
              <a:buNone/>
              <a:tabLst/>
              <a:defRPr/>
            </a:pPr>
            <a:r>
              <a:rPr lang="en-US" dirty="0">
                <a:latin typeface="Arial"/>
                <a:ea typeface="Arial"/>
                <a:cs typeface="Arial"/>
                <a:sym typeface="Arial"/>
              </a:rPr>
              <a:t>When managers first contemplate internationalization via F D I, they usually think in terms of a wholly owned operation. Many are accustomed to retaining the control and sole access to profits that come with 100 percent ownership. The nature of the industry or product may also make partnering less desirable. But management should consider collaboration an option. Typically, the firm enters a collaborative venture when it discovers a weak or missing link in its value chain and chooses a partner that can remedy the deficiency. China is an increasingly popular venue for collaboration in the Internet service-provider industry. Both Microsoft and Google entered this huge market via joint ventures with local partners. But eBay and Yahoo entered China primarily via wholly owned F D I. Each firm chose the entry strategy most appropriate for its situation. </a:t>
            </a:r>
          </a:p>
          <a:p>
            <a:pPr marL="0" marR="0" lvl="0" indent="0" algn="l" defTabSz="457200" rtl="0" eaLnBrk="1" fontAlgn="auto" latinLnBrk="0" hangingPunct="1">
              <a:lnSpc>
                <a:spcPct val="70000"/>
              </a:lnSpc>
              <a:spcBef>
                <a:spcPts val="0"/>
              </a:spcBef>
              <a:spcAft>
                <a:spcPts val="0"/>
              </a:spcAft>
              <a:buClrTx/>
              <a:buSzTx/>
              <a:buFontTx/>
              <a:buNone/>
              <a:tabLst/>
              <a:defRPr/>
            </a:pPr>
            <a:endParaRPr lang="en-US" dirty="0">
              <a:latin typeface="Arial"/>
              <a:cs typeface="Arial"/>
              <a:sym typeface="Arial"/>
            </a:endParaRPr>
          </a:p>
          <a:p>
            <a:pPr marL="0" marR="0" lvl="0" indent="0" algn="l" defTabSz="457200" rtl="0" eaLnBrk="1" fontAlgn="auto" latinLnBrk="0" hangingPunct="1">
              <a:lnSpc>
                <a:spcPct val="70000"/>
              </a:lnSpc>
              <a:spcBef>
                <a:spcPts val="0"/>
              </a:spcBef>
              <a:spcAft>
                <a:spcPts val="0"/>
              </a:spcAft>
              <a:buClrTx/>
              <a:buSzTx/>
              <a:buFontTx/>
              <a:buNone/>
              <a:tabLst/>
              <a:defRPr/>
            </a:pPr>
            <a:r>
              <a:rPr lang="en-US" dirty="0"/>
              <a:t>Long Description:</a:t>
            </a:r>
          </a:p>
          <a:p>
            <a:pPr marL="0" marR="0" lvl="0" indent="0" algn="l" defTabSz="457200" rtl="0" eaLnBrk="1" fontAlgn="auto" latinLnBrk="0" hangingPunct="1">
              <a:lnSpc>
                <a:spcPct val="70000"/>
              </a:lnSpc>
              <a:spcBef>
                <a:spcPts val="0"/>
              </a:spcBef>
              <a:spcAft>
                <a:spcPts val="0"/>
              </a:spcAft>
              <a:buClrTx/>
              <a:buSzTx/>
              <a:buFontTx/>
              <a:buNone/>
              <a:tabLst/>
              <a:defRPr/>
            </a:pPr>
            <a:r>
              <a:rPr lang="en-US" sz="1200" b="0" i="0" u="none" strike="noStrike" kern="1200" cap="none" dirty="0">
                <a:solidFill>
                  <a:schemeClr val="dk1"/>
                </a:solidFill>
                <a:effectLst/>
                <a:latin typeface="Arial"/>
                <a:ea typeface="Arial"/>
                <a:cs typeface="Arial"/>
                <a:sym typeface="Arial"/>
              </a:rPr>
              <a:t>The steps in the process are as follows: 1. Choose going it alone or collaboration: do we need a business partner in this market? How can we choose between a collaborative venture versus a wholly owned operations? 2. Decide on the type of ideal partner: what qualifications should we seek in the business partner? 3. Screen and qualify partner candidates: what advisors, consultants, and secondary sources of information and assistance can we tap to identify suitable partners? 4. Determine the nature of legal relationship with the prospective partner: should we seek a formal agreement of trial period? 5. Negotiate a formal agreement: if we seek a legal agreement (distributor contract, joint venture agreement, etcetera) with the foreign partner, what aspect of the relationship should the contract govern? 6. Build trust, empathy, and reciprocity: what can we do to ensure a mutually beneficial and successful relationship? How can we provide the partner with the necessary technical and managerial support? 7. Establish explicit criteria for measuring venture performance: what specific benchmarks should we use to measure performance of the venture? 8. Monitor and measure performance; make plans about long-term goals: how should we monitor the performance of this collaborative venture? What plans should we make for the future of this relationship?</a:t>
            </a:r>
            <a:r>
              <a:rPr lang="en-US" dirty="0"/>
              <a:t>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20139596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70000"/>
              </a:lnSpc>
              <a:spcBef>
                <a:spcPts val="0"/>
              </a:spcBef>
              <a:spcAft>
                <a:spcPts val="0"/>
              </a:spcAft>
              <a:buNone/>
            </a:pPr>
            <a:r>
              <a:rPr lang="en-US" sz="1200" dirty="0">
                <a:latin typeface="Arial"/>
                <a:ea typeface="Arial"/>
                <a:cs typeface="Arial"/>
                <a:sym typeface="Arial"/>
              </a:rPr>
              <a:t>French food giant Danone (www.danone.com) terminated its joint venture with a local Chinese partner in 2009 after years of contentious relations. Danone had formed the partnership in 1996 at a time when the Chinese government often required such ventures from foreign firms. In later years, however, the Chinese partner established a mirror business in which it sold, on the side, the same products the joint venture was marketing. The partner claimed that contract terms were unfair and accused Danone of trying to gain control of its other businesses. To ensure success: </a:t>
            </a:r>
          </a:p>
          <a:p>
            <a:pPr marL="0" lvl="0" indent="0" algn="l" rtl="0">
              <a:lnSpc>
                <a:spcPct val="70000"/>
              </a:lnSpc>
              <a:spcBef>
                <a:spcPts val="0"/>
              </a:spcBef>
              <a:spcAft>
                <a:spcPts val="0"/>
              </a:spcAft>
              <a:buNone/>
            </a:pPr>
            <a:endParaRPr lang="en-US" dirty="0"/>
          </a:p>
          <a:p>
            <a:pPr marL="0" lvl="0" indent="0" algn="l" rtl="0">
              <a:lnSpc>
                <a:spcPct val="70000"/>
              </a:lnSpc>
              <a:spcBef>
                <a:spcPts val="333"/>
              </a:spcBef>
              <a:spcAft>
                <a:spcPts val="0"/>
              </a:spcAft>
              <a:buNone/>
            </a:pPr>
            <a:r>
              <a:rPr lang="en-US" sz="1200" i="1" dirty="0">
                <a:latin typeface="Arial"/>
                <a:ea typeface="Arial"/>
                <a:cs typeface="Arial"/>
                <a:sym typeface="Arial"/>
              </a:rPr>
              <a:t>Be cognizant of cultural differences. </a:t>
            </a:r>
            <a:r>
              <a:rPr lang="en-US" sz="1200" dirty="0">
                <a:latin typeface="Arial"/>
                <a:ea typeface="Arial"/>
                <a:cs typeface="Arial"/>
                <a:sym typeface="Arial"/>
              </a:rPr>
              <a:t>International collaborations require that both parties learn and appreciate each other’s corporate and national cultures. Cultural incompatibility can cause anger, frustration, and inefficiency. The partners may never arrive at a common set of values and organizational routines, especially if they’re from very distinct cultures—say, Norway and Nigeria. </a:t>
            </a:r>
            <a:endParaRPr lang="en-US" dirty="0"/>
          </a:p>
          <a:p>
            <a:pPr marL="0" lvl="0" indent="0" algn="l" rtl="0">
              <a:lnSpc>
                <a:spcPct val="70000"/>
              </a:lnSpc>
              <a:spcBef>
                <a:spcPts val="333"/>
              </a:spcBef>
              <a:spcAft>
                <a:spcPts val="0"/>
              </a:spcAft>
              <a:buNone/>
            </a:pPr>
            <a:endParaRPr lang="en-US" sz="1200" i="1" dirty="0">
              <a:latin typeface="Arial"/>
              <a:ea typeface="Arial"/>
              <a:cs typeface="Arial"/>
              <a:sym typeface="Arial"/>
            </a:endParaRPr>
          </a:p>
          <a:p>
            <a:pPr marL="0" lvl="0" indent="0" algn="l" rtl="0">
              <a:lnSpc>
                <a:spcPct val="70000"/>
              </a:lnSpc>
              <a:spcBef>
                <a:spcPts val="333"/>
              </a:spcBef>
              <a:spcAft>
                <a:spcPts val="0"/>
              </a:spcAft>
              <a:buNone/>
            </a:pPr>
            <a:r>
              <a:rPr lang="en-US" sz="1200" i="1" dirty="0">
                <a:latin typeface="Arial"/>
                <a:ea typeface="Arial"/>
                <a:cs typeface="Arial"/>
                <a:sym typeface="Arial"/>
              </a:rPr>
              <a:t>Pursue common goals. </a:t>
            </a:r>
            <a:r>
              <a:rPr lang="en-US" sz="1200" dirty="0">
                <a:latin typeface="Arial"/>
                <a:ea typeface="Arial"/>
                <a:cs typeface="Arial"/>
                <a:sym typeface="Arial"/>
              </a:rPr>
              <a:t>When partners have differing goals, or their goals change over time, they can find themselves operating at cross-purposes. Japanese firms tend to value market share over profitability, while U.S. firms value profitability over market share. Because different strategies are required to maximize each of these performance goals, a joint venture between Japanese and U.S. firms may fail. </a:t>
            </a:r>
            <a:endParaRPr lang="en-US" dirty="0"/>
          </a:p>
          <a:p>
            <a:pPr marL="0" lvl="0" indent="0" algn="l" rtl="0">
              <a:lnSpc>
                <a:spcPct val="70000"/>
              </a:lnSpc>
              <a:spcBef>
                <a:spcPts val="333"/>
              </a:spcBef>
              <a:spcAft>
                <a:spcPts val="0"/>
              </a:spcAft>
              <a:buNone/>
            </a:pPr>
            <a:endParaRPr lang="en-US" sz="1200" i="1" dirty="0">
              <a:latin typeface="Arial"/>
              <a:ea typeface="Arial"/>
              <a:cs typeface="Arial"/>
              <a:sym typeface="Arial"/>
            </a:endParaRPr>
          </a:p>
          <a:p>
            <a:pPr marL="0" lvl="0" indent="0" algn="l" rtl="0">
              <a:lnSpc>
                <a:spcPct val="70000"/>
              </a:lnSpc>
              <a:spcBef>
                <a:spcPts val="333"/>
              </a:spcBef>
              <a:spcAft>
                <a:spcPts val="0"/>
              </a:spcAft>
              <a:buNone/>
            </a:pPr>
            <a:r>
              <a:rPr lang="en-US" sz="1200" i="1" dirty="0">
                <a:latin typeface="Arial"/>
                <a:ea typeface="Arial"/>
                <a:cs typeface="Arial"/>
                <a:sym typeface="Arial"/>
              </a:rPr>
              <a:t>Give due attention to planning and management of the venture. </a:t>
            </a:r>
            <a:r>
              <a:rPr lang="en-US" sz="1200" dirty="0">
                <a:latin typeface="Arial"/>
                <a:ea typeface="Arial"/>
                <a:cs typeface="Arial"/>
                <a:sym typeface="Arial"/>
              </a:rPr>
              <a:t>Without agreement on questions of management, decision making, and control, each partner may seek to control all the venture’s operations, which can strain the managerial, financial, and technological resources of both. In some cases, equal governance and a sense of shared enterprise are best because they help partners view themselves as equals and reach consensus. </a:t>
            </a:r>
            <a:endParaRPr lang="en-US" dirty="0"/>
          </a:p>
          <a:p>
            <a:pPr marL="0" lvl="0" indent="0" algn="l" rtl="0">
              <a:lnSpc>
                <a:spcPct val="70000"/>
              </a:lnSpc>
              <a:spcBef>
                <a:spcPts val="333"/>
              </a:spcBef>
              <a:spcAft>
                <a:spcPts val="0"/>
              </a:spcAft>
              <a:buNone/>
            </a:pPr>
            <a:endParaRPr lang="en-US" sz="1200" i="1" dirty="0">
              <a:latin typeface="Arial"/>
              <a:ea typeface="Arial"/>
              <a:cs typeface="Arial"/>
              <a:sym typeface="Arial"/>
            </a:endParaRPr>
          </a:p>
          <a:p>
            <a:pPr marL="0" lvl="0" indent="0" algn="l" rtl="0">
              <a:lnSpc>
                <a:spcPct val="70000"/>
              </a:lnSpc>
              <a:spcBef>
                <a:spcPts val="333"/>
              </a:spcBef>
              <a:spcAft>
                <a:spcPts val="0"/>
              </a:spcAft>
              <a:buNone/>
            </a:pPr>
            <a:r>
              <a:rPr lang="en-US" sz="1200" i="1" dirty="0">
                <a:latin typeface="Arial"/>
                <a:ea typeface="Arial"/>
                <a:cs typeface="Arial"/>
                <a:sym typeface="Arial"/>
              </a:rPr>
              <a:t>Safeguard core competencies. </a:t>
            </a:r>
            <a:r>
              <a:rPr lang="en-US" sz="1200" dirty="0">
                <a:latin typeface="Arial"/>
                <a:ea typeface="Arial"/>
                <a:cs typeface="Arial"/>
                <a:sym typeface="Arial"/>
              </a:rPr>
              <a:t>Collaboration takes place between current or potential competitors that must walk a fine line between cooperation and competition. Volkswagen and General Motors succeeded in China by partnering with the Chinese firm, Shanghai Automotive Industry Corporation (SAIC; www.saicmotor.com). The Western firms transferred much technology and know-how to their Chinese partner. Having learned much from them, SAIC may now become a player in the global car industry.</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66119523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90000"/>
              </a:lnSpc>
              <a:spcBef>
                <a:spcPts val="0"/>
              </a:spcBef>
              <a:spcAft>
                <a:spcPts val="0"/>
              </a:spcAft>
              <a:buNone/>
            </a:pPr>
            <a:r>
              <a:rPr lang="en-US" sz="1200" dirty="0">
                <a:latin typeface="Arial"/>
                <a:ea typeface="Arial"/>
                <a:cs typeface="Arial"/>
                <a:sym typeface="Arial"/>
              </a:rPr>
              <a:t>The major drivers of retailer internationalization have been saturation of home country markets, deregulation of international investment, and opportunities to benefit from lower costs abroad. Home Depot expanded abroad because the home improvement market in Canada and the United States is becoming increasingly saturated. Most emerging markets exhibit pent-up demand, fast economic growth, a growing middle class, and increasingly sophisticated consumers. In densely populated developing countries, consumers are flocking to discount retailers that sell a wide selection of merchandise at low prices.</a:t>
            </a:r>
            <a:endParaRPr lang="en-US" dirty="0"/>
          </a:p>
          <a:p>
            <a:pPr marL="0" lvl="0" indent="0" algn="l" rtl="0">
              <a:lnSpc>
                <a:spcPct val="90000"/>
              </a:lnSpc>
              <a:spcBef>
                <a:spcPts val="333"/>
              </a:spcBef>
              <a:spcAft>
                <a:spcPts val="0"/>
              </a:spcAft>
              <a:buNone/>
            </a:pPr>
            <a:endParaRPr lang="en-US" sz="1200" dirty="0">
              <a:latin typeface="Arial"/>
              <a:ea typeface="Arial"/>
              <a:cs typeface="Arial"/>
              <a:sym typeface="Arial"/>
            </a:endParaRPr>
          </a:p>
          <a:p>
            <a:pPr marL="0" lvl="0" indent="0" algn="l" rtl="0">
              <a:lnSpc>
                <a:spcPct val="90000"/>
              </a:lnSpc>
              <a:spcBef>
                <a:spcPts val="333"/>
              </a:spcBef>
              <a:spcAft>
                <a:spcPts val="0"/>
              </a:spcAft>
              <a:buNone/>
            </a:pPr>
            <a:r>
              <a:rPr lang="en-US" sz="1200" dirty="0">
                <a:latin typeface="Arial"/>
                <a:ea typeface="Arial"/>
                <a:cs typeface="Arial"/>
                <a:sym typeface="Arial"/>
              </a:rPr>
              <a:t>Retailers usually choose between F D I and franchising as a foreign market entry strategy. The larger, more experienced firms, such as Carrefour, Royal Ahold, and Walmart, tend to internationalize via F D I; that is, they typically own their stores and maintain direct control over operations and proprietary assets. Smaller and less internationally experienced firms such as Borders bookstores tend to rely on networks of independent franchisees. In franchising, the retailer adopts a business system from, and pays an ongoing fee to, a franchise operator. Other firms may employ a dual strategy— using F D I in some markets and franchising in others. While franchising facilitates rapid internationalization, compared to F D I, it affords the firm less control over its foreign operations, which can be risky in countries with unstable political or economic situations or weak intellectual property laws.</a:t>
            </a:r>
            <a:endParaRPr lang="en-US" dirty="0"/>
          </a:p>
          <a:p>
            <a:pPr marL="0" lvl="0" indent="0" algn="l" rtl="0">
              <a:lnSpc>
                <a:spcPct val="90000"/>
              </a:lnSpc>
              <a:spcBef>
                <a:spcPts val="333"/>
              </a:spcBef>
              <a:spcAft>
                <a:spcPts val="0"/>
              </a:spcAft>
              <a:buNone/>
            </a:pPr>
            <a:endParaRPr lang="en-US" sz="1200" dirty="0">
              <a:latin typeface="Arial"/>
              <a:ea typeface="Arial"/>
              <a:cs typeface="Arial"/>
              <a:sym typeface="Arial"/>
            </a:endParaRPr>
          </a:p>
          <a:p>
            <a:pPr marL="0" lvl="0" indent="0" algn="l" rtl="0">
              <a:lnSpc>
                <a:spcPct val="90000"/>
              </a:lnSpc>
              <a:spcBef>
                <a:spcPts val="333"/>
              </a:spcBef>
              <a:spcAft>
                <a:spcPts val="0"/>
              </a:spcAft>
              <a:buNone/>
            </a:pPr>
            <a:r>
              <a:rPr lang="en-US" sz="1200" dirty="0">
                <a:latin typeface="Arial"/>
                <a:ea typeface="Arial"/>
                <a:cs typeface="Arial"/>
                <a:sym typeface="Arial"/>
              </a:rPr>
              <a:t>Many retailers have floundered in foreign markets. When the French department store Galleries Lafayette opened in New York City, it could not compete with the city’s numerous posh competitors. In its home market in Britain, Marks &amp; Spencer succeeds with store layouts that blend food and clothing offerings in relatively small spaces, a formula that translated poorly in Canada and the United States. I K E A experienced problems in Japan, where consumers value high-quality furnishings, not the low-cost products I K E A offers.</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13209189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dirty="0"/>
              <a:t>Four barriers stand in the way of successfully transplanting home market success to international markets.</a:t>
            </a:r>
          </a:p>
          <a:p>
            <a:pPr marL="0" lvl="0" indent="0" algn="l" rtl="0">
              <a:spcBef>
                <a:spcPts val="360"/>
              </a:spcBef>
              <a:spcAft>
                <a:spcPts val="0"/>
              </a:spcAft>
              <a:buNone/>
            </a:pPr>
            <a:r>
              <a:rPr lang="en-US" dirty="0"/>
              <a:t>First, </a:t>
            </a:r>
            <a:r>
              <a:rPr lang="en-US" i="1" dirty="0"/>
              <a:t>culture and language </a:t>
            </a:r>
            <a:r>
              <a:rPr lang="en-US" dirty="0"/>
              <a:t>are a significant obstacle. Compared to most businesses, retailers are close to customers. They must respond to local market requirements by customizing their product and service portfolio, adapting store hours, modifying store size and layout, training local workers, and meeting labor union demands.</a:t>
            </a:r>
          </a:p>
          <a:p>
            <a:pPr marL="0" lvl="0" indent="0" algn="l" rtl="0">
              <a:spcBef>
                <a:spcPts val="360"/>
              </a:spcBef>
              <a:spcAft>
                <a:spcPts val="0"/>
              </a:spcAft>
              <a:buNone/>
            </a:pPr>
            <a:endParaRPr lang="en-US" dirty="0"/>
          </a:p>
          <a:p>
            <a:pPr marL="0" lvl="0" indent="0" algn="l" rtl="0">
              <a:spcBef>
                <a:spcPts val="360"/>
              </a:spcBef>
              <a:spcAft>
                <a:spcPts val="0"/>
              </a:spcAft>
              <a:buNone/>
            </a:pPr>
            <a:r>
              <a:rPr lang="en-US" dirty="0"/>
              <a:t>Second, consumers tend to develop strong </a:t>
            </a:r>
            <a:r>
              <a:rPr lang="en-US" i="1" dirty="0"/>
              <a:t>loyalty to indigenous retailers</a:t>
            </a:r>
            <a:r>
              <a:rPr lang="en-US" dirty="0"/>
              <a:t>. As Galleries Lafayette in New York and Walmart in Germany discovered, local firms usually enjoy great allegiance from local consumers. </a:t>
            </a:r>
            <a:br>
              <a:rPr lang="en-US" dirty="0"/>
            </a:br>
            <a:endParaRPr lang="en-US" dirty="0"/>
          </a:p>
          <a:p>
            <a:pPr marL="0" lvl="0" indent="0" algn="l" rtl="0">
              <a:spcBef>
                <a:spcPts val="360"/>
              </a:spcBef>
              <a:spcAft>
                <a:spcPts val="0"/>
              </a:spcAft>
              <a:buNone/>
            </a:pPr>
            <a:r>
              <a:rPr lang="en-US" dirty="0"/>
              <a:t>Third, managers must address </a:t>
            </a:r>
            <a:r>
              <a:rPr lang="en-US" i="1" dirty="0"/>
              <a:t>legal and regulatory barriers </a:t>
            </a:r>
            <a:r>
              <a:rPr lang="en-US" dirty="0"/>
              <a:t>that can be idiosyncratic. Germany limits store hours, and retailers must close on Sundays. Japan’s Large-Scale Store Law required foreign warehouse and discount retailers to get permission from existing small retailers before setting up shop. Although it has been relaxed in recent years, the law presented a major obstacle to the entry of stores like Toys “R” Us. In 2009, IKEA abandoned efforts to expand in India, due to restrictions imposed on foreign retailers.</a:t>
            </a:r>
          </a:p>
          <a:p>
            <a:pPr marL="0" lvl="0" indent="0" algn="l" rtl="0">
              <a:spcBef>
                <a:spcPts val="360"/>
              </a:spcBef>
              <a:spcAft>
                <a:spcPts val="0"/>
              </a:spcAft>
              <a:buNone/>
            </a:pPr>
            <a:endParaRPr lang="en-US" dirty="0"/>
          </a:p>
          <a:p>
            <a:pPr marL="0" lvl="0" indent="0" algn="l" rtl="0">
              <a:spcBef>
                <a:spcPts val="360"/>
              </a:spcBef>
              <a:spcAft>
                <a:spcPts val="0"/>
              </a:spcAft>
              <a:buNone/>
            </a:pPr>
            <a:r>
              <a:rPr lang="en-US" dirty="0"/>
              <a:t>Fourth, when entering a new market, retailers must develop </a:t>
            </a:r>
            <a:r>
              <a:rPr lang="en-US" i="1" dirty="0"/>
              <a:t>local sources </a:t>
            </a:r>
            <a:r>
              <a:rPr lang="en-US" dirty="0"/>
              <a:t>for thousands of products, including some that local suppliers may be unwilling or unable to provide. When Toys “R” Us entered Japan, local toy manufacturers were reluctant to work with the U.S. firm. Some retailers end up importing many of their offerings, which requires establishing complex and costly international supply chains.</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69163814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0" fontAlgn="base" latinLnBrk="0" hangingPunct="0">
              <a:lnSpc>
                <a:spcPct val="100000"/>
              </a:lnSpc>
              <a:spcBef>
                <a:spcPct val="30000"/>
              </a:spcBef>
              <a:spcAft>
                <a:spcPct val="0"/>
              </a:spcAft>
              <a:buClr>
                <a:srgbClr val="000000"/>
              </a:buClr>
              <a:buSzPct val="100000"/>
              <a:buFont typeface="Arial" charset="0"/>
              <a:buNone/>
              <a:tabLst/>
              <a:defRPr/>
            </a:pPr>
            <a:r>
              <a:rPr lang="en-US" dirty="0">
                <a:latin typeface="Arial"/>
                <a:ea typeface="Arial"/>
                <a:cs typeface="Arial"/>
                <a:sym typeface="Arial"/>
              </a:rPr>
              <a:t>Walmart has more than 240 stores and tens of thousands of employees in China. It sources almost all its merchandise locally, providing jobs for thousands more Chinese. Walmart (www.walmart.com) is the world’s largest retailer but failed in Germany because it could not compete with local competitors and eventually exited the market. In Mexico, Walmart constructed massive U.S.-style parking lots for its new super centers. But most Mexicans don’t have cars and city bus stops were too far away, so shoppers could not haul their goods home. In Brazil, most families do their big shopping once a month on payday. Walmart built aisles too narrow and crowded to accommodate the rush and stocked shelves in urban São Paulo with unneeded leaf blowers. In Argentina, Walmart’s red, white, and blue banners, reminiscent of the U.S. flag, offended local tastes. Sam’s Club, Walmart’s food discounting operation, flopped in Latin America partly because its huge multipack items were too big for local shoppers with low incomes and small apartments.</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21054270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70000"/>
              </a:lnSpc>
              <a:spcBef>
                <a:spcPts val="0"/>
              </a:spcBef>
              <a:spcAft>
                <a:spcPts val="0"/>
              </a:spcAft>
              <a:buNone/>
            </a:pPr>
            <a:r>
              <a:rPr lang="en-US" sz="1200" dirty="0">
                <a:latin typeface="Arial"/>
                <a:ea typeface="Arial"/>
                <a:cs typeface="Arial"/>
                <a:sym typeface="Arial"/>
              </a:rPr>
              <a:t>The most successful retailers pursue a systematic approach to international expansion. </a:t>
            </a:r>
            <a:br>
              <a:rPr lang="en-US" sz="1200" dirty="0">
                <a:latin typeface="Arial"/>
                <a:ea typeface="Arial"/>
                <a:cs typeface="Arial"/>
                <a:sym typeface="Arial"/>
              </a:rPr>
            </a:br>
            <a:endParaRPr lang="en-US" sz="1200" dirty="0">
              <a:latin typeface="Arial"/>
              <a:ea typeface="Arial"/>
              <a:cs typeface="Arial"/>
              <a:sym typeface="Arial"/>
            </a:endParaRPr>
          </a:p>
          <a:p>
            <a:pPr marL="0" lvl="0" indent="0" algn="l" rtl="0">
              <a:lnSpc>
                <a:spcPct val="70000"/>
              </a:lnSpc>
              <a:spcBef>
                <a:spcPts val="0"/>
              </a:spcBef>
              <a:spcAft>
                <a:spcPts val="0"/>
              </a:spcAft>
              <a:buNone/>
            </a:pPr>
            <a:r>
              <a:rPr lang="en-US" sz="1200" dirty="0">
                <a:latin typeface="Arial"/>
                <a:ea typeface="Arial"/>
                <a:cs typeface="Arial"/>
                <a:sym typeface="Arial"/>
              </a:rPr>
              <a:t>First, advanced research and planning is essential. In the run-up to launching stores in China, management at the giant French retailer Carrefour spent 12 years building up its business in Taiwan, where it developed a deep understanding of Chinese culture. It also learned how to forge alliances with local governments. These preparations helped Carrefour become China’s biggest foreign retailer, rapidly developing a network of hypermarkets in twenty-five cities.</a:t>
            </a:r>
            <a:endParaRPr lang="en-US" dirty="0"/>
          </a:p>
          <a:p>
            <a:pPr marL="0" lvl="0" indent="0" algn="l" rtl="0">
              <a:lnSpc>
                <a:spcPct val="70000"/>
              </a:lnSpc>
              <a:spcBef>
                <a:spcPts val="333"/>
              </a:spcBef>
              <a:spcAft>
                <a:spcPts val="0"/>
              </a:spcAft>
              <a:buNone/>
            </a:pPr>
            <a:endParaRPr lang="en-US" sz="1200" dirty="0">
              <a:latin typeface="Arial"/>
              <a:ea typeface="Arial"/>
              <a:cs typeface="Arial"/>
              <a:sym typeface="Arial"/>
            </a:endParaRPr>
          </a:p>
          <a:p>
            <a:pPr marL="0" lvl="0" indent="0" algn="l" rtl="0">
              <a:lnSpc>
                <a:spcPct val="70000"/>
              </a:lnSpc>
              <a:spcBef>
                <a:spcPts val="333"/>
              </a:spcBef>
              <a:spcAft>
                <a:spcPts val="0"/>
              </a:spcAft>
              <a:buNone/>
            </a:pPr>
            <a:r>
              <a:rPr lang="en-US" sz="1200" dirty="0">
                <a:latin typeface="Arial"/>
                <a:ea typeface="Arial"/>
                <a:cs typeface="Arial"/>
                <a:sym typeface="Arial"/>
              </a:rPr>
              <a:t>Second, establish efficient logistics and purchasing networks. Scale economies in procurement are especially critical. </a:t>
            </a:r>
            <a:endParaRPr lang="en-US" dirty="0"/>
          </a:p>
          <a:p>
            <a:pPr marL="0" lvl="0" indent="0" algn="l" rtl="0">
              <a:lnSpc>
                <a:spcPct val="70000"/>
              </a:lnSpc>
              <a:spcBef>
                <a:spcPts val="333"/>
              </a:spcBef>
              <a:spcAft>
                <a:spcPts val="0"/>
              </a:spcAft>
              <a:buNone/>
            </a:pPr>
            <a:endParaRPr lang="en-US" sz="1200" dirty="0">
              <a:latin typeface="Arial"/>
              <a:ea typeface="Arial"/>
              <a:cs typeface="Arial"/>
              <a:sym typeface="Arial"/>
            </a:endParaRPr>
          </a:p>
          <a:p>
            <a:pPr marL="0" lvl="0" indent="0" algn="l" rtl="0">
              <a:lnSpc>
                <a:spcPct val="70000"/>
              </a:lnSpc>
              <a:spcBef>
                <a:spcPts val="333"/>
              </a:spcBef>
              <a:spcAft>
                <a:spcPts val="0"/>
              </a:spcAft>
              <a:buNone/>
            </a:pPr>
            <a:r>
              <a:rPr lang="en-US" sz="1200" dirty="0">
                <a:latin typeface="Arial"/>
                <a:ea typeface="Arial"/>
                <a:cs typeface="Arial"/>
                <a:sym typeface="Arial"/>
              </a:rPr>
              <a:t>Third, assume an entrepreneurial, creative approach to foreign markets. For example, Virgin Megastore expanded to numerous markets throughout Europe, North America, and Asia, using creative approaches. The stores were big, well lit, and stocked music albums in a logical order. Thus, sales turnover was much faster than that of smaller music retailers.</a:t>
            </a:r>
            <a:endParaRPr lang="en-US" dirty="0"/>
          </a:p>
          <a:p>
            <a:pPr marL="0" lvl="0" indent="0" algn="l" rtl="0">
              <a:lnSpc>
                <a:spcPct val="70000"/>
              </a:lnSpc>
              <a:spcBef>
                <a:spcPts val="333"/>
              </a:spcBef>
              <a:spcAft>
                <a:spcPts val="0"/>
              </a:spcAft>
              <a:buNone/>
            </a:pPr>
            <a:endParaRPr lang="en-US" sz="1200" dirty="0">
              <a:latin typeface="Arial"/>
              <a:ea typeface="Arial"/>
              <a:cs typeface="Arial"/>
              <a:sym typeface="Arial"/>
            </a:endParaRPr>
          </a:p>
          <a:p>
            <a:pPr marL="0" lvl="0" indent="0" algn="l" rtl="0">
              <a:lnSpc>
                <a:spcPct val="70000"/>
              </a:lnSpc>
              <a:spcBef>
                <a:spcPts val="333"/>
              </a:spcBef>
              <a:spcAft>
                <a:spcPts val="0"/>
              </a:spcAft>
              <a:buNone/>
            </a:pPr>
            <a:r>
              <a:rPr lang="en-US" sz="1200" dirty="0">
                <a:latin typeface="Arial"/>
                <a:ea typeface="Arial"/>
                <a:cs typeface="Arial"/>
                <a:sym typeface="Arial"/>
              </a:rPr>
              <a:t>Fourth, adjust business model to suit local conditions. Home Depot offers merchandise in Mexico that suits the small budgets of do-it yourself builders. It has introduced payment plans and promotes the do-it-yourself mind-set in a country where most cannot afford to hire professional builders. The major dimensions along which retailers differentiate themselves abroad include selection, price, marketing, store design, and the ways in which goods are displayed. They must proceed cautiously while adapting to local conditions, to avoid diluting or destroying the unique features that first made them successful.</a:t>
            </a:r>
            <a:endParaRPr lang="en-US" dirty="0"/>
          </a:p>
          <a:p>
            <a:pPr marL="0" lvl="0" indent="0" algn="l" rtl="0">
              <a:lnSpc>
                <a:spcPct val="70000"/>
              </a:lnSpc>
              <a:spcBef>
                <a:spcPts val="333"/>
              </a:spcBef>
              <a:spcAft>
                <a:spcPts val="0"/>
              </a:spcAft>
              <a:buNone/>
            </a:pPr>
            <a:endParaRPr lang="en-US" sz="1200" dirty="0">
              <a:latin typeface="Arial"/>
              <a:ea typeface="Arial"/>
              <a:cs typeface="Arial"/>
              <a:sym typeface="Arial"/>
            </a:endParaRPr>
          </a:p>
          <a:p>
            <a:pPr marL="0" lvl="0" indent="0" algn="l" rtl="0">
              <a:lnSpc>
                <a:spcPct val="70000"/>
              </a:lnSpc>
              <a:spcBef>
                <a:spcPts val="333"/>
              </a:spcBef>
              <a:spcAft>
                <a:spcPts val="0"/>
              </a:spcAft>
              <a:buNone/>
            </a:pPr>
            <a:r>
              <a:rPr lang="en-US" sz="1200" dirty="0">
                <a:latin typeface="Arial"/>
                <a:ea typeface="Arial"/>
                <a:cs typeface="Arial"/>
                <a:sym typeface="Arial"/>
              </a:rPr>
              <a:t>I K E A, the world’s largest furniture retailer, has enjoyed great success, launching over 200 furniture megastores in dozens of countries. Superior performance derives from strong leadership and skillful management of human resources, and from the careful balancing of global integration of operations with responsiveness to local tastes. In each store, I K E A (www.ikea.com) offers as many standardized products as possible while maintaining sufficient flexibility to accommodate specific local conditions. It tests the waters first and learns in smaller markets before entering big markets. For instance, I K E A perfected its retailing model in German-speaking Switzerland before entering Germany.</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99260729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b="0"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41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r>
              <a:rPr lang="en-US" sz="900" dirty="0"/>
              <a:t>1-2</a:t>
            </a:r>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lvl1pPr>
          </a:lstStyle>
          <a:p>
            <a:pPr algn="r">
              <a:buSzPct val="25000"/>
              <a:defRPr/>
            </a:pPr>
            <a:r>
              <a:rPr lang="en-US" sz="900" dirty="0">
                <a:solidFill>
                  <a:srgbClr val="FFFFFF"/>
                </a:solidFill>
              </a:rPr>
              <a:t>1-3</a:t>
            </a:r>
          </a:p>
        </p:txBody>
      </p:sp>
      <p:sp>
        <p:nvSpPr>
          <p:cNvPr id="13" name="Picture Placeholder 8">
            <a:extLst>
              <a:ext uri="{FF2B5EF4-FFF2-40B4-BE49-F238E27FC236}">
                <a16:creationId xmlns:a16="http://schemas.microsoft.com/office/drawing/2014/main" id="{C6122C06-0248-45C8-9890-FDA2C7B0CDBA}"/>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3" name="Content Placeholder 2">
            <a:extLst>
              <a:ext uri="{FF2B5EF4-FFF2-40B4-BE49-F238E27FC236}">
                <a16:creationId xmlns:a16="http://schemas.microsoft.com/office/drawing/2014/main" id="{B3F9E3F0-3064-41BA-BF34-B5D9350D8D48}"/>
              </a:ext>
            </a:extLst>
          </p:cNvPr>
          <p:cNvSpPr>
            <a:spLocks noGrp="1"/>
          </p:cNvSpPr>
          <p:nvPr>
            <p:ph sz="quarter" idx="17" hasCustomPrompt="1"/>
          </p:nvPr>
        </p:nvSpPr>
        <p:spPr>
          <a:xfrm>
            <a:off x="1836402" y="6400801"/>
            <a:ext cx="6908800"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441450"/>
            <a:ext cx="8232775" cy="470996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57200" y="1556327"/>
            <a:ext cx="3635375" cy="4520623"/>
          </a:xfrm>
        </p:spPr>
        <p:txBody>
          <a:bodyPr/>
          <a:lstStyle/>
          <a:p>
            <a:pPr lvl="0"/>
            <a:r>
              <a:rPr lang="en-US" dirty="0"/>
              <a:t>Edit Master text styles</a:t>
            </a: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234542" y="1556327"/>
            <a:ext cx="4452257" cy="2267528"/>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3971925"/>
            <a:ext cx="4452258" cy="2105025"/>
          </a:xfrm>
        </p:spPr>
        <p:txBody>
          <a:bodyPr/>
          <a:lstStyle/>
          <a:p>
            <a:pPr lvl="0"/>
            <a:r>
              <a:rPr lang="en-US" dirty="0"/>
              <a:t>Edit Master text styles</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399197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694830" y="1552575"/>
            <a:ext cx="3991970"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57201" y="1552575"/>
            <a:ext cx="2595603" cy="4438650"/>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3274199" y="1552575"/>
            <a:ext cx="2595602" cy="4438650"/>
          </a:xfrm>
        </p:spPr>
        <p:txBody>
          <a:bodyPr/>
          <a:lstStyle>
            <a:lvl1pPr>
              <a:defRPr/>
            </a:lvl1p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6091197" y="1552575"/>
            <a:ext cx="2595603"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188595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2572593" y="1552575"/>
            <a:ext cx="1885950" cy="4438650"/>
          </a:xfrm>
        </p:spPr>
        <p:txBody>
          <a:body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4687986" y="1552575"/>
            <a:ext cx="1885950" cy="4438650"/>
          </a:xfrm>
        </p:spPr>
        <p:txBody>
          <a:bodyPr/>
          <a:lstStyle/>
          <a:p>
            <a:pPr lvl="0"/>
            <a:r>
              <a:rPr lang="en-US" dirty="0"/>
              <a:t>Click to add text</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hasCustomPrompt="1"/>
          </p:nvPr>
        </p:nvSpPr>
        <p:spPr>
          <a:xfrm>
            <a:off x="6803378" y="1552575"/>
            <a:ext cx="1885950" cy="4438650"/>
          </a:xfrm>
        </p:spPr>
        <p:txBody>
          <a:bodyPr/>
          <a:lstStyle/>
          <a:p>
            <a:pPr marL="256032" marR="0" lvl="0" indent="-154432"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1885950" cy="1515365"/>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2572593" y="1552575"/>
            <a:ext cx="1885950" cy="1515365"/>
          </a:xfrm>
        </p:spPr>
        <p:txBody>
          <a:body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4687986" y="1552575"/>
            <a:ext cx="1885950" cy="1515365"/>
          </a:xfrm>
        </p:spPr>
        <p:txBody>
          <a:bodyPr/>
          <a:lstStyle/>
          <a:p>
            <a:pPr lvl="0"/>
            <a:r>
              <a:rPr lang="en-US" dirty="0"/>
              <a:t>Click to add text</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hasCustomPrompt="1"/>
          </p:nvPr>
        </p:nvSpPr>
        <p:spPr>
          <a:xfrm>
            <a:off x="6803378" y="1552575"/>
            <a:ext cx="1885950" cy="1515365"/>
          </a:xfrm>
        </p:spPr>
        <p:txBody>
          <a:bodyPr/>
          <a:lstStyle/>
          <a:p>
            <a:pPr marL="256032" marR="0" lvl="0" indent="-154432"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3" name="Content Placeholder 2">
            <a:extLst>
              <a:ext uri="{FF2B5EF4-FFF2-40B4-BE49-F238E27FC236}">
                <a16:creationId xmlns:a16="http://schemas.microsoft.com/office/drawing/2014/main" id="{AD19FA98-5D9F-6EC8-112E-FD2FE15D19C5}"/>
              </a:ext>
            </a:extLst>
          </p:cNvPr>
          <p:cNvSpPr>
            <a:spLocks noGrp="1"/>
          </p:cNvSpPr>
          <p:nvPr>
            <p:ph sz="quarter" idx="17"/>
          </p:nvPr>
        </p:nvSpPr>
        <p:spPr>
          <a:xfrm>
            <a:off x="457200" y="3429000"/>
            <a:ext cx="1773238" cy="1876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a:extLst>
              <a:ext uri="{FF2B5EF4-FFF2-40B4-BE49-F238E27FC236}">
                <a16:creationId xmlns:a16="http://schemas.microsoft.com/office/drawing/2014/main" id="{E4E12C76-6770-8928-20FC-7F4AC5E12D87}"/>
              </a:ext>
            </a:extLst>
          </p:cNvPr>
          <p:cNvSpPr>
            <a:spLocks noGrp="1"/>
          </p:cNvSpPr>
          <p:nvPr>
            <p:ph sz="quarter" idx="18"/>
          </p:nvPr>
        </p:nvSpPr>
        <p:spPr>
          <a:xfrm>
            <a:off x="2573338" y="3429000"/>
            <a:ext cx="1773237" cy="1876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6">
            <a:extLst>
              <a:ext uri="{FF2B5EF4-FFF2-40B4-BE49-F238E27FC236}">
                <a16:creationId xmlns:a16="http://schemas.microsoft.com/office/drawing/2014/main" id="{E0D5824A-D726-2965-9D32-37E2C5579D52}"/>
              </a:ext>
            </a:extLst>
          </p:cNvPr>
          <p:cNvSpPr>
            <a:spLocks noGrp="1"/>
          </p:cNvSpPr>
          <p:nvPr>
            <p:ph sz="quarter" idx="19"/>
          </p:nvPr>
        </p:nvSpPr>
        <p:spPr>
          <a:xfrm>
            <a:off x="4794250" y="3429000"/>
            <a:ext cx="1779588" cy="1971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9F6C5988-742D-DB64-A67B-D4B60FCDA128}"/>
              </a:ext>
            </a:extLst>
          </p:cNvPr>
          <p:cNvSpPr>
            <a:spLocks noGrp="1"/>
          </p:cNvSpPr>
          <p:nvPr>
            <p:ph sz="quarter" idx="20"/>
          </p:nvPr>
        </p:nvSpPr>
        <p:spPr>
          <a:xfrm>
            <a:off x="6804025" y="3308350"/>
            <a:ext cx="1882775" cy="249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474523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1828800" cy="763905"/>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2572593" y="1552575"/>
            <a:ext cx="1828800" cy="687705"/>
          </a:xfrm>
        </p:spPr>
        <p:txBody>
          <a:body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4687986" y="1552575"/>
            <a:ext cx="1828800" cy="687705"/>
          </a:xfrm>
        </p:spPr>
        <p:txBody>
          <a:bodyPr/>
          <a:lstStyle/>
          <a:p>
            <a:pPr lvl="0"/>
            <a:r>
              <a:rPr lang="en-US" dirty="0"/>
              <a:t>Click to add text</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hasCustomPrompt="1"/>
          </p:nvPr>
        </p:nvSpPr>
        <p:spPr>
          <a:xfrm>
            <a:off x="6803378" y="1552575"/>
            <a:ext cx="1828800" cy="619125"/>
          </a:xfrm>
        </p:spPr>
        <p:txBody>
          <a:bodyPr/>
          <a:lstStyle/>
          <a:p>
            <a:pPr marL="256032" marR="0" lvl="0" indent="-154432"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3" name="Content Placeholder 2">
            <a:extLst>
              <a:ext uri="{FF2B5EF4-FFF2-40B4-BE49-F238E27FC236}">
                <a16:creationId xmlns:a16="http://schemas.microsoft.com/office/drawing/2014/main" id="{AD19FA98-5D9F-6EC8-112E-FD2FE15D19C5}"/>
              </a:ext>
            </a:extLst>
          </p:cNvPr>
          <p:cNvSpPr>
            <a:spLocks noGrp="1"/>
          </p:cNvSpPr>
          <p:nvPr>
            <p:ph sz="quarter" idx="17"/>
          </p:nvPr>
        </p:nvSpPr>
        <p:spPr>
          <a:xfrm>
            <a:off x="457200" y="2461261"/>
            <a:ext cx="1773237" cy="6324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a:extLst>
              <a:ext uri="{FF2B5EF4-FFF2-40B4-BE49-F238E27FC236}">
                <a16:creationId xmlns:a16="http://schemas.microsoft.com/office/drawing/2014/main" id="{E4E12C76-6770-8928-20FC-7F4AC5E12D87}"/>
              </a:ext>
            </a:extLst>
          </p:cNvPr>
          <p:cNvSpPr>
            <a:spLocks noGrp="1"/>
          </p:cNvSpPr>
          <p:nvPr>
            <p:ph sz="quarter" idx="18"/>
          </p:nvPr>
        </p:nvSpPr>
        <p:spPr>
          <a:xfrm>
            <a:off x="2572593" y="2461261"/>
            <a:ext cx="1749377" cy="5638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6">
            <a:extLst>
              <a:ext uri="{FF2B5EF4-FFF2-40B4-BE49-F238E27FC236}">
                <a16:creationId xmlns:a16="http://schemas.microsoft.com/office/drawing/2014/main" id="{E0D5824A-D726-2965-9D32-37E2C5579D52}"/>
              </a:ext>
            </a:extLst>
          </p:cNvPr>
          <p:cNvSpPr>
            <a:spLocks noGrp="1"/>
          </p:cNvSpPr>
          <p:nvPr>
            <p:ph sz="quarter" idx="19"/>
          </p:nvPr>
        </p:nvSpPr>
        <p:spPr>
          <a:xfrm>
            <a:off x="4664126" y="2369821"/>
            <a:ext cx="1852660" cy="68770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9F6C5988-742D-DB64-A67B-D4B60FCDA128}"/>
              </a:ext>
            </a:extLst>
          </p:cNvPr>
          <p:cNvSpPr>
            <a:spLocks noGrp="1"/>
          </p:cNvSpPr>
          <p:nvPr>
            <p:ph sz="quarter" idx="20"/>
          </p:nvPr>
        </p:nvSpPr>
        <p:spPr>
          <a:xfrm>
            <a:off x="6858647" y="2316480"/>
            <a:ext cx="1828153" cy="61912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3E52047A-34B0-B956-AD76-DABE165D0777}"/>
              </a:ext>
            </a:extLst>
          </p:cNvPr>
          <p:cNvSpPr>
            <a:spLocks noGrp="1"/>
          </p:cNvSpPr>
          <p:nvPr>
            <p:ph sz="quarter" idx="21"/>
          </p:nvPr>
        </p:nvSpPr>
        <p:spPr>
          <a:xfrm>
            <a:off x="457200" y="3314700"/>
            <a:ext cx="1773238" cy="7540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91E79D87-C71A-80C2-8558-006A71964F6A}"/>
              </a:ext>
            </a:extLst>
          </p:cNvPr>
          <p:cNvSpPr>
            <a:spLocks noGrp="1"/>
          </p:cNvSpPr>
          <p:nvPr>
            <p:ph sz="quarter" idx="22"/>
          </p:nvPr>
        </p:nvSpPr>
        <p:spPr>
          <a:xfrm>
            <a:off x="2573338" y="3375025"/>
            <a:ext cx="1749425" cy="45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1C0C8765-95C2-0DB5-D607-849AFFBA8C51}"/>
              </a:ext>
            </a:extLst>
          </p:cNvPr>
          <p:cNvSpPr>
            <a:spLocks noGrp="1"/>
          </p:cNvSpPr>
          <p:nvPr>
            <p:ph sz="quarter" idx="23"/>
          </p:nvPr>
        </p:nvSpPr>
        <p:spPr>
          <a:xfrm>
            <a:off x="4687888" y="3268663"/>
            <a:ext cx="1828800" cy="5635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46CE01F6-0743-38E9-AF87-DAA5777F8F4F}"/>
              </a:ext>
            </a:extLst>
          </p:cNvPr>
          <p:cNvSpPr>
            <a:spLocks noGrp="1"/>
          </p:cNvSpPr>
          <p:nvPr>
            <p:ph sz="quarter" idx="24"/>
          </p:nvPr>
        </p:nvSpPr>
        <p:spPr>
          <a:xfrm>
            <a:off x="6881813" y="3187700"/>
            <a:ext cx="1773237" cy="7524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a:extLst>
              <a:ext uri="{FF2B5EF4-FFF2-40B4-BE49-F238E27FC236}">
                <a16:creationId xmlns:a16="http://schemas.microsoft.com/office/drawing/2014/main" id="{6FA160C5-C2B6-646A-24C2-497BDD85C78E}"/>
              </a:ext>
            </a:extLst>
          </p:cNvPr>
          <p:cNvSpPr>
            <a:spLocks noGrp="1"/>
          </p:cNvSpPr>
          <p:nvPr>
            <p:ph sz="quarter" idx="25"/>
          </p:nvPr>
        </p:nvSpPr>
        <p:spPr>
          <a:xfrm>
            <a:off x="488950" y="4192588"/>
            <a:ext cx="1741488" cy="1263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20">
            <a:extLst>
              <a:ext uri="{FF2B5EF4-FFF2-40B4-BE49-F238E27FC236}">
                <a16:creationId xmlns:a16="http://schemas.microsoft.com/office/drawing/2014/main" id="{354DFDB5-A5D7-D3C2-9EF8-F8AE304C5236}"/>
              </a:ext>
            </a:extLst>
          </p:cNvPr>
          <p:cNvSpPr>
            <a:spLocks noGrp="1"/>
          </p:cNvSpPr>
          <p:nvPr>
            <p:ph sz="quarter" idx="26"/>
          </p:nvPr>
        </p:nvSpPr>
        <p:spPr>
          <a:xfrm>
            <a:off x="2735263" y="4192588"/>
            <a:ext cx="1666875" cy="12017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22">
            <a:extLst>
              <a:ext uri="{FF2B5EF4-FFF2-40B4-BE49-F238E27FC236}">
                <a16:creationId xmlns:a16="http://schemas.microsoft.com/office/drawing/2014/main" id="{1A7D73FA-E2BD-CDFE-F443-0BF08320DEB5}"/>
              </a:ext>
            </a:extLst>
          </p:cNvPr>
          <p:cNvSpPr>
            <a:spLocks noGrp="1"/>
          </p:cNvSpPr>
          <p:nvPr>
            <p:ph sz="quarter" idx="27"/>
          </p:nvPr>
        </p:nvSpPr>
        <p:spPr>
          <a:xfrm>
            <a:off x="4770438" y="4297363"/>
            <a:ext cx="1565275" cy="12017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Text Placeholder 24">
            <a:extLst>
              <a:ext uri="{FF2B5EF4-FFF2-40B4-BE49-F238E27FC236}">
                <a16:creationId xmlns:a16="http://schemas.microsoft.com/office/drawing/2014/main" id="{2DE9E79D-3862-0315-17F8-2EE3AE3C8C5B}"/>
              </a:ext>
            </a:extLst>
          </p:cNvPr>
          <p:cNvSpPr>
            <a:spLocks noGrp="1"/>
          </p:cNvSpPr>
          <p:nvPr>
            <p:ph type="body" sz="quarter" idx="28"/>
          </p:nvPr>
        </p:nvSpPr>
        <p:spPr>
          <a:xfrm>
            <a:off x="7086600" y="4297363"/>
            <a:ext cx="1600200" cy="11588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741536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28600"/>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12888"/>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050971"/>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481138"/>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hasCustomPrompt="1"/>
          </p:nvPr>
        </p:nvSpPr>
        <p:spPr>
          <a:xfrm>
            <a:off x="5048250" y="1481138"/>
            <a:ext cx="3638550" cy="3754437"/>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343525"/>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p>
            <a:pPr lvl="0"/>
            <a:r>
              <a:rPr lang="en-US" dirty="0"/>
              <a:t>Edit Master text styles</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57398940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image" Target="../media/image1.jpg"/><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r>
              <a:rPr lang="en-US" sz="900" dirty="0"/>
              <a:t>1-1</a:t>
            </a:r>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 id="2147483664"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pic>
        <p:nvPicPr>
          <p:cNvPr id="2" name="Picture Placeholder 21" descr="Pearson Logo">
            <a:extLst>
              <a:ext uri="{FF2B5EF4-FFF2-40B4-BE49-F238E27FC236}">
                <a16:creationId xmlns:a16="http://schemas.microsoft.com/office/drawing/2014/main" id="{70404F1E-C5CF-2FE6-8AE4-FD92A0B2DB16}"/>
              </a:ext>
            </a:extLst>
          </p:cNvPr>
          <p:cNvPicPr>
            <a:picLocks noChangeAspect="1"/>
          </p:cNvPicPr>
          <p:nvPr userDrawn="1"/>
        </p:nvPicPr>
        <p:blipFill>
          <a:blip r:embed="rId15"/>
          <a:srcRect t="22152" b="22152"/>
          <a:stretch>
            <a:fillRect/>
          </a:stretch>
        </p:blipFill>
        <p:spPr>
          <a:xfrm>
            <a:off x="332508" y="6431973"/>
            <a:ext cx="1153391" cy="290602"/>
          </a:xfrm>
          <a:prstGeom prst="rect">
            <a:avLst/>
          </a:prstGeom>
        </p:spPr>
      </p:pic>
      <p:sp>
        <p:nvSpPr>
          <p:cNvPr id="3" name="Content Placeholder 7">
            <a:extLst>
              <a:ext uri="{FF2B5EF4-FFF2-40B4-BE49-F238E27FC236}">
                <a16:creationId xmlns:a16="http://schemas.microsoft.com/office/drawing/2014/main" id="{BB5CE15C-340A-7A6B-8F07-DA5245C3AD6C}"/>
              </a:ext>
            </a:extLst>
          </p:cNvPr>
          <p:cNvSpPr txBox="1">
            <a:spLocks/>
          </p:cNvSpPr>
          <p:nvPr userDrawn="1"/>
        </p:nvSpPr>
        <p:spPr>
          <a:xfrm>
            <a:off x="3717421" y="6425373"/>
            <a:ext cx="5042116" cy="221018"/>
          </a:xfrm>
          <a:prstGeom prst="rect">
            <a:avLst/>
          </a:prstGeom>
        </p:spPr>
        <p:txBody>
          <a:bodyPr wrap="square" lIns="0" tIns="18000" rIns="0" bIns="180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algn="r"/>
            <a:r>
              <a:rPr lang="en-US" altLang="en-US" sz="1200" dirty="0" smtClean="0">
                <a:latin typeface="Verdana"/>
                <a:ea typeface="Verdana" panose="020B0604030504040204" pitchFamily="34" charset="0"/>
                <a:cs typeface="Verdana" panose="020B0604030504040204" pitchFamily="34" charset="0"/>
              </a:rPr>
              <a:t>© 2025 Pearson Education Ltd. All Rights Reserved.</a:t>
            </a:r>
            <a:endParaRPr lang="en-US" altLang="en-US" sz="1200" dirty="0">
              <a:latin typeface="Verdana"/>
              <a:ea typeface="Verdana" panose="020B0604030504040204" pitchFamily="34" charset="0"/>
              <a:cs typeface="Verdana" panose="020B0604030504040204" pitchFamily="34" charset="0"/>
            </a:endParaRPr>
          </a:p>
        </p:txBody>
      </p:sp>
    </p:spTree>
  </p:cSld>
  <p:clrMap bg1="lt1" tx1="dk1" bg2="dk2" tx2="lt2" accent1="accent1" accent2="accent2" accent3="accent3" accent4="accent4" accent5="accent5" accent6="accent6" hlink="hlink" folHlink="folHlink"/>
  <p:sldLayoutIdLst>
    <p:sldLayoutId id="2147483649" r:id="rId1"/>
    <p:sldLayoutId id="2147483676" r:id="rId2"/>
    <p:sldLayoutId id="2147483677" r:id="rId3"/>
    <p:sldLayoutId id="2147483678" r:id="rId4"/>
    <p:sldLayoutId id="2147483679" r:id="rId5"/>
    <p:sldLayoutId id="2147483680" r:id="rId6"/>
    <p:sldLayoutId id="2147483681" r:id="rId7"/>
    <p:sldLayoutId id="2147483671" r:id="rId8"/>
    <p:sldLayoutId id="2147483673" r:id="rId9"/>
    <p:sldLayoutId id="2147483670" r:id="rId10"/>
    <p:sldLayoutId id="2147483669" r:id="rId11"/>
    <p:sldLayoutId id="2147483655" r:id="rId12"/>
    <p:sldLayoutId id="2147483682"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mod="1">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hyperlink" Target="http://www.hoovers.com/" TargetMode="External"/><Relationship Id="rId2" Type="http://schemas.openxmlformats.org/officeDocument/2006/relationships/notesSlide" Target="../notesSlides/notesSlide6.xml"/><Relationship Id="rId1" Type="http://schemas.openxmlformats.org/officeDocument/2006/relationships/slideLayout" Target="../slideLayouts/slideLayout9.xml"/><Relationship Id="rId4" Type="http://schemas.openxmlformats.org/officeDocument/2006/relationships/hyperlink" Target="http://www.unctad.org/"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hyperlink" Target="http://www.hoovers.com/" TargetMode="External"/><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hyperlink" Target="http://www.unctad.org/"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3.xml"/><Relationship Id="rId1" Type="http://schemas.openxmlformats.org/officeDocument/2006/relationships/slideLayout" Target="../slideLayouts/slideLayout9.xml"/><Relationship Id="rId6" Type="http://schemas.openxmlformats.org/officeDocument/2006/relationships/hyperlink" Target="https://data.worldbank.org/" TargetMode="External"/><Relationship Id="rId5" Type="http://schemas.openxmlformats.org/officeDocument/2006/relationships/hyperlink" Target="http://www.ilo.org/" TargetMode="External"/><Relationship Id="rId4" Type="http://schemas.openxmlformats.org/officeDocument/2006/relationships/hyperlink" Target="https://data.unicef.org/"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3.xml"/><Relationship Id="rId1" Type="http://schemas.openxmlformats.org/officeDocument/2006/relationships/slideLayout" Target="../slideLayouts/slideLayout9.xml"/><Relationship Id="rId5" Type="http://schemas.openxmlformats.org/officeDocument/2006/relationships/hyperlink" Target="https://data.worldbank.org/" TargetMode="External"/><Relationship Id="rId4" Type="http://schemas.openxmlformats.org/officeDocument/2006/relationships/hyperlink" Target="http://unctadstat.unctad.org/" TargetMode="Externa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35.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1.xml"/><Relationship Id="rId1" Type="http://schemas.openxmlformats.org/officeDocument/2006/relationships/slideLayout" Target="../slideLayouts/slideLayout15.xml"/><Relationship Id="rId4" Type="http://schemas.openxmlformats.org/officeDocument/2006/relationships/image" Target="../media/image1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Lst>
          </p:cNvPr>
          <p:cNvSpPr>
            <a:spLocks noGrp="1"/>
          </p:cNvSpPr>
          <p:nvPr>
            <p:ph type="title"/>
          </p:nvPr>
        </p:nvSpPr>
        <p:spPr>
          <a:xfrm>
            <a:off x="370560" y="116345"/>
            <a:ext cx="8341640" cy="1144347"/>
          </a:xfrm>
        </p:spPr>
        <p:txBody>
          <a:bodyPr wrap="square" lIns="0" tIns="18000" rIns="0" bIns="18000" anchor="ctr" anchorCtr="0">
            <a:spAutoFit/>
          </a:bodyPr>
          <a:lstStyle/>
          <a:p>
            <a:r>
              <a:rPr lang="en-US" dirty="0"/>
              <a:t>International Business: The New Realities</a:t>
            </a:r>
          </a:p>
        </p:txBody>
      </p:sp>
      <p:sp>
        <p:nvSpPr>
          <p:cNvPr id="3" name="Content Placeholder 2">
            <a:extLst>
              <a:ext uri="{FF2B5EF4-FFF2-40B4-BE49-F238E27FC236}">
                <a16:creationId xmlns:a16="http://schemas.microsoft.com/office/drawing/2014/main" id="{ABE18F80-D4FC-4D8F-B2BD-E7BEE7E012B5}"/>
              </a:ext>
            </a:extLst>
          </p:cNvPr>
          <p:cNvSpPr>
            <a:spLocks noGrp="1"/>
          </p:cNvSpPr>
          <p:nvPr>
            <p:ph type="body" idx="1"/>
          </p:nvPr>
        </p:nvSpPr>
        <p:spPr>
          <a:xfrm>
            <a:off x="373268" y="1381497"/>
            <a:ext cx="4052957" cy="344128"/>
          </a:xfrm>
        </p:spPr>
        <p:txBody>
          <a:bodyPr wrap="square" lIns="0" tIns="18000" rIns="0" bIns="18000" anchor="ctr" anchorCtr="0">
            <a:spAutoFit/>
          </a:bodyPr>
          <a:lstStyle/>
          <a:p>
            <a:r>
              <a:rPr lang="en-US" dirty="0">
                <a:latin typeface="Arial" panose="020B0604020202020204" pitchFamily="34" charset="0"/>
                <a:cs typeface="Arial" panose="020B0604020202020204" pitchFamily="34" charset="0"/>
              </a:rPr>
              <a:t>Sixth </a:t>
            </a:r>
            <a:r>
              <a:rPr lang="en-US" dirty="0">
                <a:latin typeface="Arial" panose="020B0604020202020204" pitchFamily="34" charset="0"/>
                <a:cs typeface="Arial" panose="020B0604020202020204" pitchFamily="34" charset="0"/>
              </a:rPr>
              <a:t>Edition, Global Edition</a:t>
            </a:r>
            <a:endParaRPr lang="en-US" dirty="0">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B297A484-CED4-47B7-9C47-4EB69D30DE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0053" y="1928815"/>
            <a:ext cx="3297277" cy="4217822"/>
          </a:xfrm>
          <a:prstGeom prst="rect">
            <a:avLst/>
          </a:prstGeom>
        </p:spPr>
      </p:pic>
      <p:sp>
        <p:nvSpPr>
          <p:cNvPr id="5" name="Content Placeholder 4">
            <a:extLst>
              <a:ext uri="{FF2B5EF4-FFF2-40B4-BE49-F238E27FC236}">
                <a16:creationId xmlns:a16="http://schemas.microsoft.com/office/drawing/2014/main" id="{2D222376-7AD7-4443-B67A-120BE12F4DDB}"/>
              </a:ext>
            </a:extLst>
          </p:cNvPr>
          <p:cNvSpPr>
            <a:spLocks noGrp="1"/>
          </p:cNvSpPr>
          <p:nvPr>
            <p:ph sz="quarter" idx="14"/>
          </p:nvPr>
        </p:nvSpPr>
        <p:spPr>
          <a:xfrm>
            <a:off x="4580626" y="2430301"/>
            <a:ext cx="1897812" cy="498016"/>
          </a:xfrm>
        </p:spPr>
        <p:txBody>
          <a:bodyPr wrap="square" lIns="0" tIns="18000" rIns="0" bIns="18000" anchor="ctr" anchorCtr="0">
            <a:spAutoFit/>
          </a:bodyPr>
          <a:lstStyle/>
          <a:p>
            <a:pPr marL="0"/>
            <a:r>
              <a:rPr lang="en-US" dirty="0">
                <a:latin typeface="Arial" panose="020B0604020202020204" pitchFamily="34" charset="0"/>
                <a:cs typeface="Arial" panose="020B0604020202020204" pitchFamily="34" charset="0"/>
              </a:rPr>
              <a:t>Chapter 14</a:t>
            </a:r>
          </a:p>
        </p:txBody>
      </p:sp>
      <p:sp>
        <p:nvSpPr>
          <p:cNvPr id="6" name="Content Placeholder 5">
            <a:extLst>
              <a:ext uri="{FF2B5EF4-FFF2-40B4-BE49-F238E27FC236}">
                <a16:creationId xmlns:a16="http://schemas.microsoft.com/office/drawing/2014/main" id="{82FD4EC9-4778-4E2F-B136-2A176CA2BA69}"/>
              </a:ext>
            </a:extLst>
          </p:cNvPr>
          <p:cNvSpPr>
            <a:spLocks noGrp="1"/>
          </p:cNvSpPr>
          <p:nvPr>
            <p:ph sz="quarter" idx="15"/>
          </p:nvPr>
        </p:nvSpPr>
        <p:spPr>
          <a:xfrm>
            <a:off x="4580626" y="3069205"/>
            <a:ext cx="3821502" cy="713460"/>
          </a:xfrm>
        </p:spPr>
        <p:txBody>
          <a:bodyPr wrap="square" lIns="0" tIns="18000" rIns="0" bIns="18000" anchor="ctr" anchorCtr="0">
            <a:spAutoFit/>
          </a:bodyPr>
          <a:lstStyle/>
          <a:p>
            <a:pPr marL="0"/>
            <a:r>
              <a:rPr lang="en-US" dirty="0">
                <a:latin typeface="Arial" panose="020B0604020202020204" pitchFamily="34" charset="0"/>
                <a:cs typeface="Arial" panose="020B0604020202020204" pitchFamily="34" charset="0"/>
              </a:rPr>
              <a:t>Foreign Direct Investment and Collaborative Ventures</a:t>
            </a:r>
          </a:p>
        </p:txBody>
      </p:sp>
      <p:pic>
        <p:nvPicPr>
          <p:cNvPr id="22" name="Picture Placeholder 21" descr="Pearson Logo">
            <a:extLst>
              <a:ext uri="{FF2B5EF4-FFF2-40B4-BE49-F238E27FC236}">
                <a16:creationId xmlns:a16="http://schemas.microsoft.com/office/drawing/2014/main" id="{463657D3-0029-4FB6-A24C-CAB832988B4E}"/>
              </a:ext>
            </a:extLst>
          </p:cNvPr>
          <p:cNvPicPr>
            <a:picLocks noGrp="1" noChangeAspect="1"/>
          </p:cNvPicPr>
          <p:nvPr>
            <p:ph type="pic" sz="quarter" idx="16"/>
          </p:nvPr>
        </p:nvPicPr>
        <p:blipFill>
          <a:blip r:embed="rId4"/>
          <a:srcRect t="22152" b="22152"/>
          <a:stretch>
            <a:fillRect/>
          </a:stretch>
        </p:blipFill>
        <p:spPr>
          <a:xfrm>
            <a:off x="332508" y="6431973"/>
            <a:ext cx="1153391" cy="290602"/>
          </a:xfrm>
        </p:spPr>
      </p:pic>
      <p:sp>
        <p:nvSpPr>
          <p:cNvPr id="8" name="Content Placeholder 7">
            <a:extLst>
              <a:ext uri="{FF2B5EF4-FFF2-40B4-BE49-F238E27FC236}">
                <a16:creationId xmlns:a16="http://schemas.microsoft.com/office/drawing/2014/main" id="{C8E88D28-1A9F-4FC4-946F-10B4629D1438}"/>
              </a:ext>
            </a:extLst>
          </p:cNvPr>
          <p:cNvSpPr>
            <a:spLocks noGrp="1"/>
          </p:cNvSpPr>
          <p:nvPr>
            <p:ph sz="quarter" idx="17"/>
          </p:nvPr>
        </p:nvSpPr>
        <p:spPr>
          <a:xfrm>
            <a:off x="3692105" y="6425373"/>
            <a:ext cx="5067431" cy="221018"/>
          </a:xfrm>
        </p:spPr>
        <p:txBody>
          <a:bodyPr wrap="square" lIns="0" tIns="18000" rIns="0" bIns="18000" anchor="ctr" anchorCtr="0">
            <a:spAutoFit/>
          </a:bodyPr>
          <a:lstStyle/>
          <a:p>
            <a:r>
              <a:rPr lang="en-US" altLang="en-US" sz="1200" b="0" dirty="0" smtClean="0">
                <a:latin typeface="Verdana"/>
                <a:ea typeface="Verdana" panose="020B0604030504040204" pitchFamily="34" charset="0"/>
                <a:cs typeface="Verdana" panose="020B0604030504040204" pitchFamily="34" charset="0"/>
              </a:rPr>
              <a:t>© 2025 Pearson Education Ltd. All Rights Reserved.</a:t>
            </a:r>
            <a:endParaRPr lang="en-US" altLang="en-US" sz="1200" b="0" dirty="0">
              <a:latin typeface="Verdana"/>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367401" y="115154"/>
            <a:ext cx="8344799" cy="590349"/>
          </a:xfrm>
        </p:spPr>
        <p:txBody>
          <a:bodyPr wrap="square" lIns="0" tIns="18000" rIns="0" bIns="18000" anchor="ctr" anchorCtr="0">
            <a:spAutoFit/>
          </a:bodyPr>
          <a:lstStyle/>
          <a:p>
            <a:r>
              <a:rPr lang="en-US" noProof="0" dirty="0"/>
              <a:t>Learning Objectives</a:t>
            </a:r>
            <a:endParaRPr lang="en-US" sz="1800" b="0" noProof="0" dirty="0"/>
          </a:p>
        </p:txBody>
      </p:sp>
      <p:sp>
        <p:nvSpPr>
          <p:cNvPr id="3" name="Text Placeholder 2">
            <a:extLst>
              <a:ext uri="{FF2B5EF4-FFF2-40B4-BE49-F238E27FC236}">
                <a16:creationId xmlns:a16="http://schemas.microsoft.com/office/drawing/2014/main" id="{BCE5B0A6-16C1-4125-9AA8-71EF020B405F}"/>
              </a:ext>
            </a:extLst>
          </p:cNvPr>
          <p:cNvSpPr>
            <a:spLocks noGrp="1"/>
          </p:cNvSpPr>
          <p:nvPr>
            <p:ph sz="quarter" idx="13"/>
          </p:nvPr>
        </p:nvSpPr>
        <p:spPr>
          <a:xfrm>
            <a:off x="370936" y="875704"/>
            <a:ext cx="8341263" cy="3214145"/>
          </a:xfrm>
        </p:spPr>
        <p:txBody>
          <a:bodyPr wrap="square" lIns="0" tIns="18000" rIns="0" bIns="18000" anchor="ctr" anchorCtr="0">
            <a:spAutoFit/>
          </a:bodyPr>
          <a:lstStyle/>
          <a:p>
            <a:pPr marL="715963" lvl="0" indent="-715963">
              <a:buClr>
                <a:schemeClr val="lt1"/>
              </a:buClr>
              <a:buSzPct val="25000"/>
              <a:buNone/>
            </a:pPr>
            <a:r>
              <a:rPr lang="en-US" sz="2400" b="1" dirty="0">
                <a:solidFill>
                  <a:srgbClr val="007FA3"/>
                </a:solidFill>
                <a:latin typeface="Arial" panose="020B0604020202020204" pitchFamily="34" charset="0"/>
                <a:cs typeface="Arial" panose="020B0604020202020204" pitchFamily="34" charset="0"/>
              </a:rPr>
              <a:t>14</a:t>
            </a:r>
            <a:r>
              <a:rPr lang="en-US" sz="2400" b="1" noProof="0" dirty="0">
                <a:solidFill>
                  <a:srgbClr val="007FA3"/>
                </a:solidFill>
                <a:latin typeface="Arial" panose="020B0604020202020204" pitchFamily="34" charset="0"/>
                <a:cs typeface="Arial" panose="020B0604020202020204" pitchFamily="34" charset="0"/>
              </a:rPr>
              <a:t>.1</a:t>
            </a:r>
            <a:r>
              <a:rPr lang="en-US" sz="2400" noProof="0"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Understand international investment and collaboration.</a:t>
            </a:r>
            <a:endParaRPr lang="en-US" sz="2400" noProof="0" dirty="0">
              <a:latin typeface="Arial" panose="020B0604020202020204" pitchFamily="34" charset="0"/>
              <a:cs typeface="Arial" panose="020B0604020202020204" pitchFamily="34" charset="0"/>
            </a:endParaRPr>
          </a:p>
          <a:p>
            <a:pPr marL="715963" lvl="0" indent="-715963">
              <a:buClr>
                <a:schemeClr val="lt1"/>
              </a:buClr>
              <a:buSzPct val="25000"/>
              <a:buNone/>
            </a:pPr>
            <a:r>
              <a:rPr lang="en-US" sz="2400" b="1" noProof="0" dirty="0">
                <a:solidFill>
                  <a:srgbClr val="007FA3"/>
                </a:solidFill>
                <a:latin typeface="Arial" panose="020B0604020202020204" pitchFamily="34" charset="0"/>
                <a:cs typeface="Arial" panose="020B0604020202020204" pitchFamily="34" charset="0"/>
              </a:rPr>
              <a:t>14.2</a:t>
            </a:r>
            <a:r>
              <a:rPr lang="en-US" sz="2400" noProof="0"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Describe the characteristics of foreign direct investment.</a:t>
            </a:r>
            <a:endParaRPr lang="en-US" sz="2400" noProof="0" dirty="0">
              <a:latin typeface="Arial" panose="020B0604020202020204" pitchFamily="34" charset="0"/>
              <a:cs typeface="Arial" panose="020B0604020202020204" pitchFamily="34" charset="0"/>
            </a:endParaRPr>
          </a:p>
          <a:p>
            <a:pPr marL="715963" lvl="0" indent="-715963">
              <a:buClr>
                <a:schemeClr val="lt1"/>
              </a:buClr>
              <a:buSzPct val="25000"/>
              <a:buNone/>
            </a:pPr>
            <a:r>
              <a:rPr lang="en-US" sz="2400" b="1" noProof="0" dirty="0">
                <a:solidFill>
                  <a:srgbClr val="007FA3"/>
                </a:solidFill>
                <a:latin typeface="Arial" panose="020B0604020202020204" pitchFamily="34" charset="0"/>
                <a:cs typeface="Arial" panose="020B0604020202020204" pitchFamily="34" charset="0"/>
              </a:rPr>
              <a:t>14.3</a:t>
            </a:r>
            <a:r>
              <a:rPr lang="en-US" sz="2400" noProof="0"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Explain the motives for </a:t>
            </a:r>
            <a:r>
              <a:rPr lang="en-US" sz="2400" spc="-300" dirty="0">
                <a:latin typeface="Arial" panose="020B0604020202020204" pitchFamily="34" charset="0"/>
                <a:cs typeface="Arial" panose="020B0604020202020204" pitchFamily="34" charset="0"/>
              </a:rPr>
              <a:t>F D </a:t>
            </a:r>
            <a:r>
              <a:rPr lang="en-US" sz="2400" dirty="0">
                <a:latin typeface="Arial" panose="020B0604020202020204" pitchFamily="34" charset="0"/>
                <a:cs typeface="Arial" panose="020B0604020202020204" pitchFamily="34" charset="0"/>
              </a:rPr>
              <a:t>I and collaborative ventures.</a:t>
            </a:r>
          </a:p>
          <a:p>
            <a:pPr marL="715963" lvl="0" indent="-715963">
              <a:buClr>
                <a:schemeClr val="lt1"/>
              </a:buClr>
              <a:buSzPct val="25000"/>
              <a:buNone/>
            </a:pPr>
            <a:r>
              <a:rPr lang="en-US" sz="2400" b="1" dirty="0">
                <a:solidFill>
                  <a:srgbClr val="007FA3"/>
                </a:solidFill>
                <a:latin typeface="Arial" panose="020B0604020202020204" pitchFamily="34" charset="0"/>
                <a:cs typeface="Arial" panose="020B0604020202020204" pitchFamily="34" charset="0"/>
              </a:rPr>
              <a:t>14.4</a:t>
            </a:r>
            <a:r>
              <a:rPr lang="en-US" sz="2400" noProof="0"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Identify the types of foreign direct investment.</a:t>
            </a:r>
          </a:p>
          <a:p>
            <a:pPr marL="715963" lvl="0" indent="-715963">
              <a:buClr>
                <a:schemeClr val="lt1"/>
              </a:buClr>
              <a:buSzPct val="25000"/>
              <a:buNone/>
            </a:pPr>
            <a:r>
              <a:rPr lang="en-US" sz="2400" b="1" dirty="0">
                <a:solidFill>
                  <a:srgbClr val="007FA3"/>
                </a:solidFill>
                <a:latin typeface="Arial" panose="020B0604020202020204" pitchFamily="34" charset="0"/>
                <a:cs typeface="Arial" panose="020B0604020202020204" pitchFamily="34" charset="0"/>
              </a:rPr>
              <a:t>14.5</a:t>
            </a:r>
            <a:r>
              <a:rPr lang="en-US" sz="2400" dirty="0">
                <a:latin typeface="Arial" panose="020B0604020202020204" pitchFamily="34" charset="0"/>
                <a:cs typeface="Arial" panose="020B0604020202020204" pitchFamily="34" charset="0"/>
              </a:rPr>
              <a:t> Understand international collaborative ventures.</a:t>
            </a:r>
          </a:p>
          <a:p>
            <a:pPr marL="715963" lvl="0" indent="-715963">
              <a:buClr>
                <a:schemeClr val="lt1"/>
              </a:buClr>
              <a:buSzPct val="25000"/>
              <a:buNone/>
            </a:pPr>
            <a:r>
              <a:rPr lang="en-US" sz="2400" b="1" dirty="0">
                <a:solidFill>
                  <a:srgbClr val="007FA3"/>
                </a:solidFill>
                <a:latin typeface="Arial" panose="020B0604020202020204" pitchFamily="34" charset="0"/>
                <a:cs typeface="Arial" panose="020B0604020202020204" pitchFamily="34" charset="0"/>
              </a:rPr>
              <a:t>14.6 </a:t>
            </a:r>
            <a:r>
              <a:rPr lang="en-US" sz="2400" dirty="0">
                <a:latin typeface="Arial" panose="020B0604020202020204" pitchFamily="34" charset="0"/>
                <a:cs typeface="Arial" panose="020B0604020202020204" pitchFamily="34" charset="0"/>
              </a:rPr>
              <a:t>Discuss the experience of retailers in foreign markets.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67550" y="118705"/>
            <a:ext cx="8344650" cy="590349"/>
          </a:xfrm>
        </p:spPr>
        <p:txBody>
          <a:bodyPr wrap="square" lIns="0" tIns="18000" rIns="0" bIns="18000" anchor="ctr" anchorCtr="0">
            <a:spAutoFit/>
          </a:bodyPr>
          <a:lstStyle/>
          <a:p>
            <a:r>
              <a:rPr lang="en-US" spc="-500" dirty="0"/>
              <a:t>F D </a:t>
            </a:r>
            <a:r>
              <a:rPr lang="en-US" dirty="0"/>
              <a:t>I and Collaborative Ventures</a:t>
            </a:r>
            <a:endParaRPr lang="en-US" sz="28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67622" y="874046"/>
            <a:ext cx="8344578" cy="3514227"/>
          </a:xfrm>
        </p:spPr>
        <p:txBody>
          <a:bodyPr wrap="square" lIns="0" tIns="18000" rIns="0" bIns="18000" anchor="ctr" anchorCtr="0">
            <a:spAutoFit/>
          </a:bodyPr>
          <a:lstStyle/>
          <a:p>
            <a:pPr marL="342900" indent="-342900">
              <a:spcBef>
                <a:spcPts val="600"/>
              </a:spcBef>
            </a:pPr>
            <a:r>
              <a:rPr lang="en-US" sz="2400" b="1" dirty="0"/>
              <a:t>Foreign direct investment (</a:t>
            </a:r>
            <a:r>
              <a:rPr lang="en-US" sz="2400" b="1" spc="-300" dirty="0"/>
              <a:t>F D </a:t>
            </a:r>
            <a:r>
              <a:rPr lang="en-US" sz="2400" b="1" dirty="0"/>
              <a:t>I):</a:t>
            </a:r>
            <a:r>
              <a:rPr lang="en-US" sz="2400" dirty="0"/>
              <a:t> Strategy in which the firm establishes a physical presence abroad by acquiring productive assets such as capital, technology, labor, land, plant, and equipment.</a:t>
            </a:r>
          </a:p>
          <a:p>
            <a:pPr marL="342900" indent="-342900">
              <a:spcBef>
                <a:spcPts val="600"/>
              </a:spcBef>
            </a:pPr>
            <a:r>
              <a:rPr lang="en-US" sz="2400" b="1" dirty="0"/>
              <a:t>International collaborative venture: </a:t>
            </a:r>
            <a:r>
              <a:rPr lang="en-US" sz="2400" dirty="0"/>
              <a:t>A cross-border business alliance in which partnering firms pool their resources and share costs and risks of a venture.</a:t>
            </a:r>
          </a:p>
          <a:p>
            <a:pPr marL="342900" indent="-342900">
              <a:spcBef>
                <a:spcPts val="600"/>
              </a:spcBef>
            </a:pPr>
            <a:r>
              <a:rPr lang="en-US" sz="2400" b="1" dirty="0"/>
              <a:t>Joint venture (</a:t>
            </a:r>
            <a:r>
              <a:rPr lang="en-US" sz="2400" b="1" spc="-300" dirty="0"/>
              <a:t>J </a:t>
            </a:r>
            <a:r>
              <a:rPr lang="en-US" sz="2400" b="1" dirty="0"/>
              <a:t>V): </a:t>
            </a:r>
            <a:r>
              <a:rPr lang="en-US" sz="2400" dirty="0"/>
              <a:t>A form of collaboration between two or more firms to create a jointly-owned enterprise.</a:t>
            </a:r>
          </a:p>
        </p:txBody>
      </p:sp>
    </p:spTree>
    <p:extLst>
      <p:ext uri="{BB962C8B-B14F-4D97-AF65-F5344CB8AC3E}">
        <p14:creationId xmlns:p14="http://schemas.microsoft.com/office/powerpoint/2010/main" val="39404695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67550" y="118705"/>
            <a:ext cx="8344650" cy="590349"/>
          </a:xfrm>
        </p:spPr>
        <p:txBody>
          <a:bodyPr wrap="square" lIns="0" tIns="18000" rIns="0" bIns="18000" anchor="ctr" anchorCtr="0">
            <a:spAutoFit/>
          </a:bodyPr>
          <a:lstStyle/>
          <a:p>
            <a:r>
              <a:rPr lang="en-US" dirty="0"/>
              <a:t>Examples of </a:t>
            </a:r>
            <a:r>
              <a:rPr lang="en-US" spc="-500" dirty="0"/>
              <a:t>F D </a:t>
            </a:r>
            <a:r>
              <a:rPr lang="en-US" dirty="0"/>
              <a:t>I</a:t>
            </a:r>
            <a:endParaRPr lang="en-US" sz="28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67622" y="863056"/>
            <a:ext cx="8344578" cy="4329835"/>
          </a:xfrm>
        </p:spPr>
        <p:txBody>
          <a:bodyPr wrap="square" lIns="0" tIns="18000" rIns="0" bIns="18000" anchor="ctr" anchorCtr="0">
            <a:spAutoFit/>
          </a:bodyPr>
          <a:lstStyle/>
          <a:p>
            <a:pPr marL="342900" indent="-342900">
              <a:spcBef>
                <a:spcPts val="600"/>
              </a:spcBef>
            </a:pPr>
            <a:r>
              <a:rPr lang="en-US" sz="2400" dirty="0"/>
              <a:t>Volkswagen spent $1 billion to build a factory in Poland to manufacture delivery vans.</a:t>
            </a:r>
          </a:p>
          <a:p>
            <a:pPr marL="342900" indent="-342900">
              <a:spcBef>
                <a:spcPts val="600"/>
              </a:spcBef>
            </a:pPr>
            <a:r>
              <a:rPr lang="en-US" sz="2400" dirty="0"/>
              <a:t>The convenience retail giant 7-Eleven Inc., headquartered in Japan, acquired Speedway, the convenience store arm of Marathon Petroleum in the United States, for $21 billion.</a:t>
            </a:r>
          </a:p>
          <a:p>
            <a:pPr marL="342900" indent="-342900">
              <a:spcBef>
                <a:spcPts val="600"/>
              </a:spcBef>
            </a:pPr>
            <a:r>
              <a:rPr lang="en-US" sz="2400" dirty="0"/>
              <a:t>Denmark’s Lego Group spent more than 100 million euros to build a toy factory in China.</a:t>
            </a:r>
          </a:p>
          <a:p>
            <a:pPr marL="342900" indent="-342900">
              <a:spcBef>
                <a:spcPts val="600"/>
              </a:spcBef>
            </a:pPr>
            <a:r>
              <a:rPr lang="en-US" sz="2400" dirty="0"/>
              <a:t>Japan’s Toshiba formed a joint venture with the U.S. firm United Technologies to establish R&amp;D centers in Europe and India to support joint innovation in the heating and air conditioning industry.</a:t>
            </a:r>
          </a:p>
        </p:txBody>
      </p:sp>
    </p:spTree>
    <p:extLst>
      <p:ext uri="{BB962C8B-B14F-4D97-AF65-F5344CB8AC3E}">
        <p14:creationId xmlns:p14="http://schemas.microsoft.com/office/powerpoint/2010/main" val="26122066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67550" y="142719"/>
            <a:ext cx="8344650" cy="559572"/>
          </a:xfrm>
        </p:spPr>
        <p:txBody>
          <a:bodyPr wrap="square" lIns="0" tIns="18000" rIns="0" bIns="18000" anchor="ctr" anchorCtr="0">
            <a:spAutoFit/>
          </a:bodyPr>
          <a:lstStyle/>
          <a:p>
            <a:r>
              <a:rPr lang="en-US" sz="3400" dirty="0"/>
              <a:t>The Surprising Location of Top Brands</a:t>
            </a:r>
            <a:endParaRPr lang="en-US" sz="3400" b="0" dirty="0"/>
          </a:p>
        </p:txBody>
      </p:sp>
      <p:graphicFrame>
        <p:nvGraphicFramePr>
          <p:cNvPr id="6" name="Table 5">
            <a:extLst>
              <a:ext uri="{FF2B5EF4-FFF2-40B4-BE49-F238E27FC236}">
                <a16:creationId xmlns:a16="http://schemas.microsoft.com/office/drawing/2014/main" id="{503207A6-2642-D6AC-FF84-4C2DFBE91D8A}"/>
              </a:ext>
            </a:extLst>
          </p:cNvPr>
          <p:cNvGraphicFramePr>
            <a:graphicFrameLocks noGrp="1"/>
          </p:cNvGraphicFramePr>
          <p:nvPr>
            <p:extLst>
              <p:ext uri="{D42A27DB-BD31-4B8C-83A1-F6EECF244321}">
                <p14:modId xmlns:p14="http://schemas.microsoft.com/office/powerpoint/2010/main" val="165753587"/>
              </p:ext>
            </p:extLst>
          </p:nvPr>
        </p:nvGraphicFramePr>
        <p:xfrm>
          <a:off x="457200" y="914400"/>
          <a:ext cx="8229600" cy="5431104"/>
        </p:xfrm>
        <a:graphic>
          <a:graphicData uri="http://schemas.openxmlformats.org/drawingml/2006/table">
            <a:tbl>
              <a:tblPr firstRow="1" bandRow="1">
                <a:tableStyleId>{5940675A-B579-460E-94D1-54222C63F5DA}</a:tableStyleId>
              </a:tblPr>
              <a:tblGrid>
                <a:gridCol w="4027262">
                  <a:extLst>
                    <a:ext uri="{9D8B030D-6E8A-4147-A177-3AD203B41FA5}">
                      <a16:colId xmlns:a16="http://schemas.microsoft.com/office/drawing/2014/main" val="20000"/>
                    </a:ext>
                  </a:extLst>
                </a:gridCol>
                <a:gridCol w="4202338">
                  <a:extLst>
                    <a:ext uri="{9D8B030D-6E8A-4147-A177-3AD203B41FA5}">
                      <a16:colId xmlns:a16="http://schemas.microsoft.com/office/drawing/2014/main" val="20001"/>
                    </a:ext>
                  </a:extLst>
                </a:gridCol>
              </a:tblGrid>
              <a:tr h="268651">
                <a:tc>
                  <a:txBody>
                    <a:bodyPr/>
                    <a:lstStyle/>
                    <a:p>
                      <a:pPr marL="0" marR="0" lvl="0" indent="0" algn="l" rtl="0">
                        <a:lnSpc>
                          <a:spcPct val="100000"/>
                        </a:lnSpc>
                        <a:spcBef>
                          <a:spcPts val="0"/>
                        </a:spcBef>
                        <a:spcAft>
                          <a:spcPts val="0"/>
                        </a:spcAft>
                        <a:buClr>
                          <a:schemeClr val="dk1"/>
                        </a:buClr>
                        <a:buSzPts val="2200"/>
                        <a:buFont typeface="Arial"/>
                        <a:buNone/>
                      </a:pPr>
                      <a:r>
                        <a:rPr lang="en-US" sz="2000" b="1" i="0" u="none" strike="noStrike" cap="none" dirty="0">
                          <a:solidFill>
                            <a:schemeClr val="bg1"/>
                          </a:solidFill>
                          <a:latin typeface="Arial" panose="020B0604020202020204" pitchFamily="34" charset="0"/>
                          <a:ea typeface="Arial"/>
                          <a:cs typeface="Arial" panose="020B0604020202020204" pitchFamily="34" charset="0"/>
                          <a:sym typeface="Arial"/>
                        </a:rPr>
                        <a:t>Brand</a:t>
                      </a:r>
                      <a:endParaRPr sz="2000" u="none" dirty="0">
                        <a:solidFill>
                          <a:schemeClr val="bg1"/>
                        </a:solidFill>
                        <a:latin typeface="Arial" panose="020B0604020202020204" pitchFamily="34" charset="0"/>
                        <a:cs typeface="Arial" panose="020B0604020202020204" pitchFamily="34" charset="0"/>
                      </a:endParaRPr>
                    </a:p>
                  </a:txBody>
                  <a:tcPr marL="91450" marR="91450" marT="41568" marB="41568">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solidFill>
                  </a:tcPr>
                </a:tc>
                <a:tc>
                  <a:txBody>
                    <a:bodyPr/>
                    <a:lstStyle/>
                    <a:p>
                      <a:pPr marL="0" marR="0" lvl="0" indent="0" algn="l" rtl="0">
                        <a:lnSpc>
                          <a:spcPct val="100000"/>
                        </a:lnSpc>
                        <a:spcBef>
                          <a:spcPts val="0"/>
                        </a:spcBef>
                        <a:spcAft>
                          <a:spcPts val="0"/>
                        </a:spcAft>
                        <a:buClr>
                          <a:schemeClr val="dk1"/>
                        </a:buClr>
                        <a:buSzPts val="2200"/>
                        <a:buFont typeface="Arial"/>
                        <a:buNone/>
                      </a:pPr>
                      <a:r>
                        <a:rPr lang="en-US" sz="2000" b="1" i="0" u="none" strike="noStrike" cap="none" dirty="0">
                          <a:solidFill>
                            <a:schemeClr val="bg1"/>
                          </a:solidFill>
                          <a:latin typeface="Arial" panose="020B0604020202020204" pitchFamily="34" charset="0"/>
                          <a:ea typeface="Arial"/>
                          <a:cs typeface="Arial" panose="020B0604020202020204" pitchFamily="34" charset="0"/>
                          <a:sym typeface="Arial"/>
                        </a:rPr>
                        <a:t>Country where brand is based</a:t>
                      </a:r>
                      <a:endParaRPr sz="2000" u="none" dirty="0">
                        <a:solidFill>
                          <a:schemeClr val="bg1"/>
                        </a:solidFill>
                        <a:latin typeface="Arial" panose="020B0604020202020204" pitchFamily="34" charset="0"/>
                        <a:cs typeface="Arial" panose="020B0604020202020204" pitchFamily="34" charset="0"/>
                      </a:endParaRPr>
                    </a:p>
                  </a:txBody>
                  <a:tcPr marL="91450" marR="91450" marT="41568" marB="41568">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268651">
                <a:tc>
                  <a:txBody>
                    <a:bodyPr/>
                    <a:lstStyle/>
                    <a:p>
                      <a:pPr marL="0" marR="0" lvl="0" indent="0" algn="l" rtl="0">
                        <a:lnSpc>
                          <a:spcPct val="100000"/>
                        </a:lnSpc>
                        <a:spcBef>
                          <a:spcPts val="0"/>
                        </a:spcBef>
                        <a:spcAft>
                          <a:spcPts val="0"/>
                        </a:spcAft>
                        <a:buClr>
                          <a:srgbClr val="000000"/>
                        </a:buClr>
                        <a:buSzPts val="2600"/>
                        <a:buFont typeface="Arial"/>
                        <a:buNone/>
                      </a:pPr>
                      <a:r>
                        <a:rPr lang="en-US" sz="2000" b="0" i="0" u="none" strike="noStrike" cap="none" dirty="0">
                          <a:solidFill>
                            <a:srgbClr val="000000"/>
                          </a:solidFill>
                          <a:latin typeface="Arial" panose="020B0604020202020204" pitchFamily="34" charset="0"/>
                          <a:ea typeface="Arial"/>
                          <a:cs typeface="Arial" panose="020B0604020202020204" pitchFamily="34" charset="0"/>
                          <a:sym typeface="Arial"/>
                        </a:rPr>
                        <a:t>7-Eleven</a:t>
                      </a:r>
                      <a:endParaRPr sz="2000" dirty="0">
                        <a:latin typeface="Arial" panose="020B0604020202020204" pitchFamily="34" charset="0"/>
                        <a:cs typeface="Arial" panose="020B0604020202020204" pitchFamily="34" charset="0"/>
                      </a:endParaRPr>
                    </a:p>
                  </a:txBody>
                  <a:tcPr marL="91450" marR="91450" marT="41568" marB="41568">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4EAE4"/>
                    </a:solidFill>
                  </a:tcPr>
                </a:tc>
                <a:tc>
                  <a:txBody>
                    <a:bodyPr/>
                    <a:lstStyle/>
                    <a:p>
                      <a:pPr marL="0" marR="0" lvl="0" indent="0" algn="l" rtl="0">
                        <a:lnSpc>
                          <a:spcPct val="100000"/>
                        </a:lnSpc>
                        <a:spcBef>
                          <a:spcPts val="0"/>
                        </a:spcBef>
                        <a:spcAft>
                          <a:spcPts val="0"/>
                        </a:spcAft>
                        <a:buClr>
                          <a:srgbClr val="000000"/>
                        </a:buClr>
                        <a:buSzPts val="2600"/>
                        <a:buFont typeface="Arial"/>
                        <a:buNone/>
                      </a:pPr>
                      <a:r>
                        <a:rPr lang="en-US" sz="2000" b="0" i="0" u="none" strike="noStrike" cap="none" dirty="0">
                          <a:solidFill>
                            <a:srgbClr val="000000"/>
                          </a:solidFill>
                          <a:latin typeface="Arial" panose="020B0604020202020204" pitchFamily="34" charset="0"/>
                          <a:ea typeface="Arial"/>
                          <a:cs typeface="Arial" panose="020B0604020202020204" pitchFamily="34" charset="0"/>
                          <a:sym typeface="Arial"/>
                        </a:rPr>
                        <a:t>Japan</a:t>
                      </a:r>
                      <a:endParaRPr sz="2000" dirty="0">
                        <a:latin typeface="Arial" panose="020B0604020202020204" pitchFamily="34" charset="0"/>
                        <a:cs typeface="Arial" panose="020B0604020202020204" pitchFamily="34" charset="0"/>
                      </a:endParaRPr>
                    </a:p>
                  </a:txBody>
                  <a:tcPr marL="91450" marR="91450" marT="41568" marB="41568">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1"/>
                  </a:ext>
                </a:extLst>
              </a:tr>
              <a:tr h="268651">
                <a:tc>
                  <a:txBody>
                    <a:bodyPr/>
                    <a:lstStyle/>
                    <a:p>
                      <a:pPr marL="0" marR="0" lvl="0" indent="0" algn="l" rtl="0">
                        <a:lnSpc>
                          <a:spcPct val="100000"/>
                        </a:lnSpc>
                        <a:spcBef>
                          <a:spcPts val="0"/>
                        </a:spcBef>
                        <a:spcAft>
                          <a:spcPts val="0"/>
                        </a:spcAft>
                        <a:buClr>
                          <a:srgbClr val="000000"/>
                        </a:buClr>
                        <a:buSzPts val="2600"/>
                        <a:buFont typeface="Arial"/>
                        <a:buNone/>
                      </a:pPr>
                      <a:r>
                        <a:rPr lang="en-US" sz="2000" b="0" i="0" u="none" strike="noStrike" cap="none" dirty="0">
                          <a:solidFill>
                            <a:srgbClr val="000000"/>
                          </a:solidFill>
                          <a:latin typeface="Arial" panose="020B0604020202020204" pitchFamily="34" charset="0"/>
                          <a:ea typeface="Arial"/>
                          <a:cs typeface="Arial" panose="020B0604020202020204" pitchFamily="34" charset="0"/>
                          <a:sym typeface="Arial"/>
                        </a:rPr>
                        <a:t>KitKat chocolate bars</a:t>
                      </a:r>
                      <a:endParaRPr sz="2000" dirty="0">
                        <a:latin typeface="Arial" panose="020B0604020202020204" pitchFamily="34" charset="0"/>
                        <a:cs typeface="Arial" panose="020B0604020202020204" pitchFamily="34" charset="0"/>
                      </a:endParaRPr>
                    </a:p>
                  </a:txBody>
                  <a:tcPr marL="91450" marR="91450" marT="41568" marB="41568">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4EAE4"/>
                    </a:solidFill>
                  </a:tcPr>
                </a:tc>
                <a:tc>
                  <a:txBody>
                    <a:bodyPr/>
                    <a:lstStyle/>
                    <a:p>
                      <a:pPr marL="0" marR="0" lvl="0" indent="0" algn="l" rtl="0">
                        <a:lnSpc>
                          <a:spcPct val="100000"/>
                        </a:lnSpc>
                        <a:spcBef>
                          <a:spcPts val="0"/>
                        </a:spcBef>
                        <a:spcAft>
                          <a:spcPts val="0"/>
                        </a:spcAft>
                        <a:buClr>
                          <a:srgbClr val="000000"/>
                        </a:buClr>
                        <a:buSzPts val="2600"/>
                        <a:buFont typeface="Arial"/>
                        <a:buNone/>
                      </a:pPr>
                      <a:r>
                        <a:rPr lang="en-US" sz="2000" b="0" i="0" u="none" strike="noStrike" cap="none" dirty="0">
                          <a:solidFill>
                            <a:srgbClr val="000000"/>
                          </a:solidFill>
                          <a:latin typeface="Arial" panose="020B0604020202020204" pitchFamily="34" charset="0"/>
                          <a:ea typeface="Arial"/>
                          <a:cs typeface="Arial" panose="020B0604020202020204" pitchFamily="34" charset="0"/>
                          <a:sym typeface="Arial"/>
                        </a:rPr>
                        <a:t>Switzerland</a:t>
                      </a:r>
                      <a:endParaRPr sz="2000" dirty="0">
                        <a:latin typeface="Arial" panose="020B0604020202020204" pitchFamily="34" charset="0"/>
                        <a:cs typeface="Arial" panose="020B0604020202020204" pitchFamily="34" charset="0"/>
                      </a:endParaRPr>
                    </a:p>
                  </a:txBody>
                  <a:tcPr marL="91450" marR="91450" marT="41568" marB="41568">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2"/>
                  </a:ext>
                </a:extLst>
              </a:tr>
              <a:tr h="268651">
                <a:tc>
                  <a:txBody>
                    <a:bodyPr/>
                    <a:lstStyle/>
                    <a:p>
                      <a:pPr marL="0" marR="0" lvl="0" indent="0" algn="l" rtl="0">
                        <a:lnSpc>
                          <a:spcPct val="100000"/>
                        </a:lnSpc>
                        <a:spcBef>
                          <a:spcPts val="0"/>
                        </a:spcBef>
                        <a:spcAft>
                          <a:spcPts val="0"/>
                        </a:spcAft>
                        <a:buClr>
                          <a:srgbClr val="000000"/>
                        </a:buClr>
                        <a:buSzPts val="2600"/>
                        <a:buFont typeface="Arial"/>
                        <a:buNone/>
                      </a:pPr>
                      <a:r>
                        <a:rPr lang="en-US" sz="2000" b="0" i="0" u="none" strike="noStrike" cap="none" dirty="0">
                          <a:solidFill>
                            <a:srgbClr val="000000"/>
                          </a:solidFill>
                          <a:latin typeface="Arial" panose="020B0604020202020204" pitchFamily="34" charset="0"/>
                          <a:ea typeface="Arial"/>
                          <a:cs typeface="Arial" panose="020B0604020202020204" pitchFamily="34" charset="0"/>
                          <a:sym typeface="Arial"/>
                        </a:rPr>
                        <a:t>Miller beer</a:t>
                      </a:r>
                      <a:endParaRPr sz="2000" dirty="0">
                        <a:latin typeface="Arial" panose="020B0604020202020204" pitchFamily="34" charset="0"/>
                        <a:cs typeface="Arial" panose="020B0604020202020204" pitchFamily="34" charset="0"/>
                      </a:endParaRPr>
                    </a:p>
                  </a:txBody>
                  <a:tcPr marL="91450" marR="91450" marT="41568" marB="41568">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4EAE4"/>
                    </a:solidFill>
                  </a:tcPr>
                </a:tc>
                <a:tc>
                  <a:txBody>
                    <a:bodyPr/>
                    <a:lstStyle/>
                    <a:p>
                      <a:pPr marL="0" marR="0" lvl="0" indent="0" algn="l" rtl="0">
                        <a:lnSpc>
                          <a:spcPct val="100000"/>
                        </a:lnSpc>
                        <a:spcBef>
                          <a:spcPts val="0"/>
                        </a:spcBef>
                        <a:spcAft>
                          <a:spcPts val="0"/>
                        </a:spcAft>
                        <a:buClr>
                          <a:srgbClr val="000000"/>
                        </a:buClr>
                        <a:buSzPts val="2600"/>
                        <a:buFont typeface="Arial"/>
                        <a:buNone/>
                      </a:pPr>
                      <a:r>
                        <a:rPr lang="en-US" sz="2000" b="0" i="0" u="none" strike="noStrike" cap="none" dirty="0">
                          <a:solidFill>
                            <a:srgbClr val="000000"/>
                          </a:solidFill>
                          <a:latin typeface="Arial" panose="020B0604020202020204" pitchFamily="34" charset="0"/>
                          <a:ea typeface="Arial"/>
                          <a:cs typeface="Arial" panose="020B0604020202020204" pitchFamily="34" charset="0"/>
                          <a:sym typeface="Arial"/>
                        </a:rPr>
                        <a:t>Canada</a:t>
                      </a:r>
                      <a:endParaRPr sz="2000" dirty="0">
                        <a:latin typeface="Arial" panose="020B0604020202020204" pitchFamily="34" charset="0"/>
                        <a:cs typeface="Arial" panose="020B0604020202020204" pitchFamily="34" charset="0"/>
                      </a:endParaRPr>
                    </a:p>
                  </a:txBody>
                  <a:tcPr marL="91450" marR="91450" marT="41568" marB="41568">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3"/>
                  </a:ext>
                </a:extLst>
              </a:tr>
              <a:tr h="268651">
                <a:tc>
                  <a:txBody>
                    <a:bodyPr/>
                    <a:lstStyle/>
                    <a:p>
                      <a:pPr marL="0" marR="0" lvl="0" indent="0" algn="l" rtl="0">
                        <a:lnSpc>
                          <a:spcPct val="100000"/>
                        </a:lnSpc>
                        <a:spcBef>
                          <a:spcPts val="0"/>
                        </a:spcBef>
                        <a:spcAft>
                          <a:spcPts val="0"/>
                        </a:spcAft>
                        <a:buClr>
                          <a:srgbClr val="000000"/>
                        </a:buClr>
                        <a:buSzPts val="2600"/>
                        <a:buFont typeface="Arial"/>
                        <a:buNone/>
                      </a:pPr>
                      <a:r>
                        <a:rPr lang="en-US" sz="2000" b="0" i="0" u="none" strike="noStrike" cap="none" dirty="0">
                          <a:solidFill>
                            <a:srgbClr val="000000"/>
                          </a:solidFill>
                          <a:latin typeface="Arial" panose="020B0604020202020204" pitchFamily="34" charset="0"/>
                          <a:ea typeface="Arial"/>
                          <a:cs typeface="Arial" panose="020B0604020202020204" pitchFamily="34" charset="0"/>
                          <a:sym typeface="Arial"/>
                        </a:rPr>
                        <a:t>Budweiser beer</a:t>
                      </a:r>
                      <a:endParaRPr sz="2000" dirty="0">
                        <a:latin typeface="Arial" panose="020B0604020202020204" pitchFamily="34" charset="0"/>
                        <a:cs typeface="Arial" panose="020B0604020202020204" pitchFamily="34" charset="0"/>
                      </a:endParaRPr>
                    </a:p>
                  </a:txBody>
                  <a:tcPr marL="91450" marR="91450" marT="41568" marB="41568">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4EAE4"/>
                    </a:solidFill>
                  </a:tcPr>
                </a:tc>
                <a:tc>
                  <a:txBody>
                    <a:bodyPr/>
                    <a:lstStyle/>
                    <a:p>
                      <a:pPr marL="0" marR="0" lvl="0" indent="0" algn="l" rtl="0">
                        <a:lnSpc>
                          <a:spcPct val="100000"/>
                        </a:lnSpc>
                        <a:spcBef>
                          <a:spcPts val="0"/>
                        </a:spcBef>
                        <a:spcAft>
                          <a:spcPts val="0"/>
                        </a:spcAft>
                        <a:buClr>
                          <a:srgbClr val="000000"/>
                        </a:buClr>
                        <a:buSzPts val="2600"/>
                        <a:buFont typeface="Arial"/>
                        <a:buNone/>
                      </a:pPr>
                      <a:r>
                        <a:rPr lang="en-US" sz="2000" b="0" i="0" u="none" strike="noStrike" cap="none" dirty="0">
                          <a:solidFill>
                            <a:srgbClr val="000000"/>
                          </a:solidFill>
                          <a:latin typeface="Arial" panose="020B0604020202020204" pitchFamily="34" charset="0"/>
                          <a:ea typeface="Arial"/>
                          <a:cs typeface="Arial" panose="020B0604020202020204" pitchFamily="34" charset="0"/>
                          <a:sym typeface="Arial"/>
                        </a:rPr>
                        <a:t>Belgium</a:t>
                      </a:r>
                      <a:endParaRPr sz="2000" dirty="0">
                        <a:latin typeface="Arial" panose="020B0604020202020204" pitchFamily="34" charset="0"/>
                        <a:cs typeface="Arial" panose="020B0604020202020204" pitchFamily="34" charset="0"/>
                      </a:endParaRPr>
                    </a:p>
                  </a:txBody>
                  <a:tcPr marL="91450" marR="91450" marT="41568" marB="41568">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4"/>
                  </a:ext>
                </a:extLst>
              </a:tr>
              <a:tr h="268651">
                <a:tc>
                  <a:txBody>
                    <a:bodyPr/>
                    <a:lstStyle/>
                    <a:p>
                      <a:pPr marL="0" marR="0" lvl="0" indent="0" algn="l" rtl="0">
                        <a:lnSpc>
                          <a:spcPct val="100000"/>
                        </a:lnSpc>
                        <a:spcBef>
                          <a:spcPts val="0"/>
                        </a:spcBef>
                        <a:spcAft>
                          <a:spcPts val="0"/>
                        </a:spcAft>
                        <a:buClr>
                          <a:srgbClr val="000000"/>
                        </a:buClr>
                        <a:buSzPts val="2600"/>
                        <a:buFont typeface="Arial"/>
                        <a:buNone/>
                      </a:pPr>
                      <a:r>
                        <a:rPr lang="en-US" sz="2000" b="0" i="0" u="none" strike="noStrike" cap="none" dirty="0">
                          <a:solidFill>
                            <a:srgbClr val="000000"/>
                          </a:solidFill>
                          <a:latin typeface="Arial" panose="020B0604020202020204" pitchFamily="34" charset="0"/>
                          <a:ea typeface="Arial"/>
                          <a:cs typeface="Arial" panose="020B0604020202020204" pitchFamily="34" charset="0"/>
                          <a:sym typeface="Arial"/>
                        </a:rPr>
                        <a:t>Chrysler</a:t>
                      </a:r>
                      <a:endParaRPr sz="2000" dirty="0">
                        <a:latin typeface="Arial" panose="020B0604020202020204" pitchFamily="34" charset="0"/>
                        <a:cs typeface="Arial" panose="020B0604020202020204" pitchFamily="34" charset="0"/>
                      </a:endParaRPr>
                    </a:p>
                  </a:txBody>
                  <a:tcPr marL="91450" marR="91450" marT="41568" marB="41568">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4EAE4"/>
                    </a:solidFill>
                  </a:tcPr>
                </a:tc>
                <a:tc>
                  <a:txBody>
                    <a:bodyPr/>
                    <a:lstStyle/>
                    <a:p>
                      <a:pPr marL="0" marR="0" lvl="0" indent="0" algn="l" rtl="0">
                        <a:lnSpc>
                          <a:spcPct val="100000"/>
                        </a:lnSpc>
                        <a:spcBef>
                          <a:spcPts val="0"/>
                        </a:spcBef>
                        <a:spcAft>
                          <a:spcPts val="0"/>
                        </a:spcAft>
                        <a:buClr>
                          <a:srgbClr val="000000"/>
                        </a:buClr>
                        <a:buSzPts val="2600"/>
                        <a:buFont typeface="Arial"/>
                        <a:buNone/>
                      </a:pPr>
                      <a:r>
                        <a:rPr lang="en-US" sz="2000" b="0" i="0" u="none" strike="noStrike" cap="none" dirty="0">
                          <a:solidFill>
                            <a:srgbClr val="000000"/>
                          </a:solidFill>
                          <a:latin typeface="Arial" panose="020B0604020202020204" pitchFamily="34" charset="0"/>
                          <a:ea typeface="Arial"/>
                          <a:cs typeface="Arial" panose="020B0604020202020204" pitchFamily="34" charset="0"/>
                          <a:sym typeface="Arial"/>
                        </a:rPr>
                        <a:t>Netherlands</a:t>
                      </a:r>
                      <a:endParaRPr sz="2000" dirty="0">
                        <a:latin typeface="Arial" panose="020B0604020202020204" pitchFamily="34" charset="0"/>
                        <a:cs typeface="Arial" panose="020B0604020202020204" pitchFamily="34" charset="0"/>
                      </a:endParaRPr>
                    </a:p>
                  </a:txBody>
                  <a:tcPr marL="91450" marR="91450" marT="41568" marB="41568">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2975807796"/>
                  </a:ext>
                </a:extLst>
              </a:tr>
              <a:tr h="268651">
                <a:tc>
                  <a:txBody>
                    <a:bodyPr/>
                    <a:lstStyle/>
                    <a:p>
                      <a:pPr marL="0" marR="0" lvl="0" indent="0" algn="l" rtl="0">
                        <a:lnSpc>
                          <a:spcPct val="100000"/>
                        </a:lnSpc>
                        <a:spcBef>
                          <a:spcPts val="0"/>
                        </a:spcBef>
                        <a:spcAft>
                          <a:spcPts val="0"/>
                        </a:spcAft>
                        <a:buClr>
                          <a:srgbClr val="000000"/>
                        </a:buClr>
                        <a:buSzPts val="2600"/>
                        <a:buFont typeface="Arial"/>
                        <a:buNone/>
                      </a:pPr>
                      <a:r>
                        <a:rPr lang="en-US" sz="2000" b="0" i="0" u="none" strike="noStrike" cap="none" dirty="0">
                          <a:solidFill>
                            <a:srgbClr val="000000"/>
                          </a:solidFill>
                          <a:latin typeface="Arial" panose="020B0604020202020204" pitchFamily="34" charset="0"/>
                          <a:ea typeface="Arial"/>
                          <a:cs typeface="Arial" panose="020B0604020202020204" pitchFamily="34" charset="0"/>
                          <a:sym typeface="Arial"/>
                        </a:rPr>
                        <a:t>Thinkpad laptops</a:t>
                      </a:r>
                      <a:endParaRPr sz="2000" dirty="0">
                        <a:latin typeface="Arial" panose="020B0604020202020204" pitchFamily="34" charset="0"/>
                        <a:cs typeface="Arial" panose="020B0604020202020204" pitchFamily="34" charset="0"/>
                      </a:endParaRPr>
                    </a:p>
                  </a:txBody>
                  <a:tcPr marL="91450" marR="91450" marT="41568" marB="41568">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4EAE4"/>
                    </a:solidFill>
                  </a:tcPr>
                </a:tc>
                <a:tc>
                  <a:txBody>
                    <a:bodyPr/>
                    <a:lstStyle/>
                    <a:p>
                      <a:pPr marL="0" marR="0" lvl="0" indent="0" algn="l" rtl="0">
                        <a:lnSpc>
                          <a:spcPct val="100000"/>
                        </a:lnSpc>
                        <a:spcBef>
                          <a:spcPts val="0"/>
                        </a:spcBef>
                        <a:spcAft>
                          <a:spcPts val="0"/>
                        </a:spcAft>
                        <a:buClr>
                          <a:srgbClr val="000000"/>
                        </a:buClr>
                        <a:buSzPts val="2600"/>
                        <a:buFont typeface="Arial"/>
                        <a:buNone/>
                      </a:pPr>
                      <a:r>
                        <a:rPr lang="en-US" sz="2000" b="0" i="0" u="none" strike="noStrike" cap="none" dirty="0">
                          <a:solidFill>
                            <a:srgbClr val="000000"/>
                          </a:solidFill>
                          <a:latin typeface="Arial" panose="020B0604020202020204" pitchFamily="34" charset="0"/>
                          <a:ea typeface="Arial"/>
                          <a:cs typeface="Arial" panose="020B0604020202020204" pitchFamily="34" charset="0"/>
                          <a:sym typeface="Arial"/>
                        </a:rPr>
                        <a:t>China</a:t>
                      </a:r>
                      <a:endParaRPr sz="2000" dirty="0">
                        <a:latin typeface="Arial" panose="020B0604020202020204" pitchFamily="34" charset="0"/>
                        <a:cs typeface="Arial" panose="020B0604020202020204" pitchFamily="34" charset="0"/>
                      </a:endParaRPr>
                    </a:p>
                  </a:txBody>
                  <a:tcPr marL="91450" marR="91450" marT="41568" marB="41568">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2204892505"/>
                  </a:ext>
                </a:extLst>
              </a:tr>
              <a:tr h="268651">
                <a:tc>
                  <a:txBody>
                    <a:bodyPr/>
                    <a:lstStyle/>
                    <a:p>
                      <a:pPr marL="0" marR="0" lvl="0" indent="0" algn="l" rtl="0">
                        <a:lnSpc>
                          <a:spcPct val="100000"/>
                        </a:lnSpc>
                        <a:spcBef>
                          <a:spcPts val="0"/>
                        </a:spcBef>
                        <a:spcAft>
                          <a:spcPts val="0"/>
                        </a:spcAft>
                        <a:buClr>
                          <a:srgbClr val="000000"/>
                        </a:buClr>
                        <a:buSzPts val="2600"/>
                        <a:buFont typeface="Arial"/>
                        <a:buNone/>
                      </a:pPr>
                      <a:r>
                        <a:rPr lang="en-US" sz="2000" b="0" i="0" u="none" strike="noStrike" cap="none" spc="-260" baseline="0" dirty="0">
                          <a:solidFill>
                            <a:srgbClr val="000000"/>
                          </a:solidFill>
                          <a:latin typeface="Arial" panose="020B0604020202020204" pitchFamily="34" charset="0"/>
                          <a:ea typeface="Arial"/>
                          <a:cs typeface="Arial" panose="020B0604020202020204" pitchFamily="34" charset="0"/>
                          <a:sym typeface="Arial"/>
                        </a:rPr>
                        <a:t>D H </a:t>
                      </a:r>
                      <a:r>
                        <a:rPr lang="en-US" sz="2000" b="0" i="0" u="none" strike="noStrike" cap="none" dirty="0">
                          <a:solidFill>
                            <a:srgbClr val="000000"/>
                          </a:solidFill>
                          <a:latin typeface="Arial" panose="020B0604020202020204" pitchFamily="34" charset="0"/>
                          <a:ea typeface="Arial"/>
                          <a:cs typeface="Arial" panose="020B0604020202020204" pitchFamily="34" charset="0"/>
                          <a:sym typeface="Arial"/>
                        </a:rPr>
                        <a:t>L express delivery</a:t>
                      </a:r>
                      <a:endParaRPr sz="2000" dirty="0">
                        <a:latin typeface="Arial" panose="020B0604020202020204" pitchFamily="34" charset="0"/>
                        <a:cs typeface="Arial" panose="020B0604020202020204" pitchFamily="34" charset="0"/>
                      </a:endParaRPr>
                    </a:p>
                  </a:txBody>
                  <a:tcPr marL="91450" marR="91450" marT="41568" marB="41568">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4EAE4"/>
                    </a:solidFill>
                  </a:tcPr>
                </a:tc>
                <a:tc>
                  <a:txBody>
                    <a:bodyPr/>
                    <a:lstStyle/>
                    <a:p>
                      <a:pPr marL="0" marR="0" lvl="0" indent="0" algn="l" rtl="0">
                        <a:lnSpc>
                          <a:spcPct val="100000"/>
                        </a:lnSpc>
                        <a:spcBef>
                          <a:spcPts val="0"/>
                        </a:spcBef>
                        <a:spcAft>
                          <a:spcPts val="0"/>
                        </a:spcAft>
                        <a:buClr>
                          <a:srgbClr val="000000"/>
                        </a:buClr>
                        <a:buSzPts val="2600"/>
                        <a:buFont typeface="Arial"/>
                        <a:buNone/>
                      </a:pPr>
                      <a:r>
                        <a:rPr lang="en-US" sz="2000" b="0" i="0" u="none" strike="noStrike" cap="none" dirty="0">
                          <a:solidFill>
                            <a:srgbClr val="000000"/>
                          </a:solidFill>
                          <a:latin typeface="Arial" panose="020B0604020202020204" pitchFamily="34" charset="0"/>
                          <a:ea typeface="Arial"/>
                          <a:cs typeface="Arial" panose="020B0604020202020204" pitchFamily="34" charset="0"/>
                          <a:sym typeface="Arial"/>
                        </a:rPr>
                        <a:t>Germany</a:t>
                      </a:r>
                      <a:endParaRPr sz="2000" dirty="0">
                        <a:latin typeface="Arial" panose="020B0604020202020204" pitchFamily="34" charset="0"/>
                        <a:cs typeface="Arial" panose="020B0604020202020204" pitchFamily="34" charset="0"/>
                      </a:endParaRPr>
                    </a:p>
                  </a:txBody>
                  <a:tcPr marL="91450" marR="91450" marT="41568" marB="41568">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815907681"/>
                  </a:ext>
                </a:extLst>
              </a:tr>
              <a:tr h="268651">
                <a:tc>
                  <a:txBody>
                    <a:bodyPr/>
                    <a:lstStyle/>
                    <a:p>
                      <a:pPr marL="0" marR="0" lvl="0" indent="0" algn="l" rtl="0">
                        <a:lnSpc>
                          <a:spcPct val="100000"/>
                        </a:lnSpc>
                        <a:spcBef>
                          <a:spcPts val="0"/>
                        </a:spcBef>
                        <a:spcAft>
                          <a:spcPts val="0"/>
                        </a:spcAft>
                        <a:buClr>
                          <a:srgbClr val="000000"/>
                        </a:buClr>
                        <a:buSzPts val="2600"/>
                        <a:buFont typeface="Arial"/>
                        <a:buNone/>
                      </a:pPr>
                      <a:r>
                        <a:rPr lang="en-US" sz="2000" b="0" i="0" u="none" strike="noStrike" cap="none" dirty="0">
                          <a:solidFill>
                            <a:srgbClr val="000000"/>
                          </a:solidFill>
                          <a:latin typeface="Arial" panose="020B0604020202020204" pitchFamily="34" charset="0"/>
                          <a:ea typeface="Arial"/>
                          <a:cs typeface="Arial" panose="020B0604020202020204" pitchFamily="34" charset="0"/>
                          <a:sym typeface="Arial"/>
                        </a:rPr>
                        <a:t>Starkist Tuna</a:t>
                      </a:r>
                      <a:endParaRPr sz="2000" dirty="0">
                        <a:latin typeface="Arial" panose="020B0604020202020204" pitchFamily="34" charset="0"/>
                        <a:cs typeface="Arial" panose="020B0604020202020204" pitchFamily="34" charset="0"/>
                      </a:endParaRPr>
                    </a:p>
                  </a:txBody>
                  <a:tcPr marL="91450" marR="91450" marT="41568" marB="41568">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4EAE4"/>
                    </a:solidFill>
                  </a:tcPr>
                </a:tc>
                <a:tc>
                  <a:txBody>
                    <a:bodyPr/>
                    <a:lstStyle/>
                    <a:p>
                      <a:pPr marL="0" marR="0" lvl="0" indent="0" algn="l" rtl="0">
                        <a:lnSpc>
                          <a:spcPct val="100000"/>
                        </a:lnSpc>
                        <a:spcBef>
                          <a:spcPts val="0"/>
                        </a:spcBef>
                        <a:spcAft>
                          <a:spcPts val="0"/>
                        </a:spcAft>
                        <a:buClr>
                          <a:srgbClr val="000000"/>
                        </a:buClr>
                        <a:buSzPts val="2600"/>
                        <a:buFont typeface="Arial"/>
                        <a:buNone/>
                      </a:pPr>
                      <a:r>
                        <a:rPr lang="en-US" sz="2000" b="0" i="0" u="none" strike="noStrike" cap="none" dirty="0">
                          <a:solidFill>
                            <a:srgbClr val="000000"/>
                          </a:solidFill>
                          <a:latin typeface="Arial" panose="020B0604020202020204" pitchFamily="34" charset="0"/>
                          <a:ea typeface="Arial"/>
                          <a:cs typeface="Arial" panose="020B0604020202020204" pitchFamily="34" charset="0"/>
                          <a:sym typeface="Arial"/>
                        </a:rPr>
                        <a:t>South Korea</a:t>
                      </a:r>
                      <a:endParaRPr sz="2000" dirty="0">
                        <a:latin typeface="Arial" panose="020B0604020202020204" pitchFamily="34" charset="0"/>
                        <a:cs typeface="Arial" panose="020B0604020202020204" pitchFamily="34" charset="0"/>
                      </a:endParaRPr>
                    </a:p>
                  </a:txBody>
                  <a:tcPr marL="91450" marR="91450" marT="41568" marB="41568">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883334268"/>
                  </a:ext>
                </a:extLst>
              </a:tr>
              <a:tr h="268651">
                <a:tc>
                  <a:txBody>
                    <a:bodyPr/>
                    <a:lstStyle/>
                    <a:p>
                      <a:pPr marL="0" marR="0" lvl="0" indent="0" algn="l" rtl="0">
                        <a:lnSpc>
                          <a:spcPct val="100000"/>
                        </a:lnSpc>
                        <a:spcBef>
                          <a:spcPts val="0"/>
                        </a:spcBef>
                        <a:spcAft>
                          <a:spcPts val="0"/>
                        </a:spcAft>
                        <a:buClr>
                          <a:srgbClr val="000000"/>
                        </a:buClr>
                        <a:buSzPts val="2600"/>
                        <a:buFont typeface="Arial"/>
                        <a:buNone/>
                      </a:pPr>
                      <a:r>
                        <a:rPr lang="en-US" sz="2000" b="0" i="0" u="none" strike="noStrike" cap="none" dirty="0">
                          <a:solidFill>
                            <a:srgbClr val="000000"/>
                          </a:solidFill>
                          <a:latin typeface="Arial" panose="020B0604020202020204" pitchFamily="34" charset="0"/>
                          <a:ea typeface="Arial"/>
                          <a:cs typeface="Arial" panose="020B0604020202020204" pitchFamily="34" charset="0"/>
                          <a:sym typeface="Arial"/>
                        </a:rPr>
                        <a:t>Absolut Vodka</a:t>
                      </a:r>
                      <a:endParaRPr sz="2000" dirty="0">
                        <a:latin typeface="Arial" panose="020B0604020202020204" pitchFamily="34" charset="0"/>
                        <a:cs typeface="Arial" panose="020B0604020202020204" pitchFamily="34" charset="0"/>
                      </a:endParaRPr>
                    </a:p>
                  </a:txBody>
                  <a:tcPr marL="91450" marR="91450" marT="41568" marB="41568">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4EAE4"/>
                    </a:solidFill>
                  </a:tcPr>
                </a:tc>
                <a:tc>
                  <a:txBody>
                    <a:bodyPr/>
                    <a:lstStyle/>
                    <a:p>
                      <a:pPr marL="0" marR="0" lvl="0" indent="0" algn="l" rtl="0">
                        <a:lnSpc>
                          <a:spcPct val="100000"/>
                        </a:lnSpc>
                        <a:spcBef>
                          <a:spcPts val="0"/>
                        </a:spcBef>
                        <a:spcAft>
                          <a:spcPts val="0"/>
                        </a:spcAft>
                        <a:buClr>
                          <a:srgbClr val="000000"/>
                        </a:buClr>
                        <a:buSzPts val="2600"/>
                        <a:buFont typeface="Arial"/>
                        <a:buNone/>
                      </a:pPr>
                      <a:r>
                        <a:rPr lang="en-US" sz="2000" b="0" i="0" u="none" strike="noStrike" cap="none" dirty="0">
                          <a:solidFill>
                            <a:srgbClr val="000000"/>
                          </a:solidFill>
                          <a:latin typeface="Arial" panose="020B0604020202020204" pitchFamily="34" charset="0"/>
                          <a:ea typeface="Arial"/>
                          <a:cs typeface="Arial" panose="020B0604020202020204" pitchFamily="34" charset="0"/>
                          <a:sym typeface="Arial"/>
                        </a:rPr>
                        <a:t>France</a:t>
                      </a:r>
                      <a:endParaRPr sz="2000" dirty="0">
                        <a:latin typeface="Arial" panose="020B0604020202020204" pitchFamily="34" charset="0"/>
                        <a:cs typeface="Arial" panose="020B0604020202020204" pitchFamily="34" charset="0"/>
                      </a:endParaRPr>
                    </a:p>
                  </a:txBody>
                  <a:tcPr marL="91450" marR="91450" marT="41568" marB="41568">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3191575926"/>
                  </a:ext>
                </a:extLst>
              </a:tr>
              <a:tr h="268651">
                <a:tc>
                  <a:txBody>
                    <a:bodyPr/>
                    <a:lstStyle/>
                    <a:p>
                      <a:pPr marL="0" marR="0" lvl="0" indent="0" algn="l" rtl="0">
                        <a:lnSpc>
                          <a:spcPct val="100000"/>
                        </a:lnSpc>
                        <a:spcBef>
                          <a:spcPts val="0"/>
                        </a:spcBef>
                        <a:spcAft>
                          <a:spcPts val="0"/>
                        </a:spcAft>
                        <a:buClr>
                          <a:srgbClr val="000000"/>
                        </a:buClr>
                        <a:buSzPts val="2600"/>
                        <a:buFont typeface="Arial"/>
                        <a:buNone/>
                      </a:pPr>
                      <a:r>
                        <a:rPr lang="en-US" sz="2000" b="0" i="0" u="none" strike="noStrike" cap="none" dirty="0">
                          <a:solidFill>
                            <a:srgbClr val="000000"/>
                          </a:solidFill>
                          <a:latin typeface="Arial" panose="020B0604020202020204" pitchFamily="34" charset="0"/>
                          <a:ea typeface="Arial"/>
                          <a:cs typeface="Arial" panose="020B0604020202020204" pitchFamily="34" charset="0"/>
                          <a:sym typeface="Arial"/>
                        </a:rPr>
                        <a:t>Godiva chocolate</a:t>
                      </a:r>
                      <a:endParaRPr sz="2000" dirty="0">
                        <a:latin typeface="Arial" panose="020B0604020202020204" pitchFamily="34" charset="0"/>
                        <a:cs typeface="Arial" panose="020B0604020202020204" pitchFamily="34" charset="0"/>
                      </a:endParaRPr>
                    </a:p>
                  </a:txBody>
                  <a:tcPr marL="91450" marR="91450" marT="41568" marB="41568">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4EAE4"/>
                    </a:solidFill>
                  </a:tcPr>
                </a:tc>
                <a:tc>
                  <a:txBody>
                    <a:bodyPr/>
                    <a:lstStyle/>
                    <a:p>
                      <a:pPr marL="0" marR="0" lvl="0" indent="0" algn="l" rtl="0">
                        <a:lnSpc>
                          <a:spcPct val="100000"/>
                        </a:lnSpc>
                        <a:spcBef>
                          <a:spcPts val="0"/>
                        </a:spcBef>
                        <a:spcAft>
                          <a:spcPts val="0"/>
                        </a:spcAft>
                        <a:buClr>
                          <a:srgbClr val="000000"/>
                        </a:buClr>
                        <a:buSzPts val="2600"/>
                        <a:buFont typeface="Arial"/>
                        <a:buNone/>
                      </a:pPr>
                      <a:r>
                        <a:rPr lang="en-US" sz="2000" b="0" i="0" u="none" strike="noStrike" cap="none" dirty="0">
                          <a:solidFill>
                            <a:srgbClr val="000000"/>
                          </a:solidFill>
                          <a:latin typeface="Arial" panose="020B0604020202020204" pitchFamily="34" charset="0"/>
                          <a:ea typeface="Arial"/>
                          <a:cs typeface="Arial" panose="020B0604020202020204" pitchFamily="34" charset="0"/>
                          <a:sym typeface="Arial"/>
                        </a:rPr>
                        <a:t>Turkey</a:t>
                      </a:r>
                      <a:endParaRPr sz="2000" dirty="0">
                        <a:latin typeface="Arial" panose="020B0604020202020204" pitchFamily="34" charset="0"/>
                        <a:cs typeface="Arial" panose="020B0604020202020204" pitchFamily="34" charset="0"/>
                      </a:endParaRPr>
                    </a:p>
                  </a:txBody>
                  <a:tcPr marL="91450" marR="91450" marT="41568" marB="41568">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2732242153"/>
                  </a:ext>
                </a:extLst>
              </a:tr>
              <a:tr h="268651">
                <a:tc>
                  <a:txBody>
                    <a:bodyPr/>
                    <a:lstStyle/>
                    <a:p>
                      <a:pPr marL="0" marR="0" lvl="0" indent="0" algn="l" rtl="0">
                        <a:lnSpc>
                          <a:spcPct val="100000"/>
                        </a:lnSpc>
                        <a:spcBef>
                          <a:spcPts val="0"/>
                        </a:spcBef>
                        <a:spcAft>
                          <a:spcPts val="0"/>
                        </a:spcAft>
                        <a:buClr>
                          <a:srgbClr val="000000"/>
                        </a:buClr>
                        <a:buSzPts val="2600"/>
                        <a:buFont typeface="Arial"/>
                        <a:buNone/>
                      </a:pPr>
                      <a:r>
                        <a:rPr lang="en-US" sz="2000" dirty="0">
                          <a:latin typeface="Arial" panose="020B0604020202020204" pitchFamily="34" charset="0"/>
                          <a:cs typeface="Arial" panose="020B0604020202020204" pitchFamily="34" charset="0"/>
                        </a:rPr>
                        <a:t>Holiday Inn</a:t>
                      </a:r>
                      <a:endParaRPr sz="2000" dirty="0">
                        <a:latin typeface="Arial" panose="020B0604020202020204" pitchFamily="34" charset="0"/>
                        <a:cs typeface="Arial" panose="020B0604020202020204" pitchFamily="34" charset="0"/>
                      </a:endParaRPr>
                    </a:p>
                  </a:txBody>
                  <a:tcPr marL="91450" marR="91450" marT="41568" marB="41568">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4EAE4"/>
                    </a:solidFill>
                  </a:tcPr>
                </a:tc>
                <a:tc>
                  <a:txBody>
                    <a:bodyPr/>
                    <a:lstStyle/>
                    <a:p>
                      <a:pPr marL="0" marR="0" lvl="0" indent="0" algn="l" rtl="0">
                        <a:lnSpc>
                          <a:spcPct val="100000"/>
                        </a:lnSpc>
                        <a:spcBef>
                          <a:spcPts val="0"/>
                        </a:spcBef>
                        <a:spcAft>
                          <a:spcPts val="0"/>
                        </a:spcAft>
                        <a:buClr>
                          <a:srgbClr val="000000"/>
                        </a:buClr>
                        <a:buSzPts val="2600"/>
                        <a:buFont typeface="Arial"/>
                        <a:buNone/>
                      </a:pPr>
                      <a:r>
                        <a:rPr lang="en-US" sz="2000" dirty="0">
                          <a:latin typeface="Arial" panose="020B0604020202020204" pitchFamily="34" charset="0"/>
                          <a:cs typeface="Arial" panose="020B0604020202020204" pitchFamily="34" charset="0"/>
                        </a:rPr>
                        <a:t>United Kingdom </a:t>
                      </a:r>
                      <a:endParaRPr sz="2000" dirty="0">
                        <a:latin typeface="Arial" panose="020B0604020202020204" pitchFamily="34" charset="0"/>
                        <a:cs typeface="Arial" panose="020B0604020202020204" pitchFamily="34" charset="0"/>
                      </a:endParaRPr>
                    </a:p>
                  </a:txBody>
                  <a:tcPr marL="91450" marR="91450" marT="41568" marB="41568">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525369503"/>
                  </a:ext>
                </a:extLst>
              </a:tr>
              <a:tr h="268651">
                <a:tc>
                  <a:txBody>
                    <a:bodyPr/>
                    <a:lstStyle/>
                    <a:p>
                      <a:pPr marL="0" marR="0" lvl="0" indent="0" algn="l" rtl="0">
                        <a:lnSpc>
                          <a:spcPct val="100000"/>
                        </a:lnSpc>
                        <a:spcBef>
                          <a:spcPts val="0"/>
                        </a:spcBef>
                        <a:spcAft>
                          <a:spcPts val="0"/>
                        </a:spcAft>
                        <a:buClr>
                          <a:srgbClr val="000000"/>
                        </a:buClr>
                        <a:buSzPts val="2600"/>
                        <a:buFont typeface="Arial"/>
                        <a:buNone/>
                      </a:pPr>
                      <a:r>
                        <a:rPr lang="en-US" sz="2000" dirty="0">
                          <a:latin typeface="Arial" panose="020B0604020202020204" pitchFamily="34" charset="0"/>
                          <a:cs typeface="Arial" panose="020B0604020202020204" pitchFamily="34" charset="0"/>
                        </a:rPr>
                        <a:t>Panera Bread Co.</a:t>
                      </a:r>
                      <a:endParaRPr sz="2000" dirty="0">
                        <a:latin typeface="Arial" panose="020B0604020202020204" pitchFamily="34" charset="0"/>
                        <a:cs typeface="Arial" panose="020B0604020202020204" pitchFamily="34" charset="0"/>
                      </a:endParaRPr>
                    </a:p>
                  </a:txBody>
                  <a:tcPr marL="91450" marR="91450" marT="41568" marB="41568">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4EAE4"/>
                    </a:solidFill>
                  </a:tcPr>
                </a:tc>
                <a:tc>
                  <a:txBody>
                    <a:bodyPr/>
                    <a:lstStyle/>
                    <a:p>
                      <a:pPr marL="0" marR="0" lvl="0" indent="0" algn="l" rtl="0">
                        <a:lnSpc>
                          <a:spcPct val="100000"/>
                        </a:lnSpc>
                        <a:spcBef>
                          <a:spcPts val="0"/>
                        </a:spcBef>
                        <a:spcAft>
                          <a:spcPts val="0"/>
                        </a:spcAft>
                        <a:buClr>
                          <a:srgbClr val="000000"/>
                        </a:buClr>
                        <a:buSzPts val="2600"/>
                        <a:buFont typeface="Arial"/>
                        <a:buNone/>
                      </a:pPr>
                      <a:r>
                        <a:rPr lang="en-US" sz="2000" dirty="0">
                          <a:latin typeface="Arial" panose="020B0604020202020204" pitchFamily="34" charset="0"/>
                          <a:cs typeface="Arial" panose="020B0604020202020204" pitchFamily="34" charset="0"/>
                        </a:rPr>
                        <a:t>Germany</a:t>
                      </a:r>
                      <a:endParaRPr sz="2000" dirty="0">
                        <a:latin typeface="Arial" panose="020B0604020202020204" pitchFamily="34" charset="0"/>
                        <a:cs typeface="Arial" panose="020B0604020202020204" pitchFamily="34" charset="0"/>
                      </a:endParaRPr>
                    </a:p>
                  </a:txBody>
                  <a:tcPr marL="91450" marR="91450" marT="41568" marB="41568">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401512918"/>
                  </a:ext>
                </a:extLst>
              </a:tr>
              <a:tr h="268651">
                <a:tc>
                  <a:txBody>
                    <a:bodyPr/>
                    <a:lstStyle/>
                    <a:p>
                      <a:pPr marL="0" marR="0" lvl="0" indent="0" algn="l" rtl="0">
                        <a:lnSpc>
                          <a:spcPct val="100000"/>
                        </a:lnSpc>
                        <a:spcBef>
                          <a:spcPts val="0"/>
                        </a:spcBef>
                        <a:spcAft>
                          <a:spcPts val="0"/>
                        </a:spcAft>
                        <a:buClr>
                          <a:srgbClr val="000000"/>
                        </a:buClr>
                        <a:buSzPts val="2600"/>
                        <a:buFont typeface="Arial"/>
                        <a:buNone/>
                      </a:pPr>
                      <a:r>
                        <a:rPr lang="en-US" sz="2000">
                          <a:latin typeface="Arial" panose="020B0604020202020204" pitchFamily="34" charset="0"/>
                          <a:cs typeface="Arial" panose="020B0604020202020204" pitchFamily="34" charset="0"/>
                        </a:rPr>
                        <a:t>Trader </a:t>
                      </a:r>
                      <a:r>
                        <a:rPr lang="en-US" sz="2000" dirty="0">
                          <a:latin typeface="Arial" panose="020B0604020202020204" pitchFamily="34" charset="0"/>
                          <a:cs typeface="Arial" panose="020B0604020202020204" pitchFamily="34" charset="0"/>
                        </a:rPr>
                        <a:t>Joe’s</a:t>
                      </a:r>
                      <a:endParaRPr sz="2000" dirty="0">
                        <a:latin typeface="Arial" panose="020B0604020202020204" pitchFamily="34" charset="0"/>
                        <a:cs typeface="Arial" panose="020B0604020202020204" pitchFamily="34" charset="0"/>
                      </a:endParaRPr>
                    </a:p>
                  </a:txBody>
                  <a:tcPr marL="91450" marR="91450" marT="41568" marB="41568">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4EAE4"/>
                    </a:solidFill>
                  </a:tcPr>
                </a:tc>
                <a:tc>
                  <a:txBody>
                    <a:bodyPr/>
                    <a:lstStyle/>
                    <a:p>
                      <a:pPr marL="0" marR="0" lvl="0" indent="0" algn="l" rtl="0">
                        <a:lnSpc>
                          <a:spcPct val="100000"/>
                        </a:lnSpc>
                        <a:spcBef>
                          <a:spcPts val="0"/>
                        </a:spcBef>
                        <a:spcAft>
                          <a:spcPts val="0"/>
                        </a:spcAft>
                        <a:buClr>
                          <a:srgbClr val="000000"/>
                        </a:buClr>
                        <a:buSzPts val="2600"/>
                        <a:buFont typeface="Arial"/>
                        <a:buNone/>
                      </a:pPr>
                      <a:r>
                        <a:rPr lang="en-US" sz="2000" dirty="0">
                          <a:latin typeface="Arial" panose="020B0604020202020204" pitchFamily="34" charset="0"/>
                          <a:cs typeface="Arial" panose="020B0604020202020204" pitchFamily="34" charset="0"/>
                        </a:rPr>
                        <a:t>Germany</a:t>
                      </a:r>
                      <a:endParaRPr sz="2000" dirty="0">
                        <a:latin typeface="Arial" panose="020B0604020202020204" pitchFamily="34" charset="0"/>
                        <a:cs typeface="Arial" panose="020B0604020202020204" pitchFamily="34" charset="0"/>
                      </a:endParaRPr>
                    </a:p>
                  </a:txBody>
                  <a:tcPr marL="91450" marR="91450" marT="41568" marB="41568">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2986521836"/>
                  </a:ext>
                </a:extLst>
              </a:tr>
            </a:tbl>
          </a:graphicData>
        </a:graphic>
      </p:graphicFrame>
    </p:spTree>
    <p:extLst>
      <p:ext uri="{BB962C8B-B14F-4D97-AF65-F5344CB8AC3E}">
        <p14:creationId xmlns:p14="http://schemas.microsoft.com/office/powerpoint/2010/main" val="37510306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38" y="114195"/>
            <a:ext cx="8341262" cy="1144347"/>
          </a:xfrm>
        </p:spPr>
        <p:txBody>
          <a:bodyPr wrap="square" lIns="0" tIns="18000" rIns="0" bIns="18000" anchor="ctr" anchorCtr="0">
            <a:spAutoFit/>
          </a:bodyPr>
          <a:lstStyle/>
          <a:p>
            <a:r>
              <a:rPr lang="en-US" dirty="0"/>
              <a:t>World’s Most International </a:t>
            </a:r>
            <a:r>
              <a:rPr lang="en-US" spc="-500" dirty="0"/>
              <a:t>M N E </a:t>
            </a:r>
            <a:r>
              <a:rPr lang="en-US" dirty="0"/>
              <a:t>s, Based on Value of Foreign Assets</a:t>
            </a:r>
            <a:endParaRPr lang="en-US"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4955159" y="1475504"/>
            <a:ext cx="1725764" cy="405683"/>
          </a:xfrm>
        </p:spPr>
        <p:txBody>
          <a:bodyPr wrap="square" lIns="0" tIns="18000" rIns="0" bIns="18000" anchor="ctr" anchorCtr="0">
            <a:spAutoFit/>
          </a:bodyPr>
          <a:lstStyle/>
          <a:p>
            <a:pPr marL="0" indent="0">
              <a:spcBef>
                <a:spcPts val="600"/>
              </a:spcBef>
              <a:buNone/>
            </a:pPr>
            <a:r>
              <a:rPr lang="en-US" sz="1200" b="1" dirty="0"/>
              <a:t>Approximate Assets (billions of U.S. dollars)</a:t>
            </a:r>
            <a:endParaRPr lang="en-IN" sz="1200" dirty="0"/>
          </a:p>
        </p:txBody>
      </p:sp>
      <p:sp>
        <p:nvSpPr>
          <p:cNvPr id="3" name="Content Placeholder 2">
            <a:extLst>
              <a:ext uri="{FF2B5EF4-FFF2-40B4-BE49-F238E27FC236}">
                <a16:creationId xmlns:a16="http://schemas.microsoft.com/office/drawing/2014/main" id="{3E8A1C2A-C383-4E5A-BF78-492E3F1F600B}"/>
              </a:ext>
            </a:extLst>
          </p:cNvPr>
          <p:cNvSpPr>
            <a:spLocks noGrp="1"/>
          </p:cNvSpPr>
          <p:nvPr>
            <p:ph sz="quarter" idx="14"/>
          </p:nvPr>
        </p:nvSpPr>
        <p:spPr>
          <a:xfrm>
            <a:off x="6870851" y="1472729"/>
            <a:ext cx="1725764" cy="405683"/>
          </a:xfrm>
        </p:spPr>
        <p:txBody>
          <a:bodyPr wrap="square" lIns="0" tIns="18000" rIns="0" bIns="18000" anchor="ctr" anchorCtr="0">
            <a:spAutoFit/>
          </a:bodyPr>
          <a:lstStyle/>
          <a:p>
            <a:pPr marL="0" indent="0">
              <a:spcBef>
                <a:spcPts val="600"/>
              </a:spcBef>
              <a:buNone/>
            </a:pPr>
            <a:r>
              <a:rPr lang="en-US" sz="1200" b="1" dirty="0"/>
              <a:t>Approximate Sales (billions of U.S. dollars)</a:t>
            </a:r>
          </a:p>
        </p:txBody>
      </p:sp>
      <p:graphicFrame>
        <p:nvGraphicFramePr>
          <p:cNvPr id="11" name="Table 10">
            <a:extLst>
              <a:ext uri="{FF2B5EF4-FFF2-40B4-BE49-F238E27FC236}">
                <a16:creationId xmlns:a16="http://schemas.microsoft.com/office/drawing/2014/main" id="{799A0F6B-CD5A-498B-63BE-A31F6AC678D1}"/>
              </a:ext>
            </a:extLst>
          </p:cNvPr>
          <p:cNvGraphicFramePr>
            <a:graphicFrameLocks noGrp="1"/>
          </p:cNvGraphicFramePr>
          <p:nvPr>
            <p:extLst>
              <p:ext uri="{D42A27DB-BD31-4B8C-83A1-F6EECF244321}">
                <p14:modId xmlns:p14="http://schemas.microsoft.com/office/powerpoint/2010/main" val="1443834902"/>
              </p:ext>
            </p:extLst>
          </p:nvPr>
        </p:nvGraphicFramePr>
        <p:xfrm>
          <a:off x="459542" y="2000290"/>
          <a:ext cx="8164054" cy="3393039"/>
        </p:xfrm>
        <a:graphic>
          <a:graphicData uri="http://schemas.openxmlformats.org/drawingml/2006/table">
            <a:tbl>
              <a:tblPr firstRow="1" bandRow="1">
                <a:tableStyleId>{2D5ABB26-0587-4C30-8999-92F81FD0307C}</a:tableStyleId>
              </a:tblPr>
              <a:tblGrid>
                <a:gridCol w="1447800">
                  <a:extLst>
                    <a:ext uri="{9D8B030D-6E8A-4147-A177-3AD203B41FA5}">
                      <a16:colId xmlns:a16="http://schemas.microsoft.com/office/drawing/2014/main" val="2141376984"/>
                    </a:ext>
                  </a:extLst>
                </a:gridCol>
                <a:gridCol w="1524000">
                  <a:extLst>
                    <a:ext uri="{9D8B030D-6E8A-4147-A177-3AD203B41FA5}">
                      <a16:colId xmlns:a16="http://schemas.microsoft.com/office/drawing/2014/main" val="145072175"/>
                    </a:ext>
                  </a:extLst>
                </a:gridCol>
                <a:gridCol w="1524000">
                  <a:extLst>
                    <a:ext uri="{9D8B030D-6E8A-4147-A177-3AD203B41FA5}">
                      <a16:colId xmlns:a16="http://schemas.microsoft.com/office/drawing/2014/main" val="4256329658"/>
                    </a:ext>
                  </a:extLst>
                </a:gridCol>
                <a:gridCol w="914400">
                  <a:extLst>
                    <a:ext uri="{9D8B030D-6E8A-4147-A177-3AD203B41FA5}">
                      <a16:colId xmlns:a16="http://schemas.microsoft.com/office/drawing/2014/main" val="386096174"/>
                    </a:ext>
                  </a:extLst>
                </a:gridCol>
                <a:gridCol w="1066800">
                  <a:extLst>
                    <a:ext uri="{9D8B030D-6E8A-4147-A177-3AD203B41FA5}">
                      <a16:colId xmlns:a16="http://schemas.microsoft.com/office/drawing/2014/main" val="101926082"/>
                    </a:ext>
                  </a:extLst>
                </a:gridCol>
                <a:gridCol w="762000">
                  <a:extLst>
                    <a:ext uri="{9D8B030D-6E8A-4147-A177-3AD203B41FA5}">
                      <a16:colId xmlns:a16="http://schemas.microsoft.com/office/drawing/2014/main" val="1772731744"/>
                    </a:ext>
                  </a:extLst>
                </a:gridCol>
                <a:gridCol w="925054">
                  <a:extLst>
                    <a:ext uri="{9D8B030D-6E8A-4147-A177-3AD203B41FA5}">
                      <a16:colId xmlns:a16="http://schemas.microsoft.com/office/drawing/2014/main" val="3102472519"/>
                    </a:ext>
                  </a:extLst>
                </a:gridCol>
              </a:tblGrid>
              <a:tr h="384770">
                <a:tc>
                  <a:txBody>
                    <a:bodyPr/>
                    <a:lstStyle/>
                    <a:p>
                      <a:pPr algn="ctr">
                        <a:lnSpc>
                          <a:spcPct val="100000"/>
                        </a:lnSpc>
                        <a:spcAft>
                          <a:spcPts val="0"/>
                        </a:spcAft>
                      </a:pPr>
                      <a:r>
                        <a:rPr lang="en-US" sz="1200" b="1" baseline="0" dirty="0">
                          <a:solidFill>
                            <a:schemeClr val="bg1"/>
                          </a:solidFill>
                          <a:effectLst/>
                          <a:latin typeface="Arial" panose="020B0604020202020204" pitchFamily="34" charset="0"/>
                          <a:cs typeface="Arial" panose="020B0604020202020204" pitchFamily="34" charset="0"/>
                        </a:rPr>
                        <a:t>Company</a:t>
                      </a:r>
                      <a:endParaRPr lang="en-US" sz="1200" b="1" baseline="0" dirty="0">
                        <a:solidFill>
                          <a:schemeClr val="bg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lnSpc>
                          <a:spcPct val="100000"/>
                        </a:lnSpc>
                        <a:spcAft>
                          <a:spcPts val="0"/>
                        </a:spcAft>
                      </a:pPr>
                      <a:r>
                        <a:rPr lang="en-US" sz="1200" b="1" baseline="0" dirty="0">
                          <a:solidFill>
                            <a:schemeClr val="bg1"/>
                          </a:solidFill>
                          <a:effectLst/>
                          <a:latin typeface="Arial" panose="020B0604020202020204" pitchFamily="34" charset="0"/>
                          <a:cs typeface="Arial" panose="020B0604020202020204" pitchFamily="34" charset="0"/>
                        </a:rPr>
                        <a:t>Home Country</a:t>
                      </a:r>
                      <a:endParaRPr lang="en-US" sz="1200" b="1" baseline="0" dirty="0">
                        <a:solidFill>
                          <a:schemeClr val="bg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lnSpc>
                          <a:spcPct val="100000"/>
                        </a:lnSpc>
                        <a:spcAft>
                          <a:spcPts val="0"/>
                        </a:spcAft>
                      </a:pPr>
                      <a:r>
                        <a:rPr lang="en-US" sz="1200" b="1" baseline="0" dirty="0">
                          <a:solidFill>
                            <a:schemeClr val="bg1"/>
                          </a:solidFill>
                          <a:effectLst/>
                          <a:latin typeface="Arial" panose="020B0604020202020204" pitchFamily="34" charset="0"/>
                          <a:cs typeface="Arial" panose="020B0604020202020204" pitchFamily="34" charset="0"/>
                        </a:rPr>
                        <a:t>Industry</a:t>
                      </a:r>
                      <a:endParaRPr lang="en-US" sz="1200" b="1" baseline="0" dirty="0">
                        <a:solidFill>
                          <a:schemeClr val="bg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lnSpc>
                          <a:spcPct val="100000"/>
                        </a:lnSpc>
                        <a:spcAft>
                          <a:spcPts val="0"/>
                        </a:spcAft>
                      </a:pPr>
                      <a:r>
                        <a:rPr lang="en-US" sz="1200" b="1" baseline="0" dirty="0">
                          <a:solidFill>
                            <a:schemeClr val="bg1"/>
                          </a:solidFill>
                          <a:effectLst/>
                          <a:latin typeface="Arial" panose="020B0604020202020204" pitchFamily="34" charset="0"/>
                          <a:cs typeface="Arial" panose="020B0604020202020204" pitchFamily="34" charset="0"/>
                        </a:rPr>
                        <a:t>Total</a:t>
                      </a:r>
                      <a:endParaRPr lang="en-US" sz="1200" b="1" baseline="0" dirty="0">
                        <a:solidFill>
                          <a:schemeClr val="bg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lnSpc>
                          <a:spcPct val="100000"/>
                        </a:lnSpc>
                        <a:spcAft>
                          <a:spcPts val="0"/>
                        </a:spcAft>
                      </a:pPr>
                      <a:r>
                        <a:rPr lang="en-US" sz="1200" b="1" baseline="0" dirty="0">
                          <a:solidFill>
                            <a:schemeClr val="bg1"/>
                          </a:solidFill>
                          <a:effectLst/>
                          <a:latin typeface="Arial" panose="020B0604020202020204" pitchFamily="34" charset="0"/>
                          <a:cs typeface="Arial" panose="020B0604020202020204" pitchFamily="34" charset="0"/>
                        </a:rPr>
                        <a:t>Foreign</a:t>
                      </a:r>
                      <a:endParaRPr lang="en-US" sz="1200" b="1" baseline="0" dirty="0">
                        <a:solidFill>
                          <a:schemeClr val="bg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lnSpc>
                          <a:spcPct val="100000"/>
                        </a:lnSpc>
                        <a:spcAft>
                          <a:spcPts val="0"/>
                        </a:spcAft>
                      </a:pPr>
                      <a:r>
                        <a:rPr lang="en-US" sz="1200" b="1" baseline="0" dirty="0">
                          <a:solidFill>
                            <a:schemeClr val="bg1"/>
                          </a:solidFill>
                          <a:effectLst/>
                          <a:latin typeface="Arial" panose="020B0604020202020204" pitchFamily="34" charset="0"/>
                          <a:ea typeface="Calibri" panose="020F0502020204030204" pitchFamily="34" charset="0"/>
                          <a:cs typeface="Arial" panose="020B0604020202020204" pitchFamily="34" charset="0"/>
                        </a:rPr>
                        <a:t>Total</a:t>
                      </a: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lnSpc>
                          <a:spcPct val="100000"/>
                        </a:lnSpc>
                        <a:spcAft>
                          <a:spcPts val="0"/>
                        </a:spcAft>
                      </a:pPr>
                      <a:r>
                        <a:rPr lang="en-US" sz="1200" b="1" baseline="0" dirty="0">
                          <a:solidFill>
                            <a:schemeClr val="bg1"/>
                          </a:solidFill>
                          <a:effectLst/>
                          <a:latin typeface="Arial" panose="020B0604020202020204" pitchFamily="34" charset="0"/>
                          <a:cs typeface="Arial" panose="020B0604020202020204" pitchFamily="34" charset="0"/>
                        </a:rPr>
                        <a:t>Foreign</a:t>
                      </a:r>
                      <a:endParaRPr lang="en-US" sz="1200" b="1" baseline="0" dirty="0">
                        <a:solidFill>
                          <a:schemeClr val="bg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4076458570"/>
                  </a:ext>
                </a:extLst>
              </a:tr>
              <a:tr h="414715">
                <a:tc>
                  <a:txBody>
                    <a:bodyPr/>
                    <a:lstStyle/>
                    <a:p>
                      <a:pPr>
                        <a:lnSpc>
                          <a:spcPct val="100000"/>
                        </a:lnSpc>
                        <a:spcAft>
                          <a:spcPts val="800"/>
                        </a:spcAft>
                      </a:pPr>
                      <a:r>
                        <a:rPr lang="en-US" sz="1200" baseline="0" dirty="0">
                          <a:effectLst/>
                          <a:latin typeface="Arial" panose="020B0604020202020204" pitchFamily="34" charset="0"/>
                          <a:ea typeface="Calibri" panose="020F0502020204030204" pitchFamily="34" charset="0"/>
                          <a:cs typeface="Arial" panose="020B0604020202020204" pitchFamily="34" charset="0"/>
                        </a:rPr>
                        <a:t>Shell</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200" baseline="0" dirty="0">
                          <a:effectLst/>
                          <a:latin typeface="Arial" panose="020B0604020202020204" pitchFamily="34" charset="0"/>
                          <a:ea typeface="Calibri" panose="020F0502020204030204" pitchFamily="34" charset="0"/>
                          <a:cs typeface="Arial" panose="020B0604020202020204" pitchFamily="34" charset="0"/>
                        </a:rPr>
                        <a:t>Belgium</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200" baseline="0" dirty="0">
                          <a:effectLst/>
                          <a:latin typeface="Arial" panose="020B0604020202020204" pitchFamily="34" charset="0"/>
                          <a:ea typeface="Calibri" panose="020F0502020204030204" pitchFamily="34" charset="0"/>
                          <a:cs typeface="Arial" panose="020B0604020202020204" pitchFamily="34" charset="0"/>
                        </a:rPr>
                        <a:t>Food and beverages</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200" baseline="0" dirty="0">
                          <a:effectLst/>
                          <a:latin typeface="Arial" panose="020B0604020202020204" pitchFamily="34" charset="0"/>
                          <a:ea typeface="Calibri" panose="020F0502020204030204" pitchFamily="34" charset="0"/>
                          <a:cs typeface="Arial" panose="020B0604020202020204" pitchFamily="34" charset="0"/>
                        </a:rPr>
                        <a:t>404</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200" baseline="0" dirty="0">
                          <a:effectLst/>
                          <a:latin typeface="Arial" panose="020B0604020202020204" pitchFamily="34" charset="0"/>
                          <a:ea typeface="Calibri" panose="020F0502020204030204" pitchFamily="34" charset="0"/>
                          <a:cs typeface="Arial" panose="020B0604020202020204" pitchFamily="34" charset="0"/>
                        </a:rPr>
                        <a:t>368</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200" baseline="0" dirty="0">
                          <a:effectLst/>
                          <a:latin typeface="Arial" panose="020B0604020202020204" pitchFamily="34" charset="0"/>
                          <a:ea typeface="Calibri" panose="020F0502020204030204" pitchFamily="34" charset="0"/>
                          <a:cs typeface="Arial" panose="020B0604020202020204" pitchFamily="34" charset="0"/>
                        </a:rPr>
                        <a:t>262</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200" baseline="0" dirty="0">
                          <a:effectLst/>
                          <a:latin typeface="Arial" panose="020B0604020202020204" pitchFamily="34" charset="0"/>
                          <a:ea typeface="Calibri" panose="020F0502020204030204" pitchFamily="34" charset="0"/>
                          <a:cs typeface="Arial" panose="020B0604020202020204" pitchFamily="34" charset="0"/>
                        </a:rPr>
                        <a:t>240</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extLst>
                  <a:ext uri="{0D108BD9-81ED-4DB2-BD59-A6C34878D82A}">
                    <a16:rowId xmlns:a16="http://schemas.microsoft.com/office/drawing/2014/main" val="3428849900"/>
                  </a:ext>
                </a:extLst>
              </a:tr>
              <a:tr h="238919">
                <a:tc>
                  <a:txBody>
                    <a:bodyPr/>
                    <a:lstStyle/>
                    <a:p>
                      <a:pPr>
                        <a:lnSpc>
                          <a:spcPct val="100000"/>
                        </a:lnSpc>
                        <a:spcAft>
                          <a:spcPts val="800"/>
                        </a:spcAft>
                      </a:pPr>
                      <a:r>
                        <a:rPr lang="en-US" sz="1200" baseline="0" dirty="0">
                          <a:effectLst/>
                          <a:latin typeface="Arial" panose="020B0604020202020204" pitchFamily="34" charset="0"/>
                          <a:cs typeface="Arial" panose="020B0604020202020204" pitchFamily="34" charset="0"/>
                        </a:rPr>
                        <a:t>Toyota Motor</a:t>
                      </a:r>
                      <a:endParaRPr lang="en-US" sz="1200" baseline="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200" baseline="0" dirty="0">
                          <a:effectLst/>
                          <a:latin typeface="Arial" panose="020B0604020202020204" pitchFamily="34" charset="0"/>
                          <a:cs typeface="Arial" panose="020B0604020202020204" pitchFamily="34" charset="0"/>
                        </a:rPr>
                        <a:t>United Kingdom</a:t>
                      </a:r>
                      <a:endParaRPr lang="en-US" sz="1200" baseline="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200" baseline="0" dirty="0">
                          <a:effectLst/>
                          <a:latin typeface="Arial" panose="020B0604020202020204" pitchFamily="34" charset="0"/>
                          <a:ea typeface="Calibri" panose="020F0502020204030204" pitchFamily="34" charset="0"/>
                          <a:cs typeface="Arial" panose="020B0604020202020204" pitchFamily="34" charset="0"/>
                        </a:rPr>
                        <a:t>Motor vehicles</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200" baseline="0" dirty="0">
                          <a:effectLst/>
                          <a:latin typeface="Arial" panose="020B0604020202020204" pitchFamily="34" charset="0"/>
                          <a:ea typeface="Calibri" panose="020F0502020204030204" pitchFamily="34" charset="0"/>
                          <a:cs typeface="Arial" panose="020B0604020202020204" pitchFamily="34" charset="0"/>
                        </a:rPr>
                        <a:t>522</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200" baseline="0" dirty="0">
                          <a:effectLst/>
                          <a:latin typeface="Arial" panose="020B0604020202020204" pitchFamily="34" charset="0"/>
                          <a:ea typeface="Calibri" panose="020F0502020204030204" pitchFamily="34" charset="0"/>
                          <a:cs typeface="Arial" panose="020B0604020202020204" pitchFamily="34" charset="0"/>
                        </a:rPr>
                        <a:t>319</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200" baseline="0" dirty="0">
                          <a:effectLst/>
                          <a:latin typeface="Arial" panose="020B0604020202020204" pitchFamily="34" charset="0"/>
                          <a:ea typeface="Calibri" panose="020F0502020204030204" pitchFamily="34" charset="0"/>
                          <a:cs typeface="Arial" panose="020B0604020202020204" pitchFamily="34" charset="0"/>
                        </a:rPr>
                        <a:t>279</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200" baseline="0" dirty="0">
                          <a:effectLst/>
                          <a:latin typeface="Arial" panose="020B0604020202020204" pitchFamily="34" charset="0"/>
                          <a:ea typeface="Calibri" panose="020F0502020204030204" pitchFamily="34" charset="0"/>
                          <a:cs typeface="Arial" panose="020B0604020202020204" pitchFamily="34" charset="0"/>
                        </a:rPr>
                        <a:t>206</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extLst>
                  <a:ext uri="{0D108BD9-81ED-4DB2-BD59-A6C34878D82A}">
                    <a16:rowId xmlns:a16="http://schemas.microsoft.com/office/drawing/2014/main" val="563113303"/>
                  </a:ext>
                </a:extLst>
              </a:tr>
              <a:tr h="238919">
                <a:tc>
                  <a:txBody>
                    <a:bodyPr/>
                    <a:lstStyle/>
                    <a:p>
                      <a:pPr>
                        <a:lnSpc>
                          <a:spcPct val="100000"/>
                        </a:lnSpc>
                        <a:spcAft>
                          <a:spcPts val="800"/>
                        </a:spcAft>
                      </a:pPr>
                      <a:r>
                        <a:rPr lang="en-US" sz="1200" baseline="0" dirty="0">
                          <a:effectLst/>
                          <a:latin typeface="Arial" panose="020B0604020202020204" pitchFamily="34" charset="0"/>
                          <a:cs typeface="Arial" panose="020B0604020202020204" pitchFamily="34" charset="0"/>
                        </a:rPr>
                        <a:t>TotalEnergies</a:t>
                      </a:r>
                      <a:endParaRPr lang="en-US" sz="1200" baseline="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200" baseline="0" dirty="0">
                          <a:effectLst/>
                          <a:latin typeface="Arial" panose="020B0604020202020204" pitchFamily="34" charset="0"/>
                          <a:ea typeface="Calibri" panose="020F0502020204030204" pitchFamily="34" charset="0"/>
                          <a:cs typeface="Arial" panose="020B0604020202020204" pitchFamily="34" charset="0"/>
                        </a:rPr>
                        <a:t>France</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200" baseline="0" dirty="0">
                          <a:effectLst/>
                          <a:latin typeface="Arial" panose="020B0604020202020204" pitchFamily="34" charset="0"/>
                          <a:ea typeface="Calibri" panose="020F0502020204030204" pitchFamily="34" charset="0"/>
                          <a:cs typeface="Arial" panose="020B0604020202020204" pitchFamily="34" charset="0"/>
                        </a:rPr>
                        <a:t>Petroleum</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200" baseline="0" dirty="0">
                          <a:effectLst/>
                          <a:latin typeface="Arial" panose="020B0604020202020204" pitchFamily="34" charset="0"/>
                          <a:ea typeface="Calibri" panose="020F0502020204030204" pitchFamily="34" charset="0"/>
                          <a:cs typeface="Arial" panose="020B0604020202020204" pitchFamily="34" charset="0"/>
                        </a:rPr>
                        <a:t>332</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200" baseline="0" dirty="0">
                          <a:effectLst/>
                          <a:latin typeface="Arial" panose="020B0604020202020204" pitchFamily="34" charset="0"/>
                          <a:ea typeface="Calibri" panose="020F0502020204030204" pitchFamily="34" charset="0"/>
                          <a:cs typeface="Arial" panose="020B0604020202020204" pitchFamily="34" charset="0"/>
                        </a:rPr>
                        <a:t>298</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200" baseline="0" dirty="0">
                          <a:effectLst/>
                          <a:latin typeface="Arial" panose="020B0604020202020204" pitchFamily="34" charset="0"/>
                          <a:ea typeface="Calibri" panose="020F0502020204030204" pitchFamily="34" charset="0"/>
                          <a:cs typeface="Arial" panose="020B0604020202020204" pitchFamily="34" charset="0"/>
                        </a:rPr>
                        <a:t>218</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200" baseline="0" dirty="0">
                          <a:effectLst/>
                          <a:latin typeface="Arial" panose="020B0604020202020204" pitchFamily="34" charset="0"/>
                          <a:ea typeface="Calibri" panose="020F0502020204030204" pitchFamily="34" charset="0"/>
                          <a:cs typeface="Arial" panose="020B0604020202020204" pitchFamily="34" charset="0"/>
                        </a:rPr>
                        <a:t>172</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extLst>
                  <a:ext uri="{0D108BD9-81ED-4DB2-BD59-A6C34878D82A}">
                    <a16:rowId xmlns:a16="http://schemas.microsoft.com/office/drawing/2014/main" val="2159397716"/>
                  </a:ext>
                </a:extLst>
              </a:tr>
              <a:tr h="238919">
                <a:tc>
                  <a:txBody>
                    <a:bodyPr/>
                    <a:lstStyle/>
                    <a:p>
                      <a:pPr>
                        <a:lnSpc>
                          <a:spcPct val="100000"/>
                        </a:lnSpc>
                        <a:spcAft>
                          <a:spcPts val="800"/>
                        </a:spcAft>
                      </a:pPr>
                      <a:r>
                        <a:rPr lang="en-US" sz="1200" baseline="0" dirty="0">
                          <a:effectLst/>
                          <a:latin typeface="Arial" panose="020B0604020202020204" pitchFamily="34" charset="0"/>
                          <a:cs typeface="Arial" panose="020B0604020202020204" pitchFamily="34" charset="0"/>
                        </a:rPr>
                        <a:t>Volkswagen Group</a:t>
                      </a:r>
                      <a:endParaRPr lang="en-US" sz="1200" baseline="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200" baseline="0" dirty="0">
                          <a:effectLst/>
                          <a:latin typeface="Arial" panose="020B0604020202020204" pitchFamily="34" charset="0"/>
                          <a:ea typeface="Calibri" panose="020F0502020204030204" pitchFamily="34" charset="0"/>
                          <a:cs typeface="Arial" panose="020B0604020202020204" pitchFamily="34" charset="0"/>
                        </a:rPr>
                        <a:t>Germany</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200" baseline="0" dirty="0">
                          <a:effectLst/>
                          <a:latin typeface="Arial" panose="020B0604020202020204" pitchFamily="34" charset="0"/>
                          <a:ea typeface="Calibri" panose="020F0502020204030204" pitchFamily="34" charset="0"/>
                          <a:cs typeface="Arial" panose="020B0604020202020204" pitchFamily="34" charset="0"/>
                        </a:rPr>
                        <a:t>Motor vehicles</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200" baseline="0" dirty="0">
                          <a:effectLst/>
                          <a:latin typeface="Arial" panose="020B0604020202020204" pitchFamily="34" charset="0"/>
                          <a:ea typeface="Calibri" panose="020F0502020204030204" pitchFamily="34" charset="0"/>
                          <a:cs typeface="Arial" panose="020B0604020202020204" pitchFamily="34" charset="0"/>
                        </a:rPr>
                        <a:t>599</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200" baseline="0" dirty="0">
                          <a:effectLst/>
                          <a:latin typeface="Arial" panose="020B0604020202020204" pitchFamily="34" charset="0"/>
                          <a:ea typeface="Calibri" panose="020F0502020204030204" pitchFamily="34" charset="0"/>
                          <a:cs typeface="Arial" panose="020B0604020202020204" pitchFamily="34" charset="0"/>
                        </a:rPr>
                        <a:t>263</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200" baseline="0" dirty="0">
                          <a:effectLst/>
                          <a:latin typeface="Arial" panose="020B0604020202020204" pitchFamily="34" charset="0"/>
                          <a:ea typeface="Calibri" panose="020F0502020204030204" pitchFamily="34" charset="0"/>
                          <a:cs typeface="Arial" panose="020B0604020202020204" pitchFamily="34" charset="0"/>
                        </a:rPr>
                        <a:t>296</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200" baseline="0" dirty="0">
                          <a:effectLst/>
                          <a:latin typeface="Arial" panose="020B0604020202020204" pitchFamily="34" charset="0"/>
                          <a:ea typeface="Calibri" panose="020F0502020204030204" pitchFamily="34" charset="0"/>
                          <a:cs typeface="Arial" panose="020B0604020202020204" pitchFamily="34" charset="0"/>
                        </a:rPr>
                        <a:t>243</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extLst>
                  <a:ext uri="{0D108BD9-81ED-4DB2-BD59-A6C34878D82A}">
                    <a16:rowId xmlns:a16="http://schemas.microsoft.com/office/drawing/2014/main" val="3825287350"/>
                  </a:ext>
                </a:extLst>
              </a:tr>
              <a:tr h="238919">
                <a:tc>
                  <a:txBody>
                    <a:bodyPr/>
                    <a:lstStyle/>
                    <a:p>
                      <a:pPr>
                        <a:lnSpc>
                          <a:spcPct val="100000"/>
                        </a:lnSpc>
                        <a:spcAft>
                          <a:spcPts val="800"/>
                        </a:spcAft>
                      </a:pPr>
                      <a:r>
                        <a:rPr lang="en-US" sz="1200" baseline="0" dirty="0">
                          <a:effectLst/>
                          <a:latin typeface="Arial" panose="020B0604020202020204" pitchFamily="34" charset="0"/>
                          <a:cs typeface="Arial" panose="020B0604020202020204" pitchFamily="34" charset="0"/>
                        </a:rPr>
                        <a:t>Exxon Mobil</a:t>
                      </a:r>
                      <a:endParaRPr lang="en-US" sz="1200" baseline="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200" baseline="0" dirty="0">
                          <a:effectLst/>
                          <a:latin typeface="Arial" panose="020B0604020202020204" pitchFamily="34" charset="0"/>
                          <a:ea typeface="Calibri" panose="020F0502020204030204" pitchFamily="34" charset="0"/>
                          <a:cs typeface="Arial" panose="020B0604020202020204" pitchFamily="34" charset="0"/>
                        </a:rPr>
                        <a:t>United States </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200" baseline="0" dirty="0">
                          <a:effectLst/>
                          <a:latin typeface="Arial" panose="020B0604020202020204" pitchFamily="34" charset="0"/>
                          <a:ea typeface="Calibri" panose="020F0502020204030204" pitchFamily="34" charset="0"/>
                          <a:cs typeface="Arial" panose="020B0604020202020204" pitchFamily="34" charset="0"/>
                        </a:rPr>
                        <a:t>Petroleum</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200" baseline="0" dirty="0">
                          <a:effectLst/>
                          <a:latin typeface="Arial" panose="020B0604020202020204" pitchFamily="34" charset="0"/>
                          <a:ea typeface="Calibri" panose="020F0502020204030204" pitchFamily="34" charset="0"/>
                          <a:cs typeface="Arial" panose="020B0604020202020204" pitchFamily="34" charset="0"/>
                        </a:rPr>
                        <a:t>339</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200" baseline="0" dirty="0">
                          <a:effectLst/>
                          <a:latin typeface="Arial" panose="020B0604020202020204" pitchFamily="34" charset="0"/>
                          <a:ea typeface="Calibri" panose="020F0502020204030204" pitchFamily="34" charset="0"/>
                          <a:cs typeface="Arial" panose="020B0604020202020204" pitchFamily="34" charset="0"/>
                        </a:rPr>
                        <a:t>197</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200" baseline="0" dirty="0">
                          <a:effectLst/>
                          <a:latin typeface="Arial" panose="020B0604020202020204" pitchFamily="34" charset="0"/>
                          <a:ea typeface="Calibri" panose="020F0502020204030204" pitchFamily="34" charset="0"/>
                          <a:cs typeface="Arial" panose="020B0604020202020204" pitchFamily="34" charset="0"/>
                        </a:rPr>
                        <a:t>277</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200" baseline="0" dirty="0">
                          <a:effectLst/>
                          <a:latin typeface="Arial" panose="020B0604020202020204" pitchFamily="34" charset="0"/>
                          <a:ea typeface="Calibri" panose="020F0502020204030204" pitchFamily="34" charset="0"/>
                          <a:cs typeface="Arial" panose="020B0604020202020204" pitchFamily="34" charset="0"/>
                        </a:rPr>
                        <a:t>172</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extLst>
                  <a:ext uri="{0D108BD9-81ED-4DB2-BD59-A6C34878D82A}">
                    <a16:rowId xmlns:a16="http://schemas.microsoft.com/office/drawing/2014/main" val="3235680259"/>
                  </a:ext>
                </a:extLst>
              </a:tr>
              <a:tr h="264488">
                <a:tc>
                  <a:txBody>
                    <a:bodyPr/>
                    <a:lstStyle/>
                    <a:p>
                      <a:pPr>
                        <a:lnSpc>
                          <a:spcPct val="100000"/>
                        </a:lnSpc>
                        <a:spcAft>
                          <a:spcPts val="800"/>
                        </a:spcAft>
                      </a:pPr>
                      <a:r>
                        <a:rPr lang="en-US" sz="1200" baseline="0" dirty="0">
                          <a:effectLst/>
                          <a:latin typeface="Arial" panose="020B0604020202020204" pitchFamily="34" charset="0"/>
                          <a:ea typeface="Calibri" panose="020F0502020204030204" pitchFamily="34" charset="0"/>
                          <a:cs typeface="Arial" panose="020B0604020202020204" pitchFamily="34" charset="0"/>
                        </a:rPr>
                        <a:t>Stellantis</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200" baseline="0" dirty="0">
                          <a:effectLst/>
                          <a:latin typeface="Arial" panose="020B0604020202020204" pitchFamily="34" charset="0"/>
                          <a:cs typeface="Arial" panose="020B0604020202020204" pitchFamily="34" charset="0"/>
                        </a:rPr>
                        <a:t>Netherlands</a:t>
                      </a:r>
                      <a:endParaRPr lang="en-US" sz="1200" baseline="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200" baseline="0" dirty="0">
                          <a:effectLst/>
                          <a:latin typeface="Arial" panose="020B0604020202020204" pitchFamily="34" charset="0"/>
                          <a:ea typeface="Calibri" panose="020F0502020204030204" pitchFamily="34" charset="0"/>
                          <a:cs typeface="Arial" panose="020B0604020202020204" pitchFamily="34" charset="0"/>
                        </a:rPr>
                        <a:t>Motor vehicles </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200" baseline="0" dirty="0">
                          <a:effectLst/>
                          <a:latin typeface="Arial" panose="020B0604020202020204" pitchFamily="34" charset="0"/>
                          <a:ea typeface="Calibri" panose="020F0502020204030204" pitchFamily="34" charset="0"/>
                          <a:cs typeface="Arial" panose="020B0604020202020204" pitchFamily="34" charset="0"/>
                        </a:rPr>
                        <a:t>195</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200" baseline="0" dirty="0">
                          <a:effectLst/>
                          <a:latin typeface="Arial" panose="020B0604020202020204" pitchFamily="34" charset="0"/>
                          <a:ea typeface="Calibri" panose="020F0502020204030204" pitchFamily="34" charset="0"/>
                          <a:cs typeface="Arial" panose="020B0604020202020204" pitchFamily="34" charset="0"/>
                        </a:rPr>
                        <a:t>195</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200" baseline="0" dirty="0">
                          <a:effectLst/>
                          <a:latin typeface="Arial" panose="020B0604020202020204" pitchFamily="34" charset="0"/>
                          <a:ea typeface="Calibri" panose="020F0502020204030204" pitchFamily="34" charset="0"/>
                          <a:cs typeface="Arial" panose="020B0604020202020204" pitchFamily="34" charset="0"/>
                        </a:rPr>
                        <a:t>177</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200" baseline="0" dirty="0">
                          <a:effectLst/>
                          <a:latin typeface="Arial" panose="020B0604020202020204" pitchFamily="34" charset="0"/>
                          <a:ea typeface="Calibri" panose="020F0502020204030204" pitchFamily="34" charset="0"/>
                          <a:cs typeface="Arial" panose="020B0604020202020204" pitchFamily="34" charset="0"/>
                        </a:rPr>
                        <a:t>158</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extLst>
                  <a:ext uri="{0D108BD9-81ED-4DB2-BD59-A6C34878D82A}">
                    <a16:rowId xmlns:a16="http://schemas.microsoft.com/office/drawing/2014/main" val="1741578426"/>
                  </a:ext>
                </a:extLst>
              </a:tr>
              <a:tr h="305041">
                <a:tc>
                  <a:txBody>
                    <a:bodyPr/>
                    <a:lstStyle/>
                    <a:p>
                      <a:pPr>
                        <a:lnSpc>
                          <a:spcPct val="100000"/>
                        </a:lnSpc>
                        <a:spcAft>
                          <a:spcPts val="800"/>
                        </a:spcAft>
                      </a:pPr>
                      <a:r>
                        <a:rPr lang="en-US" sz="1200" baseline="0" dirty="0">
                          <a:effectLst/>
                          <a:latin typeface="Arial" panose="020B0604020202020204" pitchFamily="34" charset="0"/>
                          <a:cs typeface="Arial" panose="020B0604020202020204" pitchFamily="34" charset="0"/>
                        </a:rPr>
                        <a:t>BP</a:t>
                      </a:r>
                      <a:endParaRPr lang="en-US" sz="1200" baseline="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200" baseline="0" dirty="0">
                          <a:effectLst/>
                          <a:latin typeface="Arial" panose="020B0604020202020204" pitchFamily="34" charset="0"/>
                          <a:ea typeface="Calibri" panose="020F0502020204030204" pitchFamily="34" charset="0"/>
                          <a:cs typeface="Arial" panose="020B0604020202020204" pitchFamily="34" charset="0"/>
                        </a:rPr>
                        <a:t>United Kingdom </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200" baseline="0" dirty="0">
                          <a:effectLst/>
                          <a:latin typeface="Arial" panose="020B0604020202020204" pitchFamily="34" charset="0"/>
                          <a:ea typeface="Calibri" panose="020F0502020204030204" pitchFamily="34" charset="0"/>
                          <a:cs typeface="Arial" panose="020B0604020202020204" pitchFamily="34" charset="0"/>
                        </a:rPr>
                        <a:t>Petroleum</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200" baseline="0" dirty="0">
                          <a:effectLst/>
                          <a:latin typeface="Arial" panose="020B0604020202020204" pitchFamily="34" charset="0"/>
                          <a:ea typeface="Calibri" panose="020F0502020204030204" pitchFamily="34" charset="0"/>
                          <a:cs typeface="Arial" panose="020B0604020202020204" pitchFamily="34" charset="0"/>
                        </a:rPr>
                        <a:t>287</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200" baseline="0" dirty="0">
                          <a:effectLst/>
                          <a:latin typeface="Arial" panose="020B0604020202020204" pitchFamily="34" charset="0"/>
                          <a:ea typeface="Calibri" panose="020F0502020204030204" pitchFamily="34" charset="0"/>
                          <a:cs typeface="Arial" panose="020B0604020202020204" pitchFamily="34" charset="0"/>
                        </a:rPr>
                        <a:t>192</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200" baseline="0" dirty="0">
                          <a:effectLst/>
                          <a:latin typeface="Arial" panose="020B0604020202020204" pitchFamily="34" charset="0"/>
                          <a:ea typeface="Calibri" panose="020F0502020204030204" pitchFamily="34" charset="0"/>
                          <a:cs typeface="Arial" panose="020B0604020202020204" pitchFamily="34" charset="0"/>
                        </a:rPr>
                        <a:t>158</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200" baseline="0" dirty="0">
                          <a:effectLst/>
                          <a:latin typeface="Arial" panose="020B0604020202020204" pitchFamily="34" charset="0"/>
                          <a:ea typeface="Calibri" panose="020F0502020204030204" pitchFamily="34" charset="0"/>
                          <a:cs typeface="Arial" panose="020B0604020202020204" pitchFamily="34" charset="0"/>
                        </a:rPr>
                        <a:t>106</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extLst>
                  <a:ext uri="{0D108BD9-81ED-4DB2-BD59-A6C34878D82A}">
                    <a16:rowId xmlns:a16="http://schemas.microsoft.com/office/drawing/2014/main" val="1178630137"/>
                  </a:ext>
                </a:extLst>
              </a:tr>
              <a:tr h="414715">
                <a:tc>
                  <a:txBody>
                    <a:bodyPr/>
                    <a:lstStyle/>
                    <a:p>
                      <a:pPr>
                        <a:lnSpc>
                          <a:spcPct val="100000"/>
                        </a:lnSpc>
                        <a:spcAft>
                          <a:spcPts val="800"/>
                        </a:spcAft>
                      </a:pPr>
                      <a:r>
                        <a:rPr lang="en-US" sz="1200" baseline="0" dirty="0">
                          <a:effectLst/>
                          <a:latin typeface="Arial" panose="020B0604020202020204" pitchFamily="34" charset="0"/>
                          <a:cs typeface="Arial" panose="020B0604020202020204" pitchFamily="34" charset="0"/>
                        </a:rPr>
                        <a:t>Anheuser-Busch InBev</a:t>
                      </a:r>
                      <a:endParaRPr lang="en-US" sz="1200" baseline="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200" baseline="0" dirty="0">
                          <a:effectLst/>
                          <a:latin typeface="Arial" panose="020B0604020202020204" pitchFamily="34" charset="0"/>
                          <a:ea typeface="Calibri" panose="020F0502020204030204" pitchFamily="34" charset="0"/>
                          <a:cs typeface="Arial" panose="020B0604020202020204" pitchFamily="34" charset="0"/>
                        </a:rPr>
                        <a:t>Belgium</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200" baseline="0" dirty="0">
                          <a:effectLst/>
                          <a:latin typeface="Arial" panose="020B0604020202020204" pitchFamily="34" charset="0"/>
                          <a:ea typeface="Calibri" panose="020F0502020204030204" pitchFamily="34" charset="0"/>
                          <a:cs typeface="Arial" panose="020B0604020202020204" pitchFamily="34" charset="0"/>
                        </a:rPr>
                        <a:t>Food and beverages</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200" baseline="0" dirty="0">
                          <a:effectLst/>
                          <a:latin typeface="Arial" panose="020B0604020202020204" pitchFamily="34" charset="0"/>
                          <a:ea typeface="Calibri" panose="020F0502020204030204" pitchFamily="34" charset="0"/>
                          <a:cs typeface="Arial" panose="020B0604020202020204" pitchFamily="34" charset="0"/>
                        </a:rPr>
                        <a:t>218</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200" baseline="0" dirty="0">
                          <a:effectLst/>
                          <a:latin typeface="Arial" panose="020B0604020202020204" pitchFamily="34" charset="0"/>
                          <a:ea typeface="Calibri" panose="020F0502020204030204" pitchFamily="34" charset="0"/>
                          <a:cs typeface="Arial" panose="020B0604020202020204" pitchFamily="34" charset="0"/>
                        </a:rPr>
                        <a:t>179</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200" baseline="0" dirty="0">
                          <a:effectLst/>
                          <a:latin typeface="Arial" panose="020B0604020202020204" pitchFamily="34" charset="0"/>
                          <a:ea typeface="Calibri" panose="020F0502020204030204" pitchFamily="34" charset="0"/>
                          <a:cs typeface="Arial" panose="020B0604020202020204" pitchFamily="34" charset="0"/>
                        </a:rPr>
                        <a:t>54</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200" baseline="0" dirty="0">
                          <a:effectLst/>
                          <a:latin typeface="Arial" panose="020B0604020202020204" pitchFamily="34" charset="0"/>
                          <a:ea typeface="Calibri" panose="020F0502020204030204" pitchFamily="34" charset="0"/>
                          <a:cs typeface="Arial" panose="020B0604020202020204" pitchFamily="34" charset="0"/>
                        </a:rPr>
                        <a:t>46</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extLst>
                  <a:ext uri="{0D108BD9-81ED-4DB2-BD59-A6C34878D82A}">
                    <a16:rowId xmlns:a16="http://schemas.microsoft.com/office/drawing/2014/main" val="3323528603"/>
                  </a:ext>
                </a:extLst>
              </a:tr>
              <a:tr h="414715">
                <a:tc>
                  <a:txBody>
                    <a:bodyPr/>
                    <a:lstStyle/>
                    <a:p>
                      <a:pPr>
                        <a:lnSpc>
                          <a:spcPct val="100000"/>
                        </a:lnSpc>
                        <a:spcAft>
                          <a:spcPts val="800"/>
                        </a:spcAft>
                      </a:pPr>
                      <a:r>
                        <a:rPr lang="en-US" sz="1200" baseline="0" dirty="0">
                          <a:effectLst/>
                          <a:latin typeface="Arial" panose="020B0604020202020204" pitchFamily="34" charset="0"/>
                          <a:cs typeface="Arial" panose="020B0604020202020204" pitchFamily="34" charset="0"/>
                        </a:rPr>
                        <a:t>British American Tobacco</a:t>
                      </a:r>
                      <a:endParaRPr lang="en-US" sz="1200" baseline="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200" baseline="0" dirty="0">
                          <a:effectLst/>
                          <a:latin typeface="Arial" panose="020B0604020202020204" pitchFamily="34" charset="0"/>
                          <a:ea typeface="Calibri" panose="020F0502020204030204" pitchFamily="34" charset="0"/>
                          <a:cs typeface="Arial" panose="020B0604020202020204" pitchFamily="34" charset="0"/>
                        </a:rPr>
                        <a:t>United Kingdom </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200" baseline="0" dirty="0">
                          <a:effectLst/>
                          <a:latin typeface="Arial" panose="020B0604020202020204" pitchFamily="34" charset="0"/>
                          <a:ea typeface="Calibri" panose="020F0502020204030204" pitchFamily="34" charset="0"/>
                          <a:cs typeface="Arial" panose="020B0604020202020204" pitchFamily="34" charset="0"/>
                        </a:rPr>
                        <a:t>Tobacco</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200" baseline="0" dirty="0">
                          <a:effectLst/>
                          <a:latin typeface="Arial" panose="020B0604020202020204" pitchFamily="34" charset="0"/>
                          <a:ea typeface="Calibri" panose="020F0502020204030204" pitchFamily="34" charset="0"/>
                          <a:cs typeface="Arial" panose="020B0604020202020204" pitchFamily="34" charset="0"/>
                        </a:rPr>
                        <a:t>185</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200" baseline="0" dirty="0">
                          <a:effectLst/>
                          <a:latin typeface="Arial" panose="020B0604020202020204" pitchFamily="34" charset="0"/>
                          <a:ea typeface="Calibri" panose="020F0502020204030204" pitchFamily="34" charset="0"/>
                          <a:cs typeface="Arial" panose="020B0604020202020204" pitchFamily="34" charset="0"/>
                        </a:rPr>
                        <a:t>172</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200" baseline="0" dirty="0">
                          <a:effectLst/>
                          <a:latin typeface="Arial" panose="020B0604020202020204" pitchFamily="34" charset="0"/>
                          <a:ea typeface="Calibri" panose="020F0502020204030204" pitchFamily="34" charset="0"/>
                          <a:cs typeface="Arial" panose="020B0604020202020204" pitchFamily="34" charset="0"/>
                        </a:rPr>
                        <a:t>35</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200" baseline="0" dirty="0">
                          <a:effectLst/>
                          <a:latin typeface="Arial" panose="020B0604020202020204" pitchFamily="34" charset="0"/>
                          <a:ea typeface="Calibri" panose="020F0502020204030204" pitchFamily="34" charset="0"/>
                          <a:cs typeface="Arial" panose="020B0604020202020204" pitchFamily="34" charset="0"/>
                        </a:rPr>
                        <a:t>27</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extLst>
                  <a:ext uri="{0D108BD9-81ED-4DB2-BD59-A6C34878D82A}">
                    <a16:rowId xmlns:a16="http://schemas.microsoft.com/office/drawing/2014/main" val="943083060"/>
                  </a:ext>
                </a:extLst>
              </a:tr>
              <a:tr h="238919">
                <a:tc>
                  <a:txBody>
                    <a:bodyPr/>
                    <a:lstStyle/>
                    <a:p>
                      <a:pPr>
                        <a:lnSpc>
                          <a:spcPct val="100000"/>
                        </a:lnSpc>
                        <a:spcAft>
                          <a:spcPts val="800"/>
                        </a:spcAft>
                      </a:pPr>
                      <a:r>
                        <a:rPr lang="en-US" sz="1200" baseline="0" dirty="0">
                          <a:effectLst/>
                          <a:latin typeface="Arial" panose="020B0604020202020204" pitchFamily="34" charset="0"/>
                          <a:cs typeface="Arial" panose="020B0604020202020204" pitchFamily="34" charset="0"/>
                        </a:rPr>
                        <a:t>Chevron</a:t>
                      </a:r>
                      <a:endParaRPr lang="en-US" sz="1200" baseline="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200" baseline="0" dirty="0">
                          <a:effectLst/>
                          <a:latin typeface="Arial" panose="020B0604020202020204" pitchFamily="34" charset="0"/>
                          <a:ea typeface="Calibri" panose="020F0502020204030204" pitchFamily="34" charset="0"/>
                          <a:cs typeface="Arial" panose="020B0604020202020204" pitchFamily="34" charset="0"/>
                        </a:rPr>
                        <a:t>United States </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200" baseline="0" dirty="0">
                          <a:effectLst/>
                          <a:latin typeface="Arial" panose="020B0604020202020204" pitchFamily="34" charset="0"/>
                          <a:ea typeface="Calibri" panose="020F0502020204030204" pitchFamily="34" charset="0"/>
                          <a:cs typeface="Arial" panose="020B0604020202020204" pitchFamily="34" charset="0"/>
                        </a:rPr>
                        <a:t>Petroleum</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200" baseline="0" dirty="0">
                          <a:effectLst/>
                          <a:latin typeface="Arial" panose="020B0604020202020204" pitchFamily="34" charset="0"/>
                          <a:ea typeface="Calibri" panose="020F0502020204030204" pitchFamily="34" charset="0"/>
                          <a:cs typeface="Arial" panose="020B0604020202020204" pitchFamily="34" charset="0"/>
                        </a:rPr>
                        <a:t>240</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200" baseline="0" dirty="0">
                          <a:effectLst/>
                          <a:latin typeface="Arial" panose="020B0604020202020204" pitchFamily="34" charset="0"/>
                          <a:ea typeface="Calibri" panose="020F0502020204030204" pitchFamily="34" charset="0"/>
                          <a:cs typeface="Arial" panose="020B0604020202020204" pitchFamily="34" charset="0"/>
                        </a:rPr>
                        <a:t>161</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200" baseline="0" dirty="0">
                          <a:effectLst/>
                          <a:latin typeface="Arial" panose="020B0604020202020204" pitchFamily="34" charset="0"/>
                          <a:ea typeface="Calibri" panose="020F0502020204030204" pitchFamily="34" charset="0"/>
                          <a:cs typeface="Arial" panose="020B0604020202020204" pitchFamily="34" charset="0"/>
                        </a:rPr>
                        <a:t>162</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200" baseline="0" dirty="0">
                          <a:effectLst/>
                          <a:latin typeface="Arial" panose="020B0604020202020204" pitchFamily="34" charset="0"/>
                          <a:ea typeface="Calibri" panose="020F0502020204030204" pitchFamily="34" charset="0"/>
                          <a:cs typeface="Arial" panose="020B0604020202020204" pitchFamily="34" charset="0"/>
                        </a:rPr>
                        <a:t>90</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extLst>
                  <a:ext uri="{0D108BD9-81ED-4DB2-BD59-A6C34878D82A}">
                    <a16:rowId xmlns:a16="http://schemas.microsoft.com/office/drawing/2014/main" val="2277721617"/>
                  </a:ext>
                </a:extLst>
              </a:tr>
            </a:tbl>
          </a:graphicData>
        </a:graphic>
      </p:graphicFrame>
      <p:sp>
        <p:nvSpPr>
          <p:cNvPr id="4" name="Content Placeholder 3">
            <a:extLst>
              <a:ext uri="{FF2B5EF4-FFF2-40B4-BE49-F238E27FC236}">
                <a16:creationId xmlns:a16="http://schemas.microsoft.com/office/drawing/2014/main" id="{33FE0165-4AD2-48B1-97B2-684ED0B7A7D3}"/>
              </a:ext>
            </a:extLst>
          </p:cNvPr>
          <p:cNvSpPr>
            <a:spLocks noGrp="1"/>
          </p:cNvSpPr>
          <p:nvPr>
            <p:ph sz="quarter" idx="15"/>
          </p:nvPr>
        </p:nvSpPr>
        <p:spPr>
          <a:xfrm>
            <a:off x="370938" y="5479754"/>
            <a:ext cx="3472028" cy="221018"/>
          </a:xfrm>
        </p:spPr>
        <p:txBody>
          <a:bodyPr wrap="square" lIns="0" tIns="18000" rIns="0" bIns="18000" anchor="ctr" anchorCtr="0">
            <a:spAutoFit/>
          </a:bodyPr>
          <a:lstStyle/>
          <a:p>
            <a:pPr marL="0" indent="0">
              <a:spcBef>
                <a:spcPts val="600"/>
              </a:spcBef>
              <a:buNone/>
            </a:pPr>
            <a:r>
              <a:rPr lang="en-US" sz="1200" b="1" dirty="0"/>
              <a:t>Sources: </a:t>
            </a:r>
            <a:r>
              <a:rPr lang="en-US" sz="1200" dirty="0"/>
              <a:t>Based on Hoovers company database at</a:t>
            </a:r>
            <a:endParaRPr lang="en-IN" sz="1200" dirty="0"/>
          </a:p>
        </p:txBody>
      </p:sp>
      <p:sp>
        <p:nvSpPr>
          <p:cNvPr id="6" name="Content Placeholder 5">
            <a:extLst>
              <a:ext uri="{FF2B5EF4-FFF2-40B4-BE49-F238E27FC236}">
                <a16:creationId xmlns:a16="http://schemas.microsoft.com/office/drawing/2014/main" id="{2E28CC65-F500-4D42-A687-11B4A09F7F39}"/>
              </a:ext>
            </a:extLst>
          </p:cNvPr>
          <p:cNvSpPr>
            <a:spLocks noGrp="1"/>
          </p:cNvSpPr>
          <p:nvPr>
            <p:ph sz="quarter" idx="16"/>
          </p:nvPr>
        </p:nvSpPr>
        <p:spPr>
          <a:xfrm>
            <a:off x="3881070" y="5475266"/>
            <a:ext cx="1348155" cy="221018"/>
          </a:xfrm>
        </p:spPr>
        <p:txBody>
          <a:bodyPr wrap="square" lIns="0" tIns="18000" rIns="0" bIns="18000" anchor="ctr" anchorCtr="0">
            <a:spAutoFit/>
          </a:bodyPr>
          <a:lstStyle/>
          <a:p>
            <a:pPr marL="0" indent="0">
              <a:buNone/>
            </a:pPr>
            <a:r>
              <a:rPr lang="en-US" sz="1200" dirty="0">
                <a:hlinkClick r:id="rId3" tooltip="www.hoovers.com"/>
              </a:rPr>
              <a:t>www.hoovers.com</a:t>
            </a:r>
            <a:endParaRPr lang="en-IN" sz="1200" dirty="0"/>
          </a:p>
        </p:txBody>
      </p:sp>
      <p:sp>
        <p:nvSpPr>
          <p:cNvPr id="7" name="Content Placeholder 6">
            <a:extLst>
              <a:ext uri="{FF2B5EF4-FFF2-40B4-BE49-F238E27FC236}">
                <a16:creationId xmlns:a16="http://schemas.microsoft.com/office/drawing/2014/main" id="{655DDC49-9FF6-4C06-94F1-78B1D602CCB7}"/>
              </a:ext>
            </a:extLst>
          </p:cNvPr>
          <p:cNvSpPr>
            <a:spLocks noGrp="1"/>
          </p:cNvSpPr>
          <p:nvPr>
            <p:ph sz="quarter" idx="17"/>
          </p:nvPr>
        </p:nvSpPr>
        <p:spPr>
          <a:xfrm>
            <a:off x="5259564" y="5475265"/>
            <a:ext cx="3408221" cy="221018"/>
          </a:xfrm>
        </p:spPr>
        <p:txBody>
          <a:bodyPr wrap="square" lIns="0" tIns="18000" rIns="0" bIns="18000" anchor="ctr" anchorCtr="0">
            <a:spAutoFit/>
          </a:bodyPr>
          <a:lstStyle/>
          <a:p>
            <a:pPr marL="0" indent="0">
              <a:buNone/>
            </a:pPr>
            <a:r>
              <a:rPr lang="en-US" sz="1200" dirty="0"/>
              <a:t>,2023; UNCTAD, “Web Table 19. The World’s Top</a:t>
            </a:r>
            <a:endParaRPr lang="en-IN" sz="1200" dirty="0"/>
          </a:p>
        </p:txBody>
      </p:sp>
      <p:sp>
        <p:nvSpPr>
          <p:cNvPr id="8" name="Content Placeholder 7">
            <a:extLst>
              <a:ext uri="{FF2B5EF4-FFF2-40B4-BE49-F238E27FC236}">
                <a16:creationId xmlns:a16="http://schemas.microsoft.com/office/drawing/2014/main" id="{ECAF79DB-E695-47FA-99AA-9551BAE120F8}"/>
              </a:ext>
            </a:extLst>
          </p:cNvPr>
          <p:cNvSpPr>
            <a:spLocks noGrp="1"/>
          </p:cNvSpPr>
          <p:nvPr>
            <p:ph sz="quarter" idx="18"/>
          </p:nvPr>
        </p:nvSpPr>
        <p:spPr>
          <a:xfrm>
            <a:off x="358775" y="5800773"/>
            <a:ext cx="4618038" cy="221018"/>
          </a:xfrm>
        </p:spPr>
        <p:txBody>
          <a:bodyPr wrap="square" lIns="0" tIns="18000" rIns="0" bIns="18000" anchor="ctr" anchorCtr="0">
            <a:spAutoFit/>
          </a:bodyPr>
          <a:lstStyle/>
          <a:p>
            <a:pPr marL="0" indent="0">
              <a:buNone/>
            </a:pPr>
            <a:r>
              <a:rPr lang="en-US" sz="1200" dirty="0"/>
              <a:t>100 Non-Financial MNEs, Ranked by Foreign Assets,” June 9, 2022,</a:t>
            </a:r>
            <a:endParaRPr lang="en-IN" sz="1200" dirty="0"/>
          </a:p>
        </p:txBody>
      </p:sp>
      <p:sp>
        <p:nvSpPr>
          <p:cNvPr id="9" name="Content Placeholder 8">
            <a:extLst>
              <a:ext uri="{FF2B5EF4-FFF2-40B4-BE49-F238E27FC236}">
                <a16:creationId xmlns:a16="http://schemas.microsoft.com/office/drawing/2014/main" id="{60A8F178-225D-46A7-9433-69EAE1146BEF}"/>
              </a:ext>
            </a:extLst>
          </p:cNvPr>
          <p:cNvSpPr>
            <a:spLocks noGrp="1"/>
          </p:cNvSpPr>
          <p:nvPr>
            <p:ph sz="quarter" idx="19"/>
          </p:nvPr>
        </p:nvSpPr>
        <p:spPr>
          <a:xfrm>
            <a:off x="5013483" y="5796010"/>
            <a:ext cx="1111091" cy="221018"/>
          </a:xfrm>
        </p:spPr>
        <p:txBody>
          <a:bodyPr wrap="square" lIns="0" tIns="18000" rIns="0" bIns="18000" anchor="ctr" anchorCtr="0">
            <a:spAutoFit/>
          </a:bodyPr>
          <a:lstStyle/>
          <a:p>
            <a:pPr marL="0" indent="0">
              <a:buNone/>
            </a:pPr>
            <a:r>
              <a:rPr lang="en-US" sz="1200" dirty="0">
                <a:hlinkClick r:id="rId4" tooltip="www.unctad.org"/>
              </a:rPr>
              <a:t>www.unctad.org</a:t>
            </a:r>
            <a:endParaRPr lang="en-IN" sz="1200" dirty="0"/>
          </a:p>
        </p:txBody>
      </p:sp>
      <p:sp>
        <p:nvSpPr>
          <p:cNvPr id="10" name="Content Placeholder 9">
            <a:extLst>
              <a:ext uri="{FF2B5EF4-FFF2-40B4-BE49-F238E27FC236}">
                <a16:creationId xmlns:a16="http://schemas.microsoft.com/office/drawing/2014/main" id="{6C90027A-CA07-4AB9-9710-EF64113F5611}"/>
              </a:ext>
            </a:extLst>
          </p:cNvPr>
          <p:cNvSpPr>
            <a:spLocks noGrp="1"/>
          </p:cNvSpPr>
          <p:nvPr>
            <p:ph sz="quarter" idx="20"/>
          </p:nvPr>
        </p:nvSpPr>
        <p:spPr>
          <a:xfrm>
            <a:off x="6165696" y="5800773"/>
            <a:ext cx="81365" cy="221018"/>
          </a:xfrm>
        </p:spPr>
        <p:txBody>
          <a:bodyPr wrap="square" lIns="0" tIns="18000" rIns="0" bIns="18000" anchor="ctr" anchorCtr="0">
            <a:spAutoFit/>
          </a:bodyPr>
          <a:lstStyle/>
          <a:p>
            <a:pPr marL="0" indent="0">
              <a:buNone/>
            </a:pPr>
            <a:r>
              <a:rPr lang="en-US" sz="1200" dirty="0"/>
              <a:t>.</a:t>
            </a:r>
            <a:endParaRPr lang="en-IN" sz="1200" dirty="0"/>
          </a:p>
        </p:txBody>
      </p:sp>
    </p:spTree>
    <p:extLst>
      <p:ext uri="{BB962C8B-B14F-4D97-AF65-F5344CB8AC3E}">
        <p14:creationId xmlns:p14="http://schemas.microsoft.com/office/powerpoint/2010/main" val="24575242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67550" y="118705"/>
            <a:ext cx="8344650" cy="590349"/>
          </a:xfrm>
        </p:spPr>
        <p:txBody>
          <a:bodyPr wrap="square" lIns="0" tIns="18000" rIns="0" bIns="18000" anchor="ctr" anchorCtr="0">
            <a:spAutoFit/>
          </a:bodyPr>
          <a:lstStyle/>
          <a:p>
            <a:r>
              <a:rPr lang="en-US" dirty="0"/>
              <a:t>Service Multinationals</a:t>
            </a:r>
            <a:endParaRPr lang="en-US" sz="28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67622" y="859997"/>
            <a:ext cx="5239548" cy="4991554"/>
          </a:xfrm>
        </p:spPr>
        <p:txBody>
          <a:bodyPr wrap="square" lIns="0" tIns="18000" rIns="0" bIns="18000" anchor="ctr" anchorCtr="0">
            <a:spAutoFit/>
          </a:bodyPr>
          <a:lstStyle/>
          <a:p>
            <a:pPr marL="342900" indent="-342900">
              <a:spcBef>
                <a:spcPts val="600"/>
              </a:spcBef>
            </a:pPr>
            <a:r>
              <a:rPr lang="en-US" sz="2400" dirty="0"/>
              <a:t>Firms that offer </a:t>
            </a:r>
            <a:r>
              <a:rPr lang="en-US" sz="2400" b="1" dirty="0"/>
              <a:t>services</a:t>
            </a:r>
            <a:r>
              <a:rPr lang="en-US" sz="2400" dirty="0"/>
              <a:t>—Such as lodging, construction, and personal care—must offer them when and where they are consumed.</a:t>
            </a:r>
          </a:p>
          <a:p>
            <a:pPr marL="342900" indent="-342900">
              <a:spcBef>
                <a:spcPts val="600"/>
              </a:spcBef>
            </a:pPr>
            <a:r>
              <a:rPr lang="en-US" sz="2400" dirty="0"/>
              <a:t>Service firms establish either a permanent presence via </a:t>
            </a:r>
            <a:r>
              <a:rPr lang="en-US" sz="2400" spc="-300" dirty="0"/>
              <a:t>F D </a:t>
            </a:r>
            <a:r>
              <a:rPr lang="en-US" sz="2400" dirty="0"/>
              <a:t>I (e.g., retailing), or a temporary relocation of personnel (e.g., construction industry).</a:t>
            </a:r>
          </a:p>
          <a:p>
            <a:pPr marL="342900" indent="-342900">
              <a:spcBef>
                <a:spcPts val="600"/>
              </a:spcBef>
            </a:pPr>
            <a:r>
              <a:rPr lang="en-US" sz="2400" dirty="0"/>
              <a:t>Many </a:t>
            </a:r>
            <a:r>
              <a:rPr lang="en-US" sz="2400" b="1" dirty="0"/>
              <a:t>support services</a:t>
            </a:r>
            <a:r>
              <a:rPr lang="en-US" sz="2400" dirty="0"/>
              <a:t>— Advertising, insurance, accounting, and package delivery are best provided at the customer’s location.</a:t>
            </a:r>
          </a:p>
        </p:txBody>
      </p:sp>
      <p:pic>
        <p:nvPicPr>
          <p:cNvPr id="4" name="Picture 3" descr="Two workers with headsets and computers at a help center.">
            <a:extLst>
              <a:ext uri="{FF2B5EF4-FFF2-40B4-BE49-F238E27FC236}">
                <a16:creationId xmlns:a16="http://schemas.microsoft.com/office/drawing/2014/main" id="{EA95440B-2B27-4133-81AE-67A72DAB0BD5}"/>
              </a:ext>
            </a:extLst>
          </p:cNvPr>
          <p:cNvPicPr>
            <a:picLocks noChangeAspect="1"/>
          </p:cNvPicPr>
          <p:nvPr/>
        </p:nvPicPr>
        <p:blipFill>
          <a:blip r:embed="rId3"/>
          <a:stretch>
            <a:fillRect/>
          </a:stretch>
        </p:blipFill>
        <p:spPr>
          <a:xfrm>
            <a:off x="6083351" y="1466221"/>
            <a:ext cx="2480948" cy="3459732"/>
          </a:xfrm>
          <a:prstGeom prst="rect">
            <a:avLst/>
          </a:prstGeom>
        </p:spPr>
      </p:pic>
    </p:spTree>
    <p:extLst>
      <p:ext uri="{BB962C8B-B14F-4D97-AF65-F5344CB8AC3E}">
        <p14:creationId xmlns:p14="http://schemas.microsoft.com/office/powerpoint/2010/main" val="32352626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38" y="220053"/>
            <a:ext cx="8341262" cy="898126"/>
          </a:xfrm>
        </p:spPr>
        <p:txBody>
          <a:bodyPr wrap="square" lIns="0" tIns="18000" rIns="0" bIns="18000" anchor="ctr" anchorCtr="0">
            <a:spAutoFit/>
          </a:bodyPr>
          <a:lstStyle/>
          <a:p>
            <a:r>
              <a:rPr lang="en-US" sz="2800" dirty="0"/>
              <a:t>World’s Most International </a:t>
            </a:r>
            <a:r>
              <a:rPr lang="en-US" sz="2800" spc="-400" dirty="0"/>
              <a:t>M N E </a:t>
            </a:r>
            <a:r>
              <a:rPr lang="en-US" sz="2800" dirty="0"/>
              <a:t>s in the Services Sector, Based on Value of Foreign Assets</a:t>
            </a:r>
            <a:endParaRPr lang="en-US" sz="28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4955159" y="1475504"/>
            <a:ext cx="1725764" cy="405683"/>
          </a:xfrm>
        </p:spPr>
        <p:txBody>
          <a:bodyPr wrap="square" lIns="0" tIns="18000" rIns="0" bIns="18000" anchor="ctr" anchorCtr="0">
            <a:spAutoFit/>
          </a:bodyPr>
          <a:lstStyle/>
          <a:p>
            <a:pPr marL="0" indent="0">
              <a:spcBef>
                <a:spcPts val="600"/>
              </a:spcBef>
              <a:buNone/>
            </a:pPr>
            <a:r>
              <a:rPr lang="en-US" sz="1200" b="1" dirty="0"/>
              <a:t>Approximate Assets (billions of U.S. dollars)</a:t>
            </a:r>
            <a:endParaRPr lang="en-IN" sz="1200" dirty="0"/>
          </a:p>
        </p:txBody>
      </p:sp>
      <p:sp>
        <p:nvSpPr>
          <p:cNvPr id="3" name="Content Placeholder 2">
            <a:extLst>
              <a:ext uri="{FF2B5EF4-FFF2-40B4-BE49-F238E27FC236}">
                <a16:creationId xmlns:a16="http://schemas.microsoft.com/office/drawing/2014/main" id="{3E8A1C2A-C383-4E5A-BF78-492E3F1F600B}"/>
              </a:ext>
            </a:extLst>
          </p:cNvPr>
          <p:cNvSpPr>
            <a:spLocks noGrp="1"/>
          </p:cNvSpPr>
          <p:nvPr>
            <p:ph sz="quarter" idx="14"/>
          </p:nvPr>
        </p:nvSpPr>
        <p:spPr>
          <a:xfrm>
            <a:off x="6870851" y="1472729"/>
            <a:ext cx="1725764" cy="405683"/>
          </a:xfrm>
        </p:spPr>
        <p:txBody>
          <a:bodyPr wrap="square" lIns="0" tIns="18000" rIns="0" bIns="18000" anchor="ctr" anchorCtr="0">
            <a:spAutoFit/>
          </a:bodyPr>
          <a:lstStyle/>
          <a:p>
            <a:pPr marL="0" indent="0">
              <a:spcBef>
                <a:spcPts val="600"/>
              </a:spcBef>
              <a:buNone/>
            </a:pPr>
            <a:r>
              <a:rPr lang="en-US" sz="1200" b="1" dirty="0"/>
              <a:t>Approximate Sales (billions of U.S. dollars)</a:t>
            </a:r>
          </a:p>
        </p:txBody>
      </p:sp>
      <p:graphicFrame>
        <p:nvGraphicFramePr>
          <p:cNvPr id="12" name="Table 11">
            <a:extLst>
              <a:ext uri="{FF2B5EF4-FFF2-40B4-BE49-F238E27FC236}">
                <a16:creationId xmlns:a16="http://schemas.microsoft.com/office/drawing/2014/main" id="{05C943A4-3E17-42C1-A987-672890AD54BE}"/>
              </a:ext>
            </a:extLst>
          </p:cNvPr>
          <p:cNvGraphicFramePr>
            <a:graphicFrameLocks noGrp="1"/>
          </p:cNvGraphicFramePr>
          <p:nvPr>
            <p:extLst>
              <p:ext uri="{D42A27DB-BD31-4B8C-83A1-F6EECF244321}">
                <p14:modId xmlns:p14="http://schemas.microsoft.com/office/powerpoint/2010/main" val="719497615"/>
              </p:ext>
            </p:extLst>
          </p:nvPr>
        </p:nvGraphicFramePr>
        <p:xfrm>
          <a:off x="460646" y="1975447"/>
          <a:ext cx="8225676" cy="3789211"/>
        </p:xfrm>
        <a:graphic>
          <a:graphicData uri="http://schemas.openxmlformats.org/drawingml/2006/table">
            <a:tbl>
              <a:tblPr firstRow="1" bandRow="1">
                <a:tableStyleId>{2D5ABB26-0587-4C30-8999-92F81FD0307C}</a:tableStyleId>
              </a:tblPr>
              <a:tblGrid>
                <a:gridCol w="1160517">
                  <a:extLst>
                    <a:ext uri="{9D8B030D-6E8A-4147-A177-3AD203B41FA5}">
                      <a16:colId xmlns:a16="http://schemas.microsoft.com/office/drawing/2014/main" val="2141376984"/>
                    </a:ext>
                  </a:extLst>
                </a:gridCol>
                <a:gridCol w="1449841">
                  <a:extLst>
                    <a:ext uri="{9D8B030D-6E8A-4147-A177-3AD203B41FA5}">
                      <a16:colId xmlns:a16="http://schemas.microsoft.com/office/drawing/2014/main" val="145072175"/>
                    </a:ext>
                  </a:extLst>
                </a:gridCol>
                <a:gridCol w="2113471">
                  <a:extLst>
                    <a:ext uri="{9D8B030D-6E8A-4147-A177-3AD203B41FA5}">
                      <a16:colId xmlns:a16="http://schemas.microsoft.com/office/drawing/2014/main" val="4256329658"/>
                    </a:ext>
                  </a:extLst>
                </a:gridCol>
                <a:gridCol w="948906">
                  <a:extLst>
                    <a:ext uri="{9D8B030D-6E8A-4147-A177-3AD203B41FA5}">
                      <a16:colId xmlns:a16="http://schemas.microsoft.com/office/drawing/2014/main" val="386096174"/>
                    </a:ext>
                  </a:extLst>
                </a:gridCol>
                <a:gridCol w="957532">
                  <a:extLst>
                    <a:ext uri="{9D8B030D-6E8A-4147-A177-3AD203B41FA5}">
                      <a16:colId xmlns:a16="http://schemas.microsoft.com/office/drawing/2014/main" val="101926082"/>
                    </a:ext>
                  </a:extLst>
                </a:gridCol>
                <a:gridCol w="663373">
                  <a:extLst>
                    <a:ext uri="{9D8B030D-6E8A-4147-A177-3AD203B41FA5}">
                      <a16:colId xmlns:a16="http://schemas.microsoft.com/office/drawing/2014/main" val="1772731744"/>
                    </a:ext>
                  </a:extLst>
                </a:gridCol>
                <a:gridCol w="932036">
                  <a:extLst>
                    <a:ext uri="{9D8B030D-6E8A-4147-A177-3AD203B41FA5}">
                      <a16:colId xmlns:a16="http://schemas.microsoft.com/office/drawing/2014/main" val="3102472519"/>
                    </a:ext>
                  </a:extLst>
                </a:gridCol>
              </a:tblGrid>
              <a:tr h="501772">
                <a:tc>
                  <a:txBody>
                    <a:bodyPr/>
                    <a:lstStyle/>
                    <a:p>
                      <a:pPr algn="ctr">
                        <a:lnSpc>
                          <a:spcPct val="100000"/>
                        </a:lnSpc>
                        <a:spcAft>
                          <a:spcPts val="0"/>
                        </a:spcAft>
                      </a:pPr>
                      <a:r>
                        <a:rPr lang="en-US" sz="1600" b="1" baseline="0" noProof="0">
                          <a:solidFill>
                            <a:schemeClr val="bg1"/>
                          </a:solidFill>
                          <a:effectLst/>
                          <a:latin typeface="Arial" panose="020B0604020202020204" pitchFamily="34" charset="0"/>
                          <a:cs typeface="Arial" panose="020B0604020202020204" pitchFamily="34" charset="0"/>
                        </a:rPr>
                        <a:t>Company</a:t>
                      </a:r>
                      <a:endParaRPr lang="en-US" sz="1600" b="1" baseline="0" noProof="0">
                        <a:solidFill>
                          <a:schemeClr val="bg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lnSpc>
                          <a:spcPct val="100000"/>
                        </a:lnSpc>
                        <a:spcAft>
                          <a:spcPts val="0"/>
                        </a:spcAft>
                      </a:pPr>
                      <a:r>
                        <a:rPr lang="en-US" sz="1600" b="1" baseline="0" noProof="0">
                          <a:solidFill>
                            <a:schemeClr val="bg1"/>
                          </a:solidFill>
                          <a:effectLst/>
                          <a:latin typeface="Arial" panose="020B0604020202020204" pitchFamily="34" charset="0"/>
                          <a:cs typeface="Arial" panose="020B0604020202020204" pitchFamily="34" charset="0"/>
                        </a:rPr>
                        <a:t>Home Country</a:t>
                      </a:r>
                      <a:endParaRPr lang="en-US" sz="1600" b="1" baseline="0" noProof="0">
                        <a:solidFill>
                          <a:schemeClr val="bg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lnSpc>
                          <a:spcPct val="100000"/>
                        </a:lnSpc>
                        <a:spcAft>
                          <a:spcPts val="0"/>
                        </a:spcAft>
                      </a:pPr>
                      <a:r>
                        <a:rPr lang="en-US" sz="1600" b="1" baseline="0" noProof="0">
                          <a:solidFill>
                            <a:schemeClr val="bg1"/>
                          </a:solidFill>
                          <a:effectLst/>
                          <a:latin typeface="Arial" panose="020B0604020202020204" pitchFamily="34" charset="0"/>
                          <a:cs typeface="Arial" panose="020B0604020202020204" pitchFamily="34" charset="0"/>
                        </a:rPr>
                        <a:t>Industry</a:t>
                      </a:r>
                      <a:endParaRPr lang="en-US" sz="1600" b="1" baseline="0" noProof="0">
                        <a:solidFill>
                          <a:schemeClr val="bg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lnSpc>
                          <a:spcPct val="100000"/>
                        </a:lnSpc>
                        <a:spcAft>
                          <a:spcPts val="0"/>
                        </a:spcAft>
                      </a:pPr>
                      <a:r>
                        <a:rPr lang="en-US" sz="1600" b="1" baseline="0" noProof="0">
                          <a:solidFill>
                            <a:schemeClr val="bg1"/>
                          </a:solidFill>
                          <a:effectLst/>
                          <a:latin typeface="Arial" panose="020B0604020202020204" pitchFamily="34" charset="0"/>
                          <a:cs typeface="Arial" panose="020B0604020202020204" pitchFamily="34" charset="0"/>
                        </a:rPr>
                        <a:t>Total</a:t>
                      </a:r>
                      <a:endParaRPr lang="en-US" sz="1600" b="1" baseline="0" noProof="0">
                        <a:solidFill>
                          <a:schemeClr val="bg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lnSpc>
                          <a:spcPct val="100000"/>
                        </a:lnSpc>
                        <a:spcAft>
                          <a:spcPts val="0"/>
                        </a:spcAft>
                      </a:pPr>
                      <a:r>
                        <a:rPr lang="en-US" sz="1600" b="1" baseline="0" noProof="0">
                          <a:solidFill>
                            <a:schemeClr val="bg1"/>
                          </a:solidFill>
                          <a:effectLst/>
                          <a:latin typeface="Arial" panose="020B0604020202020204" pitchFamily="34" charset="0"/>
                          <a:cs typeface="Arial" panose="020B0604020202020204" pitchFamily="34" charset="0"/>
                        </a:rPr>
                        <a:t>Foreign</a:t>
                      </a:r>
                      <a:endParaRPr lang="en-US" sz="1600" b="1" baseline="0" noProof="0">
                        <a:solidFill>
                          <a:schemeClr val="bg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lnSpc>
                          <a:spcPct val="100000"/>
                        </a:lnSpc>
                        <a:spcAft>
                          <a:spcPts val="0"/>
                        </a:spcAft>
                      </a:pPr>
                      <a:r>
                        <a:rPr lang="en-US" sz="1600" b="1" baseline="0" noProof="0">
                          <a:solidFill>
                            <a:schemeClr val="bg1"/>
                          </a:solidFill>
                          <a:effectLst/>
                          <a:latin typeface="Arial" panose="020B0604020202020204" pitchFamily="34" charset="0"/>
                          <a:ea typeface="Calibri" panose="020F0502020204030204" pitchFamily="34" charset="0"/>
                          <a:cs typeface="Arial" panose="020B0604020202020204" pitchFamily="34" charset="0"/>
                        </a:rPr>
                        <a:t>Total</a:t>
                      </a: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lnSpc>
                          <a:spcPct val="100000"/>
                        </a:lnSpc>
                        <a:spcAft>
                          <a:spcPts val="0"/>
                        </a:spcAft>
                      </a:pPr>
                      <a:r>
                        <a:rPr lang="en-US" sz="1600" b="1" baseline="0" noProof="0">
                          <a:solidFill>
                            <a:schemeClr val="bg1"/>
                          </a:solidFill>
                          <a:effectLst/>
                          <a:latin typeface="Arial" panose="020B0604020202020204" pitchFamily="34" charset="0"/>
                          <a:cs typeface="Arial" panose="020B0604020202020204" pitchFamily="34" charset="0"/>
                        </a:rPr>
                        <a:t>Foreign</a:t>
                      </a:r>
                      <a:endParaRPr lang="en-US" sz="1600" b="1" baseline="0" noProof="0">
                        <a:solidFill>
                          <a:schemeClr val="bg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4076458570"/>
                  </a:ext>
                </a:extLst>
              </a:tr>
              <a:tr h="501772">
                <a:tc>
                  <a:txBody>
                    <a:bodyPr/>
                    <a:lstStyle/>
                    <a:p>
                      <a:pPr>
                        <a:lnSpc>
                          <a:spcPct val="100000"/>
                        </a:lnSpc>
                        <a:spcAft>
                          <a:spcPts val="800"/>
                        </a:spcAft>
                      </a:pPr>
                      <a:r>
                        <a:rPr lang="en-US" sz="1600" baseline="0" noProof="0">
                          <a:latin typeface="Arial" panose="020B0604020202020204" pitchFamily="34" charset="0"/>
                          <a:cs typeface="Arial" panose="020B0604020202020204" pitchFamily="34" charset="0"/>
                        </a:rPr>
                        <a:t>Deutsche Telekom</a:t>
                      </a:r>
                      <a:endParaRPr lang="en-US" sz="1600" baseline="0" noProof="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600" baseline="0" noProof="0">
                          <a:effectLst/>
                          <a:latin typeface="Arial" panose="020B0604020202020204" pitchFamily="34" charset="0"/>
                          <a:ea typeface="Calibri" panose="020F0502020204030204" pitchFamily="34" charset="0"/>
                          <a:cs typeface="Arial" panose="020B0604020202020204" pitchFamily="34" charset="0"/>
                        </a:rPr>
                        <a:t>Germany</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600" baseline="0" noProof="0">
                          <a:effectLst/>
                          <a:latin typeface="Arial" panose="020B0604020202020204" pitchFamily="34" charset="0"/>
                          <a:ea typeface="Calibri" panose="020F0502020204030204" pitchFamily="34" charset="0"/>
                          <a:cs typeface="Arial" panose="020B0604020202020204" pitchFamily="34" charset="0"/>
                        </a:rPr>
                        <a:t>Telecommunications </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600" baseline="0" noProof="0">
                          <a:effectLst/>
                          <a:latin typeface="Arial" panose="020B0604020202020204" pitchFamily="34" charset="0"/>
                          <a:ea typeface="Calibri" panose="020F0502020204030204" pitchFamily="34" charset="0"/>
                          <a:cs typeface="Arial" panose="020B0604020202020204" pitchFamily="34" charset="0"/>
                        </a:rPr>
                        <a:t>319</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600" baseline="0" noProof="0">
                          <a:effectLst/>
                          <a:latin typeface="Arial" panose="020B0604020202020204" pitchFamily="34" charset="0"/>
                          <a:ea typeface="Calibri" panose="020F0502020204030204" pitchFamily="34" charset="0"/>
                          <a:cs typeface="Arial" panose="020B0604020202020204" pitchFamily="34" charset="0"/>
                        </a:rPr>
                        <a:t>259</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600" baseline="0" noProof="0">
                          <a:effectLst/>
                          <a:latin typeface="Arial" panose="020B0604020202020204" pitchFamily="34" charset="0"/>
                          <a:ea typeface="Calibri" panose="020F0502020204030204" pitchFamily="34" charset="0"/>
                          <a:cs typeface="Arial" panose="020B0604020202020204" pitchFamily="34" charset="0"/>
                        </a:rPr>
                        <a:t>129</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600" baseline="0" noProof="0">
                          <a:effectLst/>
                          <a:latin typeface="Arial" panose="020B0604020202020204" pitchFamily="34" charset="0"/>
                          <a:ea typeface="Calibri" panose="020F0502020204030204" pitchFamily="34" charset="0"/>
                          <a:cs typeface="Arial" panose="020B0604020202020204" pitchFamily="34" charset="0"/>
                        </a:rPr>
                        <a:t>99</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extLst>
                  <a:ext uri="{0D108BD9-81ED-4DB2-BD59-A6C34878D82A}">
                    <a16:rowId xmlns:a16="http://schemas.microsoft.com/office/drawing/2014/main" val="3428849900"/>
                  </a:ext>
                </a:extLst>
              </a:tr>
              <a:tr h="250886">
                <a:tc>
                  <a:txBody>
                    <a:bodyPr/>
                    <a:lstStyle/>
                    <a:p>
                      <a:pPr>
                        <a:lnSpc>
                          <a:spcPct val="100000"/>
                        </a:lnSpc>
                        <a:spcAft>
                          <a:spcPts val="800"/>
                        </a:spcAft>
                      </a:pPr>
                      <a:r>
                        <a:rPr lang="en-US" sz="1600" baseline="0" noProof="0">
                          <a:effectLst/>
                          <a:latin typeface="Arial" panose="020B0604020202020204" pitchFamily="34" charset="0"/>
                          <a:ea typeface="Calibri" panose="020F0502020204030204" pitchFamily="34" charset="0"/>
                          <a:cs typeface="Arial" panose="020B0604020202020204" pitchFamily="34" charset="0"/>
                        </a:rPr>
                        <a:t>Enel</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600" baseline="0" noProof="0">
                          <a:effectLst/>
                          <a:latin typeface="Arial" panose="020B0604020202020204" pitchFamily="34" charset="0"/>
                          <a:ea typeface="Calibri" panose="020F0502020204030204" pitchFamily="34" charset="0"/>
                          <a:cs typeface="Arial" panose="020B0604020202020204" pitchFamily="34" charset="0"/>
                        </a:rPr>
                        <a:t>Italy</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600" baseline="0" noProof="0">
                          <a:effectLst/>
                          <a:latin typeface="Arial" panose="020B0604020202020204" pitchFamily="34" charset="0"/>
                          <a:ea typeface="Calibri" panose="020F0502020204030204" pitchFamily="34" charset="0"/>
                          <a:cs typeface="Arial" panose="020B0604020202020204" pitchFamily="34" charset="0"/>
                        </a:rPr>
                        <a:t>Utilities</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600" baseline="0" noProof="0">
                          <a:effectLst/>
                          <a:latin typeface="Arial" panose="020B0604020202020204" pitchFamily="34" charset="0"/>
                          <a:ea typeface="Calibri" panose="020F0502020204030204" pitchFamily="34" charset="0"/>
                          <a:cs typeface="Arial" panose="020B0604020202020204" pitchFamily="34" charset="0"/>
                        </a:rPr>
                        <a:t>234</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600" baseline="0" noProof="0">
                          <a:effectLst/>
                          <a:latin typeface="Arial" panose="020B0604020202020204" pitchFamily="34" charset="0"/>
                          <a:ea typeface="Calibri" panose="020F0502020204030204" pitchFamily="34" charset="0"/>
                          <a:cs typeface="Arial" panose="020B0604020202020204" pitchFamily="34" charset="0"/>
                        </a:rPr>
                        <a:t>166</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600" baseline="0" noProof="0">
                          <a:effectLst/>
                          <a:latin typeface="Arial" panose="020B0604020202020204" pitchFamily="34" charset="0"/>
                          <a:ea typeface="Calibri" panose="020F0502020204030204" pitchFamily="34" charset="0"/>
                          <a:cs typeface="Arial" panose="020B0604020202020204" pitchFamily="34" charset="0"/>
                        </a:rPr>
                        <a:t>99</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600" baseline="0" noProof="0">
                          <a:effectLst/>
                          <a:latin typeface="Arial" panose="020B0604020202020204" pitchFamily="34" charset="0"/>
                          <a:ea typeface="Calibri" panose="020F0502020204030204" pitchFamily="34" charset="0"/>
                          <a:cs typeface="Arial" panose="020B0604020202020204" pitchFamily="34" charset="0"/>
                        </a:rPr>
                        <a:t>48</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extLst>
                  <a:ext uri="{0D108BD9-81ED-4DB2-BD59-A6C34878D82A}">
                    <a16:rowId xmlns:a16="http://schemas.microsoft.com/office/drawing/2014/main" val="563113303"/>
                  </a:ext>
                </a:extLst>
              </a:tr>
              <a:tr h="250886">
                <a:tc>
                  <a:txBody>
                    <a:bodyPr/>
                    <a:lstStyle/>
                    <a:p>
                      <a:pPr>
                        <a:lnSpc>
                          <a:spcPct val="100000"/>
                        </a:lnSpc>
                        <a:spcAft>
                          <a:spcPts val="800"/>
                        </a:spcAft>
                      </a:pPr>
                      <a:r>
                        <a:rPr lang="en-US" sz="1600" baseline="0" noProof="0">
                          <a:effectLst/>
                          <a:latin typeface="Arial" panose="020B0604020202020204" pitchFamily="34" charset="0"/>
                          <a:ea typeface="Calibri" panose="020F0502020204030204" pitchFamily="34" charset="0"/>
                          <a:cs typeface="Arial" panose="020B0604020202020204" pitchFamily="34" charset="0"/>
                        </a:rPr>
                        <a:t>EDF</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600" baseline="0" noProof="0">
                          <a:effectLst/>
                          <a:latin typeface="Arial" panose="020B0604020202020204" pitchFamily="34" charset="0"/>
                          <a:ea typeface="Calibri" panose="020F0502020204030204" pitchFamily="34" charset="0"/>
                          <a:cs typeface="Arial" panose="020B0604020202020204" pitchFamily="34" charset="0"/>
                        </a:rPr>
                        <a:t>France</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600" b="0" i="0" u="none" strike="noStrike" cap="none" baseline="0" noProof="0">
                          <a:solidFill>
                            <a:schemeClr val="tx1"/>
                          </a:solidFill>
                          <a:effectLst/>
                          <a:latin typeface="Arial" panose="020B0604020202020204" pitchFamily="34" charset="0"/>
                          <a:ea typeface="Calibri" panose="020F0502020204030204" pitchFamily="34" charset="0"/>
                          <a:cs typeface="Arial" panose="020B0604020202020204" pitchFamily="34" charset="0"/>
                          <a:sym typeface="Arial"/>
                        </a:rPr>
                        <a:t>Utilities</a:t>
                      </a:r>
                      <a:endParaRPr lang="en-US" sz="1600" baseline="0" noProof="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600" baseline="0" noProof="0">
                          <a:effectLst/>
                          <a:latin typeface="Arial" panose="020B0604020202020204" pitchFamily="34" charset="0"/>
                          <a:ea typeface="Calibri" panose="020F0502020204030204" pitchFamily="34" charset="0"/>
                          <a:cs typeface="Arial" panose="020B0604020202020204" pitchFamily="34" charset="0"/>
                        </a:rPr>
                        <a:t>409</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600" baseline="0" noProof="0">
                          <a:effectLst/>
                          <a:latin typeface="Arial" panose="020B0604020202020204" pitchFamily="34" charset="0"/>
                          <a:ea typeface="Calibri" panose="020F0502020204030204" pitchFamily="34" charset="0"/>
                          <a:cs typeface="Arial" panose="020B0604020202020204" pitchFamily="34" charset="0"/>
                        </a:rPr>
                        <a:t>160</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600" baseline="0" noProof="0">
                          <a:effectLst/>
                          <a:latin typeface="Arial" panose="020B0604020202020204" pitchFamily="34" charset="0"/>
                          <a:ea typeface="Calibri" panose="020F0502020204030204" pitchFamily="34" charset="0"/>
                          <a:cs typeface="Arial" panose="020B0604020202020204" pitchFamily="34" charset="0"/>
                        </a:rPr>
                        <a:t>100</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600" baseline="0" noProof="0">
                          <a:effectLst/>
                          <a:latin typeface="Arial" panose="020B0604020202020204" pitchFamily="34" charset="0"/>
                          <a:ea typeface="Calibri" panose="020F0502020204030204" pitchFamily="34" charset="0"/>
                          <a:cs typeface="Arial" panose="020B0604020202020204" pitchFamily="34" charset="0"/>
                        </a:rPr>
                        <a:t>42</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extLst>
                  <a:ext uri="{0D108BD9-81ED-4DB2-BD59-A6C34878D82A}">
                    <a16:rowId xmlns:a16="http://schemas.microsoft.com/office/drawing/2014/main" val="2159397716"/>
                  </a:ext>
                </a:extLst>
              </a:tr>
              <a:tr h="501772">
                <a:tc>
                  <a:txBody>
                    <a:bodyPr/>
                    <a:lstStyle/>
                    <a:p>
                      <a:pPr>
                        <a:lnSpc>
                          <a:spcPct val="100000"/>
                        </a:lnSpc>
                        <a:spcAft>
                          <a:spcPts val="800"/>
                        </a:spcAft>
                      </a:pPr>
                      <a:r>
                        <a:rPr lang="en-US" sz="1600" baseline="0" noProof="0">
                          <a:effectLst/>
                          <a:latin typeface="Arial" panose="020B0604020202020204" pitchFamily="34" charset="0"/>
                          <a:ea typeface="Calibri" panose="020F0502020204030204" pitchFamily="34" charset="0"/>
                          <a:cs typeface="Arial" panose="020B0604020202020204" pitchFamily="34" charset="0"/>
                        </a:rPr>
                        <a:t>Vodafone</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600" baseline="0" noProof="0">
                          <a:effectLst/>
                          <a:latin typeface="Arial" panose="020B0604020202020204" pitchFamily="34" charset="0"/>
                          <a:ea typeface="Calibri" panose="020F0502020204030204" pitchFamily="34" charset="0"/>
                          <a:cs typeface="Arial" panose="020B0604020202020204" pitchFamily="34" charset="0"/>
                        </a:rPr>
                        <a:t>United Kingdom </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600" b="0" i="0" u="none" strike="noStrike" cap="none" baseline="0" noProof="0" dirty="0">
                          <a:solidFill>
                            <a:schemeClr val="tx1"/>
                          </a:solidFill>
                          <a:effectLst/>
                          <a:latin typeface="Arial" panose="020B0604020202020204" pitchFamily="34" charset="0"/>
                          <a:ea typeface="Calibri" panose="020F0502020204030204" pitchFamily="34" charset="0"/>
                          <a:cs typeface="Arial" panose="020B0604020202020204" pitchFamily="34" charset="0"/>
                          <a:sym typeface="Arial"/>
                        </a:rPr>
                        <a:t>Telecommunications </a:t>
                      </a:r>
                      <a:endParaRPr lang="en-US" sz="1600" baseline="0" noProof="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600" baseline="0" noProof="0">
                          <a:effectLst/>
                          <a:latin typeface="Arial" panose="020B0604020202020204" pitchFamily="34" charset="0"/>
                          <a:ea typeface="Calibri" panose="020F0502020204030204" pitchFamily="34" charset="0"/>
                          <a:cs typeface="Arial" panose="020B0604020202020204" pitchFamily="34" charset="0"/>
                        </a:rPr>
                        <a:t>171</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600" baseline="0" noProof="0">
                          <a:effectLst/>
                          <a:latin typeface="Arial" panose="020B0604020202020204" pitchFamily="34" charset="0"/>
                          <a:ea typeface="Calibri" panose="020F0502020204030204" pitchFamily="34" charset="0"/>
                          <a:cs typeface="Arial" panose="020B0604020202020204" pitchFamily="34" charset="0"/>
                        </a:rPr>
                        <a:t>156</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600" baseline="0" noProof="0">
                          <a:effectLst/>
                          <a:latin typeface="Arial" panose="020B0604020202020204" pitchFamily="34" charset="0"/>
                          <a:ea typeface="Calibri" panose="020F0502020204030204" pitchFamily="34" charset="0"/>
                          <a:cs typeface="Arial" panose="020B0604020202020204" pitchFamily="34" charset="0"/>
                        </a:rPr>
                        <a:t>53</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600" baseline="0" noProof="0">
                          <a:effectLst/>
                          <a:latin typeface="Arial" panose="020B0604020202020204" pitchFamily="34" charset="0"/>
                          <a:ea typeface="Calibri" panose="020F0502020204030204" pitchFamily="34" charset="0"/>
                          <a:cs typeface="Arial" panose="020B0604020202020204" pitchFamily="34" charset="0"/>
                        </a:rPr>
                        <a:t>46</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extLst>
                  <a:ext uri="{0D108BD9-81ED-4DB2-BD59-A6C34878D82A}">
                    <a16:rowId xmlns:a16="http://schemas.microsoft.com/office/drawing/2014/main" val="3825287350"/>
                  </a:ext>
                </a:extLst>
              </a:tr>
              <a:tr h="501772">
                <a:tc>
                  <a:txBody>
                    <a:bodyPr/>
                    <a:lstStyle/>
                    <a:p>
                      <a:pPr>
                        <a:lnSpc>
                          <a:spcPct val="100000"/>
                        </a:lnSpc>
                        <a:spcAft>
                          <a:spcPts val="800"/>
                        </a:spcAft>
                      </a:pPr>
                      <a:r>
                        <a:rPr lang="en-US" sz="1600" baseline="0" noProof="0">
                          <a:effectLst/>
                          <a:latin typeface="Arial" panose="020B0604020202020204" pitchFamily="34" charset="0"/>
                          <a:ea typeface="Calibri" panose="020F0502020204030204" pitchFamily="34" charset="0"/>
                          <a:cs typeface="Arial" panose="020B0604020202020204" pitchFamily="34" charset="0"/>
                        </a:rPr>
                        <a:t>CK Hutchinson</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600" baseline="0" noProof="0">
                          <a:effectLst/>
                          <a:latin typeface="Arial" panose="020B0604020202020204" pitchFamily="34" charset="0"/>
                          <a:ea typeface="Calibri" panose="020F0502020204030204" pitchFamily="34" charset="0"/>
                          <a:cs typeface="Arial" panose="020B0604020202020204" pitchFamily="34" charset="0"/>
                        </a:rPr>
                        <a:t>China</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600" baseline="0" noProof="0">
                          <a:effectLst/>
                          <a:latin typeface="Arial" panose="020B0604020202020204" pitchFamily="34" charset="0"/>
                          <a:ea typeface="Calibri" panose="020F0502020204030204" pitchFamily="34" charset="0"/>
                          <a:cs typeface="Arial" panose="020B0604020202020204" pitchFamily="34" charset="0"/>
                        </a:rPr>
                        <a:t>Retailing</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600" baseline="0" noProof="0">
                          <a:effectLst/>
                          <a:latin typeface="Arial" panose="020B0604020202020204" pitchFamily="34" charset="0"/>
                          <a:ea typeface="Calibri" panose="020F0502020204030204" pitchFamily="34" charset="0"/>
                          <a:cs typeface="Arial" panose="020B0604020202020204" pitchFamily="34" charset="0"/>
                        </a:rPr>
                        <a:t>156</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600" baseline="0" noProof="0">
                          <a:effectLst/>
                          <a:latin typeface="Arial" panose="020B0604020202020204" pitchFamily="34" charset="0"/>
                          <a:ea typeface="Calibri" panose="020F0502020204030204" pitchFamily="34" charset="0"/>
                          <a:cs typeface="Arial" panose="020B0604020202020204" pitchFamily="34" charset="0"/>
                        </a:rPr>
                        <a:t>148</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600" baseline="0" noProof="0">
                          <a:effectLst/>
                          <a:latin typeface="Arial" panose="020B0604020202020204" pitchFamily="34" charset="0"/>
                          <a:ea typeface="Calibri" panose="020F0502020204030204" pitchFamily="34" charset="0"/>
                          <a:cs typeface="Arial" panose="020B0604020202020204" pitchFamily="34" charset="0"/>
                        </a:rPr>
                        <a:t>57</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600" baseline="0" noProof="0">
                          <a:effectLst/>
                          <a:latin typeface="Arial" panose="020B0604020202020204" pitchFamily="34" charset="0"/>
                          <a:ea typeface="Calibri" panose="020F0502020204030204" pitchFamily="34" charset="0"/>
                          <a:cs typeface="Arial" panose="020B0604020202020204" pitchFamily="34" charset="0"/>
                        </a:rPr>
                        <a:t>52</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extLst>
                  <a:ext uri="{0D108BD9-81ED-4DB2-BD59-A6C34878D82A}">
                    <a16:rowId xmlns:a16="http://schemas.microsoft.com/office/drawing/2014/main" val="3235680259"/>
                  </a:ext>
                </a:extLst>
              </a:tr>
              <a:tr h="250886">
                <a:tc>
                  <a:txBody>
                    <a:bodyPr/>
                    <a:lstStyle/>
                    <a:p>
                      <a:pPr>
                        <a:lnSpc>
                          <a:spcPct val="100000"/>
                        </a:lnSpc>
                        <a:spcAft>
                          <a:spcPts val="800"/>
                        </a:spcAft>
                      </a:pPr>
                      <a:r>
                        <a:rPr lang="en-US" sz="1600" baseline="0" noProof="0">
                          <a:effectLst/>
                          <a:latin typeface="Arial" panose="020B0604020202020204" pitchFamily="34" charset="0"/>
                          <a:ea typeface="Calibri" panose="020F0502020204030204" pitchFamily="34" charset="0"/>
                          <a:cs typeface="Arial" panose="020B0604020202020204" pitchFamily="34" charset="0"/>
                        </a:rPr>
                        <a:t>Microsoft</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600" baseline="0" noProof="0">
                          <a:effectLst/>
                          <a:latin typeface="Arial" panose="020B0604020202020204" pitchFamily="34" charset="0"/>
                          <a:ea typeface="Calibri" panose="020F0502020204030204" pitchFamily="34" charset="0"/>
                          <a:cs typeface="Arial" panose="020B0604020202020204" pitchFamily="34" charset="0"/>
                        </a:rPr>
                        <a:t>United States </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600" b="0" i="0" u="none" strike="noStrike" cap="none" baseline="0" noProof="0">
                          <a:solidFill>
                            <a:schemeClr val="tx1"/>
                          </a:solidFill>
                          <a:effectLst/>
                          <a:latin typeface="Arial" panose="020B0604020202020204" pitchFamily="34" charset="0"/>
                          <a:ea typeface="Calibri" panose="020F0502020204030204" pitchFamily="34" charset="0"/>
                          <a:cs typeface="Arial" panose="020B0604020202020204" pitchFamily="34" charset="0"/>
                          <a:sym typeface="Arial"/>
                        </a:rPr>
                        <a:t>Data processing</a:t>
                      </a:r>
                      <a:endParaRPr lang="en-US" sz="1600" baseline="0" noProof="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600" baseline="0" noProof="0">
                          <a:effectLst/>
                          <a:latin typeface="Arial" panose="020B0604020202020204" pitchFamily="34" charset="0"/>
                          <a:ea typeface="Calibri" panose="020F0502020204030204" pitchFamily="34" charset="0"/>
                          <a:cs typeface="Arial" panose="020B0604020202020204" pitchFamily="34" charset="0"/>
                        </a:rPr>
                        <a:t>334</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600" baseline="0" noProof="0">
                          <a:effectLst/>
                          <a:latin typeface="Arial" panose="020B0604020202020204" pitchFamily="34" charset="0"/>
                          <a:ea typeface="Calibri" panose="020F0502020204030204" pitchFamily="34" charset="0"/>
                          <a:cs typeface="Arial" panose="020B0604020202020204" pitchFamily="34" charset="0"/>
                        </a:rPr>
                        <a:t>136</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600" baseline="0" noProof="0">
                          <a:effectLst/>
                          <a:latin typeface="Arial" panose="020B0604020202020204" pitchFamily="34" charset="0"/>
                          <a:ea typeface="Calibri" panose="020F0502020204030204" pitchFamily="34" charset="0"/>
                          <a:cs typeface="Arial" panose="020B0604020202020204" pitchFamily="34" charset="0"/>
                        </a:rPr>
                        <a:t>168</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600" baseline="0" noProof="0">
                          <a:effectLst/>
                          <a:latin typeface="Arial" panose="020B0604020202020204" pitchFamily="34" charset="0"/>
                          <a:ea typeface="Calibri" panose="020F0502020204030204" pitchFamily="34" charset="0"/>
                          <a:cs typeface="Arial" panose="020B0604020202020204" pitchFamily="34" charset="0"/>
                        </a:rPr>
                        <a:t>84</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extLst>
                  <a:ext uri="{0D108BD9-81ED-4DB2-BD59-A6C34878D82A}">
                    <a16:rowId xmlns:a16="http://schemas.microsoft.com/office/drawing/2014/main" val="1741578426"/>
                  </a:ext>
                </a:extLst>
              </a:tr>
              <a:tr h="276807">
                <a:tc>
                  <a:txBody>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lang="en-US" sz="1600" b="0" i="0" u="none" strike="noStrike" cap="none" baseline="0" noProof="0">
                          <a:solidFill>
                            <a:schemeClr val="tx1"/>
                          </a:solidFill>
                          <a:effectLst/>
                          <a:latin typeface="Arial" panose="020B0604020202020204" pitchFamily="34" charset="0"/>
                          <a:ea typeface="Calibri" panose="020F0502020204030204" pitchFamily="34" charset="0"/>
                          <a:cs typeface="Arial" panose="020B0604020202020204" pitchFamily="34" charset="0"/>
                          <a:sym typeface="Arial"/>
                        </a:rPr>
                        <a:t>RWE</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600" baseline="0" noProof="0">
                          <a:effectLst/>
                          <a:latin typeface="Arial" panose="020B0604020202020204" pitchFamily="34" charset="0"/>
                          <a:ea typeface="Calibri" panose="020F0502020204030204" pitchFamily="34" charset="0"/>
                          <a:cs typeface="Arial" panose="020B0604020202020204" pitchFamily="34" charset="0"/>
                        </a:rPr>
                        <a:t>Germany</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600" b="0" i="0" u="none" strike="noStrike" cap="none" baseline="0" noProof="0">
                          <a:solidFill>
                            <a:schemeClr val="tx1"/>
                          </a:solidFill>
                          <a:effectLst/>
                          <a:latin typeface="Arial" panose="020B0604020202020204" pitchFamily="34" charset="0"/>
                          <a:ea typeface="Calibri" panose="020F0502020204030204" pitchFamily="34" charset="0"/>
                          <a:cs typeface="Arial" panose="020B0604020202020204" pitchFamily="34" charset="0"/>
                          <a:sym typeface="Arial"/>
                        </a:rPr>
                        <a:t>Utilities</a:t>
                      </a:r>
                      <a:endParaRPr lang="en-US" sz="1600" baseline="0" noProof="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600" baseline="0" noProof="0">
                          <a:effectLst/>
                          <a:latin typeface="Arial" panose="020B0604020202020204" pitchFamily="34" charset="0"/>
                          <a:ea typeface="Calibri" panose="020F0502020204030204" pitchFamily="34" charset="0"/>
                          <a:cs typeface="Arial" panose="020B0604020202020204" pitchFamily="34" charset="0"/>
                        </a:rPr>
                        <a:t>161</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600" baseline="0" noProof="0">
                          <a:effectLst/>
                          <a:latin typeface="Arial" panose="020B0604020202020204" pitchFamily="34" charset="0"/>
                          <a:ea typeface="Calibri" panose="020F0502020204030204" pitchFamily="34" charset="0"/>
                          <a:cs typeface="Arial" panose="020B0604020202020204" pitchFamily="34" charset="0"/>
                        </a:rPr>
                        <a:t>130</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600" baseline="0" noProof="0">
                          <a:effectLst/>
                          <a:latin typeface="Arial" panose="020B0604020202020204" pitchFamily="34" charset="0"/>
                          <a:ea typeface="Calibri" panose="020F0502020204030204" pitchFamily="34" charset="0"/>
                          <a:cs typeface="Arial" panose="020B0604020202020204" pitchFamily="34" charset="0"/>
                        </a:rPr>
                        <a:t>29</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600" baseline="0" noProof="0">
                          <a:effectLst/>
                          <a:latin typeface="Arial" panose="020B0604020202020204" pitchFamily="34" charset="0"/>
                          <a:ea typeface="Calibri" panose="020F0502020204030204" pitchFamily="34" charset="0"/>
                          <a:cs typeface="Arial" panose="020B0604020202020204" pitchFamily="34" charset="0"/>
                        </a:rPr>
                        <a:t>18</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extLst>
                  <a:ext uri="{0D108BD9-81ED-4DB2-BD59-A6C34878D82A}">
                    <a16:rowId xmlns:a16="http://schemas.microsoft.com/office/drawing/2014/main" val="1178630137"/>
                  </a:ext>
                </a:extLst>
              </a:tr>
              <a:tr h="250886">
                <a:tc>
                  <a:txBody>
                    <a:bodyPr/>
                    <a:lstStyle/>
                    <a:p>
                      <a:pPr>
                        <a:lnSpc>
                          <a:spcPct val="100000"/>
                        </a:lnSpc>
                        <a:spcAft>
                          <a:spcPts val="800"/>
                        </a:spcAft>
                      </a:pPr>
                      <a:r>
                        <a:rPr lang="en-US" sz="1600" baseline="0" noProof="0">
                          <a:latin typeface="Arial" panose="020B0604020202020204" pitchFamily="34" charset="0"/>
                          <a:cs typeface="Arial" panose="020B0604020202020204" pitchFamily="34" charset="0"/>
                        </a:rPr>
                        <a:t>Iberdrola</a:t>
                      </a:r>
                      <a:endParaRPr lang="en-US" sz="1600" baseline="0" noProof="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600" baseline="0" noProof="0">
                          <a:effectLst/>
                          <a:latin typeface="Arial" panose="020B0604020202020204" pitchFamily="34" charset="0"/>
                          <a:ea typeface="Calibri" panose="020F0502020204030204" pitchFamily="34" charset="0"/>
                          <a:cs typeface="Arial" panose="020B0604020202020204" pitchFamily="34" charset="0"/>
                        </a:rPr>
                        <a:t>Spain</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600" b="0" i="0" u="none" strike="noStrike" cap="none" baseline="0" noProof="0">
                          <a:solidFill>
                            <a:schemeClr val="tx1"/>
                          </a:solidFill>
                          <a:effectLst/>
                          <a:latin typeface="Arial" panose="020B0604020202020204" pitchFamily="34" charset="0"/>
                          <a:ea typeface="Calibri" panose="020F0502020204030204" pitchFamily="34" charset="0"/>
                          <a:cs typeface="Arial" panose="020B0604020202020204" pitchFamily="34" charset="0"/>
                          <a:sym typeface="Arial"/>
                        </a:rPr>
                        <a:t>Utilities</a:t>
                      </a:r>
                      <a:endParaRPr lang="en-US" sz="1600" baseline="0" noProof="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600" baseline="0" noProof="0">
                          <a:effectLst/>
                          <a:latin typeface="Arial" panose="020B0604020202020204" pitchFamily="34" charset="0"/>
                          <a:ea typeface="Calibri" panose="020F0502020204030204" pitchFamily="34" charset="0"/>
                          <a:cs typeface="Arial" panose="020B0604020202020204" pitchFamily="34" charset="0"/>
                        </a:rPr>
                        <a:t>161</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600" baseline="0" noProof="0">
                          <a:effectLst/>
                          <a:latin typeface="Arial" panose="020B0604020202020204" pitchFamily="34" charset="0"/>
                          <a:ea typeface="Calibri" panose="020F0502020204030204" pitchFamily="34" charset="0"/>
                          <a:cs typeface="Arial" panose="020B0604020202020204" pitchFamily="34" charset="0"/>
                        </a:rPr>
                        <a:t>121</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600" baseline="0" noProof="0">
                          <a:effectLst/>
                          <a:latin typeface="Arial" panose="020B0604020202020204" pitchFamily="34" charset="0"/>
                          <a:ea typeface="Calibri" panose="020F0502020204030204" pitchFamily="34" charset="0"/>
                          <a:cs typeface="Arial" panose="020B0604020202020204" pitchFamily="34" charset="0"/>
                        </a:rPr>
                        <a:t>46</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600" baseline="0" noProof="0">
                          <a:effectLst/>
                          <a:latin typeface="Arial" panose="020B0604020202020204" pitchFamily="34" charset="0"/>
                          <a:ea typeface="Calibri" panose="020F0502020204030204" pitchFamily="34" charset="0"/>
                          <a:cs typeface="Arial" panose="020B0604020202020204" pitchFamily="34" charset="0"/>
                        </a:rPr>
                        <a:t>29</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extLst>
                  <a:ext uri="{0D108BD9-81ED-4DB2-BD59-A6C34878D82A}">
                    <a16:rowId xmlns:a16="http://schemas.microsoft.com/office/drawing/2014/main" val="3323528603"/>
                  </a:ext>
                </a:extLst>
              </a:tr>
              <a:tr h="250886">
                <a:tc>
                  <a:txBody>
                    <a:bodyPr/>
                    <a:lstStyle/>
                    <a:p>
                      <a:pPr>
                        <a:lnSpc>
                          <a:spcPct val="100000"/>
                        </a:lnSpc>
                        <a:spcAft>
                          <a:spcPts val="800"/>
                        </a:spcAft>
                      </a:pPr>
                      <a:r>
                        <a:rPr lang="en-US" sz="1600" baseline="0" noProof="0">
                          <a:effectLst/>
                          <a:latin typeface="Arial" panose="020B0604020202020204" pitchFamily="34" charset="0"/>
                          <a:ea typeface="Calibri" panose="020F0502020204030204" pitchFamily="34" charset="0"/>
                          <a:cs typeface="Arial" panose="020B0604020202020204" pitchFamily="34" charset="0"/>
                        </a:rPr>
                        <a:t>Alphabet</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600" baseline="0" noProof="0">
                          <a:effectLst/>
                          <a:latin typeface="Arial" panose="020B0604020202020204" pitchFamily="34" charset="0"/>
                          <a:ea typeface="Calibri" panose="020F0502020204030204" pitchFamily="34" charset="0"/>
                          <a:cs typeface="Arial" panose="020B0604020202020204" pitchFamily="34" charset="0"/>
                        </a:rPr>
                        <a:t>United States </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600" baseline="0" noProof="0">
                          <a:effectLst/>
                          <a:latin typeface="Arial" panose="020B0604020202020204" pitchFamily="34" charset="0"/>
                          <a:ea typeface="Calibri" panose="020F0502020204030204" pitchFamily="34" charset="0"/>
                          <a:cs typeface="Arial" panose="020B0604020202020204" pitchFamily="34" charset="0"/>
                        </a:rPr>
                        <a:t>Data processing</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600" baseline="0" noProof="0">
                          <a:effectLst/>
                          <a:latin typeface="Arial" panose="020B0604020202020204" pitchFamily="34" charset="0"/>
                          <a:ea typeface="Calibri" panose="020F0502020204030204" pitchFamily="34" charset="0"/>
                          <a:cs typeface="Arial" panose="020B0604020202020204" pitchFamily="34" charset="0"/>
                        </a:rPr>
                        <a:t>359</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600" baseline="0" noProof="0">
                          <a:effectLst/>
                          <a:latin typeface="Arial" panose="020B0604020202020204" pitchFamily="34" charset="0"/>
                          <a:ea typeface="Calibri" panose="020F0502020204030204" pitchFamily="34" charset="0"/>
                          <a:cs typeface="Arial" panose="020B0604020202020204" pitchFamily="34" charset="0"/>
                        </a:rPr>
                        <a:t>99</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600" baseline="0" noProof="0">
                          <a:effectLst/>
                          <a:latin typeface="Arial" panose="020B0604020202020204" pitchFamily="34" charset="0"/>
                          <a:ea typeface="Calibri" panose="020F0502020204030204" pitchFamily="34" charset="0"/>
                          <a:cs typeface="Arial" panose="020B0604020202020204" pitchFamily="34" charset="0"/>
                        </a:rPr>
                        <a:t>238</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600" baseline="0" noProof="0">
                          <a:effectLst/>
                          <a:latin typeface="Arial" panose="020B0604020202020204" pitchFamily="34" charset="0"/>
                          <a:ea typeface="Calibri" panose="020F0502020204030204" pitchFamily="34" charset="0"/>
                          <a:cs typeface="Arial" panose="020B0604020202020204" pitchFamily="34" charset="0"/>
                        </a:rPr>
                        <a:t>139</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extLst>
                  <a:ext uri="{0D108BD9-81ED-4DB2-BD59-A6C34878D82A}">
                    <a16:rowId xmlns:a16="http://schemas.microsoft.com/office/drawing/2014/main" val="943083060"/>
                  </a:ext>
                </a:extLst>
              </a:tr>
              <a:tr h="250886">
                <a:tc>
                  <a:txBody>
                    <a:bodyPr/>
                    <a:lstStyle/>
                    <a:p>
                      <a:pPr>
                        <a:lnSpc>
                          <a:spcPct val="100000"/>
                        </a:lnSpc>
                        <a:spcAft>
                          <a:spcPts val="800"/>
                        </a:spcAft>
                      </a:pPr>
                      <a:r>
                        <a:rPr lang="en-US" sz="1600" baseline="0" noProof="0">
                          <a:effectLst/>
                          <a:latin typeface="Arial" panose="020B0604020202020204" pitchFamily="34" charset="0"/>
                          <a:ea typeface="Calibri" panose="020F0502020204030204" pitchFamily="34" charset="0"/>
                          <a:cs typeface="Arial" panose="020B0604020202020204" pitchFamily="34" charset="0"/>
                        </a:rPr>
                        <a:t>Telefonica</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600" baseline="0" noProof="0">
                          <a:effectLst/>
                          <a:latin typeface="Arial" panose="020B0604020202020204" pitchFamily="34" charset="0"/>
                          <a:ea typeface="Calibri" panose="020F0502020204030204" pitchFamily="34" charset="0"/>
                          <a:cs typeface="Arial" panose="020B0604020202020204" pitchFamily="34" charset="0"/>
                        </a:rPr>
                        <a:t>Spain</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600" b="0" i="0" u="none" strike="noStrike" cap="none" baseline="0" noProof="0" dirty="0">
                          <a:solidFill>
                            <a:schemeClr val="tx1"/>
                          </a:solidFill>
                          <a:effectLst/>
                          <a:latin typeface="Arial" panose="020B0604020202020204" pitchFamily="34" charset="0"/>
                          <a:ea typeface="Calibri" panose="020F0502020204030204" pitchFamily="34" charset="0"/>
                          <a:cs typeface="Arial" panose="020B0604020202020204" pitchFamily="34" charset="0"/>
                          <a:sym typeface="Arial"/>
                        </a:rPr>
                        <a:t>Telecommunications </a:t>
                      </a:r>
                      <a:endParaRPr lang="en-US" sz="1600" baseline="0" noProof="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600" baseline="0" noProof="0">
                          <a:effectLst/>
                          <a:latin typeface="Arial" panose="020B0604020202020204" pitchFamily="34" charset="0"/>
                          <a:ea typeface="Calibri" panose="020F0502020204030204" pitchFamily="34" charset="0"/>
                          <a:cs typeface="Arial" panose="020B0604020202020204" pitchFamily="34" charset="0"/>
                        </a:rPr>
                        <a:t>124</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600" baseline="0" noProof="0">
                          <a:effectLst/>
                          <a:latin typeface="Arial" panose="020B0604020202020204" pitchFamily="34" charset="0"/>
                          <a:ea typeface="Calibri" panose="020F0502020204030204" pitchFamily="34" charset="0"/>
                          <a:cs typeface="Arial" panose="020B0604020202020204" pitchFamily="34" charset="0"/>
                        </a:rPr>
                        <a:t>95</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600" baseline="0" noProof="0">
                          <a:effectLst/>
                          <a:latin typeface="Arial" panose="020B0604020202020204" pitchFamily="34" charset="0"/>
                          <a:ea typeface="Calibri" panose="020F0502020204030204" pitchFamily="34" charset="0"/>
                          <a:cs typeface="Arial" panose="020B0604020202020204" pitchFamily="34" charset="0"/>
                        </a:rPr>
                        <a:t>46</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tc>
                  <a:txBody>
                    <a:bodyPr/>
                    <a:lstStyle/>
                    <a:p>
                      <a:pPr algn="ctr">
                        <a:lnSpc>
                          <a:spcPct val="100000"/>
                        </a:lnSpc>
                        <a:spcAft>
                          <a:spcPts val="800"/>
                        </a:spcAft>
                      </a:pPr>
                      <a:r>
                        <a:rPr lang="en-US" sz="1600" baseline="0" noProof="0" dirty="0">
                          <a:effectLst/>
                          <a:latin typeface="Arial" panose="020B0604020202020204" pitchFamily="34" charset="0"/>
                          <a:ea typeface="Calibri" panose="020F0502020204030204" pitchFamily="34" charset="0"/>
                          <a:cs typeface="Arial" panose="020B0604020202020204" pitchFamily="34" charset="0"/>
                        </a:rPr>
                        <a:t>32</a:t>
                      </a: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AE4"/>
                    </a:solidFill>
                  </a:tcPr>
                </a:tc>
                <a:extLst>
                  <a:ext uri="{0D108BD9-81ED-4DB2-BD59-A6C34878D82A}">
                    <a16:rowId xmlns:a16="http://schemas.microsoft.com/office/drawing/2014/main" val="2277721617"/>
                  </a:ext>
                </a:extLst>
              </a:tr>
            </a:tbl>
          </a:graphicData>
        </a:graphic>
      </p:graphicFrame>
      <p:sp>
        <p:nvSpPr>
          <p:cNvPr id="4" name="Content Placeholder 3">
            <a:extLst>
              <a:ext uri="{FF2B5EF4-FFF2-40B4-BE49-F238E27FC236}">
                <a16:creationId xmlns:a16="http://schemas.microsoft.com/office/drawing/2014/main" id="{33FE0165-4AD2-48B1-97B2-684ED0B7A7D3}"/>
              </a:ext>
            </a:extLst>
          </p:cNvPr>
          <p:cNvSpPr>
            <a:spLocks noGrp="1"/>
          </p:cNvSpPr>
          <p:nvPr>
            <p:ph sz="quarter" idx="15"/>
          </p:nvPr>
        </p:nvSpPr>
        <p:spPr>
          <a:xfrm>
            <a:off x="370938" y="5876568"/>
            <a:ext cx="3472028" cy="221018"/>
          </a:xfrm>
        </p:spPr>
        <p:txBody>
          <a:bodyPr wrap="square" lIns="0" tIns="18000" rIns="0" bIns="18000" anchor="ctr" anchorCtr="0">
            <a:spAutoFit/>
          </a:bodyPr>
          <a:lstStyle/>
          <a:p>
            <a:pPr marL="0" indent="0">
              <a:spcBef>
                <a:spcPts val="600"/>
              </a:spcBef>
              <a:buNone/>
            </a:pPr>
            <a:r>
              <a:rPr lang="en-US" sz="1200" b="1" dirty="0"/>
              <a:t>Sources: </a:t>
            </a:r>
            <a:r>
              <a:rPr lang="en-US" sz="1200" dirty="0"/>
              <a:t>Based on Hoovers company database at</a:t>
            </a:r>
            <a:endParaRPr lang="en-IN" sz="1200" dirty="0"/>
          </a:p>
        </p:txBody>
      </p:sp>
      <p:sp>
        <p:nvSpPr>
          <p:cNvPr id="6" name="Content Placeholder 5">
            <a:extLst>
              <a:ext uri="{FF2B5EF4-FFF2-40B4-BE49-F238E27FC236}">
                <a16:creationId xmlns:a16="http://schemas.microsoft.com/office/drawing/2014/main" id="{2E28CC65-F500-4D42-A687-11B4A09F7F39}"/>
              </a:ext>
            </a:extLst>
          </p:cNvPr>
          <p:cNvSpPr>
            <a:spLocks noGrp="1"/>
          </p:cNvSpPr>
          <p:nvPr>
            <p:ph sz="quarter" idx="16"/>
          </p:nvPr>
        </p:nvSpPr>
        <p:spPr>
          <a:xfrm>
            <a:off x="3881070" y="5872079"/>
            <a:ext cx="1276749" cy="221018"/>
          </a:xfrm>
        </p:spPr>
        <p:txBody>
          <a:bodyPr wrap="square" lIns="0" tIns="18000" rIns="0" bIns="18000" anchor="ctr" anchorCtr="0">
            <a:spAutoFit/>
          </a:bodyPr>
          <a:lstStyle/>
          <a:p>
            <a:pPr marL="0" indent="0">
              <a:buNone/>
            </a:pPr>
            <a:r>
              <a:rPr lang="en-US" sz="1200" dirty="0">
                <a:hlinkClick r:id="rId3" tooltip="www.hoovers.com"/>
              </a:rPr>
              <a:t>www.hoovers.com</a:t>
            </a:r>
            <a:endParaRPr lang="en-IN" sz="1200" dirty="0"/>
          </a:p>
        </p:txBody>
      </p:sp>
      <p:sp>
        <p:nvSpPr>
          <p:cNvPr id="7" name="Content Placeholder 6">
            <a:extLst>
              <a:ext uri="{FF2B5EF4-FFF2-40B4-BE49-F238E27FC236}">
                <a16:creationId xmlns:a16="http://schemas.microsoft.com/office/drawing/2014/main" id="{655DDC49-9FF6-4C06-94F1-78B1D602CCB7}"/>
              </a:ext>
            </a:extLst>
          </p:cNvPr>
          <p:cNvSpPr>
            <a:spLocks noGrp="1"/>
          </p:cNvSpPr>
          <p:nvPr>
            <p:ph sz="quarter" idx="17"/>
          </p:nvPr>
        </p:nvSpPr>
        <p:spPr>
          <a:xfrm>
            <a:off x="5188394" y="5872079"/>
            <a:ext cx="3408221" cy="221018"/>
          </a:xfrm>
        </p:spPr>
        <p:txBody>
          <a:bodyPr wrap="square" lIns="0" tIns="18000" rIns="0" bIns="18000" anchor="ctr" anchorCtr="0">
            <a:spAutoFit/>
          </a:bodyPr>
          <a:lstStyle/>
          <a:p>
            <a:pPr marL="0" indent="0">
              <a:buNone/>
            </a:pPr>
            <a:r>
              <a:rPr lang="en-US" sz="1200" dirty="0"/>
              <a:t>,2023; UNCTAD, “Web Table 19. The World’s Top</a:t>
            </a:r>
            <a:endParaRPr lang="en-IN" sz="1200" dirty="0"/>
          </a:p>
        </p:txBody>
      </p:sp>
      <p:sp>
        <p:nvSpPr>
          <p:cNvPr id="8" name="Content Placeholder 7">
            <a:extLst>
              <a:ext uri="{FF2B5EF4-FFF2-40B4-BE49-F238E27FC236}">
                <a16:creationId xmlns:a16="http://schemas.microsoft.com/office/drawing/2014/main" id="{ECAF79DB-E695-47FA-99AA-9551BAE120F8}"/>
              </a:ext>
            </a:extLst>
          </p:cNvPr>
          <p:cNvSpPr>
            <a:spLocks noGrp="1"/>
          </p:cNvSpPr>
          <p:nvPr>
            <p:ph sz="quarter" idx="18"/>
          </p:nvPr>
        </p:nvSpPr>
        <p:spPr>
          <a:xfrm>
            <a:off x="358775" y="6197587"/>
            <a:ext cx="4618038" cy="221018"/>
          </a:xfrm>
        </p:spPr>
        <p:txBody>
          <a:bodyPr wrap="square" lIns="0" tIns="18000" rIns="0" bIns="18000" anchor="ctr" anchorCtr="0">
            <a:spAutoFit/>
          </a:bodyPr>
          <a:lstStyle/>
          <a:p>
            <a:pPr marL="0" indent="0">
              <a:buNone/>
            </a:pPr>
            <a:r>
              <a:rPr lang="en-US" sz="1200" dirty="0"/>
              <a:t>100 Non-Financial MNEs, Ranked by Foreign Assets,” June 9, 2022,</a:t>
            </a:r>
            <a:endParaRPr lang="en-IN" sz="1200" dirty="0"/>
          </a:p>
        </p:txBody>
      </p:sp>
      <p:sp>
        <p:nvSpPr>
          <p:cNvPr id="9" name="Content Placeholder 8">
            <a:extLst>
              <a:ext uri="{FF2B5EF4-FFF2-40B4-BE49-F238E27FC236}">
                <a16:creationId xmlns:a16="http://schemas.microsoft.com/office/drawing/2014/main" id="{60A8F178-225D-46A7-9433-69EAE1146BEF}"/>
              </a:ext>
            </a:extLst>
          </p:cNvPr>
          <p:cNvSpPr>
            <a:spLocks noGrp="1"/>
          </p:cNvSpPr>
          <p:nvPr>
            <p:ph sz="quarter" idx="19"/>
          </p:nvPr>
        </p:nvSpPr>
        <p:spPr>
          <a:xfrm>
            <a:off x="5013484" y="6200518"/>
            <a:ext cx="1002394" cy="205629"/>
          </a:xfrm>
        </p:spPr>
        <p:txBody>
          <a:bodyPr wrap="square" lIns="0" tIns="18000" rIns="0" bIns="18000" anchor="ctr" anchorCtr="0">
            <a:spAutoFit/>
          </a:bodyPr>
          <a:lstStyle/>
          <a:p>
            <a:pPr marL="0" indent="0">
              <a:buNone/>
            </a:pPr>
            <a:r>
              <a:rPr lang="en-US" sz="1100" dirty="0">
                <a:hlinkClick r:id="rId4" tooltip="www.unctad.org"/>
              </a:rPr>
              <a:t>www.unctad.org</a:t>
            </a:r>
            <a:endParaRPr lang="en-IN" sz="1200" dirty="0"/>
          </a:p>
        </p:txBody>
      </p:sp>
      <p:sp>
        <p:nvSpPr>
          <p:cNvPr id="10" name="Content Placeholder 9">
            <a:extLst>
              <a:ext uri="{FF2B5EF4-FFF2-40B4-BE49-F238E27FC236}">
                <a16:creationId xmlns:a16="http://schemas.microsoft.com/office/drawing/2014/main" id="{6C90027A-CA07-4AB9-9710-EF64113F5611}"/>
              </a:ext>
            </a:extLst>
          </p:cNvPr>
          <p:cNvSpPr>
            <a:spLocks noGrp="1"/>
          </p:cNvSpPr>
          <p:nvPr>
            <p:ph sz="quarter" idx="20"/>
          </p:nvPr>
        </p:nvSpPr>
        <p:spPr>
          <a:xfrm>
            <a:off x="6063504" y="6200518"/>
            <a:ext cx="81365" cy="221018"/>
          </a:xfrm>
        </p:spPr>
        <p:txBody>
          <a:bodyPr wrap="square" lIns="0" tIns="18000" rIns="0" bIns="18000" anchor="ctr" anchorCtr="0">
            <a:spAutoFit/>
          </a:bodyPr>
          <a:lstStyle/>
          <a:p>
            <a:pPr marL="0" indent="0">
              <a:buNone/>
            </a:pPr>
            <a:r>
              <a:rPr lang="en-US" sz="1200" dirty="0"/>
              <a:t>.</a:t>
            </a:r>
            <a:endParaRPr lang="en-IN" sz="1200" dirty="0"/>
          </a:p>
        </p:txBody>
      </p:sp>
    </p:spTree>
    <p:extLst>
      <p:ext uri="{BB962C8B-B14F-4D97-AF65-F5344CB8AC3E}">
        <p14:creationId xmlns:p14="http://schemas.microsoft.com/office/powerpoint/2010/main" val="34272165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40" y="115154"/>
            <a:ext cx="8341260" cy="590349"/>
          </a:xfrm>
        </p:spPr>
        <p:txBody>
          <a:bodyPr wrap="square" lIns="0" tIns="18000" rIns="0" bIns="18000" anchor="ctr" anchorCtr="0">
            <a:spAutoFit/>
          </a:bodyPr>
          <a:lstStyle/>
          <a:p>
            <a:r>
              <a:rPr lang="en-US" dirty="0"/>
              <a:t>Leading Destinations for </a:t>
            </a:r>
            <a:r>
              <a:rPr lang="en-US" spc="-500" dirty="0"/>
              <a:t>F D </a:t>
            </a:r>
            <a:r>
              <a:rPr lang="en-US" dirty="0"/>
              <a:t>I</a:t>
            </a:r>
            <a:endParaRPr lang="en-US" sz="18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67400" y="882264"/>
            <a:ext cx="8344800" cy="1959955"/>
          </a:xfrm>
        </p:spPr>
        <p:txBody>
          <a:bodyPr wrap="square" lIns="0" tIns="18000" rIns="0" bIns="18000" anchor="ctr" anchorCtr="0">
            <a:spAutoFit/>
          </a:bodyPr>
          <a:lstStyle/>
          <a:p>
            <a:pPr marL="342900" indent="-342900">
              <a:spcBef>
                <a:spcPts val="600"/>
              </a:spcBef>
            </a:pPr>
            <a:r>
              <a:rPr lang="en-US" sz="2400" dirty="0"/>
              <a:t>Advanced economies in Europe (especially Britain), Japan, and North America, are popular </a:t>
            </a:r>
            <a:r>
              <a:rPr lang="en-US" sz="2400" spc="-300" dirty="0"/>
              <a:t>F D </a:t>
            </a:r>
            <a:r>
              <a:rPr lang="en-US" sz="2400" dirty="0"/>
              <a:t>I destinations, mainly as attractive markets.</a:t>
            </a:r>
          </a:p>
          <a:p>
            <a:pPr marL="342900" indent="-342900">
              <a:spcBef>
                <a:spcPts val="600"/>
              </a:spcBef>
            </a:pPr>
            <a:r>
              <a:rPr lang="en-US" sz="2400" dirty="0"/>
              <a:t>In recent years, emerging markets and developing economies have gained appeal as </a:t>
            </a:r>
            <a:r>
              <a:rPr lang="en-US" sz="2400" kern="1200" spc="-300" dirty="0"/>
              <a:t>F D </a:t>
            </a:r>
            <a:r>
              <a:rPr lang="en-US" sz="2400" dirty="0"/>
              <a:t>I destinations.</a:t>
            </a:r>
            <a:endParaRPr lang="en-US" sz="2400" i="1" dirty="0">
              <a:solidFill>
                <a:schemeClr val="tx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82DFC2AE-9484-4895-8DEE-3E698981163B}"/>
              </a:ext>
            </a:extLst>
          </p:cNvPr>
          <p:cNvSpPr>
            <a:spLocks noGrp="1"/>
          </p:cNvSpPr>
          <p:nvPr>
            <p:ph sz="quarter" idx="14"/>
          </p:nvPr>
        </p:nvSpPr>
        <p:spPr>
          <a:xfrm>
            <a:off x="367401" y="2935559"/>
            <a:ext cx="4144214" cy="1883011"/>
          </a:xfrm>
        </p:spPr>
        <p:txBody>
          <a:bodyPr wrap="square" lIns="0" tIns="18000" rIns="0" bIns="18000" anchor="ctr" anchorCtr="0">
            <a:spAutoFit/>
          </a:bodyPr>
          <a:lstStyle/>
          <a:p>
            <a:pPr marL="342900" indent="-342900">
              <a:spcBef>
                <a:spcPts val="600"/>
              </a:spcBef>
            </a:pPr>
            <a:r>
              <a:rPr lang="en-US" sz="2400" dirty="0"/>
              <a:t>Firms target China, Mexico, and Eastern Europe to do low-cost manufacturing and to easily access huge adjoining regional markets.</a:t>
            </a:r>
          </a:p>
        </p:txBody>
      </p:sp>
      <p:pic>
        <p:nvPicPr>
          <p:cNvPr id="6" name="Picture 5" descr="A tall ship with multiple masts and rigging is docked in a harbor with buildings in the background.">
            <a:extLst>
              <a:ext uri="{FF2B5EF4-FFF2-40B4-BE49-F238E27FC236}">
                <a16:creationId xmlns:a16="http://schemas.microsoft.com/office/drawing/2014/main" id="{0D7FF412-E948-4536-882E-FBDE47ED0BE9}"/>
              </a:ext>
            </a:extLst>
          </p:cNvPr>
          <p:cNvPicPr>
            <a:picLocks noChangeAspect="1"/>
          </p:cNvPicPr>
          <p:nvPr/>
        </p:nvPicPr>
        <p:blipFill>
          <a:blip r:embed="rId3"/>
          <a:stretch>
            <a:fillRect/>
          </a:stretch>
        </p:blipFill>
        <p:spPr>
          <a:xfrm>
            <a:off x="4826569" y="3132924"/>
            <a:ext cx="3804062" cy="2541719"/>
          </a:xfrm>
          <a:prstGeom prst="rect">
            <a:avLst/>
          </a:prstGeom>
        </p:spPr>
      </p:pic>
    </p:spTree>
    <p:extLst>
      <p:ext uri="{BB962C8B-B14F-4D97-AF65-F5344CB8AC3E}">
        <p14:creationId xmlns:p14="http://schemas.microsoft.com/office/powerpoint/2010/main" val="11299991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40" y="114199"/>
            <a:ext cx="8341260" cy="1144347"/>
          </a:xfrm>
        </p:spPr>
        <p:txBody>
          <a:bodyPr wrap="square" lIns="0" tIns="18000" rIns="0" bIns="18000" anchor="ctr" anchorCtr="0">
            <a:spAutoFit/>
          </a:bodyPr>
          <a:lstStyle/>
          <a:p>
            <a:r>
              <a:rPr lang="en-US" dirty="0"/>
              <a:t>Factors Relevant to Selecting Locations for </a:t>
            </a:r>
            <a:r>
              <a:rPr lang="en-US" spc="-500" dirty="0"/>
              <a:t>F D </a:t>
            </a:r>
            <a:r>
              <a:rPr lang="en-US" dirty="0"/>
              <a:t>I</a:t>
            </a:r>
            <a:endParaRPr lang="en-US" sz="2800" b="0" dirty="0"/>
          </a:p>
        </p:txBody>
      </p:sp>
      <p:pic>
        <p:nvPicPr>
          <p:cNvPr id="4" name="Picture 3" descr="An illustration represents criteria firm factors in selecting foreign direct investment projects.&#10;Long description is available in notes, press F6.">
            <a:extLst>
              <a:ext uri="{FF2B5EF4-FFF2-40B4-BE49-F238E27FC236}">
                <a16:creationId xmlns:a16="http://schemas.microsoft.com/office/drawing/2014/main" id="{D3B167D0-906C-4C99-A435-B9462F18DCC9}"/>
              </a:ext>
            </a:extLst>
          </p:cNvPr>
          <p:cNvPicPr>
            <a:picLocks noChangeAspect="1"/>
          </p:cNvPicPr>
          <p:nvPr/>
        </p:nvPicPr>
        <p:blipFill>
          <a:blip r:embed="rId3"/>
          <a:stretch>
            <a:fillRect/>
          </a:stretch>
        </p:blipFill>
        <p:spPr>
          <a:xfrm>
            <a:off x="771434" y="1367927"/>
            <a:ext cx="7601133" cy="4587971"/>
          </a:xfrm>
          <a:prstGeom prst="rect">
            <a:avLst/>
          </a:prstGeom>
        </p:spPr>
      </p:pic>
    </p:spTree>
    <p:extLst>
      <p:ext uri="{BB962C8B-B14F-4D97-AF65-F5344CB8AC3E}">
        <p14:creationId xmlns:p14="http://schemas.microsoft.com/office/powerpoint/2010/main" val="15261912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40" y="115154"/>
            <a:ext cx="8341260" cy="590349"/>
          </a:xfrm>
        </p:spPr>
        <p:txBody>
          <a:bodyPr wrap="square" lIns="0" tIns="18000" rIns="0" bIns="18000" anchor="ctr" anchorCtr="0">
            <a:spAutoFit/>
          </a:bodyPr>
          <a:lstStyle/>
          <a:p>
            <a:r>
              <a:rPr lang="en-US" dirty="0"/>
              <a:t>Nature of Foreign Direct Investment</a:t>
            </a:r>
            <a:endParaRPr lang="en-US" sz="18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67400" y="868908"/>
            <a:ext cx="8344800" cy="3591171"/>
          </a:xfrm>
        </p:spPr>
        <p:txBody>
          <a:bodyPr wrap="square" lIns="0" tIns="18000" rIns="0" bIns="18000" anchor="ctr" anchorCtr="0">
            <a:spAutoFit/>
          </a:bodyPr>
          <a:lstStyle/>
          <a:p>
            <a:pPr marL="342900" indent="-342900">
              <a:spcBef>
                <a:spcPts val="600"/>
              </a:spcBef>
            </a:pPr>
            <a:r>
              <a:rPr lang="en-US" sz="2400" dirty="0"/>
              <a:t>The most advanced, expensive, complex, and riskiest entry strategy, involving the establishment of manufacturing plants, marketing subsidiaries, or other facilities abroad.</a:t>
            </a:r>
          </a:p>
          <a:p>
            <a:pPr marL="342900" indent="-342900">
              <a:spcBef>
                <a:spcPts val="600"/>
              </a:spcBef>
            </a:pPr>
            <a:r>
              <a:rPr lang="en-US" sz="2400" dirty="0"/>
              <a:t>Undertaken by firms from both the advanced economies and emerging markets.</a:t>
            </a:r>
          </a:p>
          <a:p>
            <a:pPr marL="342900" indent="-342900">
              <a:spcBef>
                <a:spcPts val="600"/>
              </a:spcBef>
            </a:pPr>
            <a:r>
              <a:rPr lang="en-US" sz="2400" dirty="0"/>
              <a:t>Target countries are both advanced economies and emerging markets.</a:t>
            </a:r>
          </a:p>
          <a:p>
            <a:pPr marL="342900" indent="-342900">
              <a:spcBef>
                <a:spcPts val="600"/>
              </a:spcBef>
            </a:pPr>
            <a:r>
              <a:rPr lang="en-US" sz="2400" dirty="0"/>
              <a:t>Occasionally raises patriotic sentiments among citizens (e.g., Haier and Maytag; Dubai Ports).</a:t>
            </a:r>
          </a:p>
        </p:txBody>
      </p:sp>
    </p:spTree>
    <p:extLst>
      <p:ext uri="{BB962C8B-B14F-4D97-AF65-F5344CB8AC3E}">
        <p14:creationId xmlns:p14="http://schemas.microsoft.com/office/powerpoint/2010/main" val="31760412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40" y="114199"/>
            <a:ext cx="8341260" cy="1144347"/>
          </a:xfrm>
        </p:spPr>
        <p:txBody>
          <a:bodyPr wrap="square" lIns="0" tIns="18000" rIns="0" bIns="18000" anchor="ctr" anchorCtr="0">
            <a:spAutoFit/>
          </a:bodyPr>
          <a:lstStyle/>
          <a:p>
            <a:r>
              <a:rPr lang="en-US" dirty="0"/>
              <a:t>Key Features of Foreign Direct Investment</a:t>
            </a:r>
            <a:endParaRPr lang="en-US" sz="18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71218" y="1555741"/>
            <a:ext cx="8340982" cy="2929451"/>
          </a:xfrm>
        </p:spPr>
        <p:txBody>
          <a:bodyPr wrap="square" lIns="0" tIns="18000" rIns="0" bIns="18000" anchor="ctr" anchorCtr="0">
            <a:spAutoFit/>
          </a:bodyPr>
          <a:lstStyle/>
          <a:p>
            <a:pPr marL="342900" indent="-342900">
              <a:spcBef>
                <a:spcPts val="600"/>
              </a:spcBef>
            </a:pPr>
            <a:r>
              <a:rPr lang="en-US" sz="2400" dirty="0"/>
              <a:t>Represents substantial resource commitment.</a:t>
            </a:r>
          </a:p>
          <a:p>
            <a:pPr marL="342900" indent="-342900">
              <a:spcBef>
                <a:spcPts val="600"/>
              </a:spcBef>
            </a:pPr>
            <a:r>
              <a:rPr lang="en-US" sz="2400" dirty="0"/>
              <a:t>Implies local presence and operations.</a:t>
            </a:r>
          </a:p>
          <a:p>
            <a:pPr marL="342900" indent="-342900">
              <a:spcBef>
                <a:spcPts val="600"/>
              </a:spcBef>
            </a:pPr>
            <a:r>
              <a:rPr lang="en-US" sz="2400" dirty="0"/>
              <a:t>Firms invest in countries that provide specific comparative advantages.</a:t>
            </a:r>
          </a:p>
          <a:p>
            <a:pPr marL="342900" indent="-342900">
              <a:spcBef>
                <a:spcPts val="600"/>
              </a:spcBef>
            </a:pPr>
            <a:r>
              <a:rPr lang="en-US" sz="2400" dirty="0"/>
              <a:t>Substantial risk and uncertainty.</a:t>
            </a:r>
          </a:p>
          <a:p>
            <a:pPr marL="342900" indent="-342900">
              <a:spcBef>
                <a:spcPts val="600"/>
              </a:spcBef>
            </a:pPr>
            <a:r>
              <a:rPr lang="en-US" sz="2400" dirty="0"/>
              <a:t>Direct investors deal more intensively with specific social and cultural variables in the host market.</a:t>
            </a:r>
          </a:p>
        </p:txBody>
      </p:sp>
    </p:spTree>
    <p:extLst>
      <p:ext uri="{BB962C8B-B14F-4D97-AF65-F5344CB8AC3E}">
        <p14:creationId xmlns:p14="http://schemas.microsoft.com/office/powerpoint/2010/main" val="1439542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36" y="113242"/>
            <a:ext cx="8354537" cy="1698345"/>
          </a:xfrm>
        </p:spPr>
        <p:txBody>
          <a:bodyPr wrap="square" lIns="0" tIns="18000" rIns="0" bIns="18000" anchor="ctr" anchorCtr="0">
            <a:spAutoFit/>
          </a:bodyPr>
          <a:lstStyle/>
          <a:p>
            <a:r>
              <a:rPr lang="en-US" dirty="0"/>
              <a:t>Percentage of Children Aged 5–17 Engaged in Child Labor and GDP per Capita, Various Countries</a:t>
            </a:r>
            <a:endParaRPr lang="en-US" b="0" dirty="0"/>
          </a:p>
        </p:txBody>
      </p:sp>
      <p:pic>
        <p:nvPicPr>
          <p:cNvPr id="4" name="Picture 3" descr="A graph represents the percentage of child labor ages from 5 to 17 in various countries.&#10;Long description is available in notes, press F6.">
            <a:extLst>
              <a:ext uri="{FF2B5EF4-FFF2-40B4-BE49-F238E27FC236}">
                <a16:creationId xmlns:a16="http://schemas.microsoft.com/office/drawing/2014/main" id="{877BAD88-3A29-467B-AB24-EC107C722E9A}"/>
              </a:ext>
            </a:extLst>
          </p:cNvPr>
          <p:cNvPicPr>
            <a:picLocks noChangeAspect="1"/>
          </p:cNvPicPr>
          <p:nvPr/>
        </p:nvPicPr>
        <p:blipFill>
          <a:blip r:embed="rId3"/>
          <a:stretch>
            <a:fillRect/>
          </a:stretch>
        </p:blipFill>
        <p:spPr>
          <a:xfrm>
            <a:off x="805994" y="2033022"/>
            <a:ext cx="7535974" cy="2838172"/>
          </a:xfrm>
          <a:prstGeom prst="rect">
            <a:avLst/>
          </a:prstGeom>
        </p:spPr>
      </p:pic>
      <p:sp>
        <p:nvSpPr>
          <p:cNvPr id="40" name="Content Placeholder 39">
            <a:extLst>
              <a:ext uri="{FF2B5EF4-FFF2-40B4-BE49-F238E27FC236}">
                <a16:creationId xmlns:a16="http://schemas.microsoft.com/office/drawing/2014/main" id="{B243213F-639C-53D3-68E9-5F0F47C4CC30}"/>
              </a:ext>
            </a:extLst>
          </p:cNvPr>
          <p:cNvSpPr>
            <a:spLocks noGrp="1"/>
          </p:cNvSpPr>
          <p:nvPr>
            <p:ph sz="quarter" idx="13"/>
          </p:nvPr>
        </p:nvSpPr>
        <p:spPr>
          <a:xfrm>
            <a:off x="367567" y="5058021"/>
            <a:ext cx="8344634" cy="405683"/>
          </a:xfrm>
        </p:spPr>
        <p:txBody>
          <a:bodyPr wrap="square" lIns="0" tIns="18000" rIns="0" bIns="18000" anchor="ctr" anchorCtr="0">
            <a:spAutoFit/>
          </a:bodyPr>
          <a:lstStyle/>
          <a:p>
            <a:pPr marL="0" indent="0">
              <a:buNone/>
            </a:pPr>
            <a:r>
              <a:rPr lang="en-US" sz="1200" b="1" dirty="0">
                <a:solidFill>
                  <a:schemeClr val="tx1"/>
                </a:solidFill>
              </a:rPr>
              <a:t>Note: </a:t>
            </a:r>
            <a:r>
              <a:rPr lang="en-US" sz="1200" dirty="0">
                <a:solidFill>
                  <a:schemeClr val="tx1"/>
                </a:solidFill>
              </a:rPr>
              <a:t>The vertical axis shows percentage of children, ages 5–17, engaged in child labor. The value above each bar is the country’s per-capita GDP in purchasing power parity (</a:t>
            </a:r>
            <a:r>
              <a:rPr lang="en-US" sz="1200" spc="-200" dirty="0">
                <a:solidFill>
                  <a:schemeClr val="tx1"/>
                </a:solidFill>
              </a:rPr>
              <a:t>P </a:t>
            </a:r>
            <a:r>
              <a:rPr lang="en-US" sz="1200" spc="-200" dirty="0" err="1">
                <a:solidFill>
                  <a:schemeClr val="tx1"/>
                </a:solidFill>
              </a:rPr>
              <a:t>P</a:t>
            </a:r>
            <a:r>
              <a:rPr lang="en-US" sz="1200" spc="-200" dirty="0">
                <a:solidFill>
                  <a:schemeClr val="tx1"/>
                </a:solidFill>
              </a:rPr>
              <a:t> </a:t>
            </a:r>
            <a:r>
              <a:rPr lang="en-US" sz="1200" dirty="0">
                <a:solidFill>
                  <a:schemeClr val="tx1"/>
                </a:solidFill>
              </a:rPr>
              <a:t>P) terms.</a:t>
            </a:r>
            <a:endParaRPr lang="en-US" sz="1200" dirty="0"/>
          </a:p>
        </p:txBody>
      </p:sp>
      <p:sp>
        <p:nvSpPr>
          <p:cNvPr id="41" name="Content Placeholder 40">
            <a:extLst>
              <a:ext uri="{FF2B5EF4-FFF2-40B4-BE49-F238E27FC236}">
                <a16:creationId xmlns:a16="http://schemas.microsoft.com/office/drawing/2014/main" id="{C450D8F4-C103-CDE7-B6CA-E5692517B41F}"/>
              </a:ext>
            </a:extLst>
          </p:cNvPr>
          <p:cNvSpPr>
            <a:spLocks noGrp="1"/>
          </p:cNvSpPr>
          <p:nvPr>
            <p:ph sz="quarter" idx="14"/>
          </p:nvPr>
        </p:nvSpPr>
        <p:spPr>
          <a:xfrm>
            <a:off x="367567" y="5526846"/>
            <a:ext cx="6444604" cy="221018"/>
          </a:xfrm>
        </p:spPr>
        <p:txBody>
          <a:bodyPr wrap="square" lIns="0" tIns="18000" rIns="0" bIns="18000" anchor="ctr" anchorCtr="0">
            <a:spAutoFit/>
          </a:bodyPr>
          <a:lstStyle/>
          <a:p>
            <a:pPr marL="0" indent="0">
              <a:buNone/>
            </a:pPr>
            <a:r>
              <a:rPr lang="en-US" sz="1200" b="1" dirty="0">
                <a:solidFill>
                  <a:schemeClr val="tx1"/>
                </a:solidFill>
              </a:rPr>
              <a:t>Sources:</a:t>
            </a:r>
            <a:r>
              <a:rPr lang="en-US" sz="1200" dirty="0">
                <a:solidFill>
                  <a:schemeClr val="tx1"/>
                </a:solidFill>
              </a:rPr>
              <a:t> </a:t>
            </a:r>
            <a:r>
              <a:rPr lang="en-US" sz="1200" spc="-200" dirty="0">
                <a:solidFill>
                  <a:schemeClr val="tx1"/>
                </a:solidFill>
              </a:rPr>
              <a:t>U N I C E </a:t>
            </a:r>
            <a:r>
              <a:rPr lang="en-US" sz="1200" dirty="0">
                <a:solidFill>
                  <a:schemeClr val="tx1"/>
                </a:solidFill>
              </a:rPr>
              <a:t>F (2023), “Percentage of Children Ages 5–17 Years Engaged in Child </a:t>
            </a:r>
            <a:r>
              <a:rPr lang="en-US" sz="1200" dirty="0" err="1">
                <a:solidFill>
                  <a:schemeClr val="tx1"/>
                </a:solidFill>
              </a:rPr>
              <a:t>Labour</a:t>
            </a:r>
            <a:r>
              <a:rPr lang="en-US" sz="1200" dirty="0">
                <a:solidFill>
                  <a:schemeClr val="tx1"/>
                </a:solidFill>
              </a:rPr>
              <a:t>,”</a:t>
            </a:r>
          </a:p>
        </p:txBody>
      </p:sp>
      <p:sp>
        <p:nvSpPr>
          <p:cNvPr id="42" name="Content Placeholder 41">
            <a:extLst>
              <a:ext uri="{FF2B5EF4-FFF2-40B4-BE49-F238E27FC236}">
                <a16:creationId xmlns:a16="http://schemas.microsoft.com/office/drawing/2014/main" id="{A6A4509C-D0F1-8EE3-8732-212983FDED9C}"/>
              </a:ext>
            </a:extLst>
          </p:cNvPr>
          <p:cNvSpPr>
            <a:spLocks noGrp="1"/>
          </p:cNvSpPr>
          <p:nvPr>
            <p:ph sz="quarter" idx="15"/>
          </p:nvPr>
        </p:nvSpPr>
        <p:spPr>
          <a:xfrm>
            <a:off x="6831221" y="5506700"/>
            <a:ext cx="1501799" cy="221018"/>
          </a:xfrm>
        </p:spPr>
        <p:txBody>
          <a:bodyPr wrap="square" lIns="0" tIns="18000" rIns="0" bIns="18000" anchor="ctr" anchorCtr="0">
            <a:spAutoFit/>
          </a:bodyPr>
          <a:lstStyle/>
          <a:p>
            <a:pPr marL="0" indent="0">
              <a:buNone/>
            </a:pPr>
            <a:r>
              <a:rPr lang="en-US" sz="1200" dirty="0">
                <a:solidFill>
                  <a:schemeClr val="tx1"/>
                </a:solidFill>
                <a:hlinkClick r:id="rId4" tooltip="https://data.unicef.org"/>
              </a:rPr>
              <a:t>https://data.unicef.org</a:t>
            </a:r>
            <a:endParaRPr lang="en-US" sz="1200" dirty="0">
              <a:solidFill>
                <a:schemeClr val="tx1"/>
              </a:solidFill>
            </a:endParaRPr>
          </a:p>
        </p:txBody>
      </p:sp>
      <p:sp>
        <p:nvSpPr>
          <p:cNvPr id="43" name="Content Placeholder 42">
            <a:extLst>
              <a:ext uri="{FF2B5EF4-FFF2-40B4-BE49-F238E27FC236}">
                <a16:creationId xmlns:a16="http://schemas.microsoft.com/office/drawing/2014/main" id="{9E472C2B-B397-57A1-A02B-FBFC4660353C}"/>
              </a:ext>
            </a:extLst>
          </p:cNvPr>
          <p:cNvSpPr>
            <a:spLocks noGrp="1"/>
          </p:cNvSpPr>
          <p:nvPr>
            <p:ph sz="quarter" idx="16"/>
          </p:nvPr>
        </p:nvSpPr>
        <p:spPr>
          <a:xfrm>
            <a:off x="8364770" y="5508154"/>
            <a:ext cx="78435" cy="221018"/>
          </a:xfrm>
        </p:spPr>
        <p:txBody>
          <a:bodyPr wrap="square" lIns="0" tIns="18000" rIns="0" bIns="18000" anchor="ctr" anchorCtr="0">
            <a:spAutoFit/>
          </a:bodyPr>
          <a:lstStyle/>
          <a:p>
            <a:pPr marL="0" indent="0">
              <a:buNone/>
            </a:pPr>
            <a:r>
              <a:rPr lang="en-US" sz="1200" dirty="0">
                <a:solidFill>
                  <a:schemeClr val="tx1"/>
                </a:solidFill>
              </a:rPr>
              <a:t>; </a:t>
            </a:r>
          </a:p>
        </p:txBody>
      </p:sp>
      <p:sp>
        <p:nvSpPr>
          <p:cNvPr id="44" name="Content Placeholder 43">
            <a:extLst>
              <a:ext uri="{FF2B5EF4-FFF2-40B4-BE49-F238E27FC236}">
                <a16:creationId xmlns:a16="http://schemas.microsoft.com/office/drawing/2014/main" id="{C5929316-1ED8-423C-C5E6-E772BE709CCB}"/>
              </a:ext>
            </a:extLst>
          </p:cNvPr>
          <p:cNvSpPr>
            <a:spLocks noGrp="1"/>
          </p:cNvSpPr>
          <p:nvPr>
            <p:ph sz="quarter" idx="17"/>
          </p:nvPr>
        </p:nvSpPr>
        <p:spPr>
          <a:xfrm>
            <a:off x="368300" y="5805671"/>
            <a:ext cx="6497343" cy="221018"/>
          </a:xfrm>
        </p:spPr>
        <p:txBody>
          <a:bodyPr wrap="square" lIns="0" tIns="18000" rIns="0" bIns="18000" anchor="ctr" anchorCtr="0">
            <a:spAutoFit/>
          </a:bodyPr>
          <a:lstStyle/>
          <a:p>
            <a:pPr marL="0" indent="0">
              <a:buNone/>
            </a:pPr>
            <a:r>
              <a:rPr lang="en-US" sz="1200" spc="-150" dirty="0">
                <a:solidFill>
                  <a:schemeClr val="tx1"/>
                </a:solidFill>
              </a:rPr>
              <a:t>U N I C E </a:t>
            </a:r>
            <a:r>
              <a:rPr lang="en-US" sz="1200" dirty="0">
                <a:solidFill>
                  <a:schemeClr val="tx1"/>
                </a:solidFill>
              </a:rPr>
              <a:t>F and </a:t>
            </a:r>
            <a:r>
              <a:rPr lang="en-US" sz="1200" spc="-150" dirty="0">
                <a:solidFill>
                  <a:schemeClr val="tx1"/>
                </a:solidFill>
              </a:rPr>
              <a:t>I L </a:t>
            </a:r>
            <a:r>
              <a:rPr lang="en-US" sz="1200" dirty="0">
                <a:solidFill>
                  <a:schemeClr val="tx1"/>
                </a:solidFill>
              </a:rPr>
              <a:t>O (2020), “Child </a:t>
            </a:r>
            <a:r>
              <a:rPr lang="en-US" sz="1200" dirty="0" err="1">
                <a:solidFill>
                  <a:schemeClr val="tx1"/>
                </a:solidFill>
              </a:rPr>
              <a:t>Labour</a:t>
            </a:r>
            <a:r>
              <a:rPr lang="en-US" sz="1200" dirty="0">
                <a:solidFill>
                  <a:schemeClr val="tx1"/>
                </a:solidFill>
              </a:rPr>
              <a:t>: Global Estimates 2020, Trends and the Road Forward,”</a:t>
            </a:r>
          </a:p>
        </p:txBody>
      </p:sp>
      <p:sp>
        <p:nvSpPr>
          <p:cNvPr id="45" name="Content Placeholder 44">
            <a:extLst>
              <a:ext uri="{FF2B5EF4-FFF2-40B4-BE49-F238E27FC236}">
                <a16:creationId xmlns:a16="http://schemas.microsoft.com/office/drawing/2014/main" id="{D7CB0124-6B5E-8A5C-0E2C-3B3E405D01CB}"/>
              </a:ext>
            </a:extLst>
          </p:cNvPr>
          <p:cNvSpPr>
            <a:spLocks noGrp="1"/>
          </p:cNvSpPr>
          <p:nvPr>
            <p:ph sz="quarter" idx="18"/>
          </p:nvPr>
        </p:nvSpPr>
        <p:spPr>
          <a:xfrm>
            <a:off x="6906270" y="5792668"/>
            <a:ext cx="799257" cy="221018"/>
          </a:xfrm>
        </p:spPr>
        <p:txBody>
          <a:bodyPr wrap="square" lIns="0" tIns="18000" rIns="0" bIns="18000" anchor="ctr" anchorCtr="0">
            <a:spAutoFit/>
          </a:bodyPr>
          <a:lstStyle/>
          <a:p>
            <a:pPr marL="0" indent="0">
              <a:buNone/>
            </a:pPr>
            <a:r>
              <a:rPr lang="en-US" sz="1200" dirty="0">
                <a:solidFill>
                  <a:schemeClr val="tx1"/>
                </a:solidFill>
                <a:hlinkClick r:id="rId5" tooltip="www.ilo.org"/>
              </a:rPr>
              <a:t>www.ilo.org</a:t>
            </a:r>
            <a:endParaRPr lang="en-US" sz="1200" dirty="0">
              <a:solidFill>
                <a:schemeClr val="tx1"/>
              </a:solidFill>
            </a:endParaRPr>
          </a:p>
        </p:txBody>
      </p:sp>
      <p:sp>
        <p:nvSpPr>
          <p:cNvPr id="46" name="Content Placeholder 45">
            <a:extLst>
              <a:ext uri="{FF2B5EF4-FFF2-40B4-BE49-F238E27FC236}">
                <a16:creationId xmlns:a16="http://schemas.microsoft.com/office/drawing/2014/main" id="{D7163C9D-879C-BAA8-C1AA-8C1EB070D275}"/>
              </a:ext>
            </a:extLst>
          </p:cNvPr>
          <p:cNvSpPr>
            <a:spLocks noGrp="1"/>
          </p:cNvSpPr>
          <p:nvPr>
            <p:ph sz="quarter" idx="19"/>
          </p:nvPr>
        </p:nvSpPr>
        <p:spPr>
          <a:xfrm>
            <a:off x="7736679" y="5790098"/>
            <a:ext cx="967417" cy="221018"/>
          </a:xfrm>
        </p:spPr>
        <p:txBody>
          <a:bodyPr wrap="square" lIns="0" tIns="18000" rIns="0" bIns="18000" anchor="ctr" anchorCtr="0">
            <a:spAutoFit/>
          </a:bodyPr>
          <a:lstStyle/>
          <a:p>
            <a:pPr marL="0" indent="0">
              <a:buNone/>
            </a:pPr>
            <a:r>
              <a:rPr lang="en-US" sz="1200" dirty="0">
                <a:solidFill>
                  <a:schemeClr val="tx1"/>
                </a:solidFill>
              </a:rPr>
              <a:t>; World Bank</a:t>
            </a:r>
          </a:p>
        </p:txBody>
      </p:sp>
      <p:sp>
        <p:nvSpPr>
          <p:cNvPr id="47" name="Content Placeholder 46">
            <a:extLst>
              <a:ext uri="{FF2B5EF4-FFF2-40B4-BE49-F238E27FC236}">
                <a16:creationId xmlns:a16="http://schemas.microsoft.com/office/drawing/2014/main" id="{7F2818E5-E2C0-559E-CA2A-03CF01CB8D7C}"/>
              </a:ext>
            </a:extLst>
          </p:cNvPr>
          <p:cNvSpPr>
            <a:spLocks noGrp="1"/>
          </p:cNvSpPr>
          <p:nvPr>
            <p:ph sz="quarter" idx="20"/>
          </p:nvPr>
        </p:nvSpPr>
        <p:spPr>
          <a:xfrm>
            <a:off x="370829" y="6140449"/>
            <a:ext cx="6497343" cy="221018"/>
          </a:xfrm>
        </p:spPr>
        <p:txBody>
          <a:bodyPr wrap="square" lIns="0" tIns="18000" rIns="0" bIns="18000" anchor="ctr" anchorCtr="0">
            <a:spAutoFit/>
          </a:bodyPr>
          <a:lstStyle/>
          <a:p>
            <a:pPr marL="0" indent="0">
              <a:buNone/>
            </a:pPr>
            <a:r>
              <a:rPr lang="en-US" sz="1200" dirty="0">
                <a:solidFill>
                  <a:schemeClr val="tx1"/>
                </a:solidFill>
              </a:rPr>
              <a:t>(2023), “</a:t>
            </a:r>
            <a:r>
              <a:rPr lang="en-US" sz="1200" spc="-150" dirty="0">
                <a:solidFill>
                  <a:schemeClr val="tx1"/>
                </a:solidFill>
              </a:rPr>
              <a:t>G D </a:t>
            </a:r>
            <a:r>
              <a:rPr lang="en-US" sz="1200" dirty="0">
                <a:solidFill>
                  <a:schemeClr val="tx1"/>
                </a:solidFill>
              </a:rPr>
              <a:t>P per Capita, in Purchasing Power Parity (</a:t>
            </a:r>
            <a:r>
              <a:rPr lang="en-US" sz="1200" spc="-150" dirty="0">
                <a:solidFill>
                  <a:schemeClr val="tx1"/>
                </a:solidFill>
              </a:rPr>
              <a:t>P </a:t>
            </a:r>
            <a:r>
              <a:rPr lang="en-US" sz="1200" spc="-150" dirty="0" err="1">
                <a:solidFill>
                  <a:schemeClr val="tx1"/>
                </a:solidFill>
              </a:rPr>
              <a:t>P</a:t>
            </a:r>
            <a:r>
              <a:rPr lang="en-US" sz="1200" spc="-150" dirty="0">
                <a:solidFill>
                  <a:schemeClr val="tx1"/>
                </a:solidFill>
              </a:rPr>
              <a:t> </a:t>
            </a:r>
            <a:r>
              <a:rPr lang="en-US" sz="1200" dirty="0">
                <a:solidFill>
                  <a:schemeClr val="tx1"/>
                </a:solidFill>
              </a:rPr>
              <a:t>P) Terms (current international dollar),”</a:t>
            </a:r>
          </a:p>
        </p:txBody>
      </p:sp>
      <p:sp>
        <p:nvSpPr>
          <p:cNvPr id="3" name="Content Placeholder 2">
            <a:extLst>
              <a:ext uri="{FF2B5EF4-FFF2-40B4-BE49-F238E27FC236}">
                <a16:creationId xmlns:a16="http://schemas.microsoft.com/office/drawing/2014/main" id="{71C89610-CC23-43A5-9584-CBFB7B7A96D5}"/>
              </a:ext>
            </a:extLst>
          </p:cNvPr>
          <p:cNvSpPr>
            <a:spLocks noGrp="1"/>
          </p:cNvSpPr>
          <p:nvPr>
            <p:ph sz="quarter" idx="22"/>
          </p:nvPr>
        </p:nvSpPr>
        <p:spPr>
          <a:xfrm>
            <a:off x="6893867" y="6140447"/>
            <a:ext cx="1749425" cy="221018"/>
          </a:xfrm>
        </p:spPr>
        <p:txBody>
          <a:bodyPr lIns="0" tIns="18000" rIns="0" bIns="18000" anchor="ctr" anchorCtr="0">
            <a:spAutoFit/>
          </a:bodyPr>
          <a:lstStyle/>
          <a:p>
            <a:pPr marL="0" indent="0">
              <a:buNone/>
            </a:pPr>
            <a:r>
              <a:rPr lang="en-US" sz="1200" dirty="0">
                <a:solidFill>
                  <a:schemeClr val="tx1"/>
                </a:solidFill>
                <a:hlinkClick r:id="rId6" tooltip="https://data.worldbank.org"/>
              </a:rPr>
              <a:t>https://data.worldbank.org</a:t>
            </a:r>
            <a:endParaRPr lang="en-US" sz="1200" dirty="0">
              <a:solidFill>
                <a:schemeClr val="tx1"/>
              </a:solidFill>
            </a:endParaRPr>
          </a:p>
        </p:txBody>
      </p:sp>
      <p:sp>
        <p:nvSpPr>
          <p:cNvPr id="5" name="Content Placeholder 4">
            <a:extLst>
              <a:ext uri="{FF2B5EF4-FFF2-40B4-BE49-F238E27FC236}">
                <a16:creationId xmlns:a16="http://schemas.microsoft.com/office/drawing/2014/main" id="{0946C0AB-A494-49F7-B8DB-0157B34B7A36}"/>
              </a:ext>
            </a:extLst>
          </p:cNvPr>
          <p:cNvSpPr>
            <a:spLocks noGrp="1"/>
          </p:cNvSpPr>
          <p:nvPr>
            <p:ph sz="quarter" idx="23"/>
          </p:nvPr>
        </p:nvSpPr>
        <p:spPr>
          <a:xfrm>
            <a:off x="8665998" y="6140447"/>
            <a:ext cx="59476" cy="221018"/>
          </a:xfrm>
        </p:spPr>
        <p:txBody>
          <a:bodyPr wrap="square" lIns="0" tIns="18000" rIns="0" bIns="18000" anchor="ctr" anchorCtr="0">
            <a:spAutoFit/>
          </a:bodyPr>
          <a:lstStyle/>
          <a:p>
            <a:pPr marL="0" indent="0">
              <a:buNone/>
            </a:pPr>
            <a:r>
              <a:rPr lang="en-IN" sz="1200" dirty="0">
                <a:solidFill>
                  <a:schemeClr val="tx1"/>
                </a:solidFill>
              </a:rPr>
              <a:t>.</a:t>
            </a:r>
            <a:endParaRPr lang="en-US" sz="1200" dirty="0">
              <a:solidFill>
                <a:schemeClr val="tx1"/>
              </a:solidFill>
            </a:endParaRPr>
          </a:p>
        </p:txBody>
      </p:sp>
    </p:spTree>
    <p:extLst>
      <p:ext uri="{BB962C8B-B14F-4D97-AF65-F5344CB8AC3E}">
        <p14:creationId xmlns:p14="http://schemas.microsoft.com/office/powerpoint/2010/main" val="27765003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40" y="115154"/>
            <a:ext cx="8341260" cy="590349"/>
          </a:xfrm>
        </p:spPr>
        <p:txBody>
          <a:bodyPr wrap="square" lIns="0" tIns="18000" rIns="0" bIns="18000" anchor="ctr" anchorCtr="0">
            <a:spAutoFit/>
          </a:bodyPr>
          <a:lstStyle/>
          <a:p>
            <a:r>
              <a:rPr lang="en-US" dirty="0"/>
              <a:t>Motives for Foreign Direct Investment</a:t>
            </a:r>
            <a:endParaRPr lang="en-US" sz="1800" b="0" dirty="0"/>
          </a:p>
        </p:txBody>
      </p:sp>
      <p:graphicFrame>
        <p:nvGraphicFramePr>
          <p:cNvPr id="6" name="Table 5">
            <a:extLst>
              <a:ext uri="{FF2B5EF4-FFF2-40B4-BE49-F238E27FC236}">
                <a16:creationId xmlns:a16="http://schemas.microsoft.com/office/drawing/2014/main" id="{2C46F842-A4B1-59E0-C5FA-3860B8FA39FC}"/>
              </a:ext>
            </a:extLst>
          </p:cNvPr>
          <p:cNvGraphicFramePr>
            <a:graphicFrameLocks noGrp="1"/>
          </p:cNvGraphicFramePr>
          <p:nvPr>
            <p:extLst>
              <p:ext uri="{D42A27DB-BD31-4B8C-83A1-F6EECF244321}">
                <p14:modId xmlns:p14="http://schemas.microsoft.com/office/powerpoint/2010/main" val="1178162516"/>
              </p:ext>
            </p:extLst>
          </p:nvPr>
        </p:nvGraphicFramePr>
        <p:xfrm>
          <a:off x="449581" y="1036320"/>
          <a:ext cx="8229600" cy="3524645"/>
        </p:xfrm>
        <a:graphic>
          <a:graphicData uri="http://schemas.openxmlformats.org/drawingml/2006/table">
            <a:tbl>
              <a:tblPr firstRow="1" bandRow="1">
                <a:tableStyleId>{5940675A-B579-460E-94D1-54222C63F5DA}</a:tableStyleId>
              </a:tblPr>
              <a:tblGrid>
                <a:gridCol w="2247899">
                  <a:extLst>
                    <a:ext uri="{9D8B030D-6E8A-4147-A177-3AD203B41FA5}">
                      <a16:colId xmlns:a16="http://schemas.microsoft.com/office/drawing/2014/main" val="20000"/>
                    </a:ext>
                  </a:extLst>
                </a:gridCol>
                <a:gridCol w="3215640">
                  <a:extLst>
                    <a:ext uri="{9D8B030D-6E8A-4147-A177-3AD203B41FA5}">
                      <a16:colId xmlns:a16="http://schemas.microsoft.com/office/drawing/2014/main" val="20001"/>
                    </a:ext>
                  </a:extLst>
                </a:gridCol>
                <a:gridCol w="2766061">
                  <a:extLst>
                    <a:ext uri="{9D8B030D-6E8A-4147-A177-3AD203B41FA5}">
                      <a16:colId xmlns:a16="http://schemas.microsoft.com/office/drawing/2014/main" val="1903704242"/>
                    </a:ext>
                  </a:extLst>
                </a:gridCol>
              </a:tblGrid>
              <a:tr h="360227">
                <a:tc>
                  <a:txBody>
                    <a:bodyPr/>
                    <a:lstStyle/>
                    <a:p>
                      <a:pPr marL="0" marR="0" lvl="0" indent="0" algn="l" rtl="0">
                        <a:lnSpc>
                          <a:spcPct val="100000"/>
                        </a:lnSpc>
                        <a:spcBef>
                          <a:spcPts val="0"/>
                        </a:spcBef>
                        <a:spcAft>
                          <a:spcPts val="0"/>
                        </a:spcAft>
                        <a:buClr>
                          <a:srgbClr val="000000"/>
                        </a:buClr>
                        <a:buSzPts val="2000"/>
                        <a:buFont typeface="Arial"/>
                        <a:buNone/>
                      </a:pPr>
                      <a:r>
                        <a:rPr lang="en-US" sz="1800" b="1" u="none" strike="noStrike" cap="none" dirty="0">
                          <a:solidFill>
                            <a:schemeClr val="bg1"/>
                          </a:solidFill>
                          <a:latin typeface="Arial" panose="020B0604020202020204" pitchFamily="34" charset="0"/>
                          <a:ea typeface="Arial"/>
                          <a:cs typeface="Arial" panose="020B0604020202020204" pitchFamily="34" charset="0"/>
                          <a:sym typeface="Arial"/>
                        </a:rPr>
                        <a:t>Market-seeking motives</a:t>
                      </a:r>
                      <a:endParaRPr sz="1800" dirty="0">
                        <a:solidFill>
                          <a:schemeClr val="bg1"/>
                        </a:solidFill>
                        <a:latin typeface="Arial" panose="020B0604020202020204" pitchFamily="34" charset="0"/>
                        <a:cs typeface="Arial" panose="020B0604020202020204" pitchFamily="34" charset="0"/>
                      </a:endParaRPr>
                    </a:p>
                  </a:txBody>
                  <a:tcPr marL="91450" marR="91450" marT="45725" marB="45725">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solidFill>
                  </a:tcPr>
                </a:tc>
                <a:tc>
                  <a:txBody>
                    <a:bodyPr/>
                    <a:lstStyle/>
                    <a:p>
                      <a:pPr marL="0" marR="0" lvl="0" indent="0" algn="l" rtl="0">
                        <a:lnSpc>
                          <a:spcPct val="100000"/>
                        </a:lnSpc>
                        <a:spcBef>
                          <a:spcPts val="0"/>
                        </a:spcBef>
                        <a:spcAft>
                          <a:spcPts val="0"/>
                        </a:spcAft>
                        <a:buClr>
                          <a:srgbClr val="000000"/>
                        </a:buClr>
                        <a:buSzPts val="2000"/>
                        <a:buFont typeface="Arial"/>
                        <a:buNone/>
                      </a:pPr>
                      <a:r>
                        <a:rPr lang="en-US" sz="1800" b="1" u="none" strike="noStrike" cap="none" dirty="0">
                          <a:solidFill>
                            <a:schemeClr val="bg1"/>
                          </a:solidFill>
                          <a:latin typeface="Arial" panose="020B0604020202020204" pitchFamily="34" charset="0"/>
                          <a:ea typeface="Arial"/>
                          <a:cs typeface="Arial" panose="020B0604020202020204" pitchFamily="34" charset="0"/>
                          <a:sym typeface="Arial"/>
                        </a:rPr>
                        <a:t>Resource- or asset-seeking motives</a:t>
                      </a:r>
                      <a:endParaRPr sz="1800" dirty="0">
                        <a:solidFill>
                          <a:schemeClr val="bg1"/>
                        </a:solidFill>
                        <a:latin typeface="Arial" panose="020B0604020202020204" pitchFamily="34" charset="0"/>
                        <a:cs typeface="Arial" panose="020B0604020202020204" pitchFamily="34" charset="0"/>
                      </a:endParaRPr>
                    </a:p>
                  </a:txBody>
                  <a:tcPr marL="91450" marR="91450" marT="45725" marB="45725">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solidFill>
                  </a:tcPr>
                </a:tc>
                <a:tc>
                  <a:txBody>
                    <a:bodyPr/>
                    <a:lstStyle/>
                    <a:p>
                      <a:pPr marL="0" marR="0" lvl="0" indent="0" algn="l" rtl="0">
                        <a:lnSpc>
                          <a:spcPct val="100000"/>
                        </a:lnSpc>
                        <a:spcBef>
                          <a:spcPts val="0"/>
                        </a:spcBef>
                        <a:spcAft>
                          <a:spcPts val="0"/>
                        </a:spcAft>
                        <a:buClr>
                          <a:srgbClr val="000000"/>
                        </a:buClr>
                        <a:buSzPts val="2000"/>
                        <a:buFont typeface="Arial"/>
                        <a:buNone/>
                      </a:pPr>
                      <a:r>
                        <a:rPr lang="en-US" sz="1800" b="1" u="none" strike="noStrike" cap="none" dirty="0">
                          <a:solidFill>
                            <a:schemeClr val="bg1"/>
                          </a:solidFill>
                          <a:latin typeface="Arial" panose="020B0604020202020204" pitchFamily="34" charset="0"/>
                          <a:ea typeface="Arial"/>
                          <a:cs typeface="Arial" panose="020B0604020202020204" pitchFamily="34" charset="0"/>
                          <a:sym typeface="Arial"/>
                        </a:rPr>
                        <a:t>Efficiency-seeking motives</a:t>
                      </a:r>
                      <a:endParaRPr sz="1800" dirty="0">
                        <a:solidFill>
                          <a:schemeClr val="bg1"/>
                        </a:solidFill>
                        <a:latin typeface="Arial" panose="020B0604020202020204" pitchFamily="34" charset="0"/>
                        <a:cs typeface="Arial" panose="020B0604020202020204" pitchFamily="34" charset="0"/>
                      </a:endParaRPr>
                    </a:p>
                  </a:txBody>
                  <a:tcPr marL="91450" marR="91450" marT="45725" marB="45725">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415645">
                <a:tc>
                  <a:txBody>
                    <a:bodyPr/>
                    <a:lstStyle/>
                    <a:p>
                      <a:pPr marL="342900" marR="0" lvl="0" indent="-342900" algn="l" rtl="0">
                        <a:lnSpc>
                          <a:spcPct val="100000"/>
                        </a:lnSpc>
                        <a:spcBef>
                          <a:spcPts val="0"/>
                        </a:spcBef>
                        <a:spcAft>
                          <a:spcPts val="0"/>
                        </a:spcAft>
                        <a:buClrTx/>
                        <a:buSzPts val="1800"/>
                        <a:buFont typeface="Arial" panose="020B0604020202020204" pitchFamily="34" charset="0"/>
                        <a:buChar char="•"/>
                      </a:pPr>
                      <a:r>
                        <a:rPr lang="en-US" sz="1800" u="none" strike="noStrike" cap="none" dirty="0">
                          <a:latin typeface="Arial" panose="020B0604020202020204" pitchFamily="34" charset="0"/>
                          <a:ea typeface="Arial"/>
                          <a:cs typeface="Arial" panose="020B0604020202020204" pitchFamily="34" charset="0"/>
                          <a:sym typeface="Arial"/>
                        </a:rPr>
                        <a:t>Gain access to new markets or opportunities</a:t>
                      </a:r>
                      <a:endParaRPr sz="1800" dirty="0">
                        <a:latin typeface="Arial" panose="020B0604020202020204" pitchFamily="34" charset="0"/>
                        <a:cs typeface="Arial" panose="020B0604020202020204" pitchFamily="34" charset="0"/>
                      </a:endParaRPr>
                    </a:p>
                  </a:txBody>
                  <a:tcPr marL="91450" marR="91450" marT="45725" marB="45725">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4EAE4"/>
                    </a:solidFill>
                  </a:tcPr>
                </a:tc>
                <a:tc>
                  <a:txBody>
                    <a:bodyPr/>
                    <a:lstStyle/>
                    <a:p>
                      <a:pPr marL="342900" marR="0" lvl="0" indent="-342900" algn="l" rtl="0">
                        <a:lnSpc>
                          <a:spcPct val="100000"/>
                        </a:lnSpc>
                        <a:spcBef>
                          <a:spcPts val="0"/>
                        </a:spcBef>
                        <a:spcAft>
                          <a:spcPts val="0"/>
                        </a:spcAft>
                        <a:buClrTx/>
                        <a:buSzPts val="1800"/>
                        <a:buFont typeface="Arial" panose="020B0604020202020204" pitchFamily="34" charset="0"/>
                        <a:buChar char="•"/>
                      </a:pPr>
                      <a:r>
                        <a:rPr lang="en-US" sz="1800" u="none" strike="noStrike" cap="none" dirty="0">
                          <a:latin typeface="Arial" panose="020B0604020202020204" pitchFamily="34" charset="0"/>
                          <a:ea typeface="Arial"/>
                          <a:cs typeface="Arial" panose="020B0604020202020204" pitchFamily="34" charset="0"/>
                          <a:sym typeface="Arial"/>
                        </a:rPr>
                        <a:t>Access raw materials</a:t>
                      </a:r>
                      <a:endParaRPr sz="1800" dirty="0">
                        <a:latin typeface="Arial" panose="020B0604020202020204" pitchFamily="34" charset="0"/>
                        <a:cs typeface="Arial" panose="020B0604020202020204" pitchFamily="34" charset="0"/>
                      </a:endParaRPr>
                    </a:p>
                  </a:txBody>
                  <a:tcPr marL="91450" marR="91450" marT="45725" marB="45725">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4EAE4"/>
                    </a:solidFill>
                  </a:tcPr>
                </a:tc>
                <a:tc>
                  <a:txBody>
                    <a:bodyPr/>
                    <a:lstStyle/>
                    <a:p>
                      <a:pPr marL="342900" marR="0" lvl="0" indent="-342900" algn="l" rtl="0">
                        <a:lnSpc>
                          <a:spcPct val="100000"/>
                        </a:lnSpc>
                        <a:spcBef>
                          <a:spcPts val="0"/>
                        </a:spcBef>
                        <a:spcAft>
                          <a:spcPts val="0"/>
                        </a:spcAft>
                        <a:buClrTx/>
                        <a:buSzPts val="1800"/>
                        <a:buFont typeface="Arial" panose="020B0604020202020204" pitchFamily="34" charset="0"/>
                        <a:buChar char="•"/>
                      </a:pPr>
                      <a:r>
                        <a:rPr lang="en-US" sz="1800" u="none" strike="noStrike" cap="none" dirty="0">
                          <a:latin typeface="Arial" panose="020B0604020202020204" pitchFamily="34" charset="0"/>
                          <a:ea typeface="Arial"/>
                          <a:cs typeface="Arial" panose="020B0604020202020204" pitchFamily="34" charset="0"/>
                          <a:sym typeface="Arial"/>
                        </a:rPr>
                        <a:t>Reduce sourcing and production costs</a:t>
                      </a:r>
                      <a:endParaRPr sz="1800" dirty="0">
                        <a:latin typeface="Arial" panose="020B0604020202020204" pitchFamily="34" charset="0"/>
                        <a:cs typeface="Arial" panose="020B0604020202020204" pitchFamily="34" charset="0"/>
                      </a:endParaRPr>
                    </a:p>
                  </a:txBody>
                  <a:tcPr marL="91450" marR="91450" marT="45725" marB="45725">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1"/>
                  </a:ext>
                </a:extLst>
              </a:tr>
              <a:tr h="415645">
                <a:tc>
                  <a:txBody>
                    <a:bodyPr/>
                    <a:lstStyle/>
                    <a:p>
                      <a:pPr marL="342900" marR="0" lvl="0" indent="-342900" algn="l" rtl="0">
                        <a:lnSpc>
                          <a:spcPct val="100000"/>
                        </a:lnSpc>
                        <a:spcBef>
                          <a:spcPts val="0"/>
                        </a:spcBef>
                        <a:spcAft>
                          <a:spcPts val="0"/>
                        </a:spcAft>
                        <a:buClrTx/>
                        <a:buSzPts val="1800"/>
                        <a:buFont typeface="Arial" panose="020B0604020202020204" pitchFamily="34" charset="0"/>
                        <a:buChar char="•"/>
                      </a:pPr>
                      <a:r>
                        <a:rPr lang="en-US" sz="1800" u="none" strike="noStrike" cap="none" dirty="0">
                          <a:latin typeface="Arial" panose="020B0604020202020204" pitchFamily="34" charset="0"/>
                          <a:ea typeface="Arial"/>
                          <a:cs typeface="Arial" panose="020B0604020202020204" pitchFamily="34" charset="0"/>
                          <a:sym typeface="Arial"/>
                        </a:rPr>
                        <a:t>Follow key customers</a:t>
                      </a:r>
                      <a:endParaRPr sz="1800" dirty="0">
                        <a:latin typeface="Arial" panose="020B0604020202020204" pitchFamily="34" charset="0"/>
                        <a:cs typeface="Arial" panose="020B0604020202020204" pitchFamily="34" charset="0"/>
                      </a:endParaRPr>
                    </a:p>
                  </a:txBody>
                  <a:tcPr marL="91450" marR="91450" marT="45725" marB="45725">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4EAE4"/>
                    </a:solidFill>
                  </a:tcPr>
                </a:tc>
                <a:tc>
                  <a:txBody>
                    <a:bodyPr/>
                    <a:lstStyle/>
                    <a:p>
                      <a:pPr marL="342900" marR="0" lvl="0" indent="-342900" algn="l" rtl="0">
                        <a:lnSpc>
                          <a:spcPct val="100000"/>
                        </a:lnSpc>
                        <a:spcBef>
                          <a:spcPts val="0"/>
                        </a:spcBef>
                        <a:spcAft>
                          <a:spcPts val="0"/>
                        </a:spcAft>
                        <a:buClrTx/>
                        <a:buSzPts val="1800"/>
                        <a:buFont typeface="Arial" panose="020B0604020202020204" pitchFamily="34" charset="0"/>
                        <a:buChar char="•"/>
                      </a:pPr>
                      <a:r>
                        <a:rPr lang="en-US" sz="1800" u="none" strike="noStrike" cap="none" dirty="0">
                          <a:latin typeface="Arial" panose="020B0604020202020204" pitchFamily="34" charset="0"/>
                          <a:ea typeface="Arial"/>
                          <a:cs typeface="Arial" panose="020B0604020202020204" pitchFamily="34" charset="0"/>
                          <a:sym typeface="Arial"/>
                        </a:rPr>
                        <a:t>Gain access to knowledge or other assets</a:t>
                      </a:r>
                      <a:endParaRPr sz="1800" dirty="0">
                        <a:latin typeface="Arial" panose="020B0604020202020204" pitchFamily="34" charset="0"/>
                        <a:cs typeface="Arial" panose="020B0604020202020204" pitchFamily="34" charset="0"/>
                      </a:endParaRPr>
                    </a:p>
                  </a:txBody>
                  <a:tcPr marL="91450" marR="91450" marT="45725" marB="45725">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4EAE4"/>
                    </a:solidFill>
                  </a:tcPr>
                </a:tc>
                <a:tc>
                  <a:txBody>
                    <a:bodyPr/>
                    <a:lstStyle/>
                    <a:p>
                      <a:pPr marL="342900" marR="0" lvl="0" indent="-342900" algn="l" rtl="0">
                        <a:lnSpc>
                          <a:spcPct val="100000"/>
                        </a:lnSpc>
                        <a:spcBef>
                          <a:spcPts val="0"/>
                        </a:spcBef>
                        <a:spcAft>
                          <a:spcPts val="0"/>
                        </a:spcAft>
                        <a:buClrTx/>
                        <a:buSzPts val="1800"/>
                        <a:buFont typeface="Arial" panose="020B0604020202020204" pitchFamily="34" charset="0"/>
                        <a:buChar char="•"/>
                      </a:pPr>
                      <a:r>
                        <a:rPr lang="en-US" sz="1800" u="none" strike="noStrike" cap="none" dirty="0">
                          <a:latin typeface="Arial" panose="020B0604020202020204" pitchFamily="34" charset="0"/>
                          <a:ea typeface="Arial"/>
                          <a:cs typeface="Arial" panose="020B0604020202020204" pitchFamily="34" charset="0"/>
                          <a:sym typeface="Arial"/>
                        </a:rPr>
                        <a:t>Locate production near customers</a:t>
                      </a:r>
                      <a:endParaRPr sz="1800" dirty="0">
                        <a:latin typeface="Arial" panose="020B0604020202020204" pitchFamily="34" charset="0"/>
                        <a:cs typeface="Arial" panose="020B0604020202020204" pitchFamily="34" charset="0"/>
                      </a:endParaRPr>
                    </a:p>
                  </a:txBody>
                  <a:tcPr marL="91450" marR="91450" marT="45725" marB="45725">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2"/>
                  </a:ext>
                </a:extLst>
              </a:tr>
              <a:tr h="446907">
                <a:tc>
                  <a:txBody>
                    <a:bodyPr/>
                    <a:lstStyle/>
                    <a:p>
                      <a:pPr marL="342900" marR="0" lvl="0" indent="-342900" algn="l" rtl="0">
                        <a:lnSpc>
                          <a:spcPct val="100000"/>
                        </a:lnSpc>
                        <a:spcBef>
                          <a:spcPts val="0"/>
                        </a:spcBef>
                        <a:spcAft>
                          <a:spcPts val="0"/>
                        </a:spcAft>
                        <a:buClrTx/>
                        <a:buSzPts val="1800"/>
                        <a:buFont typeface="Arial" panose="020B0604020202020204" pitchFamily="34" charset="0"/>
                        <a:buChar char="•"/>
                      </a:pPr>
                      <a:r>
                        <a:rPr lang="en-US" sz="1800" u="none" strike="noStrike" cap="none" dirty="0">
                          <a:latin typeface="Arial" panose="020B0604020202020204" pitchFamily="34" charset="0"/>
                          <a:ea typeface="Arial"/>
                          <a:cs typeface="Arial" panose="020B0604020202020204" pitchFamily="34" charset="0"/>
                          <a:sym typeface="Arial"/>
                        </a:rPr>
                        <a:t>Compete with key rivals in their own markets</a:t>
                      </a:r>
                      <a:endParaRPr sz="1800" dirty="0">
                        <a:latin typeface="Arial" panose="020B0604020202020204" pitchFamily="34" charset="0"/>
                        <a:cs typeface="Arial" panose="020B0604020202020204" pitchFamily="34" charset="0"/>
                      </a:endParaRPr>
                    </a:p>
                  </a:txBody>
                  <a:tcPr marL="91450" marR="91450" marT="45725" marB="45725">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4EAE4"/>
                    </a:solidFill>
                  </a:tcPr>
                </a:tc>
                <a:tc>
                  <a:txBody>
                    <a:bodyPr/>
                    <a:lstStyle/>
                    <a:p>
                      <a:pPr marL="342900" marR="0" lvl="0" indent="-342900" algn="l" rtl="0">
                        <a:lnSpc>
                          <a:spcPct val="100000"/>
                        </a:lnSpc>
                        <a:spcBef>
                          <a:spcPts val="0"/>
                        </a:spcBef>
                        <a:spcAft>
                          <a:spcPts val="0"/>
                        </a:spcAft>
                        <a:buClrTx/>
                        <a:buSzPts val="1800"/>
                        <a:buFont typeface="Arial" panose="020B0604020202020204" pitchFamily="34" charset="0"/>
                        <a:buChar char="•"/>
                      </a:pPr>
                      <a:r>
                        <a:rPr lang="en-US" sz="1800" u="none" strike="noStrike" cap="none" dirty="0">
                          <a:latin typeface="Arial" panose="020B0604020202020204" pitchFamily="34" charset="0"/>
                          <a:ea typeface="Arial"/>
                          <a:cs typeface="Arial" panose="020B0604020202020204" pitchFamily="34" charset="0"/>
                          <a:sym typeface="Arial"/>
                        </a:rPr>
                        <a:t>Access technological and managerial know-how available in a key market</a:t>
                      </a:r>
                      <a:endParaRPr sz="1800" b="0" i="0" u="none" strike="noStrike" cap="none" dirty="0">
                        <a:solidFill>
                          <a:schemeClr val="dk1"/>
                        </a:solidFill>
                        <a:latin typeface="Arial" panose="020B0604020202020204" pitchFamily="34" charset="0"/>
                        <a:ea typeface="Arial"/>
                        <a:cs typeface="Arial" panose="020B0604020202020204" pitchFamily="34" charset="0"/>
                        <a:sym typeface="Arial"/>
                      </a:endParaRPr>
                    </a:p>
                  </a:txBody>
                  <a:tcPr marL="91450" marR="91450" marT="45725" marB="45725">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4EAE4"/>
                    </a:solidFill>
                  </a:tcPr>
                </a:tc>
                <a:tc>
                  <a:txBody>
                    <a:bodyPr/>
                    <a:lstStyle/>
                    <a:p>
                      <a:pPr marL="342900" marR="0" lvl="0" indent="-342900" algn="l" rtl="0">
                        <a:lnSpc>
                          <a:spcPct val="100000"/>
                        </a:lnSpc>
                        <a:spcBef>
                          <a:spcPts val="0"/>
                        </a:spcBef>
                        <a:spcAft>
                          <a:spcPts val="0"/>
                        </a:spcAft>
                        <a:buClrTx/>
                        <a:buSzPts val="1800"/>
                        <a:buFont typeface="Arial" panose="020B0604020202020204" pitchFamily="34" charset="0"/>
                        <a:buChar char="•"/>
                      </a:pPr>
                      <a:r>
                        <a:rPr lang="en-US" sz="1800" u="none" strike="noStrike" cap="none" dirty="0">
                          <a:latin typeface="Arial" panose="020B0604020202020204" pitchFamily="34" charset="0"/>
                          <a:ea typeface="Arial"/>
                          <a:cs typeface="Arial" panose="020B0604020202020204" pitchFamily="34" charset="0"/>
                          <a:sym typeface="Arial"/>
                        </a:rPr>
                        <a:t>Take advantage of government incentives</a:t>
                      </a:r>
                      <a:endParaRPr sz="1800" dirty="0">
                        <a:latin typeface="Arial" panose="020B0604020202020204" pitchFamily="34" charset="0"/>
                        <a:cs typeface="Arial" panose="020B0604020202020204" pitchFamily="34" charset="0"/>
                      </a:endParaRPr>
                    </a:p>
                  </a:txBody>
                  <a:tcPr marL="91450" marR="91450" marT="45725" marB="45725">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3"/>
                  </a:ext>
                </a:extLst>
              </a:tr>
              <a:tr h="415645">
                <a:tc>
                  <a:txBody>
                    <a:bodyPr/>
                    <a:lstStyle/>
                    <a:p>
                      <a:pPr marL="0" marR="0" lvl="0" indent="0" algn="l" rtl="0">
                        <a:lnSpc>
                          <a:spcPct val="100000"/>
                        </a:lnSpc>
                        <a:spcBef>
                          <a:spcPts val="0"/>
                        </a:spcBef>
                        <a:spcAft>
                          <a:spcPts val="0"/>
                        </a:spcAft>
                        <a:buClr>
                          <a:schemeClr val="lt1"/>
                        </a:buClr>
                        <a:buSzPts val="1800"/>
                        <a:buFont typeface="Arial"/>
                        <a:buNone/>
                      </a:pPr>
                      <a:r>
                        <a:rPr lang="en-US" sz="100" b="0" u="none" strike="noStrike" cap="none" dirty="0">
                          <a:solidFill>
                            <a:schemeClr val="tx1"/>
                          </a:solidFill>
                          <a:latin typeface="Arial" panose="020B0604020202020204" pitchFamily="34" charset="0"/>
                          <a:ea typeface="Arial"/>
                          <a:cs typeface="Arial" panose="020B0604020202020204" pitchFamily="34" charset="0"/>
                          <a:sym typeface="Arial"/>
                        </a:rPr>
                        <a:t>Blank</a:t>
                      </a:r>
                      <a:endParaRPr sz="100" b="0" dirty="0">
                        <a:solidFill>
                          <a:schemeClr val="tx1"/>
                        </a:solidFill>
                        <a:latin typeface="Arial" panose="020B0604020202020204" pitchFamily="34" charset="0"/>
                        <a:cs typeface="Arial" panose="020B0604020202020204" pitchFamily="34" charset="0"/>
                      </a:endParaRPr>
                    </a:p>
                  </a:txBody>
                  <a:tcPr marL="91450" marR="91450" marT="45725" marB="45725">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4EAE4"/>
                    </a:solidFill>
                  </a:tcPr>
                </a:tc>
                <a:tc>
                  <a:txBody>
                    <a:bodyPr/>
                    <a:lstStyle/>
                    <a:p>
                      <a:pPr marL="0" marR="0" lvl="0" indent="0" algn="l" rtl="0">
                        <a:lnSpc>
                          <a:spcPct val="100000"/>
                        </a:lnSpc>
                        <a:spcBef>
                          <a:spcPts val="0"/>
                        </a:spcBef>
                        <a:spcAft>
                          <a:spcPts val="0"/>
                        </a:spcAft>
                        <a:buClr>
                          <a:schemeClr val="lt1"/>
                        </a:buClr>
                        <a:buSzPts val="1800"/>
                        <a:buFont typeface="Arial"/>
                        <a:buNone/>
                      </a:pPr>
                      <a:r>
                        <a:rPr lang="en-US" sz="100" b="0" u="none" strike="noStrike" cap="none" dirty="0">
                          <a:solidFill>
                            <a:schemeClr val="tx1"/>
                          </a:solidFill>
                          <a:latin typeface="Arial" panose="020B0604020202020204" pitchFamily="34" charset="0"/>
                          <a:ea typeface="Arial"/>
                          <a:cs typeface="Arial" panose="020B0604020202020204" pitchFamily="34" charset="0"/>
                          <a:sym typeface="Arial"/>
                        </a:rPr>
                        <a:t>Blank</a:t>
                      </a:r>
                      <a:endParaRPr sz="100" b="0" u="none" strike="noStrike" cap="none" dirty="0">
                        <a:solidFill>
                          <a:schemeClr val="tx1"/>
                        </a:solidFill>
                        <a:latin typeface="Arial" panose="020B0604020202020204" pitchFamily="34" charset="0"/>
                        <a:ea typeface="Arial"/>
                        <a:cs typeface="Arial" panose="020B0604020202020204" pitchFamily="34" charset="0"/>
                        <a:sym typeface="Arial"/>
                      </a:endParaRPr>
                    </a:p>
                  </a:txBody>
                  <a:tcPr marL="91450" marR="91450" marT="45725" marB="45725">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4EAE4"/>
                    </a:solidFill>
                  </a:tcPr>
                </a:tc>
                <a:tc>
                  <a:txBody>
                    <a:bodyPr/>
                    <a:lstStyle/>
                    <a:p>
                      <a:pPr marL="342900" marR="0" lvl="0" indent="-342900" algn="l" rtl="0">
                        <a:lnSpc>
                          <a:spcPct val="100000"/>
                        </a:lnSpc>
                        <a:spcBef>
                          <a:spcPts val="0"/>
                        </a:spcBef>
                        <a:spcAft>
                          <a:spcPts val="0"/>
                        </a:spcAft>
                        <a:buClrTx/>
                        <a:buSzPts val="1800"/>
                        <a:buFont typeface="Arial" panose="020B0604020202020204" pitchFamily="34" charset="0"/>
                        <a:buChar char="•"/>
                      </a:pPr>
                      <a:r>
                        <a:rPr lang="en-US" sz="1800" u="none" strike="noStrike" cap="none" dirty="0">
                          <a:latin typeface="Arial" panose="020B0604020202020204" pitchFamily="34" charset="0"/>
                          <a:ea typeface="Arial"/>
                          <a:cs typeface="Arial" panose="020B0604020202020204" pitchFamily="34" charset="0"/>
                          <a:sym typeface="Arial"/>
                        </a:rPr>
                        <a:t>Avoid trade barriers</a:t>
                      </a:r>
                      <a:endParaRPr sz="1800" b="0" i="0" u="none" strike="noStrike" cap="none" dirty="0">
                        <a:solidFill>
                          <a:schemeClr val="dk1"/>
                        </a:solidFill>
                        <a:latin typeface="Arial" panose="020B0604020202020204" pitchFamily="34" charset="0"/>
                        <a:ea typeface="Arial"/>
                        <a:cs typeface="Arial" panose="020B0604020202020204" pitchFamily="34" charset="0"/>
                        <a:sym typeface="Arial"/>
                      </a:endParaRPr>
                    </a:p>
                  </a:txBody>
                  <a:tcPr marL="91450" marR="91450" marT="45725" marB="45725">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5676744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40" y="122774"/>
            <a:ext cx="8341260" cy="590349"/>
          </a:xfrm>
        </p:spPr>
        <p:txBody>
          <a:bodyPr wrap="square" lIns="0" tIns="18000" rIns="0" bIns="18000" anchor="ctr" anchorCtr="0">
            <a:spAutoFit/>
          </a:bodyPr>
          <a:lstStyle/>
          <a:p>
            <a:r>
              <a:rPr lang="en-US" dirty="0"/>
              <a:t>Market-Seeking Motives </a:t>
            </a:r>
            <a:r>
              <a:rPr lang="en-US" sz="2800" dirty="0"/>
              <a:t>(1 of 2)</a:t>
            </a:r>
            <a:endParaRPr lang="en-US" sz="28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67400" y="863783"/>
            <a:ext cx="8353425" cy="4175946"/>
          </a:xfrm>
        </p:spPr>
        <p:txBody>
          <a:bodyPr wrap="square" lIns="0" tIns="18000" rIns="0" bIns="18000" anchor="ctr" anchorCtr="0">
            <a:spAutoFit/>
          </a:bodyPr>
          <a:lstStyle/>
          <a:p>
            <a:pPr marL="342900" indent="-342900">
              <a:spcBef>
                <a:spcPts val="600"/>
              </a:spcBef>
            </a:pPr>
            <a:r>
              <a:rPr lang="en-US" sz="2400" b="1" dirty="0"/>
              <a:t>Gain access to new markets or opportunities.</a:t>
            </a:r>
            <a:r>
              <a:rPr lang="en-US" sz="2400" dirty="0"/>
              <a:t> The existence of a large market motivates many firms to produce goods at or near customer locations. Boeing, Coca-Cola, </a:t>
            </a:r>
            <a:r>
              <a:rPr lang="en-US" sz="2400" spc="-300" dirty="0"/>
              <a:t>I B </a:t>
            </a:r>
            <a:r>
              <a:rPr lang="en-US" sz="2400" dirty="0"/>
              <a:t>M, McDonald's, and Toyota all generate more sales abroad than they do at home.</a:t>
            </a:r>
          </a:p>
          <a:p>
            <a:pPr marL="342900" indent="-342900">
              <a:spcBef>
                <a:spcPts val="600"/>
              </a:spcBef>
            </a:pPr>
            <a:r>
              <a:rPr lang="en-US" sz="2400" b="1" dirty="0"/>
              <a:t>Follow key customers. </a:t>
            </a:r>
            <a:r>
              <a:rPr lang="en-US" sz="2400" dirty="0"/>
              <a:t>Firms often follow their key customers abroad to preempt other vendors from servicing them. For example, Tredegar Industries supplies the plastic that its customer Procter &amp; Gamble uses to make disposable diapers. When P&amp;G built a plant in China, Tredegar established production there too.</a:t>
            </a:r>
          </a:p>
        </p:txBody>
      </p:sp>
    </p:spTree>
    <p:extLst>
      <p:ext uri="{BB962C8B-B14F-4D97-AF65-F5344CB8AC3E}">
        <p14:creationId xmlns:p14="http://schemas.microsoft.com/office/powerpoint/2010/main" val="37984347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40" y="122774"/>
            <a:ext cx="8341260" cy="590349"/>
          </a:xfrm>
        </p:spPr>
        <p:txBody>
          <a:bodyPr wrap="square" lIns="0" tIns="18000" rIns="0" bIns="18000" anchor="ctr" anchorCtr="0">
            <a:spAutoFit/>
          </a:bodyPr>
          <a:lstStyle/>
          <a:p>
            <a:r>
              <a:rPr lang="en-US" dirty="0"/>
              <a:t>Market-Seeking Motives </a:t>
            </a:r>
            <a:r>
              <a:rPr lang="en-US" sz="2800" dirty="0"/>
              <a:t>(2 of 2)</a:t>
            </a:r>
            <a:endParaRPr lang="en-US" sz="28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67401" y="871298"/>
            <a:ext cx="8121280" cy="2621675"/>
          </a:xfrm>
        </p:spPr>
        <p:txBody>
          <a:bodyPr wrap="square" lIns="0" tIns="18000" rIns="0" bIns="18000" anchor="ctr" anchorCtr="0">
            <a:spAutoFit/>
          </a:bodyPr>
          <a:lstStyle/>
          <a:p>
            <a:pPr marL="342900" indent="-342900">
              <a:spcBef>
                <a:spcPts val="600"/>
              </a:spcBef>
            </a:pPr>
            <a:r>
              <a:rPr lang="en-US" sz="2400" b="1" dirty="0"/>
              <a:t>Compete with key rivals in their own markets.</a:t>
            </a:r>
            <a:r>
              <a:rPr lang="en-US" sz="2400" dirty="0"/>
              <a:t> Some </a:t>
            </a:r>
            <a:r>
              <a:rPr lang="en-US" sz="2400" spc="-300" dirty="0"/>
              <a:t>M N E </a:t>
            </a:r>
            <a:r>
              <a:rPr lang="en-US" sz="2400" dirty="0"/>
              <a:t>s choose to compete with competitors directly in their home markets. The purpose is to weaken and force the rival to expend resources defending its own market. For example, Caterpillar entered Japan to tie up arch-rival Komatsu, to hamper Komatsu’s ability to expand its activities in the </a:t>
            </a:r>
            <a:r>
              <a:rPr lang="en-US" sz="2400" spc="-300" dirty="0"/>
              <a:t>U S </a:t>
            </a:r>
            <a:r>
              <a:rPr lang="en-US" sz="2400" dirty="0"/>
              <a:t>A. </a:t>
            </a:r>
          </a:p>
        </p:txBody>
      </p:sp>
      <p:pic>
        <p:nvPicPr>
          <p:cNvPr id="4" name="Picture 3" descr="A Caterpillar bulldozer versus a Komatsu tractor.">
            <a:extLst>
              <a:ext uri="{FF2B5EF4-FFF2-40B4-BE49-F238E27FC236}">
                <a16:creationId xmlns:a16="http://schemas.microsoft.com/office/drawing/2014/main" id="{5BD0392F-0775-4DE4-8037-6CDDDAE2F070}"/>
              </a:ext>
            </a:extLst>
          </p:cNvPr>
          <p:cNvPicPr>
            <a:picLocks noChangeAspect="1"/>
          </p:cNvPicPr>
          <p:nvPr/>
        </p:nvPicPr>
        <p:blipFill>
          <a:blip r:embed="rId3"/>
          <a:stretch>
            <a:fillRect/>
          </a:stretch>
        </p:blipFill>
        <p:spPr>
          <a:xfrm>
            <a:off x="712931" y="3691612"/>
            <a:ext cx="7718146" cy="2259787"/>
          </a:xfrm>
          <a:prstGeom prst="rect">
            <a:avLst/>
          </a:prstGeom>
        </p:spPr>
      </p:pic>
    </p:spTree>
    <p:extLst>
      <p:ext uri="{BB962C8B-B14F-4D97-AF65-F5344CB8AC3E}">
        <p14:creationId xmlns:p14="http://schemas.microsoft.com/office/powerpoint/2010/main" val="27566041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4386" y="116590"/>
            <a:ext cx="8346440" cy="590349"/>
          </a:xfrm>
        </p:spPr>
        <p:txBody>
          <a:bodyPr wrap="square" lIns="0" tIns="18000" rIns="0" bIns="18000" anchor="ctr" anchorCtr="0">
            <a:spAutoFit/>
          </a:bodyPr>
          <a:lstStyle/>
          <a:p>
            <a:r>
              <a:rPr lang="en-US" dirty="0"/>
              <a:t>Resource or Asset-Seeking Motives</a:t>
            </a:r>
            <a:endParaRPr lang="en-US" sz="28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67401" y="899520"/>
            <a:ext cx="5084493" cy="3498838"/>
          </a:xfrm>
        </p:spPr>
        <p:txBody>
          <a:bodyPr wrap="square" lIns="0" tIns="18000" rIns="0" bIns="18000" anchor="ctr" anchorCtr="0">
            <a:spAutoFit/>
          </a:bodyPr>
          <a:lstStyle/>
          <a:p>
            <a:pPr marL="342900" indent="-342900">
              <a:spcBef>
                <a:spcPts val="600"/>
              </a:spcBef>
            </a:pPr>
            <a:r>
              <a:rPr lang="en-US" sz="2200" b="1" dirty="0"/>
              <a:t>Access raw materials needed in extractive and agricultural industries.</a:t>
            </a:r>
            <a:r>
              <a:rPr lang="en-US" sz="2200" dirty="0"/>
              <a:t> For example, firms in the mining and oil industries must go where the raw materials are located.</a:t>
            </a:r>
          </a:p>
          <a:p>
            <a:pPr marL="342900" indent="-342900">
              <a:spcBef>
                <a:spcPts val="600"/>
              </a:spcBef>
            </a:pPr>
            <a:r>
              <a:rPr lang="en-US" sz="2200" b="1" dirty="0"/>
              <a:t>Gain access to knowledge or other assets. </a:t>
            </a:r>
            <a:r>
              <a:rPr lang="en-US" sz="2200" dirty="0"/>
              <a:t>When Whirlpool entered Europe, it partnered with Philips to access a well-known brand name and distribution network.</a:t>
            </a:r>
            <a:endParaRPr lang="en-IN" sz="2200" dirty="0"/>
          </a:p>
        </p:txBody>
      </p:sp>
      <p:pic>
        <p:nvPicPr>
          <p:cNvPr id="6" name="Picture 5" descr="A scenic view of a vineyard during sunset, with rows of grapevines, a small building in the distance, and a sky filled with hued clouds.">
            <a:extLst>
              <a:ext uri="{FF2B5EF4-FFF2-40B4-BE49-F238E27FC236}">
                <a16:creationId xmlns:a16="http://schemas.microsoft.com/office/drawing/2014/main" id="{01D452D8-9292-41F1-944F-43EF6165D614}"/>
              </a:ext>
            </a:extLst>
          </p:cNvPr>
          <p:cNvPicPr>
            <a:picLocks noChangeAspect="1"/>
          </p:cNvPicPr>
          <p:nvPr/>
        </p:nvPicPr>
        <p:blipFill>
          <a:blip r:embed="rId3"/>
          <a:stretch>
            <a:fillRect/>
          </a:stretch>
        </p:blipFill>
        <p:spPr>
          <a:xfrm>
            <a:off x="5825791" y="1263847"/>
            <a:ext cx="2858048" cy="2624855"/>
          </a:xfrm>
          <a:prstGeom prst="rect">
            <a:avLst/>
          </a:prstGeom>
        </p:spPr>
      </p:pic>
      <p:sp>
        <p:nvSpPr>
          <p:cNvPr id="3" name="Content Placeholder 2">
            <a:extLst>
              <a:ext uri="{FF2B5EF4-FFF2-40B4-BE49-F238E27FC236}">
                <a16:creationId xmlns:a16="http://schemas.microsoft.com/office/drawing/2014/main" id="{3E8A1C2A-C383-4E5A-BF78-492E3F1F600B}"/>
              </a:ext>
            </a:extLst>
          </p:cNvPr>
          <p:cNvSpPr>
            <a:spLocks noGrp="1"/>
          </p:cNvSpPr>
          <p:nvPr>
            <p:ph sz="quarter" idx="14"/>
          </p:nvPr>
        </p:nvSpPr>
        <p:spPr>
          <a:xfrm>
            <a:off x="375022" y="4445610"/>
            <a:ext cx="8346440" cy="1729123"/>
          </a:xfrm>
        </p:spPr>
        <p:txBody>
          <a:bodyPr wrap="square" lIns="0" tIns="18000" rIns="0" bIns="18000" anchor="ctr" anchorCtr="0">
            <a:spAutoFit/>
          </a:bodyPr>
          <a:lstStyle/>
          <a:p>
            <a:pPr marL="342900" indent="-342900">
              <a:spcBef>
                <a:spcPts val="600"/>
              </a:spcBef>
            </a:pPr>
            <a:r>
              <a:rPr lang="en-US" sz="2200" b="1" dirty="0"/>
              <a:t>Access technological and managerial know-how available in a key market.</a:t>
            </a:r>
            <a:r>
              <a:rPr lang="en-US" sz="2200" dirty="0"/>
              <a:t> The firm may benefit by establishing a presence in a key industrial cluster, such as the robotics industry in Japan, chemicals in Germany, fashion in Italy, and software in the United States.</a:t>
            </a:r>
          </a:p>
        </p:txBody>
      </p:sp>
    </p:spTree>
    <p:extLst>
      <p:ext uri="{BB962C8B-B14F-4D97-AF65-F5344CB8AC3E}">
        <p14:creationId xmlns:p14="http://schemas.microsoft.com/office/powerpoint/2010/main" val="16297995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40" y="122774"/>
            <a:ext cx="8341260" cy="590349"/>
          </a:xfrm>
        </p:spPr>
        <p:txBody>
          <a:bodyPr wrap="square" lIns="0" tIns="18000" rIns="0" bIns="18000" anchor="ctr" anchorCtr="0">
            <a:spAutoFit/>
          </a:bodyPr>
          <a:lstStyle/>
          <a:p>
            <a:r>
              <a:rPr lang="en-US" dirty="0"/>
              <a:t>Efficiency Seeking Motives </a:t>
            </a:r>
            <a:r>
              <a:rPr lang="en-US" sz="2800" dirty="0"/>
              <a:t>(1 of 2)</a:t>
            </a:r>
            <a:endParaRPr lang="en-US" sz="28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67401" y="868927"/>
            <a:ext cx="8121280" cy="3437283"/>
          </a:xfrm>
        </p:spPr>
        <p:txBody>
          <a:bodyPr wrap="square" lIns="0" tIns="18000" rIns="0" bIns="18000" anchor="ctr" anchorCtr="0">
            <a:spAutoFit/>
          </a:bodyPr>
          <a:lstStyle/>
          <a:p>
            <a:pPr marL="342900" indent="-342900">
              <a:spcBef>
                <a:spcPts val="600"/>
              </a:spcBef>
            </a:pPr>
            <a:r>
              <a:rPr lang="en-US" sz="2400" b="1" dirty="0"/>
              <a:t>Reduce sourcing and production costs by accessing inexpensive labor and other cheap inputs to the production process</a:t>
            </a:r>
            <a:r>
              <a:rPr lang="en-US" sz="2400" dirty="0"/>
              <a:t>. This motive accounts for the massive development of manufacturing facilities in China, Mexico, Eastern Europe, and India.</a:t>
            </a:r>
          </a:p>
          <a:p>
            <a:pPr marL="342900" indent="-342900">
              <a:spcBef>
                <a:spcPts val="600"/>
              </a:spcBef>
            </a:pPr>
            <a:r>
              <a:rPr lang="en-US" sz="2400" b="1" dirty="0"/>
              <a:t>Locate production near customers</a:t>
            </a:r>
            <a:r>
              <a:rPr lang="en-US" sz="2400" dirty="0"/>
              <a:t>. In the fashion industry, Spain’s Zara and Sweden’s H&amp;M locate much of their garment production in key markets such as Spain and Turkey.</a:t>
            </a:r>
          </a:p>
        </p:txBody>
      </p:sp>
      <p:pic>
        <p:nvPicPr>
          <p:cNvPr id="4" name="Picture 3" descr="A black letter on a white background">
            <a:extLst>
              <a:ext uri="{FF2B5EF4-FFF2-40B4-BE49-F238E27FC236}">
                <a16:creationId xmlns:a16="http://schemas.microsoft.com/office/drawing/2014/main" id="{44C4E490-2DA2-4DA5-9828-A05FCE309397}"/>
              </a:ext>
            </a:extLst>
          </p:cNvPr>
          <p:cNvPicPr>
            <a:picLocks noChangeAspect="1"/>
          </p:cNvPicPr>
          <p:nvPr/>
        </p:nvPicPr>
        <p:blipFill>
          <a:blip r:embed="rId3"/>
          <a:stretch>
            <a:fillRect/>
          </a:stretch>
        </p:blipFill>
        <p:spPr>
          <a:xfrm>
            <a:off x="1648371" y="4753594"/>
            <a:ext cx="5847261" cy="922149"/>
          </a:xfrm>
          <a:prstGeom prst="rect">
            <a:avLst/>
          </a:prstGeom>
        </p:spPr>
      </p:pic>
    </p:spTree>
    <p:extLst>
      <p:ext uri="{BB962C8B-B14F-4D97-AF65-F5344CB8AC3E}">
        <p14:creationId xmlns:p14="http://schemas.microsoft.com/office/powerpoint/2010/main" val="33161295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40" y="122774"/>
            <a:ext cx="8341260" cy="590349"/>
          </a:xfrm>
        </p:spPr>
        <p:txBody>
          <a:bodyPr wrap="square" lIns="0" tIns="18000" rIns="0" bIns="18000" anchor="ctr" anchorCtr="0">
            <a:spAutoFit/>
          </a:bodyPr>
          <a:lstStyle/>
          <a:p>
            <a:r>
              <a:rPr lang="en-US" dirty="0"/>
              <a:t>Efficiency Seeking Motives </a:t>
            </a:r>
            <a:r>
              <a:rPr lang="en-US" sz="2800" dirty="0"/>
              <a:t>(2 of 2)</a:t>
            </a:r>
            <a:endParaRPr lang="en-US" sz="28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67401" y="868927"/>
            <a:ext cx="8121280" cy="3437283"/>
          </a:xfrm>
        </p:spPr>
        <p:txBody>
          <a:bodyPr wrap="square" lIns="0" tIns="18000" rIns="0" bIns="18000" anchor="ctr" anchorCtr="0">
            <a:spAutoFit/>
          </a:bodyPr>
          <a:lstStyle/>
          <a:p>
            <a:pPr marL="342900" indent="-342900">
              <a:spcBef>
                <a:spcPts val="600"/>
              </a:spcBef>
            </a:pPr>
            <a:r>
              <a:rPr lang="en-US" sz="2400" b="1" dirty="0"/>
              <a:t>Take advantage of government incentives</a:t>
            </a:r>
            <a:r>
              <a:rPr lang="en-US" sz="2400" dirty="0"/>
              <a:t>. In addition to restricting imports, governments may offer subsidies and tax concessions to foreign firms to encourage them to invest locally.</a:t>
            </a:r>
          </a:p>
          <a:p>
            <a:pPr marL="342900" indent="-342900">
              <a:spcBef>
                <a:spcPts val="600"/>
              </a:spcBef>
            </a:pPr>
            <a:r>
              <a:rPr lang="en-US" sz="2400" b="1" dirty="0"/>
              <a:t>Avoid trade barriers</a:t>
            </a:r>
            <a:r>
              <a:rPr lang="en-US" sz="2400" dirty="0"/>
              <a:t>. By establishing a physical presence within a country, the investor obtains the same advantages as local firms. The desire to avoid trade barriers helps explain why Japanese automakers set up factories in the United States.</a:t>
            </a:r>
          </a:p>
        </p:txBody>
      </p:sp>
    </p:spTree>
    <p:extLst>
      <p:ext uri="{BB962C8B-B14F-4D97-AF65-F5344CB8AC3E}">
        <p14:creationId xmlns:p14="http://schemas.microsoft.com/office/powerpoint/2010/main" val="29453194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40" y="122774"/>
            <a:ext cx="8341260" cy="590349"/>
          </a:xfrm>
        </p:spPr>
        <p:txBody>
          <a:bodyPr wrap="square" lIns="0" tIns="18000" rIns="0" bIns="18000" anchor="ctr" anchorCtr="0">
            <a:spAutoFit/>
          </a:bodyPr>
          <a:lstStyle/>
          <a:p>
            <a:r>
              <a:rPr lang="en-US" spc="-500" dirty="0"/>
              <a:t>F D </a:t>
            </a:r>
            <a:r>
              <a:rPr lang="en-US" dirty="0"/>
              <a:t>I Provides Economies of Scale</a:t>
            </a:r>
            <a:endParaRPr lang="en-US" sz="28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67400" y="867711"/>
            <a:ext cx="8341259" cy="4699166"/>
          </a:xfrm>
        </p:spPr>
        <p:txBody>
          <a:bodyPr wrap="square" lIns="0" tIns="18000" rIns="0" bIns="18000" anchor="ctr" anchorCtr="0">
            <a:spAutoFit/>
          </a:bodyPr>
          <a:lstStyle/>
          <a:p>
            <a:pPr marL="342900" indent="-342900">
              <a:spcBef>
                <a:spcPts val="600"/>
              </a:spcBef>
            </a:pPr>
            <a:r>
              <a:rPr lang="en-US" sz="2400" b="1" dirty="0"/>
              <a:t>Falling fixed costs.</a:t>
            </a:r>
            <a:r>
              <a:rPr lang="en-US" sz="2400" dirty="0"/>
              <a:t> Many industries and productive tasks have high per-unit fixed costs that decline the more the task is performed. </a:t>
            </a:r>
            <a:r>
              <a:rPr lang="en-US" sz="2400" spc="-300" dirty="0"/>
              <a:t>F D </a:t>
            </a:r>
            <a:r>
              <a:rPr lang="en-US" sz="2400" dirty="0"/>
              <a:t>I helps concentrate production and/or results in high sales volumes.</a:t>
            </a:r>
          </a:p>
          <a:p>
            <a:pPr marL="342900" indent="-342900">
              <a:spcBef>
                <a:spcPts val="600"/>
              </a:spcBef>
            </a:pPr>
            <a:r>
              <a:rPr lang="en-US" sz="2400" b="1" dirty="0"/>
              <a:t>Managerial resource efficiencies. </a:t>
            </a:r>
            <a:r>
              <a:rPr lang="en-US" sz="2400" dirty="0"/>
              <a:t>Highly international firms employ a relatively fixed number of headquarters staff across more subsidiaries and affiliates.</a:t>
            </a:r>
          </a:p>
          <a:p>
            <a:pPr marL="342900" indent="-342900">
              <a:spcBef>
                <a:spcPts val="600"/>
              </a:spcBef>
            </a:pPr>
            <a:r>
              <a:rPr lang="en-US" sz="2400" b="1" dirty="0"/>
              <a:t>Specialization of labor.</a:t>
            </a:r>
            <a:r>
              <a:rPr lang="en-US" sz="2400" dirty="0"/>
              <a:t> </a:t>
            </a:r>
            <a:r>
              <a:rPr lang="en-US" sz="2400" spc="-300" dirty="0"/>
              <a:t>F D </a:t>
            </a:r>
            <a:r>
              <a:rPr lang="en-US" sz="2400" dirty="0"/>
              <a:t>I facilitates hiring more specialized workers, which increases efficiencies.</a:t>
            </a:r>
          </a:p>
          <a:p>
            <a:pPr marL="342900" indent="-342900">
              <a:spcBef>
                <a:spcPts val="600"/>
              </a:spcBef>
            </a:pPr>
            <a:r>
              <a:rPr lang="en-US" sz="2400" b="1" dirty="0"/>
              <a:t>Financial economies. </a:t>
            </a:r>
            <a:r>
              <a:rPr lang="en-US" sz="2400" dirty="0"/>
              <a:t>Large firms with extensive international operations usually can access capital at lower cost.</a:t>
            </a:r>
          </a:p>
        </p:txBody>
      </p:sp>
    </p:spTree>
    <p:extLst>
      <p:ext uri="{BB962C8B-B14F-4D97-AF65-F5344CB8AC3E}">
        <p14:creationId xmlns:p14="http://schemas.microsoft.com/office/powerpoint/2010/main" val="14669799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38" y="115155"/>
            <a:ext cx="8341262" cy="590349"/>
          </a:xfrm>
        </p:spPr>
        <p:txBody>
          <a:bodyPr wrap="square" lIns="0" tIns="18000" rIns="0" bIns="18000" anchor="ctr" anchorCtr="0">
            <a:spAutoFit/>
          </a:bodyPr>
          <a:lstStyle/>
          <a:p>
            <a:r>
              <a:rPr lang="en-US" dirty="0"/>
              <a:t>Types of </a:t>
            </a:r>
            <a:r>
              <a:rPr lang="en-US" spc="-500" dirty="0"/>
              <a:t>F D </a:t>
            </a:r>
            <a:r>
              <a:rPr lang="en-US" dirty="0"/>
              <a:t>I</a:t>
            </a:r>
            <a:endParaRPr lang="en-US" sz="28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67400" y="876407"/>
            <a:ext cx="8353425" cy="1667567"/>
          </a:xfrm>
        </p:spPr>
        <p:txBody>
          <a:bodyPr wrap="square" lIns="0" tIns="18000" rIns="0" bIns="18000" anchor="ctr" anchorCtr="0">
            <a:spAutoFit/>
          </a:bodyPr>
          <a:lstStyle/>
          <a:p>
            <a:pPr marL="342900" indent="-342900">
              <a:spcBef>
                <a:spcPts val="600"/>
              </a:spcBef>
              <a:buSzPts val="2400"/>
            </a:pPr>
            <a:r>
              <a:rPr lang="en-US" sz="2400" dirty="0"/>
              <a:t>Greenfield investment vs. mergers and acquisitions</a:t>
            </a:r>
          </a:p>
          <a:p>
            <a:pPr marL="342900" indent="-342900">
              <a:spcBef>
                <a:spcPts val="600"/>
              </a:spcBef>
              <a:buSzPts val="2400"/>
            </a:pPr>
            <a:r>
              <a:rPr lang="en-US" sz="2400" dirty="0"/>
              <a:t>Nature of ownership: Wholly owned direct investment vs. equity joint venture</a:t>
            </a:r>
          </a:p>
          <a:p>
            <a:pPr marL="342900" indent="-342900">
              <a:spcBef>
                <a:spcPts val="600"/>
              </a:spcBef>
              <a:buSzPts val="2400"/>
            </a:pPr>
            <a:r>
              <a:rPr lang="en-US" sz="2400" dirty="0"/>
              <a:t>Level of integration: Vertical vs. horizontal </a:t>
            </a:r>
            <a:r>
              <a:rPr lang="en-US" sz="2400" spc="-300" dirty="0"/>
              <a:t>F D </a:t>
            </a:r>
            <a:r>
              <a:rPr lang="en-US" sz="2400" dirty="0"/>
              <a:t>I</a:t>
            </a:r>
          </a:p>
        </p:txBody>
      </p:sp>
      <p:pic>
        <p:nvPicPr>
          <p:cNvPr id="11" name="Picture 10" descr="An aerial view of a city with numerous high-rise buildings. ">
            <a:extLst>
              <a:ext uri="{FF2B5EF4-FFF2-40B4-BE49-F238E27FC236}">
                <a16:creationId xmlns:a16="http://schemas.microsoft.com/office/drawing/2014/main" id="{0879D91E-A70B-4EBF-939B-838A6FD1DE04}"/>
              </a:ext>
            </a:extLst>
          </p:cNvPr>
          <p:cNvPicPr>
            <a:picLocks noChangeAspect="1"/>
          </p:cNvPicPr>
          <p:nvPr/>
        </p:nvPicPr>
        <p:blipFill>
          <a:blip r:embed="rId3"/>
          <a:stretch>
            <a:fillRect/>
          </a:stretch>
        </p:blipFill>
        <p:spPr>
          <a:xfrm>
            <a:off x="4641529" y="2894335"/>
            <a:ext cx="3639312" cy="2432304"/>
          </a:xfrm>
          <a:prstGeom prst="rect">
            <a:avLst/>
          </a:prstGeom>
        </p:spPr>
      </p:pic>
      <p:sp>
        <p:nvSpPr>
          <p:cNvPr id="4" name="Content Placeholder 3">
            <a:extLst>
              <a:ext uri="{FF2B5EF4-FFF2-40B4-BE49-F238E27FC236}">
                <a16:creationId xmlns:a16="http://schemas.microsoft.com/office/drawing/2014/main" id="{B8E3954D-B9E0-4CD3-B4AC-8716E75ED6A5}"/>
              </a:ext>
            </a:extLst>
          </p:cNvPr>
          <p:cNvSpPr>
            <a:spLocks noGrp="1"/>
          </p:cNvSpPr>
          <p:nvPr>
            <p:ph sz="quarter" idx="15"/>
          </p:nvPr>
        </p:nvSpPr>
        <p:spPr>
          <a:xfrm>
            <a:off x="4641529" y="5475254"/>
            <a:ext cx="3545457" cy="405683"/>
          </a:xfrm>
        </p:spPr>
        <p:txBody>
          <a:bodyPr wrap="square" lIns="0" tIns="18000" rIns="0" bIns="18000" anchor="ctr" anchorCtr="0">
            <a:spAutoFit/>
          </a:bodyPr>
          <a:lstStyle/>
          <a:p>
            <a:pPr marL="0" indent="0">
              <a:buNone/>
            </a:pPr>
            <a:r>
              <a:rPr lang="en-US" sz="1200" dirty="0"/>
              <a:t>South Africa, shown here, has benefited greatly from inward </a:t>
            </a:r>
            <a:r>
              <a:rPr lang="en-US" sz="1200" spc="-150" dirty="0"/>
              <a:t>F D </a:t>
            </a:r>
            <a:r>
              <a:rPr lang="en-US" sz="1200" dirty="0"/>
              <a:t>I</a:t>
            </a:r>
          </a:p>
        </p:txBody>
      </p:sp>
    </p:spTree>
    <p:extLst>
      <p:ext uri="{BB962C8B-B14F-4D97-AF65-F5344CB8AC3E}">
        <p14:creationId xmlns:p14="http://schemas.microsoft.com/office/powerpoint/2010/main" val="21256386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40" y="122774"/>
            <a:ext cx="8341260" cy="590349"/>
          </a:xfrm>
        </p:spPr>
        <p:txBody>
          <a:bodyPr wrap="square" lIns="0" tIns="18000" rIns="0" bIns="18000" anchor="ctr" anchorCtr="0">
            <a:spAutoFit/>
          </a:bodyPr>
          <a:lstStyle/>
          <a:p>
            <a:r>
              <a:rPr lang="en-US" dirty="0"/>
              <a:t>Greenfield Investment vs. M&amp;As</a:t>
            </a:r>
            <a:endParaRPr lang="en-US" sz="28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67401" y="871983"/>
            <a:ext cx="8121280" cy="2775563"/>
          </a:xfrm>
        </p:spPr>
        <p:txBody>
          <a:bodyPr wrap="square" lIns="0" tIns="18000" rIns="0" bIns="18000" anchor="ctr" anchorCtr="0">
            <a:spAutoFit/>
          </a:bodyPr>
          <a:lstStyle/>
          <a:p>
            <a:pPr marL="342900" indent="-342900">
              <a:spcBef>
                <a:spcPts val="600"/>
              </a:spcBef>
            </a:pPr>
            <a:r>
              <a:rPr lang="en-US" sz="2400" b="1" dirty="0"/>
              <a:t>Greenfield investment: </a:t>
            </a:r>
            <a:r>
              <a:rPr lang="en-US" sz="2400" dirty="0"/>
              <a:t>The firm invests to build a new manufacturing, marketing or administrative facility, as opposed to acquiring existing facilities.</a:t>
            </a:r>
          </a:p>
          <a:p>
            <a:pPr marL="342900" indent="-342900">
              <a:spcBef>
                <a:spcPts val="600"/>
              </a:spcBef>
            </a:pPr>
            <a:r>
              <a:rPr lang="en-US" sz="2400" b="1" dirty="0"/>
              <a:t>Merger:</a:t>
            </a:r>
            <a:r>
              <a:rPr lang="en-US" sz="2400" dirty="0"/>
              <a:t> Special type of acquisition in which two firms join to form a new, larger company.</a:t>
            </a:r>
          </a:p>
          <a:p>
            <a:pPr marL="342900" indent="-342900">
              <a:spcBef>
                <a:spcPts val="600"/>
              </a:spcBef>
            </a:pPr>
            <a:r>
              <a:rPr lang="en-US" sz="2400" b="1" dirty="0"/>
              <a:t>Acquisition:</a:t>
            </a:r>
            <a:r>
              <a:rPr lang="en-US" sz="2400" dirty="0"/>
              <a:t> Direct investment or purchase an existing company or facility.</a:t>
            </a:r>
          </a:p>
        </p:txBody>
      </p:sp>
    </p:spTree>
    <p:extLst>
      <p:ext uri="{BB962C8B-B14F-4D97-AF65-F5344CB8AC3E}">
        <p14:creationId xmlns:p14="http://schemas.microsoft.com/office/powerpoint/2010/main" val="36162339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38" y="114195"/>
            <a:ext cx="8341262" cy="1144347"/>
          </a:xfrm>
        </p:spPr>
        <p:txBody>
          <a:bodyPr wrap="square" lIns="0" tIns="18000" rIns="0" bIns="18000" anchor="ctr" anchorCtr="0">
            <a:spAutoFit/>
          </a:bodyPr>
          <a:lstStyle/>
          <a:p>
            <a:r>
              <a:rPr lang="en-US"/>
              <a:t>Stock of Foreign Direct Investment Per Capita</a:t>
            </a:r>
            <a:endParaRPr lang="en-US" b="0"/>
          </a:p>
        </p:txBody>
      </p:sp>
      <p:pic>
        <p:nvPicPr>
          <p:cNvPr id="19" name="Picture 18" descr="A world map represents the stock of foreign direct investment per capita by country. &#10;Long description is available in notes, press F6.">
            <a:extLst>
              <a:ext uri="{FF2B5EF4-FFF2-40B4-BE49-F238E27FC236}">
                <a16:creationId xmlns:a16="http://schemas.microsoft.com/office/drawing/2014/main" id="{B9A37F29-B702-4F8E-A9F1-F03A1633F94F}"/>
              </a:ext>
            </a:extLst>
          </p:cNvPr>
          <p:cNvPicPr>
            <a:picLocks noChangeAspect="1"/>
          </p:cNvPicPr>
          <p:nvPr/>
        </p:nvPicPr>
        <p:blipFill>
          <a:blip r:embed="rId3"/>
          <a:stretch>
            <a:fillRect/>
          </a:stretch>
        </p:blipFill>
        <p:spPr>
          <a:xfrm>
            <a:off x="1152241" y="1368047"/>
            <a:ext cx="6839519" cy="4328932"/>
          </a:xfrm>
          <a:prstGeom prst="rect">
            <a:avLst/>
          </a:prstGeom>
        </p:spPr>
      </p:pic>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70938" y="5884751"/>
            <a:ext cx="8264104" cy="221018"/>
          </a:xfrm>
        </p:spPr>
        <p:txBody>
          <a:bodyPr wrap="square" lIns="0" tIns="18000" rIns="0" bIns="18000" anchor="ctr" anchorCtr="0">
            <a:spAutoFit/>
          </a:bodyPr>
          <a:lstStyle/>
          <a:p>
            <a:pPr marL="0" indent="0">
              <a:spcBef>
                <a:spcPts val="600"/>
              </a:spcBef>
              <a:buNone/>
            </a:pPr>
            <a:r>
              <a:rPr lang="en-US" sz="1200" b="1"/>
              <a:t>Sources:</a:t>
            </a:r>
            <a:r>
              <a:rPr lang="en-US" sz="1200"/>
              <a:t> Based on data from </a:t>
            </a:r>
            <a:r>
              <a:rPr lang="en-US" sz="1200" spc="-150"/>
              <a:t>U N C T A </a:t>
            </a:r>
            <a:r>
              <a:rPr lang="en-US" sz="1200"/>
              <a:t>D, “Foreign Direct Investment: Inward and Outward Flows and Stock, Annual” 2022,</a:t>
            </a:r>
          </a:p>
        </p:txBody>
      </p:sp>
      <p:sp>
        <p:nvSpPr>
          <p:cNvPr id="3" name="Content Placeholder 2">
            <a:extLst>
              <a:ext uri="{FF2B5EF4-FFF2-40B4-BE49-F238E27FC236}">
                <a16:creationId xmlns:a16="http://schemas.microsoft.com/office/drawing/2014/main" id="{3E8A1C2A-C383-4E5A-BF78-492E3F1F600B}"/>
              </a:ext>
            </a:extLst>
          </p:cNvPr>
          <p:cNvSpPr>
            <a:spLocks noGrp="1"/>
          </p:cNvSpPr>
          <p:nvPr>
            <p:ph sz="quarter" idx="14"/>
          </p:nvPr>
        </p:nvSpPr>
        <p:spPr>
          <a:xfrm>
            <a:off x="370937" y="6156956"/>
            <a:ext cx="1864263" cy="221018"/>
          </a:xfrm>
        </p:spPr>
        <p:txBody>
          <a:bodyPr wrap="square" lIns="0" tIns="18000" rIns="0" bIns="18000" anchor="ctr" anchorCtr="0">
            <a:spAutoFit/>
          </a:bodyPr>
          <a:lstStyle/>
          <a:p>
            <a:pPr marL="0" indent="0">
              <a:spcBef>
                <a:spcPts val="600"/>
              </a:spcBef>
              <a:buNone/>
            </a:pPr>
            <a:r>
              <a:rPr lang="en-US" sz="1200">
                <a:hlinkClick r:id="rId4" tooltip="http://unctadstat.unctad.org"/>
              </a:rPr>
              <a:t>http://unctadstat.unctad.org</a:t>
            </a:r>
            <a:endParaRPr lang="en-US" sz="1200"/>
          </a:p>
        </p:txBody>
      </p:sp>
      <p:sp>
        <p:nvSpPr>
          <p:cNvPr id="4" name="Content Placeholder 3">
            <a:extLst>
              <a:ext uri="{FF2B5EF4-FFF2-40B4-BE49-F238E27FC236}">
                <a16:creationId xmlns:a16="http://schemas.microsoft.com/office/drawing/2014/main" id="{33FE0165-4AD2-48B1-97B2-684ED0B7A7D3}"/>
              </a:ext>
            </a:extLst>
          </p:cNvPr>
          <p:cNvSpPr>
            <a:spLocks noGrp="1"/>
          </p:cNvSpPr>
          <p:nvPr>
            <p:ph sz="quarter" idx="15"/>
          </p:nvPr>
        </p:nvSpPr>
        <p:spPr>
          <a:xfrm>
            <a:off x="2276042" y="6177448"/>
            <a:ext cx="2981758" cy="221018"/>
          </a:xfrm>
        </p:spPr>
        <p:txBody>
          <a:bodyPr wrap="square" lIns="0" tIns="18000" rIns="0" bIns="18000" anchor="ctr" anchorCtr="0">
            <a:spAutoFit/>
          </a:bodyPr>
          <a:lstStyle/>
          <a:p>
            <a:pPr marL="0" indent="0">
              <a:spcBef>
                <a:spcPts val="600"/>
              </a:spcBef>
              <a:buNone/>
            </a:pPr>
            <a:r>
              <a:rPr lang="en-US" sz="1200"/>
              <a:t>; and World Bank, “Population, Total,” 2022,</a:t>
            </a:r>
          </a:p>
        </p:txBody>
      </p:sp>
      <p:sp>
        <p:nvSpPr>
          <p:cNvPr id="6" name="Content Placeholder 5">
            <a:extLst>
              <a:ext uri="{FF2B5EF4-FFF2-40B4-BE49-F238E27FC236}">
                <a16:creationId xmlns:a16="http://schemas.microsoft.com/office/drawing/2014/main" id="{2E28CC65-F500-4D42-A687-11B4A09F7F39}"/>
              </a:ext>
            </a:extLst>
          </p:cNvPr>
          <p:cNvSpPr>
            <a:spLocks noGrp="1"/>
          </p:cNvSpPr>
          <p:nvPr>
            <p:ph sz="quarter" idx="16"/>
          </p:nvPr>
        </p:nvSpPr>
        <p:spPr>
          <a:xfrm>
            <a:off x="5298642" y="6168633"/>
            <a:ext cx="1800140" cy="221018"/>
          </a:xfrm>
        </p:spPr>
        <p:txBody>
          <a:bodyPr wrap="square" lIns="0" tIns="18000" rIns="0" bIns="18000" anchor="ctr" anchorCtr="0">
            <a:spAutoFit/>
          </a:bodyPr>
          <a:lstStyle/>
          <a:p>
            <a:pPr marL="0" indent="0">
              <a:buNone/>
            </a:pPr>
            <a:r>
              <a:rPr lang="en-US" sz="1200">
                <a:hlinkClick r:id="rId5" tooltip="https://data.worldbank.org"/>
              </a:rPr>
              <a:t>https://data.worldbank.org</a:t>
            </a:r>
            <a:endParaRPr lang="en-US" sz="1200"/>
          </a:p>
        </p:txBody>
      </p:sp>
      <p:sp>
        <p:nvSpPr>
          <p:cNvPr id="7" name="Content Placeholder 6">
            <a:extLst>
              <a:ext uri="{FF2B5EF4-FFF2-40B4-BE49-F238E27FC236}">
                <a16:creationId xmlns:a16="http://schemas.microsoft.com/office/drawing/2014/main" id="{655DDC49-9FF6-4C06-94F1-78B1D602CCB7}"/>
              </a:ext>
            </a:extLst>
          </p:cNvPr>
          <p:cNvSpPr>
            <a:spLocks noGrp="1"/>
          </p:cNvSpPr>
          <p:nvPr>
            <p:ph sz="quarter" idx="17"/>
          </p:nvPr>
        </p:nvSpPr>
        <p:spPr>
          <a:xfrm>
            <a:off x="7139624" y="6168633"/>
            <a:ext cx="89436" cy="221018"/>
          </a:xfrm>
        </p:spPr>
        <p:txBody>
          <a:bodyPr wrap="square" lIns="0" tIns="18000" rIns="0" bIns="18000" anchor="ctr" anchorCtr="0">
            <a:spAutoFit/>
          </a:bodyPr>
          <a:lstStyle/>
          <a:p>
            <a:pPr marL="0" indent="0">
              <a:buNone/>
            </a:pPr>
            <a:r>
              <a:rPr lang="en-US" sz="1200"/>
              <a:t>.</a:t>
            </a:r>
          </a:p>
        </p:txBody>
      </p:sp>
    </p:spTree>
    <p:extLst>
      <p:ext uri="{BB962C8B-B14F-4D97-AF65-F5344CB8AC3E}">
        <p14:creationId xmlns:p14="http://schemas.microsoft.com/office/powerpoint/2010/main" val="20550544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40" y="115154"/>
            <a:ext cx="8341260" cy="590349"/>
          </a:xfrm>
        </p:spPr>
        <p:txBody>
          <a:bodyPr wrap="square" lIns="0" tIns="18000" rIns="0" bIns="18000" anchor="ctr" anchorCtr="0">
            <a:spAutoFit/>
          </a:bodyPr>
          <a:lstStyle/>
          <a:p>
            <a:r>
              <a:rPr lang="en-US" dirty="0"/>
              <a:t>The Nature of Ownership</a:t>
            </a:r>
            <a:endParaRPr lang="en-US" sz="28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67400" y="872271"/>
            <a:ext cx="8353425" cy="2775563"/>
          </a:xfrm>
        </p:spPr>
        <p:txBody>
          <a:bodyPr wrap="square" lIns="0" tIns="18000" rIns="0" bIns="18000" anchor="ctr" anchorCtr="0">
            <a:spAutoFit/>
          </a:bodyPr>
          <a:lstStyle/>
          <a:p>
            <a:pPr marL="342900" indent="-342900">
              <a:spcBef>
                <a:spcPts val="600"/>
              </a:spcBef>
            </a:pPr>
            <a:r>
              <a:rPr lang="en-US" sz="2400" dirty="0"/>
              <a:t>Equity participation: Acquisition of partial ownership in an existing firm.</a:t>
            </a:r>
          </a:p>
          <a:p>
            <a:pPr marL="342900" indent="-342900">
              <a:spcBef>
                <a:spcPts val="600"/>
              </a:spcBef>
            </a:pPr>
            <a:r>
              <a:rPr lang="en-US" sz="2400" dirty="0"/>
              <a:t>Wholly owned direct investment: Investor fully owns the foreign assets</a:t>
            </a:r>
          </a:p>
          <a:p>
            <a:pPr marL="342900" indent="-342900">
              <a:spcBef>
                <a:spcPts val="600"/>
              </a:spcBef>
            </a:pPr>
            <a:r>
              <a:rPr lang="en-US" sz="2400" dirty="0"/>
              <a:t>Equity joint ventures: Partnership in which a separate firm is created through the investment of assets by two or more parent firms that gain joint ownership of a new legal entity.</a:t>
            </a:r>
          </a:p>
        </p:txBody>
      </p:sp>
    </p:spTree>
    <p:extLst>
      <p:ext uri="{BB962C8B-B14F-4D97-AF65-F5344CB8AC3E}">
        <p14:creationId xmlns:p14="http://schemas.microsoft.com/office/powerpoint/2010/main" val="103968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40" y="115154"/>
            <a:ext cx="8341260" cy="590349"/>
          </a:xfrm>
        </p:spPr>
        <p:txBody>
          <a:bodyPr wrap="square" lIns="0" tIns="18000" rIns="0" bIns="18000" anchor="ctr" anchorCtr="0">
            <a:spAutoFit/>
          </a:bodyPr>
          <a:lstStyle/>
          <a:p>
            <a:r>
              <a:rPr lang="en-US" dirty="0"/>
              <a:t>Level of Integration</a:t>
            </a:r>
            <a:endParaRPr lang="en-US" sz="28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67400" y="865704"/>
            <a:ext cx="8353425" cy="3806614"/>
          </a:xfrm>
        </p:spPr>
        <p:txBody>
          <a:bodyPr wrap="square" lIns="0" tIns="18000" rIns="0" bIns="18000" anchor="ctr" anchorCtr="0">
            <a:spAutoFit/>
          </a:bodyPr>
          <a:lstStyle/>
          <a:p>
            <a:pPr marL="342900" indent="-342900">
              <a:spcBef>
                <a:spcPts val="600"/>
              </a:spcBef>
            </a:pPr>
            <a:r>
              <a:rPr lang="en-US" sz="2400" b="1" dirty="0"/>
              <a:t>Vertical integration:</a:t>
            </a:r>
            <a:r>
              <a:rPr lang="en-US" sz="2400" dirty="0"/>
              <a:t> The firm owns, or seeks to own, </a:t>
            </a:r>
            <a:r>
              <a:rPr lang="en-US" sz="2400" i="1" dirty="0"/>
              <a:t>multiple</a:t>
            </a:r>
            <a:r>
              <a:rPr lang="en-US" sz="2400" dirty="0"/>
              <a:t> stages of a value chain for producing, selling, and delivering a product. For example, Toyota owns some Toyota car dealerships around the world. Ford once owned steel mills that produced steel used to make Ford cars.</a:t>
            </a:r>
          </a:p>
          <a:p>
            <a:pPr marL="342900" indent="-342900">
              <a:spcBef>
                <a:spcPts val="600"/>
              </a:spcBef>
            </a:pPr>
            <a:r>
              <a:rPr lang="en-US" sz="2400" b="1" dirty="0"/>
              <a:t>Horizontal integration:</a:t>
            </a:r>
            <a:r>
              <a:rPr lang="en-US" sz="2400" dirty="0"/>
              <a:t> Arrangement whereby the firm owns, or seeks to own, the activities involved in a single stage of its value chain. For example, Microsoft acquired a Montreal-based firm that makes software used to create movie animation.</a:t>
            </a:r>
          </a:p>
        </p:txBody>
      </p:sp>
    </p:spTree>
    <p:extLst>
      <p:ext uri="{BB962C8B-B14F-4D97-AF65-F5344CB8AC3E}">
        <p14:creationId xmlns:p14="http://schemas.microsoft.com/office/powerpoint/2010/main" val="33598940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38" y="115156"/>
            <a:ext cx="8341262" cy="590349"/>
          </a:xfrm>
        </p:spPr>
        <p:txBody>
          <a:bodyPr wrap="square" lIns="0" tIns="18000" rIns="0" bIns="18000" anchor="ctr" anchorCtr="0">
            <a:spAutoFit/>
          </a:bodyPr>
          <a:lstStyle/>
          <a:p>
            <a:r>
              <a:rPr lang="en-US" dirty="0"/>
              <a:t>Ethical Connections</a:t>
            </a:r>
            <a:endParaRPr lang="en-US" sz="1800" b="0" dirty="0"/>
          </a:p>
        </p:txBody>
      </p:sp>
      <p:sp>
        <p:nvSpPr>
          <p:cNvPr id="3" name="Content Placeholder 2">
            <a:extLst>
              <a:ext uri="{FF2B5EF4-FFF2-40B4-BE49-F238E27FC236}">
                <a16:creationId xmlns:a16="http://schemas.microsoft.com/office/drawing/2014/main" id="{57714E45-96E6-C0E6-7E26-77406238CFAA}"/>
              </a:ext>
            </a:extLst>
          </p:cNvPr>
          <p:cNvSpPr>
            <a:spLocks noGrp="1"/>
          </p:cNvSpPr>
          <p:nvPr>
            <p:ph sz="quarter" idx="13"/>
          </p:nvPr>
        </p:nvSpPr>
        <p:spPr>
          <a:xfrm>
            <a:off x="370936" y="896960"/>
            <a:ext cx="8341261" cy="2898674"/>
          </a:xfrm>
        </p:spPr>
        <p:txBody>
          <a:bodyPr wrap="square" lIns="0" tIns="18000" rIns="0" bIns="18000" anchor="ctr" anchorCtr="0">
            <a:spAutoFit/>
          </a:bodyPr>
          <a:lstStyle/>
          <a:p>
            <a:pPr marL="342900" indent="-342900">
              <a:spcBef>
                <a:spcPts val="600"/>
              </a:spcBef>
            </a:pPr>
            <a:r>
              <a:rPr lang="en-US" sz="2200" spc="-300" dirty="0"/>
              <a:t>F D </a:t>
            </a:r>
            <a:r>
              <a:rPr lang="en-US" sz="2200" dirty="0"/>
              <a:t>I offers numerous benefits to recipient countries.</a:t>
            </a:r>
          </a:p>
          <a:p>
            <a:pPr marL="342900" indent="-342900">
              <a:spcBef>
                <a:spcPts val="600"/>
              </a:spcBef>
            </a:pPr>
            <a:r>
              <a:rPr lang="en-US" sz="2200" dirty="0"/>
              <a:t>However, </a:t>
            </a:r>
            <a:r>
              <a:rPr lang="en-US" sz="2200" spc="-300" dirty="0"/>
              <a:t>F D </a:t>
            </a:r>
            <a:r>
              <a:rPr lang="en-US" sz="2200" dirty="0"/>
              <a:t>I side effects can harm the natural environment, especially in countries with weak environmental laws. Pollution and ecological destruction may emerge alongside rapid economic growth. </a:t>
            </a:r>
          </a:p>
          <a:p>
            <a:pPr marL="342900" indent="-342900">
              <a:spcBef>
                <a:spcPts val="600"/>
              </a:spcBef>
            </a:pPr>
            <a:r>
              <a:rPr lang="en-US" sz="2200" dirty="0"/>
              <a:t>One </a:t>
            </a:r>
            <a:r>
              <a:rPr lang="en-US" sz="2200" spc="-300" dirty="0"/>
              <a:t>M N </a:t>
            </a:r>
            <a:r>
              <a:rPr lang="en-US" sz="2200" dirty="0"/>
              <a:t>E, a food additive manufacturer, allowed untreated wastewater to flow into the </a:t>
            </a:r>
            <a:r>
              <a:rPr lang="en-US" sz="2200" dirty="0" err="1"/>
              <a:t>ThiVai</a:t>
            </a:r>
            <a:r>
              <a:rPr lang="en-US" sz="2200" dirty="0"/>
              <a:t> river in Vietnam. Pollution hurt the livelihood of thousands of downstream farmers.</a:t>
            </a:r>
          </a:p>
        </p:txBody>
      </p:sp>
      <p:sp>
        <p:nvSpPr>
          <p:cNvPr id="4" name="Content Placeholder 3">
            <a:extLst>
              <a:ext uri="{FF2B5EF4-FFF2-40B4-BE49-F238E27FC236}">
                <a16:creationId xmlns:a16="http://schemas.microsoft.com/office/drawing/2014/main" id="{8F431412-8EDD-BCC1-E161-A05EE6DA3575}"/>
              </a:ext>
            </a:extLst>
          </p:cNvPr>
          <p:cNvSpPr>
            <a:spLocks noGrp="1"/>
          </p:cNvSpPr>
          <p:nvPr>
            <p:ph sz="quarter" idx="14"/>
          </p:nvPr>
        </p:nvSpPr>
        <p:spPr>
          <a:xfrm>
            <a:off x="370938" y="3945106"/>
            <a:ext cx="4427984" cy="1729123"/>
          </a:xfrm>
        </p:spPr>
        <p:txBody>
          <a:bodyPr wrap="square" lIns="0" tIns="18000" rIns="0" bIns="18000" anchor="ctr" anchorCtr="0">
            <a:spAutoFit/>
          </a:bodyPr>
          <a:lstStyle/>
          <a:p>
            <a:pPr marL="342900" indent="-342900"/>
            <a:r>
              <a:rPr lang="en-US" sz="2200" spc="-300" dirty="0"/>
              <a:t>M N E </a:t>
            </a:r>
            <a:r>
              <a:rPr lang="en-US" sz="2200" dirty="0"/>
              <a:t>s must behave responsibly in their international dealings. Governments must not allow development goals to compromise citizen well-being.</a:t>
            </a:r>
          </a:p>
        </p:txBody>
      </p:sp>
      <p:pic>
        <p:nvPicPr>
          <p:cNvPr id="10" name="Picture 9" descr="A cluster of tin-roofed shelters on stilts beside a stream.">
            <a:extLst>
              <a:ext uri="{FF2B5EF4-FFF2-40B4-BE49-F238E27FC236}">
                <a16:creationId xmlns:a16="http://schemas.microsoft.com/office/drawing/2014/main" id="{4F579844-BD58-4FED-8230-B343BEE388E4}"/>
              </a:ext>
            </a:extLst>
          </p:cNvPr>
          <p:cNvPicPr>
            <a:picLocks noChangeAspect="1"/>
          </p:cNvPicPr>
          <p:nvPr/>
        </p:nvPicPr>
        <p:blipFill>
          <a:blip r:embed="rId3"/>
          <a:stretch>
            <a:fillRect/>
          </a:stretch>
        </p:blipFill>
        <p:spPr>
          <a:xfrm>
            <a:off x="5083595" y="3935810"/>
            <a:ext cx="3442891" cy="2025230"/>
          </a:xfrm>
          <a:prstGeom prst="rect">
            <a:avLst/>
          </a:prstGeom>
        </p:spPr>
      </p:pic>
      <p:sp>
        <p:nvSpPr>
          <p:cNvPr id="5" name="Content Placeholder 4">
            <a:extLst>
              <a:ext uri="{FF2B5EF4-FFF2-40B4-BE49-F238E27FC236}">
                <a16:creationId xmlns:a16="http://schemas.microsoft.com/office/drawing/2014/main" id="{A80E8481-8DB6-BE3E-EFA7-C91A4BDCB610}"/>
              </a:ext>
            </a:extLst>
          </p:cNvPr>
          <p:cNvSpPr>
            <a:spLocks noGrp="1"/>
          </p:cNvSpPr>
          <p:nvPr>
            <p:ph sz="quarter" idx="15"/>
          </p:nvPr>
        </p:nvSpPr>
        <p:spPr>
          <a:xfrm>
            <a:off x="5143980" y="6101216"/>
            <a:ext cx="2015946" cy="221018"/>
          </a:xfrm>
        </p:spPr>
        <p:txBody>
          <a:bodyPr wrap="square" lIns="0" tIns="18000" rIns="0" bIns="18000" anchor="ctr" anchorCtr="0">
            <a:spAutoFit/>
          </a:bodyPr>
          <a:lstStyle/>
          <a:p>
            <a:pPr marL="0" indent="0">
              <a:buNone/>
            </a:pPr>
            <a:r>
              <a:rPr lang="en-US" sz="1200" b="1" dirty="0"/>
              <a:t>Source:</a:t>
            </a:r>
            <a:r>
              <a:rPr lang="en-US" sz="1200" dirty="0"/>
              <a:t> </a:t>
            </a:r>
            <a:r>
              <a:rPr lang="en-US" sz="1200" dirty="0" err="1"/>
              <a:t>OlegD</a:t>
            </a:r>
            <a:r>
              <a:rPr lang="en-US" sz="1200" dirty="0"/>
              <a:t>/Shutterstock</a:t>
            </a:r>
          </a:p>
        </p:txBody>
      </p:sp>
    </p:spTree>
    <p:extLst>
      <p:ext uri="{BB962C8B-B14F-4D97-AF65-F5344CB8AC3E}">
        <p14:creationId xmlns:p14="http://schemas.microsoft.com/office/powerpoint/2010/main" val="14635453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38" y="115156"/>
            <a:ext cx="8341262" cy="590349"/>
          </a:xfrm>
        </p:spPr>
        <p:txBody>
          <a:bodyPr wrap="square" lIns="0" tIns="18000" rIns="0" bIns="18000" anchor="ctr" anchorCtr="0">
            <a:spAutoFit/>
          </a:bodyPr>
          <a:lstStyle/>
          <a:p>
            <a:r>
              <a:rPr lang="en-US" dirty="0"/>
              <a:t>You Can Do It: Jennifer </a:t>
            </a:r>
            <a:r>
              <a:rPr lang="en-US" dirty="0" err="1"/>
              <a:t>Knippen</a:t>
            </a:r>
            <a:r>
              <a:rPr lang="en-US" dirty="0"/>
              <a:t> </a:t>
            </a:r>
            <a:r>
              <a:rPr lang="en-US" sz="2800" dirty="0"/>
              <a:t>(1 of 2)</a:t>
            </a:r>
            <a:endParaRPr lang="en-US" sz="2800" b="0" dirty="0"/>
          </a:p>
        </p:txBody>
      </p:sp>
      <p:sp>
        <p:nvSpPr>
          <p:cNvPr id="3" name="Content Placeholder 2">
            <a:extLst>
              <a:ext uri="{FF2B5EF4-FFF2-40B4-BE49-F238E27FC236}">
                <a16:creationId xmlns:a16="http://schemas.microsoft.com/office/drawing/2014/main" id="{57714E45-96E6-C0E6-7E26-77406238CFAA}"/>
              </a:ext>
            </a:extLst>
          </p:cNvPr>
          <p:cNvSpPr>
            <a:spLocks noGrp="1"/>
          </p:cNvSpPr>
          <p:nvPr>
            <p:ph sz="quarter" idx="13"/>
          </p:nvPr>
        </p:nvSpPr>
        <p:spPr>
          <a:xfrm>
            <a:off x="370936" y="879723"/>
            <a:ext cx="8341261" cy="2329287"/>
          </a:xfrm>
        </p:spPr>
        <p:txBody>
          <a:bodyPr wrap="square" lIns="0" tIns="18000" rIns="0" bIns="18000" anchor="ctr" anchorCtr="0">
            <a:spAutoFit/>
          </a:bodyPr>
          <a:lstStyle/>
          <a:p>
            <a:pPr marL="342900" indent="-342900">
              <a:spcBef>
                <a:spcPts val="600"/>
              </a:spcBef>
            </a:pPr>
            <a:r>
              <a:rPr lang="en-US" sz="2400" dirty="0"/>
              <a:t>In college, Jennifer majored in Economics and International Business.</a:t>
            </a:r>
          </a:p>
          <a:p>
            <a:pPr marL="342900" indent="-342900">
              <a:spcBef>
                <a:spcPts val="600"/>
              </a:spcBef>
            </a:pPr>
            <a:r>
              <a:rPr lang="en-US" sz="2400" dirty="0"/>
              <a:t>She was inspired to pursue an international career following a study-abroad program in Valencia, Spain. After graduation, she returned to Spain for five months of intensive training in Spanish and travel.</a:t>
            </a:r>
          </a:p>
        </p:txBody>
      </p:sp>
      <p:sp>
        <p:nvSpPr>
          <p:cNvPr id="4" name="Content Placeholder 3">
            <a:extLst>
              <a:ext uri="{FF2B5EF4-FFF2-40B4-BE49-F238E27FC236}">
                <a16:creationId xmlns:a16="http://schemas.microsoft.com/office/drawing/2014/main" id="{8F431412-8EDD-BCC1-E161-A05EE6DA3575}"/>
              </a:ext>
            </a:extLst>
          </p:cNvPr>
          <p:cNvSpPr>
            <a:spLocks noGrp="1"/>
          </p:cNvSpPr>
          <p:nvPr>
            <p:ph sz="quarter" idx="14"/>
          </p:nvPr>
        </p:nvSpPr>
        <p:spPr>
          <a:xfrm>
            <a:off x="370938" y="3307445"/>
            <a:ext cx="5244858" cy="1883011"/>
          </a:xfrm>
        </p:spPr>
        <p:txBody>
          <a:bodyPr wrap="square" lIns="0" tIns="18000" rIns="0" bIns="18000" anchor="ctr" anchorCtr="0">
            <a:spAutoFit/>
          </a:bodyPr>
          <a:lstStyle/>
          <a:p>
            <a:pPr marL="342900" indent="-342900"/>
            <a:r>
              <a:rPr lang="en-US" sz="2400" dirty="0"/>
              <a:t>Jennifer next took a sales position with the U.S. subsidiary </a:t>
            </a:r>
            <a:r>
              <a:rPr lang="en-US" sz="2400" spc="-300" dirty="0"/>
              <a:t>K O N </a:t>
            </a:r>
            <a:r>
              <a:rPr lang="en-US" sz="2400" dirty="0"/>
              <a:t>E, Inc., a leading manufacturer of elevators and escalators based in Helsinki, Finland.</a:t>
            </a:r>
          </a:p>
        </p:txBody>
      </p:sp>
      <p:pic>
        <p:nvPicPr>
          <p:cNvPr id="9" name="Picture 8" descr="Jennifer Knippen smiling and posing for a photograph.">
            <a:extLst>
              <a:ext uri="{FF2B5EF4-FFF2-40B4-BE49-F238E27FC236}">
                <a16:creationId xmlns:a16="http://schemas.microsoft.com/office/drawing/2014/main" id="{EC521E45-D3BA-45EA-9FC0-A5F90FE5BB8F}"/>
              </a:ext>
            </a:extLst>
          </p:cNvPr>
          <p:cNvPicPr>
            <a:picLocks noChangeAspect="1"/>
          </p:cNvPicPr>
          <p:nvPr/>
        </p:nvPicPr>
        <p:blipFill>
          <a:blip r:embed="rId3"/>
          <a:stretch>
            <a:fillRect/>
          </a:stretch>
        </p:blipFill>
        <p:spPr>
          <a:xfrm>
            <a:off x="6073142" y="3279696"/>
            <a:ext cx="2484120" cy="2834640"/>
          </a:xfrm>
          <a:prstGeom prst="rect">
            <a:avLst/>
          </a:prstGeom>
        </p:spPr>
      </p:pic>
    </p:spTree>
    <p:extLst>
      <p:ext uri="{BB962C8B-B14F-4D97-AF65-F5344CB8AC3E}">
        <p14:creationId xmlns:p14="http://schemas.microsoft.com/office/powerpoint/2010/main" val="28185146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38" y="115156"/>
            <a:ext cx="8341262" cy="590349"/>
          </a:xfrm>
        </p:spPr>
        <p:txBody>
          <a:bodyPr wrap="square" lIns="0" tIns="18000" rIns="0" bIns="18000" anchor="ctr" anchorCtr="0">
            <a:spAutoFit/>
          </a:bodyPr>
          <a:lstStyle/>
          <a:p>
            <a:r>
              <a:rPr lang="en-US" dirty="0"/>
              <a:t>You Can Do It: Jennifer </a:t>
            </a:r>
            <a:r>
              <a:rPr lang="en-US" dirty="0" err="1"/>
              <a:t>Knippen</a:t>
            </a:r>
            <a:r>
              <a:rPr lang="en-US" dirty="0"/>
              <a:t> </a:t>
            </a:r>
            <a:r>
              <a:rPr lang="en-US" sz="2800" dirty="0"/>
              <a:t>(2 of 2)</a:t>
            </a:r>
            <a:endParaRPr lang="en-US" sz="2800" b="0" dirty="0"/>
          </a:p>
        </p:txBody>
      </p:sp>
      <p:sp>
        <p:nvSpPr>
          <p:cNvPr id="3" name="Content Placeholder 2">
            <a:extLst>
              <a:ext uri="{FF2B5EF4-FFF2-40B4-BE49-F238E27FC236}">
                <a16:creationId xmlns:a16="http://schemas.microsoft.com/office/drawing/2014/main" id="{57714E45-96E6-C0E6-7E26-77406238CFAA}"/>
              </a:ext>
            </a:extLst>
          </p:cNvPr>
          <p:cNvSpPr>
            <a:spLocks noGrp="1"/>
          </p:cNvSpPr>
          <p:nvPr>
            <p:ph sz="quarter" idx="13"/>
          </p:nvPr>
        </p:nvSpPr>
        <p:spPr>
          <a:xfrm>
            <a:off x="370936" y="870334"/>
            <a:ext cx="8341261" cy="3883559"/>
          </a:xfrm>
        </p:spPr>
        <p:txBody>
          <a:bodyPr wrap="square" lIns="0" tIns="18000" rIns="0" bIns="18000" anchor="ctr" anchorCtr="0">
            <a:spAutoFit/>
          </a:bodyPr>
          <a:lstStyle/>
          <a:p>
            <a:pPr marL="342900" indent="-342900">
              <a:spcBef>
                <a:spcPts val="600"/>
              </a:spcBef>
            </a:pPr>
            <a:r>
              <a:rPr lang="en-US" sz="2400" dirty="0"/>
              <a:t>After experiencing the challenges and benefits of working for the local subsidiary of a large, multinational firm, Jennifer returned to school and obtained a Masters degree in Global Management from Thunderbird, a graduate school specialized in international business.</a:t>
            </a:r>
          </a:p>
          <a:p>
            <a:pPr marL="342900" indent="-342900">
              <a:spcBef>
                <a:spcPts val="600"/>
              </a:spcBef>
            </a:pPr>
            <a:r>
              <a:rPr lang="en-US" sz="2400" dirty="0"/>
              <a:t>International travel, study abroad, and learning Spanish enhanced her credentials to pursue a career in global management.</a:t>
            </a:r>
          </a:p>
          <a:p>
            <a:pPr marL="342900" indent="-342900">
              <a:spcBef>
                <a:spcPts val="600"/>
              </a:spcBef>
            </a:pPr>
            <a:r>
              <a:rPr lang="en-US" sz="2400" dirty="0"/>
              <a:t>Jennifer set career goals and worked hard to achieve them.</a:t>
            </a:r>
          </a:p>
        </p:txBody>
      </p:sp>
    </p:spTree>
    <p:extLst>
      <p:ext uri="{BB962C8B-B14F-4D97-AF65-F5344CB8AC3E}">
        <p14:creationId xmlns:p14="http://schemas.microsoft.com/office/powerpoint/2010/main" val="25289008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4386" y="116590"/>
            <a:ext cx="8346440" cy="590349"/>
          </a:xfrm>
        </p:spPr>
        <p:txBody>
          <a:bodyPr wrap="square" lIns="0" tIns="18000" rIns="0" bIns="18000" anchor="ctr" anchorCtr="0">
            <a:spAutoFit/>
          </a:bodyPr>
          <a:lstStyle/>
          <a:p>
            <a:r>
              <a:rPr lang="en-US" dirty="0"/>
              <a:t>International Collaborative Venture</a:t>
            </a:r>
            <a:endParaRPr lang="en-US" sz="28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70936" y="874111"/>
            <a:ext cx="8341264" cy="3221839"/>
          </a:xfrm>
        </p:spPr>
        <p:txBody>
          <a:bodyPr wrap="square" lIns="0" tIns="18000" rIns="0" bIns="18000" anchor="ctr" anchorCtr="0">
            <a:spAutoFit/>
          </a:bodyPr>
          <a:lstStyle/>
          <a:p>
            <a:pPr marL="342900" indent="-342900">
              <a:spcBef>
                <a:spcPts val="600"/>
              </a:spcBef>
            </a:pPr>
            <a:r>
              <a:rPr lang="en-US" sz="2400" dirty="0"/>
              <a:t>A partnership between two or more firms.</a:t>
            </a:r>
          </a:p>
          <a:p>
            <a:pPr marL="342900" indent="-342900">
              <a:spcBef>
                <a:spcPts val="600"/>
              </a:spcBef>
            </a:pPr>
            <a:r>
              <a:rPr lang="en-US" sz="2400" dirty="0"/>
              <a:t>Includes equity joint ventures and non-equity, project-based ventures.</a:t>
            </a:r>
          </a:p>
          <a:p>
            <a:pPr marL="342900" indent="-342900">
              <a:spcBef>
                <a:spcPts val="600"/>
              </a:spcBef>
            </a:pPr>
            <a:r>
              <a:rPr lang="en-US" sz="2400" dirty="0"/>
              <a:t>Sometimes called </a:t>
            </a:r>
            <a:r>
              <a:rPr lang="en-US" sz="2400" i="1" dirty="0"/>
              <a:t>partnerships</a:t>
            </a:r>
            <a:r>
              <a:rPr lang="en-US" sz="2400" dirty="0"/>
              <a:t> or </a:t>
            </a:r>
            <a:r>
              <a:rPr lang="en-US" sz="2400" i="1" dirty="0"/>
              <a:t>strategic alliances</a:t>
            </a:r>
            <a:r>
              <a:rPr lang="en-US" sz="2400" dirty="0"/>
              <a:t>.</a:t>
            </a:r>
          </a:p>
          <a:p>
            <a:pPr marL="342900" indent="-342900">
              <a:spcBef>
                <a:spcPts val="600"/>
              </a:spcBef>
            </a:pPr>
            <a:r>
              <a:rPr lang="en-US" sz="2400" dirty="0"/>
              <a:t>Collaboration helps overcome the often substantial risk and high costs of international business. It makes possible the achievement of projects that exceed the capabilities of the individual firm.</a:t>
            </a:r>
          </a:p>
        </p:txBody>
      </p:sp>
    </p:spTree>
    <p:extLst>
      <p:ext uri="{BB962C8B-B14F-4D97-AF65-F5344CB8AC3E}">
        <p14:creationId xmlns:p14="http://schemas.microsoft.com/office/powerpoint/2010/main" val="24026781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40" y="114199"/>
            <a:ext cx="8341260" cy="1144347"/>
          </a:xfrm>
        </p:spPr>
        <p:txBody>
          <a:bodyPr wrap="square" lIns="0" tIns="18000" rIns="0" bIns="18000" anchor="ctr" anchorCtr="0">
            <a:spAutoFit/>
          </a:bodyPr>
          <a:lstStyle/>
          <a:p>
            <a:r>
              <a:rPr lang="en-US" dirty="0"/>
              <a:t>Equity vs. Project-Based Joint Ventures</a:t>
            </a:r>
            <a:endParaRPr lang="en-US" sz="18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71218" y="1548472"/>
            <a:ext cx="8340982" cy="3806614"/>
          </a:xfrm>
        </p:spPr>
        <p:txBody>
          <a:bodyPr wrap="square" lIns="0" tIns="18000" rIns="0" bIns="18000" anchor="ctr" anchorCtr="0">
            <a:spAutoFit/>
          </a:bodyPr>
          <a:lstStyle/>
          <a:p>
            <a:pPr marL="342900" indent="-342900">
              <a:spcBef>
                <a:spcPts val="600"/>
              </a:spcBef>
            </a:pPr>
            <a:r>
              <a:rPr lang="en-US" sz="2400" b="1" dirty="0"/>
              <a:t>Equity joint ventures</a:t>
            </a:r>
            <a:r>
              <a:rPr lang="en-US" sz="2400" dirty="0"/>
              <a:t> are normally formed when no one party has all the assets needed to exploit an opportunity. Typically, the local partner contributes a factory, market navigation know-how, connections, or low-cost labor.</a:t>
            </a:r>
          </a:p>
          <a:p>
            <a:pPr marL="342900" indent="-342900">
              <a:spcBef>
                <a:spcPts val="600"/>
              </a:spcBef>
            </a:pPr>
            <a:r>
              <a:rPr lang="en-US" sz="2400" b="1" dirty="0"/>
              <a:t>A project-based joint venture </a:t>
            </a:r>
            <a:r>
              <a:rPr lang="en-US" sz="2400" dirty="0"/>
              <a:t>has a narrow scope and limited timetable. No new legal entity is created. Typically, partners collaborate on joint development of new technologies, products, or share other expertise with each other. Such cooperation helps them catch up with rivals in technology development.</a:t>
            </a:r>
          </a:p>
        </p:txBody>
      </p:sp>
    </p:spTree>
    <p:extLst>
      <p:ext uri="{BB962C8B-B14F-4D97-AF65-F5344CB8AC3E}">
        <p14:creationId xmlns:p14="http://schemas.microsoft.com/office/powerpoint/2010/main" val="36844609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38" y="115156"/>
            <a:ext cx="8341262" cy="590349"/>
          </a:xfrm>
        </p:spPr>
        <p:txBody>
          <a:bodyPr wrap="square" lIns="0" tIns="18000" rIns="0" bIns="18000" anchor="ctr" anchorCtr="0">
            <a:spAutoFit/>
          </a:bodyPr>
          <a:lstStyle/>
          <a:p>
            <a:r>
              <a:rPr lang="en-US" dirty="0"/>
              <a:t>Other Types of Collaborative Ventures</a:t>
            </a:r>
            <a:endParaRPr lang="en-US" sz="2800" b="0" dirty="0"/>
          </a:p>
        </p:txBody>
      </p:sp>
      <p:sp>
        <p:nvSpPr>
          <p:cNvPr id="3" name="Content Placeholder 2">
            <a:extLst>
              <a:ext uri="{FF2B5EF4-FFF2-40B4-BE49-F238E27FC236}">
                <a16:creationId xmlns:a16="http://schemas.microsoft.com/office/drawing/2014/main" id="{57714E45-96E6-C0E6-7E26-77406238CFAA}"/>
              </a:ext>
            </a:extLst>
          </p:cNvPr>
          <p:cNvSpPr>
            <a:spLocks noGrp="1"/>
          </p:cNvSpPr>
          <p:nvPr>
            <p:ph sz="quarter" idx="13"/>
          </p:nvPr>
        </p:nvSpPr>
        <p:spPr>
          <a:xfrm>
            <a:off x="370936" y="882087"/>
            <a:ext cx="8341261" cy="1513679"/>
          </a:xfrm>
        </p:spPr>
        <p:txBody>
          <a:bodyPr wrap="square" lIns="0" tIns="18000" rIns="0" bIns="18000" anchor="ctr" anchorCtr="0">
            <a:spAutoFit/>
          </a:bodyPr>
          <a:lstStyle/>
          <a:p>
            <a:pPr marL="342900" indent="-342900">
              <a:spcBef>
                <a:spcPts val="600"/>
              </a:spcBef>
            </a:pPr>
            <a:r>
              <a:rPr lang="en-US" sz="2400" b="1" dirty="0"/>
              <a:t>Consortium</a:t>
            </a:r>
            <a:r>
              <a:rPr lang="en-US" sz="2400" dirty="0"/>
              <a:t>: Project-based, usually non-equity venture with multiple partners fulfilling a large-scale project. For example, Commercial aircraft manufacturing (Boeing and Airbus).</a:t>
            </a:r>
          </a:p>
        </p:txBody>
      </p:sp>
      <p:sp>
        <p:nvSpPr>
          <p:cNvPr id="4" name="Content Placeholder 3">
            <a:extLst>
              <a:ext uri="{FF2B5EF4-FFF2-40B4-BE49-F238E27FC236}">
                <a16:creationId xmlns:a16="http://schemas.microsoft.com/office/drawing/2014/main" id="{8F431412-8EDD-BCC1-E161-A05EE6DA3575}"/>
              </a:ext>
            </a:extLst>
          </p:cNvPr>
          <p:cNvSpPr>
            <a:spLocks noGrp="1"/>
          </p:cNvSpPr>
          <p:nvPr>
            <p:ph sz="quarter" idx="14"/>
          </p:nvPr>
        </p:nvSpPr>
        <p:spPr>
          <a:xfrm>
            <a:off x="370937" y="2486032"/>
            <a:ext cx="5167221" cy="2991007"/>
          </a:xfrm>
        </p:spPr>
        <p:txBody>
          <a:bodyPr wrap="square" lIns="0" tIns="18000" rIns="0" bIns="18000" anchor="ctr" anchorCtr="0">
            <a:spAutoFit/>
          </a:bodyPr>
          <a:lstStyle/>
          <a:p>
            <a:pPr marL="342900" indent="-342900"/>
            <a:r>
              <a:rPr lang="en-US" sz="2400" b="1" dirty="0"/>
              <a:t>Cross-licensing agreement</a:t>
            </a:r>
            <a:r>
              <a:rPr lang="en-US" sz="2400" dirty="0"/>
              <a:t>: Type of a project-based, non-equity venture where partners agree to access licensed technology developed by the other, on preferential terms. For example, Telecommunications industry for inventing new technologies.</a:t>
            </a:r>
          </a:p>
        </p:txBody>
      </p:sp>
      <p:pic>
        <p:nvPicPr>
          <p:cNvPr id="6" name="Picture 5" descr="A patent certificate.">
            <a:extLst>
              <a:ext uri="{FF2B5EF4-FFF2-40B4-BE49-F238E27FC236}">
                <a16:creationId xmlns:a16="http://schemas.microsoft.com/office/drawing/2014/main" id="{CFFE78CA-2ACC-4E5B-B2DF-5D70B7A726FD}"/>
              </a:ext>
            </a:extLst>
          </p:cNvPr>
          <p:cNvPicPr>
            <a:picLocks noChangeAspect="1"/>
          </p:cNvPicPr>
          <p:nvPr/>
        </p:nvPicPr>
        <p:blipFill>
          <a:blip r:embed="rId3"/>
          <a:stretch>
            <a:fillRect/>
          </a:stretch>
        </p:blipFill>
        <p:spPr>
          <a:xfrm>
            <a:off x="5747142" y="2494657"/>
            <a:ext cx="2963587" cy="3321377"/>
          </a:xfrm>
          <a:prstGeom prst="rect">
            <a:avLst/>
          </a:prstGeom>
        </p:spPr>
      </p:pic>
    </p:spTree>
    <p:extLst>
      <p:ext uri="{BB962C8B-B14F-4D97-AF65-F5344CB8AC3E}">
        <p14:creationId xmlns:p14="http://schemas.microsoft.com/office/powerpoint/2010/main" val="5631001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40" y="114199"/>
            <a:ext cx="8341260" cy="1144347"/>
          </a:xfrm>
        </p:spPr>
        <p:txBody>
          <a:bodyPr wrap="square" lIns="0" tIns="18000" rIns="0" bIns="18000" anchor="ctr" anchorCtr="0">
            <a:spAutoFit/>
          </a:bodyPr>
          <a:lstStyle/>
          <a:p>
            <a:r>
              <a:rPr lang="en-US" dirty="0"/>
              <a:t>Advantages and Disadvantages of Collaborative Ventures </a:t>
            </a:r>
            <a:r>
              <a:rPr lang="en-US" sz="2800" dirty="0"/>
              <a:t>(1 of 2)</a:t>
            </a:r>
            <a:endParaRPr lang="en-US" sz="2800" b="0" dirty="0"/>
          </a:p>
        </p:txBody>
      </p:sp>
      <p:graphicFrame>
        <p:nvGraphicFramePr>
          <p:cNvPr id="7" name="Table 6">
            <a:extLst>
              <a:ext uri="{FF2B5EF4-FFF2-40B4-BE49-F238E27FC236}">
                <a16:creationId xmlns:a16="http://schemas.microsoft.com/office/drawing/2014/main" id="{FB285814-3E9D-4EBC-AB3A-B648D7646915}"/>
              </a:ext>
            </a:extLst>
          </p:cNvPr>
          <p:cNvGraphicFramePr>
            <a:graphicFrameLocks noGrp="1"/>
          </p:cNvGraphicFramePr>
          <p:nvPr>
            <p:extLst>
              <p:ext uri="{D42A27DB-BD31-4B8C-83A1-F6EECF244321}">
                <p14:modId xmlns:p14="http://schemas.microsoft.com/office/powerpoint/2010/main" val="1853757400"/>
              </p:ext>
            </p:extLst>
          </p:nvPr>
        </p:nvGraphicFramePr>
        <p:xfrm>
          <a:off x="472440" y="1482000"/>
          <a:ext cx="8214361" cy="3154700"/>
        </p:xfrm>
        <a:graphic>
          <a:graphicData uri="http://schemas.openxmlformats.org/drawingml/2006/table">
            <a:tbl>
              <a:tblPr firstRow="1" firstCol="1" bandRow="1">
                <a:tableStyleId>{5940675A-B579-460E-94D1-54222C63F5DA}</a:tableStyleId>
              </a:tblPr>
              <a:tblGrid>
                <a:gridCol w="196596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gridCol w="3200401">
                  <a:extLst>
                    <a:ext uri="{9D8B030D-6E8A-4147-A177-3AD203B41FA5}">
                      <a16:colId xmlns:a16="http://schemas.microsoft.com/office/drawing/2014/main" val="222661392"/>
                    </a:ext>
                  </a:extLst>
                </a:gridCol>
              </a:tblGrid>
              <a:tr h="360227">
                <a:tc>
                  <a:txBody>
                    <a:bodyPr/>
                    <a:lstStyle/>
                    <a:p>
                      <a:pPr marL="0" marR="0" lvl="0" indent="0" algn="l" rtl="0">
                        <a:lnSpc>
                          <a:spcPct val="100000"/>
                        </a:lnSpc>
                        <a:spcBef>
                          <a:spcPts val="0"/>
                        </a:spcBef>
                        <a:spcAft>
                          <a:spcPts val="0"/>
                        </a:spcAft>
                        <a:buClr>
                          <a:schemeClr val="lt1"/>
                        </a:buClr>
                        <a:buSzPts val="1900"/>
                        <a:buFont typeface="Arial"/>
                        <a:buNone/>
                      </a:pPr>
                      <a:r>
                        <a:rPr lang="en-US" sz="100" b="1" i="0" u="none" strike="noStrike" cap="none" baseline="0" dirty="0">
                          <a:solidFill>
                            <a:schemeClr val="bg1"/>
                          </a:solidFill>
                          <a:latin typeface="Arial" panose="020B0604020202020204" pitchFamily="34" charset="0"/>
                          <a:ea typeface="+mn-ea"/>
                          <a:cs typeface="Arial" panose="020B0604020202020204" pitchFamily="34" charset="0"/>
                          <a:sym typeface="Arial"/>
                        </a:rPr>
                        <a:t>Blank</a:t>
                      </a:r>
                      <a:endParaRPr sz="100" b="1" i="0" u="none" strike="noStrike" cap="none" baseline="0" dirty="0">
                        <a:solidFill>
                          <a:schemeClr val="bg1"/>
                        </a:solidFill>
                        <a:latin typeface="Arial" panose="020B0604020202020204" pitchFamily="34" charset="0"/>
                        <a:ea typeface="+mn-ea"/>
                        <a:cs typeface="Arial" panose="020B0604020202020204" pitchFamily="34" charset="0"/>
                        <a:sym typeface="Arial"/>
                      </a:endParaRPr>
                    </a:p>
                  </a:txBody>
                  <a:tcPr marL="91450" marR="91450" marT="45725" marB="45725">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solidFill>
                  </a:tcPr>
                </a:tc>
                <a:tc>
                  <a:txBody>
                    <a:bodyPr/>
                    <a:lstStyle/>
                    <a:p>
                      <a:pPr marL="0" marR="0" lvl="0" indent="0" algn="ctr" rtl="0">
                        <a:lnSpc>
                          <a:spcPct val="100000"/>
                        </a:lnSpc>
                        <a:spcBef>
                          <a:spcPts val="0"/>
                        </a:spcBef>
                        <a:spcAft>
                          <a:spcPts val="0"/>
                        </a:spcAft>
                        <a:buClr>
                          <a:srgbClr val="000000"/>
                        </a:buClr>
                        <a:buSzPts val="2200"/>
                        <a:buFont typeface="Arial"/>
                        <a:buNone/>
                      </a:pPr>
                      <a:r>
                        <a:rPr lang="en-US" sz="2000" b="1" u="none" strike="noStrike" cap="none" baseline="0" dirty="0">
                          <a:solidFill>
                            <a:schemeClr val="bg1"/>
                          </a:solidFill>
                          <a:latin typeface="Arial" panose="020B0604020202020204" pitchFamily="34" charset="0"/>
                          <a:cs typeface="Arial" panose="020B0604020202020204" pitchFamily="34" charset="0"/>
                        </a:rPr>
                        <a:t>Advantages</a:t>
                      </a:r>
                      <a:endParaRPr sz="2000" baseline="0" dirty="0">
                        <a:solidFill>
                          <a:schemeClr val="bg1"/>
                        </a:solidFill>
                        <a:latin typeface="Arial" panose="020B0604020202020204" pitchFamily="34" charset="0"/>
                        <a:cs typeface="Arial" panose="020B0604020202020204" pitchFamily="34" charset="0"/>
                      </a:endParaRPr>
                    </a:p>
                  </a:txBody>
                  <a:tcPr marL="91450" marR="91450" marT="45725" marB="45725">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solidFill>
                  </a:tcPr>
                </a:tc>
                <a:tc>
                  <a:txBody>
                    <a:bodyPr/>
                    <a:lstStyle/>
                    <a:p>
                      <a:pPr marL="0" marR="0" lvl="0" indent="0" algn="ctr" rtl="0">
                        <a:lnSpc>
                          <a:spcPct val="100000"/>
                        </a:lnSpc>
                        <a:spcBef>
                          <a:spcPts val="0"/>
                        </a:spcBef>
                        <a:spcAft>
                          <a:spcPts val="0"/>
                        </a:spcAft>
                        <a:buClr>
                          <a:srgbClr val="000000"/>
                        </a:buClr>
                        <a:buSzPts val="2200"/>
                        <a:buFont typeface="Arial"/>
                        <a:buNone/>
                      </a:pPr>
                      <a:r>
                        <a:rPr lang="en-US" sz="2000" b="1" u="none" strike="noStrike" cap="none" baseline="0" dirty="0">
                          <a:solidFill>
                            <a:schemeClr val="bg1"/>
                          </a:solidFill>
                          <a:latin typeface="Arial" panose="020B0604020202020204" pitchFamily="34" charset="0"/>
                          <a:cs typeface="Arial" panose="020B0604020202020204" pitchFamily="34" charset="0"/>
                        </a:rPr>
                        <a:t>Disadvantages</a:t>
                      </a:r>
                      <a:endParaRPr sz="2000" baseline="0" dirty="0">
                        <a:solidFill>
                          <a:schemeClr val="bg1"/>
                        </a:solidFill>
                        <a:latin typeface="Arial" panose="020B0604020202020204" pitchFamily="34" charset="0"/>
                        <a:cs typeface="Arial" panose="020B0604020202020204" pitchFamily="34" charset="0"/>
                      </a:endParaRPr>
                    </a:p>
                  </a:txBody>
                  <a:tcPr marL="91450" marR="91450" marT="45725" marB="45725">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415645">
                <a:tc>
                  <a:txBody>
                    <a:bodyPr/>
                    <a:lstStyle/>
                    <a:p>
                      <a:pPr marL="0" marR="0" lvl="0" indent="0" algn="l" rtl="0">
                        <a:lnSpc>
                          <a:spcPct val="100000"/>
                        </a:lnSpc>
                        <a:spcBef>
                          <a:spcPts val="0"/>
                        </a:spcBef>
                        <a:spcAft>
                          <a:spcPts val="0"/>
                        </a:spcAft>
                        <a:buClr>
                          <a:schemeClr val="dk1"/>
                        </a:buClr>
                        <a:buSzPts val="1900"/>
                        <a:buFont typeface="Arial"/>
                        <a:buNone/>
                      </a:pPr>
                      <a:r>
                        <a:rPr lang="en-US" sz="2000" b="1" i="0" u="none" strike="noStrike" cap="none" baseline="0" dirty="0">
                          <a:solidFill>
                            <a:schemeClr val="dk1"/>
                          </a:solidFill>
                          <a:latin typeface="Arial" panose="020B0604020202020204" pitchFamily="34" charset="0"/>
                          <a:ea typeface="Arial"/>
                          <a:cs typeface="Arial" panose="020B0604020202020204" pitchFamily="34" charset="0"/>
                          <a:sym typeface="Arial"/>
                        </a:rPr>
                        <a:t>Equity joint ventures</a:t>
                      </a:r>
                      <a:endParaRPr sz="2000" baseline="0" dirty="0">
                        <a:latin typeface="Arial" panose="020B0604020202020204" pitchFamily="34" charset="0"/>
                        <a:cs typeface="Arial" panose="020B0604020202020204" pitchFamily="34" charset="0"/>
                      </a:endParaRPr>
                    </a:p>
                  </a:txBody>
                  <a:tcPr marL="91450" marR="91450" marT="45725" marB="45725">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4EAE4"/>
                    </a:solidFill>
                  </a:tcPr>
                </a:tc>
                <a:tc>
                  <a:txBody>
                    <a:bodyPr/>
                    <a:lstStyle/>
                    <a:p>
                      <a:pPr marL="285750" marR="0" lvl="0" indent="-285750" algn="l" rtl="0">
                        <a:lnSpc>
                          <a:spcPct val="100000"/>
                        </a:lnSpc>
                        <a:spcBef>
                          <a:spcPts val="0"/>
                        </a:spcBef>
                        <a:spcAft>
                          <a:spcPts val="0"/>
                        </a:spcAft>
                        <a:buClrTx/>
                        <a:buSzPts val="2200"/>
                        <a:buFont typeface="Arial" panose="020B0604020202020204" pitchFamily="34" charset="0"/>
                        <a:buChar char="•"/>
                      </a:pPr>
                      <a:r>
                        <a:rPr lang="en-US" sz="2000" b="0" i="0" u="none" strike="noStrike" cap="none" baseline="0" dirty="0">
                          <a:solidFill>
                            <a:schemeClr val="dk1"/>
                          </a:solidFill>
                          <a:latin typeface="Arial" panose="020B0604020202020204" pitchFamily="34" charset="0"/>
                          <a:ea typeface="Arial"/>
                          <a:cs typeface="Arial" panose="020B0604020202020204" pitchFamily="34" charset="0"/>
                          <a:sym typeface="Arial"/>
                        </a:rPr>
                        <a:t>Afford greater control over future directions</a:t>
                      </a:r>
                      <a:endParaRPr sz="2000" baseline="0" dirty="0">
                        <a:latin typeface="Arial" panose="020B0604020202020204" pitchFamily="34" charset="0"/>
                        <a:cs typeface="Arial" panose="020B0604020202020204" pitchFamily="34" charset="0"/>
                      </a:endParaRPr>
                    </a:p>
                    <a:p>
                      <a:pPr marL="285750" marR="0" lvl="0" indent="-285750" algn="l" rtl="0">
                        <a:lnSpc>
                          <a:spcPct val="100000"/>
                        </a:lnSpc>
                        <a:spcBef>
                          <a:spcPts val="600"/>
                        </a:spcBef>
                        <a:spcAft>
                          <a:spcPts val="0"/>
                        </a:spcAft>
                        <a:buClrTx/>
                        <a:buSzPts val="2200"/>
                        <a:buFont typeface="Arial" panose="020B0604020202020204" pitchFamily="34" charset="0"/>
                        <a:buChar char="•"/>
                      </a:pPr>
                      <a:r>
                        <a:rPr lang="en-US" sz="2000" b="0" i="0" u="none" strike="noStrike" cap="none" baseline="0" dirty="0">
                          <a:solidFill>
                            <a:schemeClr val="dk1"/>
                          </a:solidFill>
                          <a:latin typeface="Arial" panose="020B0604020202020204" pitchFamily="34" charset="0"/>
                          <a:ea typeface="Arial"/>
                          <a:cs typeface="Arial" panose="020B0604020202020204" pitchFamily="34" charset="0"/>
                          <a:sym typeface="Arial"/>
                        </a:rPr>
                        <a:t>Facilitate transfer of knowledge between the partners</a:t>
                      </a:r>
                      <a:endParaRPr sz="2000" baseline="0" dirty="0">
                        <a:latin typeface="Arial" panose="020B0604020202020204" pitchFamily="34" charset="0"/>
                        <a:cs typeface="Arial" panose="020B0604020202020204" pitchFamily="34" charset="0"/>
                      </a:endParaRPr>
                    </a:p>
                    <a:p>
                      <a:pPr marL="285750" marR="0" lvl="0" indent="-285750" algn="l" rtl="0">
                        <a:lnSpc>
                          <a:spcPct val="100000"/>
                        </a:lnSpc>
                        <a:spcBef>
                          <a:spcPts val="600"/>
                        </a:spcBef>
                        <a:spcAft>
                          <a:spcPts val="0"/>
                        </a:spcAft>
                        <a:buClrTx/>
                        <a:buSzPts val="2200"/>
                        <a:buFont typeface="Arial" panose="020B0604020202020204" pitchFamily="34" charset="0"/>
                        <a:buChar char="•"/>
                      </a:pPr>
                      <a:r>
                        <a:rPr lang="en-US" sz="2000" b="0" i="0" u="none" strike="noStrike" cap="none" baseline="0" dirty="0">
                          <a:solidFill>
                            <a:schemeClr val="dk1"/>
                          </a:solidFill>
                          <a:latin typeface="Arial" panose="020B0604020202020204" pitchFamily="34" charset="0"/>
                          <a:ea typeface="Arial"/>
                          <a:cs typeface="Arial" panose="020B0604020202020204" pitchFamily="34" charset="0"/>
                          <a:sym typeface="Arial"/>
                        </a:rPr>
                        <a:t>Common goals drive the joint venture</a:t>
                      </a:r>
                      <a:endParaRPr sz="2000" baseline="0" dirty="0">
                        <a:latin typeface="Arial" panose="020B0604020202020204" pitchFamily="34" charset="0"/>
                        <a:cs typeface="Arial" panose="020B0604020202020204" pitchFamily="34" charset="0"/>
                      </a:endParaRPr>
                    </a:p>
                  </a:txBody>
                  <a:tcPr marL="91450" marR="91450" marT="45725" marB="45725">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4EAE4"/>
                    </a:solidFill>
                  </a:tcPr>
                </a:tc>
                <a:tc>
                  <a:txBody>
                    <a:bodyPr/>
                    <a:lstStyle/>
                    <a:p>
                      <a:pPr marL="342900" marR="0" lvl="0" indent="-342900" algn="l" rtl="0">
                        <a:lnSpc>
                          <a:spcPct val="100000"/>
                        </a:lnSpc>
                        <a:spcBef>
                          <a:spcPts val="0"/>
                        </a:spcBef>
                        <a:spcAft>
                          <a:spcPts val="0"/>
                        </a:spcAft>
                        <a:buClrTx/>
                        <a:buSzPts val="2200"/>
                        <a:buFont typeface="Arial" panose="020B0604020202020204" pitchFamily="34" charset="0"/>
                        <a:buChar char="•"/>
                      </a:pPr>
                      <a:r>
                        <a:rPr lang="en-US" sz="2000" b="0" i="0" u="none" strike="noStrike" cap="none" baseline="0" dirty="0">
                          <a:solidFill>
                            <a:schemeClr val="dk1"/>
                          </a:solidFill>
                          <a:latin typeface="Arial" panose="020B0604020202020204" pitchFamily="34" charset="0"/>
                          <a:ea typeface="Arial"/>
                          <a:cs typeface="Arial" panose="020B0604020202020204" pitchFamily="34" charset="0"/>
                          <a:sym typeface="Arial"/>
                        </a:rPr>
                        <a:t>Complex management structure </a:t>
                      </a:r>
                      <a:endParaRPr sz="2000" baseline="0" dirty="0">
                        <a:latin typeface="Arial" panose="020B0604020202020204" pitchFamily="34" charset="0"/>
                        <a:cs typeface="Arial" panose="020B0604020202020204" pitchFamily="34" charset="0"/>
                      </a:endParaRPr>
                    </a:p>
                    <a:p>
                      <a:pPr marL="342900" marR="0" lvl="0" indent="-342900" algn="l" rtl="0">
                        <a:lnSpc>
                          <a:spcPct val="100000"/>
                        </a:lnSpc>
                        <a:spcBef>
                          <a:spcPts val="600"/>
                        </a:spcBef>
                        <a:spcAft>
                          <a:spcPts val="0"/>
                        </a:spcAft>
                        <a:buClrTx/>
                        <a:buSzPts val="2200"/>
                        <a:buFont typeface="Arial" panose="020B0604020202020204" pitchFamily="34" charset="0"/>
                        <a:buChar char="•"/>
                      </a:pPr>
                      <a:r>
                        <a:rPr lang="en-US" sz="2000" b="0" i="0" u="none" strike="noStrike" cap="none" baseline="0" dirty="0">
                          <a:solidFill>
                            <a:schemeClr val="dk1"/>
                          </a:solidFill>
                          <a:latin typeface="Arial" panose="020B0604020202020204" pitchFamily="34" charset="0"/>
                          <a:ea typeface="Arial"/>
                          <a:cs typeface="Arial" panose="020B0604020202020204" pitchFamily="34" charset="0"/>
                          <a:sym typeface="Arial"/>
                        </a:rPr>
                        <a:t>Coordination between the partners may be a concern </a:t>
                      </a:r>
                      <a:endParaRPr sz="2000" baseline="0" dirty="0">
                        <a:latin typeface="Arial" panose="020B0604020202020204" pitchFamily="34" charset="0"/>
                        <a:cs typeface="Arial" panose="020B0604020202020204" pitchFamily="34" charset="0"/>
                      </a:endParaRPr>
                    </a:p>
                    <a:p>
                      <a:pPr marL="342900" marR="0" lvl="0" indent="-342900" algn="l" rtl="0">
                        <a:lnSpc>
                          <a:spcPct val="100000"/>
                        </a:lnSpc>
                        <a:spcBef>
                          <a:spcPts val="600"/>
                        </a:spcBef>
                        <a:spcAft>
                          <a:spcPts val="0"/>
                        </a:spcAft>
                        <a:buClrTx/>
                        <a:buSzPts val="2200"/>
                        <a:buFont typeface="Arial" panose="020B0604020202020204" pitchFamily="34" charset="0"/>
                        <a:buChar char="•"/>
                      </a:pPr>
                      <a:r>
                        <a:rPr lang="en-US" sz="2000" b="0" i="0" u="none" strike="noStrike" cap="none" baseline="0" dirty="0">
                          <a:solidFill>
                            <a:schemeClr val="dk1"/>
                          </a:solidFill>
                          <a:latin typeface="Arial" panose="020B0604020202020204" pitchFamily="34" charset="0"/>
                          <a:ea typeface="Arial"/>
                          <a:cs typeface="Arial" panose="020B0604020202020204" pitchFamily="34" charset="0"/>
                          <a:sym typeface="Arial"/>
                        </a:rPr>
                        <a:t>Difficult to terminate </a:t>
                      </a:r>
                      <a:endParaRPr sz="2000" baseline="0" dirty="0">
                        <a:latin typeface="Arial" panose="020B0604020202020204" pitchFamily="34" charset="0"/>
                        <a:cs typeface="Arial" panose="020B0604020202020204" pitchFamily="34" charset="0"/>
                      </a:endParaRPr>
                    </a:p>
                    <a:p>
                      <a:pPr marL="342900" marR="0" lvl="0" indent="-342900" algn="l" rtl="0">
                        <a:lnSpc>
                          <a:spcPct val="100000"/>
                        </a:lnSpc>
                        <a:spcBef>
                          <a:spcPts val="600"/>
                        </a:spcBef>
                        <a:spcAft>
                          <a:spcPts val="0"/>
                        </a:spcAft>
                        <a:buClrTx/>
                        <a:buSzPts val="2200"/>
                        <a:buFont typeface="Arial" panose="020B0604020202020204" pitchFamily="34" charset="0"/>
                        <a:buChar char="•"/>
                      </a:pPr>
                      <a:r>
                        <a:rPr lang="en-US" sz="2000" b="0" i="0" u="none" strike="noStrike" cap="none" baseline="0" dirty="0">
                          <a:solidFill>
                            <a:schemeClr val="dk1"/>
                          </a:solidFill>
                          <a:latin typeface="Arial" panose="020B0604020202020204" pitchFamily="34" charset="0"/>
                          <a:ea typeface="Arial"/>
                          <a:cs typeface="Arial" panose="020B0604020202020204" pitchFamily="34" charset="0"/>
                          <a:sym typeface="Arial"/>
                        </a:rPr>
                        <a:t>Greater exposure to political risk </a:t>
                      </a:r>
                      <a:endParaRPr sz="2000" baseline="0" dirty="0">
                        <a:latin typeface="Arial" panose="020B0604020202020204" pitchFamily="34" charset="0"/>
                        <a:cs typeface="Arial" panose="020B0604020202020204" pitchFamily="34" charset="0"/>
                      </a:endParaRPr>
                    </a:p>
                  </a:txBody>
                  <a:tcPr marL="91450" marR="91450" marT="45725" marB="45725">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3820198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40" y="114199"/>
            <a:ext cx="8341260" cy="1144347"/>
          </a:xfrm>
        </p:spPr>
        <p:txBody>
          <a:bodyPr wrap="square" lIns="0" tIns="18000" rIns="0" bIns="18000" anchor="ctr" anchorCtr="0">
            <a:spAutoFit/>
          </a:bodyPr>
          <a:lstStyle/>
          <a:p>
            <a:r>
              <a:rPr lang="en-US" dirty="0"/>
              <a:t>Advantages and Disadvantages of Collaborative Ventures </a:t>
            </a:r>
            <a:r>
              <a:rPr lang="en-US" sz="2800" dirty="0"/>
              <a:t>(2 of 2)</a:t>
            </a:r>
            <a:endParaRPr lang="en-US" sz="2800" b="0" dirty="0"/>
          </a:p>
        </p:txBody>
      </p:sp>
      <p:graphicFrame>
        <p:nvGraphicFramePr>
          <p:cNvPr id="4" name="Table 3">
            <a:extLst>
              <a:ext uri="{FF2B5EF4-FFF2-40B4-BE49-F238E27FC236}">
                <a16:creationId xmlns:a16="http://schemas.microsoft.com/office/drawing/2014/main" id="{87889C3C-40EB-40F4-9E7E-60833815B64E}"/>
              </a:ext>
            </a:extLst>
          </p:cNvPr>
          <p:cNvGraphicFramePr>
            <a:graphicFrameLocks noGrp="1"/>
          </p:cNvGraphicFramePr>
          <p:nvPr>
            <p:extLst>
              <p:ext uri="{D42A27DB-BD31-4B8C-83A1-F6EECF244321}">
                <p14:modId xmlns:p14="http://schemas.microsoft.com/office/powerpoint/2010/main" val="1599680929"/>
              </p:ext>
            </p:extLst>
          </p:nvPr>
        </p:nvGraphicFramePr>
        <p:xfrm>
          <a:off x="457200" y="1499556"/>
          <a:ext cx="8229600" cy="4019733"/>
        </p:xfrm>
        <a:graphic>
          <a:graphicData uri="http://schemas.openxmlformats.org/drawingml/2006/table">
            <a:tbl>
              <a:tblPr firstRow="1" firstCol="1" bandRow="1">
                <a:tableStyleId>{5940675A-B579-460E-94D1-54222C63F5DA}</a:tableStyleId>
              </a:tblPr>
              <a:tblGrid>
                <a:gridCol w="1676685">
                  <a:extLst>
                    <a:ext uri="{9D8B030D-6E8A-4147-A177-3AD203B41FA5}">
                      <a16:colId xmlns:a16="http://schemas.microsoft.com/office/drawing/2014/main" val="20000"/>
                    </a:ext>
                  </a:extLst>
                </a:gridCol>
                <a:gridCol w="2971515">
                  <a:extLst>
                    <a:ext uri="{9D8B030D-6E8A-4147-A177-3AD203B41FA5}">
                      <a16:colId xmlns:a16="http://schemas.microsoft.com/office/drawing/2014/main" val="20001"/>
                    </a:ext>
                  </a:extLst>
                </a:gridCol>
                <a:gridCol w="3581400">
                  <a:extLst>
                    <a:ext uri="{9D8B030D-6E8A-4147-A177-3AD203B41FA5}">
                      <a16:colId xmlns:a16="http://schemas.microsoft.com/office/drawing/2014/main" val="222661392"/>
                    </a:ext>
                  </a:extLst>
                </a:gridCol>
              </a:tblGrid>
              <a:tr h="343803">
                <a:tc>
                  <a:txBody>
                    <a:bodyPr/>
                    <a:lstStyle/>
                    <a:p>
                      <a:pPr marL="0" marR="0" lvl="0" indent="0" algn="l" rtl="0">
                        <a:lnSpc>
                          <a:spcPct val="100000"/>
                        </a:lnSpc>
                        <a:spcBef>
                          <a:spcPts val="0"/>
                        </a:spcBef>
                        <a:spcAft>
                          <a:spcPts val="0"/>
                        </a:spcAft>
                        <a:buClr>
                          <a:schemeClr val="lt1"/>
                        </a:buClr>
                        <a:buSzPts val="1900"/>
                        <a:buFont typeface="Arial"/>
                        <a:buNone/>
                      </a:pPr>
                      <a:r>
                        <a:rPr lang="en-US" sz="100" b="1" i="0" u="none" strike="noStrike" cap="none" baseline="0" dirty="0">
                          <a:solidFill>
                            <a:schemeClr val="bg1"/>
                          </a:solidFill>
                          <a:latin typeface="Arial" panose="020B0604020202020204" pitchFamily="34" charset="0"/>
                          <a:ea typeface="+mn-ea"/>
                          <a:cs typeface="Arial" panose="020B0604020202020204" pitchFamily="34" charset="0"/>
                          <a:sym typeface="Arial"/>
                        </a:rPr>
                        <a:t>Blank</a:t>
                      </a:r>
                      <a:endParaRPr sz="100" b="1" i="0" u="none" strike="noStrike" cap="none" baseline="0" dirty="0">
                        <a:solidFill>
                          <a:schemeClr val="bg1"/>
                        </a:solidFill>
                        <a:latin typeface="Arial" panose="020B0604020202020204" pitchFamily="34" charset="0"/>
                        <a:ea typeface="+mn-ea"/>
                        <a:cs typeface="Arial" panose="020B0604020202020204" pitchFamily="34" charset="0"/>
                        <a:sym typeface="Arial"/>
                      </a:endParaRPr>
                    </a:p>
                  </a:txBody>
                  <a:tcPr marL="91450" marR="91450" marT="37789" marB="37789">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solidFill>
                  </a:tcPr>
                </a:tc>
                <a:tc>
                  <a:txBody>
                    <a:bodyPr/>
                    <a:lstStyle/>
                    <a:p>
                      <a:pPr marL="0" marR="0" lvl="0" indent="0" algn="l" rtl="0">
                        <a:lnSpc>
                          <a:spcPct val="100000"/>
                        </a:lnSpc>
                        <a:spcBef>
                          <a:spcPts val="0"/>
                        </a:spcBef>
                        <a:spcAft>
                          <a:spcPts val="0"/>
                        </a:spcAft>
                        <a:buClr>
                          <a:srgbClr val="000000"/>
                        </a:buClr>
                        <a:buSzPts val="2200"/>
                        <a:buFont typeface="Arial"/>
                        <a:buNone/>
                      </a:pPr>
                      <a:r>
                        <a:rPr lang="en-US" sz="1800" b="1" u="none" strike="noStrike" cap="none" baseline="0" dirty="0">
                          <a:solidFill>
                            <a:schemeClr val="bg1"/>
                          </a:solidFill>
                          <a:latin typeface="Arial" panose="020B0604020202020204" pitchFamily="34" charset="0"/>
                          <a:cs typeface="Arial" panose="020B0604020202020204" pitchFamily="34" charset="0"/>
                        </a:rPr>
                        <a:t>Advantages</a:t>
                      </a:r>
                      <a:endParaRPr sz="1800" baseline="0" dirty="0">
                        <a:solidFill>
                          <a:schemeClr val="bg1"/>
                        </a:solidFill>
                        <a:latin typeface="Arial" panose="020B0604020202020204" pitchFamily="34" charset="0"/>
                        <a:cs typeface="Arial" panose="020B0604020202020204" pitchFamily="34" charset="0"/>
                      </a:endParaRPr>
                    </a:p>
                  </a:txBody>
                  <a:tcPr marL="91450" marR="91450" marT="37789" marB="37789">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solidFill>
                  </a:tcPr>
                </a:tc>
                <a:tc>
                  <a:txBody>
                    <a:bodyPr/>
                    <a:lstStyle/>
                    <a:p>
                      <a:pPr marL="0" marR="0" lvl="0" indent="0" algn="l" rtl="0">
                        <a:lnSpc>
                          <a:spcPct val="100000"/>
                        </a:lnSpc>
                        <a:spcBef>
                          <a:spcPts val="0"/>
                        </a:spcBef>
                        <a:spcAft>
                          <a:spcPts val="0"/>
                        </a:spcAft>
                        <a:buClr>
                          <a:srgbClr val="000000"/>
                        </a:buClr>
                        <a:buSzPts val="2200"/>
                        <a:buFont typeface="Arial"/>
                        <a:buNone/>
                      </a:pPr>
                      <a:r>
                        <a:rPr lang="en-US" sz="1800" b="1" u="none" strike="noStrike" cap="none" baseline="0" dirty="0">
                          <a:solidFill>
                            <a:schemeClr val="bg1"/>
                          </a:solidFill>
                          <a:latin typeface="Arial" panose="020B0604020202020204" pitchFamily="34" charset="0"/>
                          <a:cs typeface="Arial" panose="020B0604020202020204" pitchFamily="34" charset="0"/>
                        </a:rPr>
                        <a:t>Disadvantages</a:t>
                      </a:r>
                      <a:endParaRPr sz="1800" baseline="0" dirty="0">
                        <a:solidFill>
                          <a:schemeClr val="bg1"/>
                        </a:solidFill>
                        <a:latin typeface="Arial" panose="020B0604020202020204" pitchFamily="34" charset="0"/>
                        <a:cs typeface="Arial" panose="020B0604020202020204" pitchFamily="34" charset="0"/>
                      </a:endParaRPr>
                    </a:p>
                  </a:txBody>
                  <a:tcPr marL="91450" marR="91450" marT="37789" marB="37789">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3669835">
                <a:tc>
                  <a:txBody>
                    <a:bodyPr/>
                    <a:lstStyle/>
                    <a:p>
                      <a:pPr marL="0" marR="0" lvl="0" indent="0" algn="l" rtl="0">
                        <a:lnSpc>
                          <a:spcPct val="100000"/>
                        </a:lnSpc>
                        <a:spcBef>
                          <a:spcPts val="0"/>
                        </a:spcBef>
                        <a:spcAft>
                          <a:spcPts val="0"/>
                        </a:spcAft>
                        <a:buClr>
                          <a:schemeClr val="dk1"/>
                        </a:buClr>
                        <a:buSzPts val="1900"/>
                        <a:buFont typeface="Arial"/>
                        <a:buNone/>
                      </a:pPr>
                      <a:r>
                        <a:rPr lang="en-US" sz="1800" b="1" i="0" u="none" strike="noStrike" cap="none" baseline="0" dirty="0">
                          <a:solidFill>
                            <a:schemeClr val="dk1"/>
                          </a:solidFill>
                          <a:latin typeface="Arial" panose="020B0604020202020204" pitchFamily="34" charset="0"/>
                          <a:ea typeface="Arial"/>
                          <a:cs typeface="Arial" panose="020B0604020202020204" pitchFamily="34" charset="0"/>
                          <a:sym typeface="Arial"/>
                        </a:rPr>
                        <a:t>Project-based, nonequity </a:t>
                      </a:r>
                      <a:endParaRPr sz="1800" baseline="0" dirty="0">
                        <a:latin typeface="Arial" panose="020B0604020202020204" pitchFamily="34" charset="0"/>
                        <a:cs typeface="Arial" panose="020B0604020202020204" pitchFamily="34" charset="0"/>
                      </a:endParaRPr>
                    </a:p>
                    <a:p>
                      <a:pPr marL="0" marR="0" lvl="0" indent="0" algn="l" rtl="0">
                        <a:lnSpc>
                          <a:spcPct val="100000"/>
                        </a:lnSpc>
                        <a:spcBef>
                          <a:spcPts val="0"/>
                        </a:spcBef>
                        <a:spcAft>
                          <a:spcPts val="0"/>
                        </a:spcAft>
                        <a:buClr>
                          <a:schemeClr val="dk1"/>
                        </a:buClr>
                        <a:buSzPts val="1900"/>
                        <a:buFont typeface="Arial"/>
                        <a:buNone/>
                      </a:pPr>
                      <a:r>
                        <a:rPr lang="en-US" sz="1800" b="1" i="0" u="none" strike="noStrike" cap="none" baseline="0" dirty="0">
                          <a:solidFill>
                            <a:schemeClr val="dk1"/>
                          </a:solidFill>
                          <a:latin typeface="Arial" panose="020B0604020202020204" pitchFamily="34" charset="0"/>
                          <a:ea typeface="Arial"/>
                          <a:cs typeface="Arial" panose="020B0604020202020204" pitchFamily="34" charset="0"/>
                          <a:sym typeface="Arial"/>
                        </a:rPr>
                        <a:t>Ventures</a:t>
                      </a:r>
                      <a:endParaRPr sz="1800" baseline="0" dirty="0">
                        <a:latin typeface="Arial" panose="020B0604020202020204" pitchFamily="34" charset="0"/>
                        <a:cs typeface="Arial" panose="020B0604020202020204" pitchFamily="34" charset="0"/>
                      </a:endParaRPr>
                    </a:p>
                  </a:txBody>
                  <a:tcPr marL="91450" marR="91450" marT="37789" marB="37789">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4EAE4"/>
                    </a:solidFill>
                  </a:tcPr>
                </a:tc>
                <a:tc>
                  <a:txBody>
                    <a:bodyPr/>
                    <a:lstStyle/>
                    <a:p>
                      <a:pPr marL="285750" marR="0" lvl="0" indent="-285750" algn="l" rtl="0">
                        <a:lnSpc>
                          <a:spcPct val="100000"/>
                        </a:lnSpc>
                        <a:spcBef>
                          <a:spcPts val="0"/>
                        </a:spcBef>
                        <a:spcAft>
                          <a:spcPts val="0"/>
                        </a:spcAft>
                        <a:buClrTx/>
                        <a:buSzPts val="2000"/>
                        <a:buFont typeface="Arial" panose="020B0604020202020204" pitchFamily="34" charset="0"/>
                        <a:buChar char="•"/>
                      </a:pPr>
                      <a:r>
                        <a:rPr lang="en-US" sz="1800" b="0" i="0" u="none" strike="noStrike" cap="none" baseline="0" dirty="0">
                          <a:solidFill>
                            <a:schemeClr val="dk1"/>
                          </a:solidFill>
                          <a:latin typeface="Arial" panose="020B0604020202020204" pitchFamily="34" charset="0"/>
                          <a:ea typeface="Arial"/>
                          <a:cs typeface="Arial" panose="020B0604020202020204" pitchFamily="34" charset="0"/>
                          <a:sym typeface="Arial"/>
                        </a:rPr>
                        <a:t>Easy to setup </a:t>
                      </a:r>
                      <a:endParaRPr sz="1800" baseline="0" dirty="0">
                        <a:latin typeface="Arial" panose="020B0604020202020204" pitchFamily="34" charset="0"/>
                        <a:cs typeface="Arial" panose="020B0604020202020204" pitchFamily="34" charset="0"/>
                      </a:endParaRPr>
                    </a:p>
                    <a:p>
                      <a:pPr marL="285750" marR="0" lvl="0" indent="-285750" algn="l" rtl="0">
                        <a:lnSpc>
                          <a:spcPct val="100000"/>
                        </a:lnSpc>
                        <a:spcBef>
                          <a:spcPts val="600"/>
                        </a:spcBef>
                        <a:spcAft>
                          <a:spcPts val="0"/>
                        </a:spcAft>
                        <a:buClrTx/>
                        <a:buSzPts val="2000"/>
                        <a:buFont typeface="Arial" panose="020B0604020202020204" pitchFamily="34" charset="0"/>
                        <a:buChar char="•"/>
                      </a:pPr>
                      <a:r>
                        <a:rPr lang="en-US" sz="1800" b="0" i="0" u="none" strike="noStrike" cap="none" baseline="0" dirty="0">
                          <a:solidFill>
                            <a:schemeClr val="dk1"/>
                          </a:solidFill>
                          <a:latin typeface="Arial" panose="020B0604020202020204" pitchFamily="34" charset="0"/>
                          <a:ea typeface="Arial"/>
                          <a:cs typeface="Arial" panose="020B0604020202020204" pitchFamily="34" charset="0"/>
                          <a:sym typeface="Arial"/>
                        </a:rPr>
                        <a:t>Simple management structure; can be adjusted easily </a:t>
                      </a:r>
                      <a:endParaRPr sz="1800" baseline="0" dirty="0">
                        <a:latin typeface="Arial" panose="020B0604020202020204" pitchFamily="34" charset="0"/>
                        <a:cs typeface="Arial" panose="020B0604020202020204" pitchFamily="34" charset="0"/>
                      </a:endParaRPr>
                    </a:p>
                    <a:p>
                      <a:pPr marL="285750" marR="0" lvl="0" indent="-285750" algn="l" rtl="0">
                        <a:lnSpc>
                          <a:spcPct val="100000"/>
                        </a:lnSpc>
                        <a:spcBef>
                          <a:spcPts val="600"/>
                        </a:spcBef>
                        <a:spcAft>
                          <a:spcPts val="0"/>
                        </a:spcAft>
                        <a:buClrTx/>
                        <a:buSzPts val="2000"/>
                        <a:buFont typeface="Arial" panose="020B0604020202020204" pitchFamily="34" charset="0"/>
                        <a:buChar char="•"/>
                      </a:pPr>
                      <a:r>
                        <a:rPr lang="en-US" sz="1800" b="0" i="0" u="none" strike="noStrike" cap="none" baseline="0" dirty="0">
                          <a:solidFill>
                            <a:schemeClr val="dk1"/>
                          </a:solidFill>
                          <a:latin typeface="Arial" panose="020B0604020202020204" pitchFamily="34" charset="0"/>
                          <a:ea typeface="Arial"/>
                          <a:cs typeface="Arial" panose="020B0604020202020204" pitchFamily="34" charset="0"/>
                          <a:sym typeface="Arial"/>
                        </a:rPr>
                        <a:t>Takes advantage of partners' respective strengths </a:t>
                      </a:r>
                      <a:endParaRPr sz="1800" baseline="0" dirty="0">
                        <a:latin typeface="Arial" panose="020B0604020202020204" pitchFamily="34" charset="0"/>
                        <a:cs typeface="Arial" panose="020B0604020202020204" pitchFamily="34" charset="0"/>
                      </a:endParaRPr>
                    </a:p>
                    <a:p>
                      <a:pPr marL="285750" marR="0" lvl="0" indent="-285750" algn="l" rtl="0">
                        <a:lnSpc>
                          <a:spcPct val="100000"/>
                        </a:lnSpc>
                        <a:spcBef>
                          <a:spcPts val="600"/>
                        </a:spcBef>
                        <a:spcAft>
                          <a:spcPts val="0"/>
                        </a:spcAft>
                        <a:buClrTx/>
                        <a:buSzPts val="2000"/>
                        <a:buFont typeface="Arial" panose="020B0604020202020204" pitchFamily="34" charset="0"/>
                        <a:buChar char="•"/>
                      </a:pPr>
                      <a:r>
                        <a:rPr lang="en-US" sz="1800" b="0" i="0" u="none" strike="noStrike" cap="none" baseline="0" dirty="0">
                          <a:solidFill>
                            <a:schemeClr val="dk1"/>
                          </a:solidFill>
                          <a:latin typeface="Arial" panose="020B0604020202020204" pitchFamily="34" charset="0"/>
                          <a:ea typeface="Arial"/>
                          <a:cs typeface="Arial" panose="020B0604020202020204" pitchFamily="34" charset="0"/>
                          <a:sym typeface="Arial"/>
                        </a:rPr>
                        <a:t>Can respond quickly to changing technology and market conditions </a:t>
                      </a:r>
                      <a:endParaRPr sz="1800" baseline="0" dirty="0">
                        <a:latin typeface="Arial" panose="020B0604020202020204" pitchFamily="34" charset="0"/>
                        <a:cs typeface="Arial" panose="020B0604020202020204" pitchFamily="34" charset="0"/>
                      </a:endParaRPr>
                    </a:p>
                    <a:p>
                      <a:pPr marL="285750" marR="0" lvl="0" indent="-285750" algn="l" rtl="0">
                        <a:lnSpc>
                          <a:spcPct val="100000"/>
                        </a:lnSpc>
                        <a:spcBef>
                          <a:spcPts val="600"/>
                        </a:spcBef>
                        <a:spcAft>
                          <a:spcPts val="0"/>
                        </a:spcAft>
                        <a:buClrTx/>
                        <a:buSzPts val="2000"/>
                        <a:buFont typeface="Arial" panose="020B0604020202020204" pitchFamily="34" charset="0"/>
                        <a:buChar char="•"/>
                      </a:pPr>
                      <a:r>
                        <a:rPr lang="en-US" sz="1800" b="0" i="0" u="none" strike="noStrike" cap="none" baseline="0" dirty="0">
                          <a:solidFill>
                            <a:schemeClr val="dk1"/>
                          </a:solidFill>
                          <a:latin typeface="Arial" panose="020B0604020202020204" pitchFamily="34" charset="0"/>
                          <a:ea typeface="Arial"/>
                          <a:cs typeface="Arial" panose="020B0604020202020204" pitchFamily="34" charset="0"/>
                          <a:sym typeface="Arial"/>
                        </a:rPr>
                        <a:t>Easy to terminate</a:t>
                      </a:r>
                      <a:endParaRPr sz="1800" baseline="0" dirty="0">
                        <a:latin typeface="Arial" panose="020B0604020202020204" pitchFamily="34" charset="0"/>
                        <a:cs typeface="Arial" panose="020B0604020202020204" pitchFamily="34" charset="0"/>
                      </a:endParaRPr>
                    </a:p>
                  </a:txBody>
                  <a:tcPr marL="91450" marR="91450" marT="37789" marB="37789">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4EAE4"/>
                    </a:solidFill>
                  </a:tcPr>
                </a:tc>
                <a:tc>
                  <a:txBody>
                    <a:bodyPr/>
                    <a:lstStyle/>
                    <a:p>
                      <a:pPr marL="285750" marR="0" lvl="0" indent="-285750" algn="l" rtl="0">
                        <a:lnSpc>
                          <a:spcPct val="100000"/>
                        </a:lnSpc>
                        <a:spcBef>
                          <a:spcPts val="0"/>
                        </a:spcBef>
                        <a:spcAft>
                          <a:spcPts val="0"/>
                        </a:spcAft>
                        <a:buClrTx/>
                        <a:buSzPts val="2000"/>
                        <a:buFont typeface="Arial" panose="020B0604020202020204" pitchFamily="34" charset="0"/>
                        <a:buChar char="•"/>
                      </a:pPr>
                      <a:r>
                        <a:rPr lang="en-US" sz="1800" b="0" i="0" u="none" strike="noStrike" cap="none" baseline="0" dirty="0">
                          <a:solidFill>
                            <a:schemeClr val="dk1"/>
                          </a:solidFill>
                          <a:latin typeface="Arial" panose="020B0604020202020204" pitchFamily="34" charset="0"/>
                          <a:ea typeface="Arial"/>
                          <a:cs typeface="Arial" panose="020B0604020202020204" pitchFamily="34" charset="0"/>
                          <a:sym typeface="Arial"/>
                        </a:rPr>
                        <a:t> Knowledge transfer may be less straightforward between the partners </a:t>
                      </a:r>
                      <a:endParaRPr sz="1800" baseline="0" dirty="0">
                        <a:latin typeface="Arial" panose="020B0604020202020204" pitchFamily="34" charset="0"/>
                        <a:cs typeface="Arial" panose="020B0604020202020204" pitchFamily="34" charset="0"/>
                      </a:endParaRPr>
                    </a:p>
                    <a:p>
                      <a:pPr marL="285750" marR="0" lvl="0" indent="-285750" algn="l" rtl="0">
                        <a:lnSpc>
                          <a:spcPct val="100000"/>
                        </a:lnSpc>
                        <a:spcBef>
                          <a:spcPts val="600"/>
                        </a:spcBef>
                        <a:spcAft>
                          <a:spcPts val="0"/>
                        </a:spcAft>
                        <a:buClrTx/>
                        <a:buSzPts val="2000"/>
                        <a:buFont typeface="Arial" panose="020B0604020202020204" pitchFamily="34" charset="0"/>
                        <a:buChar char="•"/>
                      </a:pPr>
                      <a:r>
                        <a:rPr lang="en-US" sz="1800" b="0" i="0" u="none" strike="noStrike" cap="none" baseline="0" dirty="0">
                          <a:solidFill>
                            <a:schemeClr val="dk1"/>
                          </a:solidFill>
                          <a:latin typeface="Arial" panose="020B0604020202020204" pitchFamily="34" charset="0"/>
                          <a:ea typeface="Arial"/>
                          <a:cs typeface="Arial" panose="020B0604020202020204" pitchFamily="34" charset="0"/>
                          <a:sym typeface="Arial"/>
                        </a:rPr>
                        <a:t>No equity commitment; thus, puts greater emphasis on trust, good communications, and developing relationships </a:t>
                      </a:r>
                      <a:endParaRPr sz="1800" baseline="0" dirty="0">
                        <a:latin typeface="Arial" panose="020B0604020202020204" pitchFamily="34" charset="0"/>
                        <a:cs typeface="Arial" panose="020B0604020202020204" pitchFamily="34" charset="0"/>
                      </a:endParaRPr>
                    </a:p>
                    <a:p>
                      <a:pPr marL="285750" marR="0" lvl="0" indent="-285750" algn="l" rtl="0">
                        <a:lnSpc>
                          <a:spcPct val="100000"/>
                        </a:lnSpc>
                        <a:spcBef>
                          <a:spcPts val="600"/>
                        </a:spcBef>
                        <a:spcAft>
                          <a:spcPts val="0"/>
                        </a:spcAft>
                        <a:buClrTx/>
                        <a:buSzPts val="2000"/>
                        <a:buFont typeface="Arial" panose="020B0604020202020204" pitchFamily="34" charset="0"/>
                        <a:buChar char="•"/>
                      </a:pPr>
                      <a:r>
                        <a:rPr lang="en-US" sz="1800" b="0" i="0" u="none" strike="noStrike" cap="none" baseline="0" dirty="0">
                          <a:solidFill>
                            <a:schemeClr val="dk1"/>
                          </a:solidFill>
                          <a:latin typeface="Arial" panose="020B0604020202020204" pitchFamily="34" charset="0"/>
                          <a:ea typeface="Arial"/>
                          <a:cs typeface="Arial" panose="020B0604020202020204" pitchFamily="34" charset="0"/>
                          <a:sym typeface="Arial"/>
                        </a:rPr>
                        <a:t>Conflicts may be harder to resolve </a:t>
                      </a:r>
                      <a:endParaRPr sz="1800" baseline="0" dirty="0">
                        <a:latin typeface="Arial" panose="020B0604020202020204" pitchFamily="34" charset="0"/>
                        <a:cs typeface="Arial" panose="020B0604020202020204" pitchFamily="34" charset="0"/>
                      </a:endParaRPr>
                    </a:p>
                    <a:p>
                      <a:pPr marL="285750" marR="0" lvl="0" indent="-285750" algn="l" rtl="0">
                        <a:lnSpc>
                          <a:spcPct val="100000"/>
                        </a:lnSpc>
                        <a:spcBef>
                          <a:spcPts val="600"/>
                        </a:spcBef>
                        <a:spcAft>
                          <a:spcPts val="0"/>
                        </a:spcAft>
                        <a:buClrTx/>
                        <a:buSzPts val="2000"/>
                        <a:buFont typeface="Arial" panose="020B0604020202020204" pitchFamily="34" charset="0"/>
                        <a:buChar char="•"/>
                      </a:pPr>
                      <a:r>
                        <a:rPr lang="en-US" sz="1800" b="0" i="0" u="none" strike="noStrike" cap="none" baseline="0" dirty="0">
                          <a:solidFill>
                            <a:schemeClr val="dk1"/>
                          </a:solidFill>
                          <a:latin typeface="Arial" panose="020B0604020202020204" pitchFamily="34" charset="0"/>
                          <a:ea typeface="Arial"/>
                          <a:cs typeface="Arial" panose="020B0604020202020204" pitchFamily="34" charset="0"/>
                          <a:sym typeface="Arial"/>
                        </a:rPr>
                        <a:t>Division of costs and benefits may strain relationship</a:t>
                      </a:r>
                      <a:endParaRPr sz="1800" baseline="0" dirty="0">
                        <a:latin typeface="Arial" panose="020B0604020202020204" pitchFamily="34" charset="0"/>
                        <a:cs typeface="Arial" panose="020B0604020202020204" pitchFamily="34" charset="0"/>
                      </a:endParaRPr>
                    </a:p>
                  </a:txBody>
                  <a:tcPr marL="91450" marR="91450" marT="37789" marB="37789">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2472731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40" y="114199"/>
            <a:ext cx="8341260" cy="1144347"/>
          </a:xfrm>
        </p:spPr>
        <p:txBody>
          <a:bodyPr wrap="square" lIns="0" tIns="18000" rIns="0" bIns="18000" anchor="ctr" anchorCtr="0">
            <a:spAutoFit/>
          </a:bodyPr>
          <a:lstStyle/>
          <a:p>
            <a:r>
              <a:rPr lang="en-US" dirty="0"/>
              <a:t>Managing Collaborative Ventures: Key Questions</a:t>
            </a:r>
            <a:endParaRPr lang="en-US" sz="28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71218" y="1556882"/>
            <a:ext cx="8340982" cy="3375727"/>
          </a:xfrm>
        </p:spPr>
        <p:txBody>
          <a:bodyPr wrap="square" lIns="0" tIns="18000" rIns="0" bIns="18000" anchor="ctr" anchorCtr="0">
            <a:spAutoFit/>
          </a:bodyPr>
          <a:lstStyle/>
          <a:p>
            <a:pPr marL="342900" indent="-342900">
              <a:spcBef>
                <a:spcPts val="600"/>
              </a:spcBef>
            </a:pPr>
            <a:r>
              <a:rPr lang="en-US" sz="2400" dirty="0"/>
              <a:t>How dependent will we be on our partner?</a:t>
            </a:r>
          </a:p>
          <a:p>
            <a:pPr marL="342900" indent="-342900">
              <a:spcBef>
                <a:spcPts val="600"/>
              </a:spcBef>
            </a:pPr>
            <a:r>
              <a:rPr lang="en-US" sz="2400" dirty="0"/>
              <a:t>How will responsibilities and competencies be shared with the partner?</a:t>
            </a:r>
          </a:p>
          <a:p>
            <a:pPr marL="342900" indent="-342900">
              <a:spcBef>
                <a:spcPts val="600"/>
              </a:spcBef>
            </a:pPr>
            <a:r>
              <a:rPr lang="en-US" sz="2400" dirty="0"/>
              <a:t>Are our assets at risk? How can we protect them?</a:t>
            </a:r>
          </a:p>
          <a:p>
            <a:pPr marL="342900" indent="-342900">
              <a:spcBef>
                <a:spcPts val="600"/>
              </a:spcBef>
            </a:pPr>
            <a:r>
              <a:rPr lang="en-US" sz="2400" dirty="0"/>
              <a:t>What other risks do we face by partnering?</a:t>
            </a:r>
          </a:p>
          <a:p>
            <a:pPr marL="342900" indent="-342900">
              <a:spcBef>
                <a:spcPts val="600"/>
              </a:spcBef>
            </a:pPr>
            <a:r>
              <a:rPr lang="en-US" sz="2400" dirty="0"/>
              <a:t>Will we close growth opportunities due to this venture?</a:t>
            </a:r>
          </a:p>
          <a:p>
            <a:pPr marL="342900" indent="-342900">
              <a:spcBef>
                <a:spcPts val="600"/>
              </a:spcBef>
            </a:pPr>
            <a:r>
              <a:rPr lang="en-US" sz="2400" dirty="0"/>
              <a:t>How will the venture be managed? What burdens will be created on managerial, financial, or other resources?</a:t>
            </a:r>
          </a:p>
        </p:txBody>
      </p:sp>
    </p:spTree>
    <p:extLst>
      <p:ext uri="{BB962C8B-B14F-4D97-AF65-F5344CB8AC3E}">
        <p14:creationId xmlns:p14="http://schemas.microsoft.com/office/powerpoint/2010/main" val="19985831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40" y="114199"/>
            <a:ext cx="8341260" cy="1144347"/>
          </a:xfrm>
        </p:spPr>
        <p:txBody>
          <a:bodyPr wrap="square" lIns="0" tIns="18000" rIns="0" bIns="18000" anchor="ctr" anchorCtr="0">
            <a:spAutoFit/>
          </a:bodyPr>
          <a:lstStyle/>
          <a:p>
            <a:r>
              <a:rPr lang="en-US" dirty="0"/>
              <a:t>A Systematic Process to International Business Partnering</a:t>
            </a:r>
            <a:endParaRPr lang="en-US" sz="2800" b="0" dirty="0"/>
          </a:p>
        </p:txBody>
      </p:sp>
      <p:pic>
        <p:nvPicPr>
          <p:cNvPr id="7" name="Picture 6" descr="An illustration represents a process for identifying and working with an international business partner. &#10;Long description is available in notes, press F6.">
            <a:extLst>
              <a:ext uri="{FF2B5EF4-FFF2-40B4-BE49-F238E27FC236}">
                <a16:creationId xmlns:a16="http://schemas.microsoft.com/office/drawing/2014/main" id="{0BA671DB-FB78-4808-8004-355A8C7A2548}"/>
              </a:ext>
            </a:extLst>
          </p:cNvPr>
          <p:cNvPicPr>
            <a:picLocks noChangeAspect="1"/>
          </p:cNvPicPr>
          <p:nvPr/>
        </p:nvPicPr>
        <p:blipFill>
          <a:blip r:embed="rId3"/>
          <a:stretch>
            <a:fillRect/>
          </a:stretch>
        </p:blipFill>
        <p:spPr>
          <a:xfrm>
            <a:off x="1275588" y="1367658"/>
            <a:ext cx="6592824" cy="4812792"/>
          </a:xfrm>
          <a:prstGeom prst="rect">
            <a:avLst/>
          </a:prstGeom>
        </p:spPr>
      </p:pic>
    </p:spTree>
    <p:extLst>
      <p:ext uri="{BB962C8B-B14F-4D97-AF65-F5344CB8AC3E}">
        <p14:creationId xmlns:p14="http://schemas.microsoft.com/office/powerpoint/2010/main" val="10881610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40" y="114199"/>
            <a:ext cx="8341260" cy="1144347"/>
          </a:xfrm>
        </p:spPr>
        <p:txBody>
          <a:bodyPr wrap="square" lIns="0" tIns="18000" rIns="0" bIns="18000" anchor="ctr" anchorCtr="0">
            <a:spAutoFit/>
          </a:bodyPr>
          <a:lstStyle/>
          <a:p>
            <a:r>
              <a:rPr lang="en-US" dirty="0"/>
              <a:t>Success Factors in Collaborative Ventures</a:t>
            </a:r>
            <a:endParaRPr lang="en-US" sz="28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71218" y="1553367"/>
            <a:ext cx="8340982" cy="3745059"/>
          </a:xfrm>
        </p:spPr>
        <p:txBody>
          <a:bodyPr wrap="square" lIns="0" tIns="18000" rIns="0" bIns="18000" anchor="ctr" anchorCtr="0">
            <a:spAutoFit/>
          </a:bodyPr>
          <a:lstStyle/>
          <a:p>
            <a:pPr marL="342900" indent="-342900">
              <a:spcBef>
                <a:spcPts val="600"/>
              </a:spcBef>
            </a:pPr>
            <a:r>
              <a:rPr lang="en-US" sz="2400" dirty="0"/>
              <a:t>Half of all global collaborative ventures fail in the first five years of operations due to unresolved disagreements, confusion, and frustration. Thus, partners should:</a:t>
            </a:r>
          </a:p>
          <a:p>
            <a:pPr marL="829818" lvl="1" indent="-342900"/>
            <a:r>
              <a:rPr lang="en-US" sz="2400" dirty="0"/>
              <a:t>Be aware of cultural differences;</a:t>
            </a:r>
          </a:p>
          <a:p>
            <a:pPr marL="829818" lvl="1" indent="-342900"/>
            <a:r>
              <a:rPr lang="en-US" sz="2400" dirty="0"/>
              <a:t>Pursue common goals;</a:t>
            </a:r>
          </a:p>
          <a:p>
            <a:pPr marL="829818" lvl="1" indent="-342900"/>
            <a:r>
              <a:rPr lang="en-US" sz="2400" dirty="0"/>
              <a:t>Pay attention to planning and management of the venture;</a:t>
            </a:r>
          </a:p>
          <a:p>
            <a:pPr marL="829818" lvl="1" indent="-342900"/>
            <a:r>
              <a:rPr lang="en-US" sz="2400" dirty="0"/>
              <a:t>Safeguard core competencies; and</a:t>
            </a:r>
          </a:p>
          <a:p>
            <a:pPr marL="829818" lvl="1" indent="-342900"/>
            <a:r>
              <a:rPr lang="en-US" sz="2400" dirty="0"/>
              <a:t>Adjust to shifting environmental circumstances.</a:t>
            </a:r>
          </a:p>
        </p:txBody>
      </p:sp>
    </p:spTree>
    <p:extLst>
      <p:ext uri="{BB962C8B-B14F-4D97-AF65-F5344CB8AC3E}">
        <p14:creationId xmlns:p14="http://schemas.microsoft.com/office/powerpoint/2010/main" val="32500878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40" y="114199"/>
            <a:ext cx="8341260" cy="1144347"/>
          </a:xfrm>
        </p:spPr>
        <p:txBody>
          <a:bodyPr wrap="square" lIns="0" tIns="18000" rIns="0" bIns="18000" anchor="ctr" anchorCtr="0">
            <a:spAutoFit/>
          </a:bodyPr>
          <a:lstStyle/>
          <a:p>
            <a:r>
              <a:rPr lang="en-US" dirty="0"/>
              <a:t>Retailers: A Special Case of Internationalization</a:t>
            </a:r>
            <a:endParaRPr lang="en-US" sz="28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71218" y="1551001"/>
            <a:ext cx="8340982" cy="4560667"/>
          </a:xfrm>
        </p:spPr>
        <p:txBody>
          <a:bodyPr wrap="square" lIns="0" tIns="18000" rIns="0" bIns="18000" anchor="ctr" anchorCtr="0">
            <a:spAutoFit/>
          </a:bodyPr>
          <a:lstStyle/>
          <a:p>
            <a:pPr marL="0" indent="0">
              <a:spcBef>
                <a:spcPts val="600"/>
              </a:spcBef>
              <a:buNone/>
            </a:pPr>
            <a:r>
              <a:rPr lang="en-US" sz="2400" dirty="0"/>
              <a:t>Retailers typically internationalize via </a:t>
            </a:r>
            <a:r>
              <a:rPr lang="en-US" sz="2400" spc="-300" dirty="0"/>
              <a:t>F D </a:t>
            </a:r>
            <a:r>
              <a:rPr lang="en-US" sz="2400" dirty="0"/>
              <a:t>I and collaborative ventures. Retailing takes various forms:</a:t>
            </a:r>
          </a:p>
          <a:p>
            <a:pPr marL="342900" indent="-342900">
              <a:spcBef>
                <a:spcPts val="600"/>
              </a:spcBef>
            </a:pPr>
            <a:r>
              <a:rPr lang="en-US" sz="2400" dirty="0"/>
              <a:t>Department stores (e.g., Marks &amp; Spencer, Macy's);</a:t>
            </a:r>
          </a:p>
          <a:p>
            <a:pPr marL="342900" indent="-342900">
              <a:spcBef>
                <a:spcPts val="600"/>
              </a:spcBef>
            </a:pPr>
            <a:r>
              <a:rPr lang="en-US" sz="2400" dirty="0"/>
              <a:t>Specialty retailers (Body Shop, Gap, Disney Store);</a:t>
            </a:r>
          </a:p>
          <a:p>
            <a:pPr marL="342900" indent="-342900">
              <a:spcBef>
                <a:spcPts val="600"/>
              </a:spcBef>
            </a:pPr>
            <a:r>
              <a:rPr lang="en-US" sz="2400" dirty="0"/>
              <a:t>Supermarkets (Sainsbury, Safeway, </a:t>
            </a:r>
            <a:r>
              <a:rPr lang="en-US" sz="2400" dirty="0" err="1"/>
              <a:t>Sparr</a:t>
            </a:r>
            <a:r>
              <a:rPr lang="en-US" sz="2400" dirty="0"/>
              <a:t>);</a:t>
            </a:r>
          </a:p>
          <a:p>
            <a:pPr marL="342900" indent="-342900">
              <a:spcBef>
                <a:spcPts val="600"/>
              </a:spcBef>
            </a:pPr>
            <a:r>
              <a:rPr lang="en-US" sz="2400" dirty="0"/>
              <a:t>Convenience stores (Circle K, 7-Eleven, Tom Thumb); discount stores (Zellers, Tati, Target);</a:t>
            </a:r>
          </a:p>
          <a:p>
            <a:pPr marL="342900" indent="-342900">
              <a:spcBef>
                <a:spcPts val="600"/>
              </a:spcBef>
            </a:pPr>
            <a:r>
              <a:rPr lang="en-US" sz="2400" dirty="0"/>
              <a:t>“Big box stores” (Home Depot, </a:t>
            </a:r>
            <a:r>
              <a:rPr lang="en-US" sz="2400" spc="-300" dirty="0"/>
              <a:t>I K E </a:t>
            </a:r>
            <a:r>
              <a:rPr lang="en-US" sz="2400" dirty="0"/>
              <a:t>A, Toys “R” Us).</a:t>
            </a:r>
          </a:p>
          <a:p>
            <a:pPr marL="342900" indent="-342900">
              <a:spcBef>
                <a:spcPts val="600"/>
              </a:spcBef>
            </a:pPr>
            <a:r>
              <a:rPr lang="en-US" sz="2400" dirty="0"/>
              <a:t>Walmart has more than 400 stores and 100,000 employees in China, sourcing almost all its merchandise locally and providing thousands of local jobs.</a:t>
            </a:r>
          </a:p>
        </p:txBody>
      </p:sp>
    </p:spTree>
    <p:extLst>
      <p:ext uri="{BB962C8B-B14F-4D97-AF65-F5344CB8AC3E}">
        <p14:creationId xmlns:p14="http://schemas.microsoft.com/office/powerpoint/2010/main" val="13808836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4386" y="116590"/>
            <a:ext cx="8346440" cy="590349"/>
          </a:xfrm>
        </p:spPr>
        <p:txBody>
          <a:bodyPr wrap="square" lIns="0" tIns="18000" rIns="0" bIns="18000" anchor="ctr" anchorCtr="0">
            <a:spAutoFit/>
          </a:bodyPr>
          <a:lstStyle/>
          <a:p>
            <a:r>
              <a:rPr lang="en-US" dirty="0"/>
              <a:t>Barriers to Retailer Success Abroad</a:t>
            </a:r>
            <a:endParaRPr lang="en-US" sz="28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70936" y="863570"/>
            <a:ext cx="8341264" cy="4329835"/>
          </a:xfrm>
        </p:spPr>
        <p:txBody>
          <a:bodyPr wrap="square" lIns="0" tIns="18000" rIns="0" bIns="18000" anchor="ctr" anchorCtr="0">
            <a:spAutoFit/>
          </a:bodyPr>
          <a:lstStyle/>
          <a:p>
            <a:pPr marL="342900" indent="-342900">
              <a:spcBef>
                <a:spcPts val="600"/>
              </a:spcBef>
            </a:pPr>
            <a:r>
              <a:rPr lang="en-US" sz="2400" b="1" dirty="0"/>
              <a:t>Culture and language barriers.</a:t>
            </a:r>
            <a:r>
              <a:rPr lang="en-US" sz="2400" dirty="0"/>
              <a:t> For example, Differing product and service portfolio, store hours, store layout, relations between management and labor. </a:t>
            </a:r>
          </a:p>
          <a:p>
            <a:pPr marL="342900" indent="-342900">
              <a:spcBef>
                <a:spcPts val="600"/>
              </a:spcBef>
            </a:pPr>
            <a:r>
              <a:rPr lang="en-US" sz="2400" dirty="0"/>
              <a:t>Consumers tend to develop strong </a:t>
            </a:r>
            <a:r>
              <a:rPr lang="en-US" sz="2400" b="1" dirty="0"/>
              <a:t>loyalty</a:t>
            </a:r>
            <a:r>
              <a:rPr lang="en-US" sz="2400" dirty="0"/>
              <a:t> to </a:t>
            </a:r>
            <a:r>
              <a:rPr lang="en-US" sz="2400" b="1" dirty="0"/>
              <a:t>indigenous retailers.</a:t>
            </a:r>
            <a:r>
              <a:rPr lang="en-US" sz="2400" dirty="0"/>
              <a:t> For example, Both Galleries Lafayette in New York, and Walmart in Germany failed.</a:t>
            </a:r>
          </a:p>
          <a:p>
            <a:pPr marL="342900" indent="-342900">
              <a:spcBef>
                <a:spcPts val="600"/>
              </a:spcBef>
            </a:pPr>
            <a:r>
              <a:rPr lang="en-US" sz="2400" b="1" dirty="0"/>
              <a:t>Legal and regulatory barriers. </a:t>
            </a:r>
            <a:r>
              <a:rPr lang="en-US" sz="2400" dirty="0"/>
              <a:t>Countries have idiosyncratic laws that affect retailing. For example, Germany limits store hours and requires recycling.</a:t>
            </a:r>
          </a:p>
          <a:p>
            <a:pPr marL="342900" indent="-342900">
              <a:spcBef>
                <a:spcPts val="600"/>
              </a:spcBef>
            </a:pPr>
            <a:r>
              <a:rPr lang="en-US" sz="2400" dirty="0"/>
              <a:t>Retailers often must </a:t>
            </a:r>
            <a:r>
              <a:rPr lang="en-US" sz="2400" b="1" dirty="0"/>
              <a:t>develop local sources of supply. </a:t>
            </a:r>
            <a:r>
              <a:rPr lang="en-US" sz="2400" dirty="0"/>
              <a:t>For example, McDonald’s in Russia; </a:t>
            </a:r>
            <a:r>
              <a:rPr lang="en-US" sz="2400" spc="-300" dirty="0"/>
              <a:t>K F </a:t>
            </a:r>
            <a:r>
              <a:rPr lang="en-US" sz="2400" dirty="0"/>
              <a:t>C in China.</a:t>
            </a:r>
          </a:p>
        </p:txBody>
      </p:sp>
    </p:spTree>
    <p:extLst>
      <p:ext uri="{BB962C8B-B14F-4D97-AF65-F5344CB8AC3E}">
        <p14:creationId xmlns:p14="http://schemas.microsoft.com/office/powerpoint/2010/main" val="18783415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38" y="115156"/>
            <a:ext cx="8341262" cy="590349"/>
          </a:xfrm>
        </p:spPr>
        <p:txBody>
          <a:bodyPr wrap="square" lIns="0" tIns="18000" rIns="0" bIns="18000" anchor="ctr" anchorCtr="0">
            <a:spAutoFit/>
          </a:bodyPr>
          <a:lstStyle/>
          <a:p>
            <a:r>
              <a:rPr lang="en-US" dirty="0"/>
              <a:t>Walmart’s Mixed Experience</a:t>
            </a:r>
            <a:endParaRPr lang="en-US" sz="2800" b="0" dirty="0"/>
          </a:p>
        </p:txBody>
      </p:sp>
      <p:sp>
        <p:nvSpPr>
          <p:cNvPr id="3" name="Content Placeholder 2">
            <a:extLst>
              <a:ext uri="{FF2B5EF4-FFF2-40B4-BE49-F238E27FC236}">
                <a16:creationId xmlns:a16="http://schemas.microsoft.com/office/drawing/2014/main" id="{57714E45-96E6-C0E6-7E26-77406238CFAA}"/>
              </a:ext>
            </a:extLst>
          </p:cNvPr>
          <p:cNvSpPr>
            <a:spLocks noGrp="1"/>
          </p:cNvSpPr>
          <p:nvPr>
            <p:ph sz="quarter" idx="13"/>
          </p:nvPr>
        </p:nvSpPr>
        <p:spPr>
          <a:xfrm>
            <a:off x="370936" y="872249"/>
            <a:ext cx="8341261" cy="2775563"/>
          </a:xfrm>
        </p:spPr>
        <p:txBody>
          <a:bodyPr wrap="square" lIns="0" tIns="18000" rIns="0" bIns="18000" anchor="ctr" anchorCtr="0">
            <a:spAutoFit/>
          </a:bodyPr>
          <a:lstStyle/>
          <a:p>
            <a:pPr marL="342900" indent="-342900">
              <a:spcBef>
                <a:spcPts val="600"/>
              </a:spcBef>
            </a:pPr>
            <a:r>
              <a:rPr lang="en-US" sz="2400" dirty="0"/>
              <a:t>Germany: Failing to understand the market, Walmart could not compete with local firms, and left the market.</a:t>
            </a:r>
          </a:p>
          <a:p>
            <a:pPr marL="342900" indent="-342900">
              <a:spcBef>
                <a:spcPts val="600"/>
              </a:spcBef>
            </a:pPr>
            <a:r>
              <a:rPr lang="en-US" sz="2400" dirty="0"/>
              <a:t>Mexico: Built huge U.S.-style parking lots. But most Mexicans lack cars, and city bus stops were far away, so shoppers could not haul their purchases home.</a:t>
            </a:r>
          </a:p>
          <a:p>
            <a:pPr marL="342900" indent="-342900">
              <a:spcBef>
                <a:spcPts val="600"/>
              </a:spcBef>
            </a:pPr>
            <a:r>
              <a:rPr lang="en-US" sz="2400" dirty="0"/>
              <a:t>Brazil: Families do their big shopping on payday. Aisles were too narrow to accommodate the rush.</a:t>
            </a:r>
          </a:p>
        </p:txBody>
      </p:sp>
      <p:sp>
        <p:nvSpPr>
          <p:cNvPr id="4" name="Content Placeholder 3">
            <a:extLst>
              <a:ext uri="{FF2B5EF4-FFF2-40B4-BE49-F238E27FC236}">
                <a16:creationId xmlns:a16="http://schemas.microsoft.com/office/drawing/2014/main" id="{8F431412-8EDD-BCC1-E161-A05EE6DA3575}"/>
              </a:ext>
            </a:extLst>
          </p:cNvPr>
          <p:cNvSpPr>
            <a:spLocks noGrp="1"/>
          </p:cNvSpPr>
          <p:nvPr>
            <p:ph sz="quarter" idx="14"/>
          </p:nvPr>
        </p:nvSpPr>
        <p:spPr>
          <a:xfrm>
            <a:off x="370938" y="3712888"/>
            <a:ext cx="3700730" cy="1883011"/>
          </a:xfrm>
        </p:spPr>
        <p:txBody>
          <a:bodyPr wrap="square" lIns="0" tIns="18000" rIns="0" bIns="18000" anchor="ctr" anchorCtr="0">
            <a:spAutoFit/>
          </a:bodyPr>
          <a:lstStyle/>
          <a:p>
            <a:pPr marL="342900" indent="-342900"/>
            <a:r>
              <a:rPr lang="en-US" sz="2400" dirty="0"/>
              <a:t>Argentina: Walmart’s red-white-and-blue banners, reminiscent of the U.S. flag, offended local tastes.</a:t>
            </a:r>
          </a:p>
        </p:txBody>
      </p:sp>
      <p:pic>
        <p:nvPicPr>
          <p:cNvPr id="6" name="Picture 5" descr="A view of a Walmart storefront.">
            <a:extLst>
              <a:ext uri="{FF2B5EF4-FFF2-40B4-BE49-F238E27FC236}">
                <a16:creationId xmlns:a16="http://schemas.microsoft.com/office/drawing/2014/main" id="{D38857B1-D030-4B1F-87D3-9F6775D7006A}"/>
              </a:ext>
            </a:extLst>
          </p:cNvPr>
          <p:cNvPicPr>
            <a:picLocks noChangeAspect="1"/>
          </p:cNvPicPr>
          <p:nvPr/>
        </p:nvPicPr>
        <p:blipFill>
          <a:blip r:embed="rId3"/>
          <a:stretch>
            <a:fillRect/>
          </a:stretch>
        </p:blipFill>
        <p:spPr>
          <a:xfrm>
            <a:off x="5239575" y="3806431"/>
            <a:ext cx="3305861" cy="2179320"/>
          </a:xfrm>
          <a:prstGeom prst="rect">
            <a:avLst/>
          </a:prstGeom>
        </p:spPr>
      </p:pic>
    </p:spTree>
    <p:extLst>
      <p:ext uri="{BB962C8B-B14F-4D97-AF65-F5344CB8AC3E}">
        <p14:creationId xmlns:p14="http://schemas.microsoft.com/office/powerpoint/2010/main" val="22154431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4386" y="116590"/>
            <a:ext cx="8346440" cy="590349"/>
          </a:xfrm>
        </p:spPr>
        <p:txBody>
          <a:bodyPr wrap="square" lIns="0" tIns="18000" rIns="0" bIns="18000" anchor="ctr" anchorCtr="0">
            <a:spAutoFit/>
          </a:bodyPr>
          <a:lstStyle/>
          <a:p>
            <a:r>
              <a:rPr lang="en-US" dirty="0"/>
              <a:t>Success Factors for Retailers</a:t>
            </a:r>
            <a:endParaRPr lang="en-US" sz="28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70936" y="868682"/>
            <a:ext cx="8341264" cy="4699166"/>
          </a:xfrm>
        </p:spPr>
        <p:txBody>
          <a:bodyPr wrap="square" lIns="0" tIns="18000" rIns="0" bIns="18000" anchor="ctr" anchorCtr="0">
            <a:spAutoFit/>
          </a:bodyPr>
          <a:lstStyle/>
          <a:p>
            <a:pPr marL="457200" indent="-457200">
              <a:spcBef>
                <a:spcPts val="600"/>
              </a:spcBef>
              <a:buFont typeface="+mj-lt"/>
              <a:buAutoNum type="arabicPeriod"/>
            </a:pPr>
            <a:r>
              <a:rPr lang="en-US" sz="2400" dirty="0"/>
              <a:t>Advance research and planning. French retailer Carrefour spent 12 years building its business in Taiwan, to better understand Chinese culture.</a:t>
            </a:r>
          </a:p>
          <a:p>
            <a:pPr marL="457200" indent="-457200">
              <a:spcBef>
                <a:spcPts val="600"/>
              </a:spcBef>
              <a:buFont typeface="+mj-lt"/>
              <a:buAutoNum type="arabicPeriod"/>
            </a:pPr>
            <a:r>
              <a:rPr lang="en-US" sz="2400" dirty="0"/>
              <a:t>Establish logistics and purchasing networks in each market. Well-organized sourcing and logistics ensure inventory is always maintained.</a:t>
            </a:r>
          </a:p>
          <a:p>
            <a:pPr marL="457200" indent="-457200">
              <a:spcBef>
                <a:spcPts val="600"/>
              </a:spcBef>
              <a:buFont typeface="+mj-lt"/>
              <a:buAutoNum type="arabicPeriod"/>
            </a:pPr>
            <a:r>
              <a:rPr lang="en-US" sz="2400" dirty="0"/>
              <a:t>Assume entrepreneurial, creative approach. Virgin megastore expanded to Asia, Europe, and North America, using creative approaches.</a:t>
            </a:r>
          </a:p>
          <a:p>
            <a:pPr marL="457200" indent="-457200">
              <a:spcBef>
                <a:spcPts val="600"/>
              </a:spcBef>
              <a:buFont typeface="+mj-lt"/>
              <a:buAutoNum type="arabicPeriod"/>
            </a:pPr>
            <a:r>
              <a:rPr lang="en-US" sz="2400" dirty="0"/>
              <a:t>Adjust business model to suit local conditions. In Mexico, Home Depot packages merchandise to suit smaller budgets and offers flexible payment plans.</a:t>
            </a:r>
          </a:p>
        </p:txBody>
      </p:sp>
    </p:spTree>
    <p:extLst>
      <p:ext uri="{BB962C8B-B14F-4D97-AF65-F5344CB8AC3E}">
        <p14:creationId xmlns:p14="http://schemas.microsoft.com/office/powerpoint/2010/main" val="14916781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a:xfrm>
            <a:off x="374166" y="113325"/>
            <a:ext cx="8338033" cy="590349"/>
          </a:xfrm>
        </p:spPr>
        <p:txBody>
          <a:bodyPr wrap="square" lIns="0" tIns="18000" rIns="0" bIns="18000" anchor="ctr" anchorCtr="0">
            <a:spAutoFit/>
          </a:bodyPr>
          <a:lstStyle/>
          <a:p>
            <a:r>
              <a:rPr lang="en-US" dirty="0"/>
              <a:t>Copyright</a:t>
            </a:r>
          </a:p>
        </p:txBody>
      </p:sp>
      <p:pic>
        <p:nvPicPr>
          <p:cNvPr id="7" name="Graphic 6" descr="Warning">
            <a:extLst>
              <a:ext uri="{FF2B5EF4-FFF2-40B4-BE49-F238E27FC236}">
                <a16:creationId xmlns:a16="http://schemas.microsoft.com/office/drawing/2014/main" id="{C06FB2D2-3F36-42C9-A5A6-B6234DC54C96}"/>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438400" y="2317359"/>
            <a:ext cx="1277815" cy="1434026"/>
          </a:xfrm>
          <a:prstGeom prst="rect">
            <a:avLst/>
          </a:prstGeom>
        </p:spPr>
      </p:pic>
      <p:sp>
        <p:nvSpPr>
          <p:cNvPr id="2" name="Text Placeholder 1">
            <a:extLst>
              <a:ext uri="{FF2B5EF4-FFF2-40B4-BE49-F238E27FC236}">
                <a16:creationId xmlns:a16="http://schemas.microsoft.com/office/drawing/2014/main" id="{AD5FAE7B-F718-4307-B112-AD6256157E8F}"/>
              </a:ext>
            </a:extLst>
          </p:cNvPr>
          <p:cNvSpPr>
            <a:spLocks noGrp="1"/>
          </p:cNvSpPr>
          <p:nvPr>
            <p:ph sz="quarter" idx="13"/>
          </p:nvPr>
        </p:nvSpPr>
        <p:spPr>
          <a:xfrm>
            <a:off x="1838973" y="1852246"/>
            <a:ext cx="6858001" cy="2854836"/>
          </a:xfrm>
          <a:ln/>
        </p:spPr>
        <p:style>
          <a:lnRef idx="2">
            <a:schemeClr val="dk1"/>
          </a:lnRef>
          <a:fillRef idx="1">
            <a:schemeClr val="lt1"/>
          </a:fillRef>
          <a:effectRef idx="0">
            <a:schemeClr val="dk1"/>
          </a:effectRef>
          <a:fontRef idx="minor">
            <a:schemeClr val="dk1"/>
          </a:fontRef>
        </p:style>
        <p:txBody>
          <a:bodyPr lIns="182880" tIns="182880" rIns="182880" bIns="182880" anchor="ctr"/>
          <a:lstStyle/>
          <a:p>
            <a:pPr marL="101600" marR="0" lvl="0" indent="0" algn="l" rtl="0">
              <a:spcBef>
                <a:spcPts val="0"/>
              </a:spcBef>
              <a:spcAft>
                <a:spcPts val="0"/>
              </a:spcAft>
              <a:buClr>
                <a:srgbClr val="007FA3"/>
              </a:buClr>
              <a:buSzPts val="1600"/>
              <a:buFont typeface="Arial"/>
              <a:buNone/>
            </a:pPr>
            <a:r>
              <a:rPr lang="en-US" sz="1600" b="1" i="0" u="none" strike="noStrike" cap="none" dirty="0">
                <a:solidFill>
                  <a:schemeClr val="dk1"/>
                </a:solidFill>
                <a:latin typeface="Arial"/>
                <a:ea typeface="Arial"/>
                <a:cs typeface="Arial"/>
                <a:sym typeface="Arial"/>
              </a:rPr>
              <a:t>This work is protected by </a:t>
            </a:r>
            <a:r>
              <a:rPr lang="en-US" sz="1600" b="1" i="0" u="none" strike="noStrike" cap="none">
                <a:solidFill>
                  <a:schemeClr val="dk1"/>
                </a:solidFill>
                <a:latin typeface="Arial"/>
                <a:ea typeface="Arial"/>
                <a:cs typeface="Arial"/>
                <a:sym typeface="Arial"/>
              </a:rPr>
              <a:t>United </a:t>
            </a:r>
            <a:r>
              <a:rPr lang="en-US" sz="1600" b="1" i="0" u="none" strike="noStrike" cap="none" smtClean="0">
                <a:solidFill>
                  <a:schemeClr val="dk1"/>
                </a:solidFill>
                <a:latin typeface="Arial"/>
                <a:ea typeface="Arial"/>
                <a:cs typeface="Arial"/>
                <a:sym typeface="Arial"/>
              </a:rPr>
              <a:t>Kingdom </a:t>
            </a:r>
            <a:r>
              <a:rPr lang="en-US" sz="1600" b="1" i="0" u="none" strike="noStrike" cap="none" dirty="0">
                <a:solidFill>
                  <a:schemeClr val="dk1"/>
                </a:solidFill>
                <a:latin typeface="Arial"/>
                <a:ea typeface="Arial"/>
                <a:cs typeface="Arial"/>
                <a:sym typeface="Arial"/>
              </a:rPr>
              <a:t>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endParaRPr lang="en-US" dirty="0"/>
          </a:p>
        </p:txBody>
      </p:sp>
    </p:spTree>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149FD3D70555741B2521125A23ABE2B" ma:contentTypeVersion="20" ma:contentTypeDescription="Create a new document." ma:contentTypeScope="" ma:versionID="280eea5736409678759210edfb098e78">
  <xsd:schema xmlns:xsd="http://www.w3.org/2001/XMLSchema" xmlns:xs="http://www.w3.org/2001/XMLSchema" xmlns:p="http://schemas.microsoft.com/office/2006/metadata/properties" xmlns:ns1="http://schemas.microsoft.com/sharepoint/v3" xmlns:ns2="bed142bf-6b27-4f0a-a631-c747a1b49db8" xmlns:ns3="4b9fadcb-af02-401b-be33-537ac692cec8" targetNamespace="http://schemas.microsoft.com/office/2006/metadata/properties" ma:root="true" ma:fieldsID="8e0c0cd053b838f15d11a45110f9682a" ns1:_="" ns2:_="" ns3:_="">
    <xsd:import namespace="http://schemas.microsoft.com/sharepoint/v3"/>
    <xsd:import namespace="bed142bf-6b27-4f0a-a631-c747a1b49db8"/>
    <xsd:import namespace="4b9fadcb-af02-401b-be33-537ac692cec8"/>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_Flow_SignoffStatus" minOccurs="0"/>
                <xsd:element ref="ns2:MediaServiceLocation" minOccurs="0"/>
                <xsd:element ref="ns1:_ip_UnifiedCompliancePolicyProperties" minOccurs="0"/>
                <xsd:element ref="ns1:_ip_UnifiedCompliancePolicyUIAction" minOccurs="0"/>
                <xsd:element ref="ns2:MediaLengthInSeconds"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1" nillable="true" ma:displayName="Unified Compliance Policy Properties" ma:hidden="true" ma:internalName="_ip_UnifiedCompliancePolicyProperties">
      <xsd:simpleType>
        <xsd:restriction base="dms:Note"/>
      </xsd:simpleType>
    </xsd:element>
    <xsd:element name="_ip_UnifiedCompliancePolicyUIAction" ma:index="2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ed142bf-6b27-4f0a-a631-c747a1b49d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_Flow_SignoffStatus" ma:index="19" nillable="true" ma:displayName="Sign-off status" ma:internalName="Sign_x002d_off_x0020_status">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LengthInSeconds" ma:index="23" nillable="true" ma:displayName="Length (seconds)" ma:internalName="MediaLengthInSeconds" ma:readOnly="true">
      <xsd:simpleType>
        <xsd:restriction base="dms:Unknown"/>
      </xsd:simpleType>
    </xsd:element>
    <xsd:element name="lcf76f155ced4ddcb4097134ff3c332f" ma:index="25"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7"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b9fadcb-af02-401b-be33-537ac692cec8"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6" nillable="true" ma:displayName="Taxonomy Catch All Column" ma:hidden="true" ma:list="{109ad215-34d7-45f7-beab-6da1fa27942d}" ma:internalName="TaxCatchAll" ma:showField="CatchAllData" ma:web="4b9fadcb-af02-401b-be33-537ac692cec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4b9fadcb-af02-401b-be33-537ac692cec8" xsi:nil="true"/>
    <_Flow_SignoffStatus xmlns="bed142bf-6b27-4f0a-a631-c747a1b49db8" xsi:nil="true"/>
    <_ip_UnifiedCompliancePolicyProperties xmlns="http://schemas.microsoft.com/sharepoint/v3" xsi:nil="true"/>
    <lcf76f155ced4ddcb4097134ff3c332f xmlns="bed142bf-6b27-4f0a-a631-c747a1b49db8">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5CD783C8-0F8B-4E30-93C3-71AE94F00CD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bed142bf-6b27-4f0a-a631-c747a1b49db8"/>
    <ds:schemaRef ds:uri="4b9fadcb-af02-401b-be33-537ac692cec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F1B5E40-5A21-427E-9166-C3BF54D5364D}">
  <ds:schemaRefs>
    <ds:schemaRef ds:uri="http://schemas.microsoft.com/sharepoint/v3/contenttype/forms"/>
  </ds:schemaRefs>
</ds:datastoreItem>
</file>

<file path=customXml/itemProps3.xml><?xml version="1.0" encoding="utf-8"?>
<ds:datastoreItem xmlns:ds="http://schemas.openxmlformats.org/officeDocument/2006/customXml" ds:itemID="{DD84FF8D-AE69-4548-9BA7-A8EE3AF7BF06}">
  <ds:schemaRefs>
    <ds:schemaRef ds:uri="4b9fadcb-af02-401b-be33-537ac692cec8"/>
    <ds:schemaRef ds:uri="http://www.w3.org/XML/1998/namespace"/>
    <ds:schemaRef ds:uri="http://purl.org/dc/terms/"/>
    <ds:schemaRef ds:uri="http://schemas.microsoft.com/office/2006/metadata/properties"/>
    <ds:schemaRef ds:uri="http://schemas.microsoft.com/office/2006/documentManagement/types"/>
    <ds:schemaRef ds:uri="http://purl.org/dc/dcmitype/"/>
    <ds:schemaRef ds:uri="http://purl.org/dc/elements/1.1/"/>
    <ds:schemaRef ds:uri="http://schemas.microsoft.com/office/infopath/2007/PartnerControls"/>
    <ds:schemaRef ds:uri="http://schemas.openxmlformats.org/package/2006/metadata/core-properties"/>
    <ds:schemaRef ds:uri="bed142bf-6b27-4f0a-a631-c747a1b49db8"/>
    <ds:schemaRef ds:uri="http://schemas.microsoft.com/sharepoint/v3"/>
  </ds:schemaRefs>
</ds:datastoreItem>
</file>

<file path=docProps/app.xml><?xml version="1.0" encoding="utf-8"?>
<Properties xmlns="http://schemas.openxmlformats.org/officeDocument/2006/extended-properties" xmlns:vt="http://schemas.openxmlformats.org/officeDocument/2006/docPropsVTypes">
  <TotalTime>2830</TotalTime>
  <Words>10298</Words>
  <Application>Microsoft Office PowerPoint</Application>
  <PresentationFormat>On-screen Show (4:3)</PresentationFormat>
  <Paragraphs>573</Paragraphs>
  <Slides>41</Slides>
  <Notes>41</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41</vt:i4>
      </vt:variant>
    </vt:vector>
  </HeadingPairs>
  <TitlesOfParts>
    <vt:vector size="47" baseType="lpstr">
      <vt:lpstr>Times New Roman</vt:lpstr>
      <vt:lpstr>Calibri</vt:lpstr>
      <vt:lpstr>Arial</vt:lpstr>
      <vt:lpstr>Verdana</vt:lpstr>
      <vt:lpstr>USHE</vt:lpstr>
      <vt:lpstr>USHE_slide options</vt:lpstr>
      <vt:lpstr>International Business: The New Realities</vt:lpstr>
      <vt:lpstr>Learning Objectives</vt:lpstr>
      <vt:lpstr>F D I and Collaborative Ventures</vt:lpstr>
      <vt:lpstr>Examples of F D I</vt:lpstr>
      <vt:lpstr>The Surprising Location of Top Brands</vt:lpstr>
      <vt:lpstr>World’s Most International M N E s, Based on Value of Foreign Assets</vt:lpstr>
      <vt:lpstr>Service Multinationals</vt:lpstr>
      <vt:lpstr>World’s Most International M N E s in the Services Sector, Based on Value of Foreign Assets</vt:lpstr>
      <vt:lpstr>Leading Destinations for F D I</vt:lpstr>
      <vt:lpstr>Factors Relevant to Selecting Locations for F D I</vt:lpstr>
      <vt:lpstr>Nature of Foreign Direct Investment</vt:lpstr>
      <vt:lpstr>Key Features of Foreign Direct Investment</vt:lpstr>
      <vt:lpstr>Percentage of Children Aged 5–17 Engaged in Child Labor and GDP per Capita, Various Countries</vt:lpstr>
      <vt:lpstr>Motives for Foreign Direct Investment</vt:lpstr>
      <vt:lpstr>Market-Seeking Motives (1 of 2)</vt:lpstr>
      <vt:lpstr>Market-Seeking Motives (2 of 2)</vt:lpstr>
      <vt:lpstr>Resource or Asset-Seeking Motives</vt:lpstr>
      <vt:lpstr>Efficiency Seeking Motives (1 of 2)</vt:lpstr>
      <vt:lpstr>Efficiency Seeking Motives (2 of 2)</vt:lpstr>
      <vt:lpstr>F D I Provides Economies of Scale</vt:lpstr>
      <vt:lpstr>Types of F D I</vt:lpstr>
      <vt:lpstr>Greenfield Investment vs. M&amp;As</vt:lpstr>
      <vt:lpstr>Stock of Foreign Direct Investment Per Capita</vt:lpstr>
      <vt:lpstr>The Nature of Ownership</vt:lpstr>
      <vt:lpstr>Level of Integration</vt:lpstr>
      <vt:lpstr>Ethical Connections</vt:lpstr>
      <vt:lpstr>You Can Do It: Jennifer Knippen (1 of 2)</vt:lpstr>
      <vt:lpstr>You Can Do It: Jennifer Knippen (2 of 2)</vt:lpstr>
      <vt:lpstr>International Collaborative Venture</vt:lpstr>
      <vt:lpstr>Equity vs. Project-Based Joint Ventures</vt:lpstr>
      <vt:lpstr>Other Types of Collaborative Ventures</vt:lpstr>
      <vt:lpstr>Advantages and Disadvantages of Collaborative Ventures (1 of 2)</vt:lpstr>
      <vt:lpstr>Advantages and Disadvantages of Collaborative Ventures (2 of 2)</vt:lpstr>
      <vt:lpstr>Managing Collaborative Ventures: Key Questions</vt:lpstr>
      <vt:lpstr>A Systematic Process to International Business Partnering</vt:lpstr>
      <vt:lpstr>Success Factors in Collaborative Ventures</vt:lpstr>
      <vt:lpstr>Retailers: A Special Case of Internationalization</vt:lpstr>
      <vt:lpstr>Barriers to Retailer Success Abroad</vt:lpstr>
      <vt:lpstr>Walmart’s Mixed Experience</vt:lpstr>
      <vt:lpstr>Success Factors for Retailers</vt:lpstr>
      <vt:lpstr>Copyright</vt:lpstr>
    </vt:vector>
  </TitlesOfParts>
  <Manager/>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International Business: The New Realities, Sixth Edition, Chapter 14</dc:title>
  <dc:subject>Business</dc:subject>
  <dc:creator>Cavusgil/Knight/Riesenberger</dc:creator>
  <cp:keywords>International Business: The New Realities</cp:keywords>
  <dc:description>Additional information may be found in the Notes Pane of each slide by pressing F6.</dc:description>
  <cp:lastModifiedBy>Ashok</cp:lastModifiedBy>
  <cp:revision>1342</cp:revision>
  <dcterms:modified xsi:type="dcterms:W3CDTF">2024-09-01T19:09:59Z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0x010100E149FD3D70555741B2521125A23ABE2B</vt:lpwstr>
  </property>
</Properties>
</file>