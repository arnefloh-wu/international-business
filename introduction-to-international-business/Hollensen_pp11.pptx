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Default Extension="tiff" ContentType="image/tiff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14"/>
  </p:notesMasterIdLst>
  <p:handoutMasterIdLst>
    <p:handoutMasterId r:id="rId15"/>
  </p:handoutMasterIdLst>
  <p:sldIdLst>
    <p:sldId id="1314" r:id="rId2"/>
    <p:sldId id="1316" r:id="rId3"/>
    <p:sldId id="1317" r:id="rId4"/>
    <p:sldId id="1318" r:id="rId5"/>
    <p:sldId id="1319" r:id="rId6"/>
    <p:sldId id="1320" r:id="rId7"/>
    <p:sldId id="1321" r:id="rId8"/>
    <p:sldId id="1322" r:id="rId9"/>
    <p:sldId id="1323" r:id="rId10"/>
    <p:sldId id="1328" r:id="rId11"/>
    <p:sldId id="1330" r:id="rId12"/>
    <p:sldId id="133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3936" userDrawn="1">
          <p15:clr>
            <a:srgbClr val="A4A3A4"/>
          </p15:clr>
        </p15:guide>
        <p15:guide id="5" orient="horz" pos="451" userDrawn="1">
          <p15:clr>
            <a:srgbClr val="A4A3A4"/>
          </p15:clr>
        </p15:guide>
        <p15:guide id="8" pos="288">
          <p15:clr>
            <a:srgbClr val="A4A3A4"/>
          </p15:clr>
        </p15:guide>
        <p15:guide id="9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, Mohanapriya" initials="DM" lastIdx="1" clrIdx="0"/>
  <p:cmAuthor id="2" name="Raja B" initials="RB" lastIdx="6" clrIdx="1">
    <p:extLst>
      <p:ext uri="{19B8F6BF-5375-455C-9EA6-DF929625EA0E}">
        <p15:presenceInfo xmlns:p15="http://schemas.microsoft.com/office/powerpoint/2012/main" userId="Raja B" providerId="None"/>
      </p:ext>
    </p:extLst>
  </p:cmAuthor>
  <p:cmAuthor id="3" name="R Sweda" initials="RS" lastIdx="5" clrIdx="2">
    <p:extLst>
      <p:ext uri="{19B8F6BF-5375-455C-9EA6-DF929625EA0E}">
        <p15:presenceInfo xmlns:p15="http://schemas.microsoft.com/office/powerpoint/2012/main" userId="S-1-5-21-2752970185-40930380-1894245210-38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AE4"/>
    <a:srgbClr val="007FA3"/>
    <a:srgbClr val="99008C"/>
    <a:srgbClr val="001581"/>
    <a:srgbClr val="82007C"/>
    <a:srgbClr val="96008F"/>
    <a:srgbClr val="595375"/>
    <a:srgbClr val="6B638B"/>
    <a:srgbClr val="000000"/>
    <a:srgbClr val="FDB9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1667" autoAdjust="0"/>
  </p:normalViewPr>
  <p:slideViewPr>
    <p:cSldViewPr>
      <p:cViewPr varScale="1">
        <p:scale>
          <a:sx n="102" d="100"/>
          <a:sy n="102" d="100"/>
        </p:scale>
        <p:origin x="2034" y="102"/>
      </p:cViewPr>
      <p:guideLst>
        <p:guide orient="horz" pos="3936"/>
        <p:guide orient="horz" pos="451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2880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n, Shweta" userId="6693a790-fec2-4f1b-bb02-58718b214df8" providerId="ADAL" clId="{C7E762D7-8014-45DB-8A62-BD4FA3670100}"/>
    <pc:docChg chg="modSld">
      <pc:chgData name="Jain, Shweta" userId="6693a790-fec2-4f1b-bb02-58718b214df8" providerId="ADAL" clId="{C7E762D7-8014-45DB-8A62-BD4FA3670100}" dt="2020-06-02T11:47:36.432" v="1" actId="962"/>
      <pc:docMkLst>
        <pc:docMk/>
      </pc:docMkLst>
      <pc:sldChg chg="modSp">
        <pc:chgData name="Jain, Shweta" userId="6693a790-fec2-4f1b-bb02-58718b214df8" providerId="ADAL" clId="{C7E762D7-8014-45DB-8A62-BD4FA3670100}" dt="2020-06-02T11:47:36.432" v="1" actId="962"/>
        <pc:sldMkLst>
          <pc:docMk/>
          <pc:sldMk cId="2170262415" sldId="1293"/>
        </pc:sldMkLst>
        <pc:picChg chg="mod">
          <ac:chgData name="Jain, Shweta" userId="6693a790-fec2-4f1b-bb02-58718b214df8" providerId="ADAL" clId="{C7E762D7-8014-45DB-8A62-BD4FA3670100}" dt="2020-06-02T11:47:36.432" v="1" actId="962"/>
          <ac:picMkLst>
            <pc:docMk/>
            <pc:sldMk cId="2170262415" sldId="1293"/>
            <ac:picMk id="12" creationId="{4B7C0549-CC8A-406F-AE51-9FCA19C1137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t>8/20/2025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6766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4204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7611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586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5902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069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4634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3291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1972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b="0" dirty="0" smtClean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928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b="0" dirty="0" smtClean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178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b="0" dirty="0" smtClean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501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35586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18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8542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8397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8447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1228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155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434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907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454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1367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  <a:prstGeom prst="rect">
            <a:avLst/>
          </a:prstGeo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6"/>
          </p:nvPr>
        </p:nvSpPr>
        <p:spPr>
          <a:xfrm>
            <a:off x="93663" y="6165850"/>
            <a:ext cx="8596312" cy="234950"/>
          </a:xfrm>
          <a:prstGeom prst="rect">
            <a:avLst/>
          </a:prstGeom>
        </p:spPr>
        <p:txBody>
          <a:bodyPr/>
          <a:lstStyle>
            <a:lvl1pPr eaLnBrk="1" hangingPunct="1">
              <a:defRPr sz="2400">
                <a:solidFill>
                  <a:srgbClr val="000000"/>
                </a:solidFill>
                <a:latin typeface="Times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7"/>
          </p:nvPr>
        </p:nvSpPr>
        <p:spPr>
          <a:xfrm>
            <a:off x="6335713" y="112713"/>
            <a:ext cx="2133600" cy="182562"/>
          </a:xfrm>
          <a:prstGeom prst="rect">
            <a:avLst/>
          </a:prstGeom>
        </p:spPr>
        <p:txBody>
          <a:bodyPr/>
          <a:lstStyle>
            <a:lvl1pPr eaLnBrk="1" hangingPunct="1">
              <a:defRPr sz="2400">
                <a:solidFill>
                  <a:srgbClr val="000000"/>
                </a:solidFill>
                <a:latin typeface="Times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fld id="{54438355-59E1-494D-B673-F943449693EA}" type="datetimeFigureOut">
              <a:rPr lang="en-US"/>
              <a:pPr>
                <a:defRPr/>
              </a:pPr>
              <a:t>8/20/2025</a:t>
            </a:fld>
            <a:endParaRPr lang="en-US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8"/>
          </p:nvPr>
        </p:nvSpPr>
        <p:spPr>
          <a:xfrm>
            <a:off x="8469313" y="112713"/>
            <a:ext cx="552450" cy="1825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>
                <a:solidFill>
                  <a:srgbClr val="000000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1F6D5689-2E00-4087-B72F-8F2D0659B6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0936330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6" name="Text Box 13"/>
          <p:cNvSpPr txBox="1">
            <a:spLocks noChangeArrowheads="1"/>
          </p:cNvSpPr>
          <p:nvPr userDrawn="1"/>
        </p:nvSpPr>
        <p:spPr bwMode="auto">
          <a:xfrm>
            <a:off x="185738" y="6416675"/>
            <a:ext cx="8642350" cy="1889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>
                <a:solidFill>
                  <a:srgbClr val="000000"/>
                </a:solidFill>
                <a:latin typeface="Arial"/>
                <a:ea typeface="Verdana" panose="020B0604030504040204" pitchFamily="34" charset="0"/>
                <a:cs typeface="Verdana" panose="020B0604030504040204" pitchFamily="34" charset="0"/>
              </a:rPr>
              <a:t>© </a:t>
            </a:r>
            <a:r>
              <a:rPr lang="en-US" sz="1200" dirty="0" smtClean="0">
                <a:solidFill>
                  <a:srgbClr val="000000"/>
                </a:solidFill>
                <a:latin typeface="Arial"/>
                <a:ea typeface="Verdana" panose="020B0604030504040204" pitchFamily="34" charset="0"/>
                <a:cs typeface="Verdana" panose="020B0604030504040204" pitchFamily="34" charset="0"/>
              </a:rPr>
              <a:t>2026 </a:t>
            </a:r>
            <a:r>
              <a:rPr lang="en-US" sz="1200" dirty="0">
                <a:solidFill>
                  <a:srgbClr val="000000"/>
                </a:solidFill>
                <a:latin typeface="Arial"/>
                <a:ea typeface="Verdana" panose="020B0604030504040204" pitchFamily="34" charset="0"/>
                <a:cs typeface="Verdana" panose="020B0604030504040204" pitchFamily="34" charset="0"/>
              </a:rPr>
              <a:t>Pearson Education Limited. All Rights Reserved.</a:t>
            </a:r>
            <a:endParaRPr lang="en-GB" sz="1200" dirty="0">
              <a:solidFill>
                <a:srgbClr val="000000"/>
              </a:solidFill>
              <a:latin typeface="Arial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Picture 8" descr="Pearson Logo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76988"/>
            <a:ext cx="91757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757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•"/>
        <a:defRPr sz="3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–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931" y="466461"/>
            <a:ext cx="8229600" cy="1613428"/>
          </a:xfrm>
        </p:spPr>
        <p:txBody>
          <a:bodyPr/>
          <a:lstStyle/>
          <a:p>
            <a:pPr lvl="0" algn="l">
              <a:spcBef>
                <a:spcPts val="0"/>
              </a:spcBef>
              <a:defRPr/>
            </a:pPr>
            <a:r>
              <a:rPr lang="en-US" dirty="0" smtClean="0"/>
              <a:t>Global Marketing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b="0" dirty="0" smtClean="0"/>
              <a:t>Ninth Edition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648200" y="1802381"/>
            <a:ext cx="3581400" cy="1600199"/>
          </a:xfrm>
        </p:spPr>
        <p:txBody>
          <a:bodyPr/>
          <a:lstStyle/>
          <a:p>
            <a:r>
              <a:rPr lang="en-US" dirty="0"/>
              <a:t>Part </a:t>
            </a:r>
            <a:r>
              <a:rPr lang="en-US" dirty="0" smtClean="0"/>
              <a:t>III</a:t>
            </a:r>
            <a:endParaRPr lang="en-US" dirty="0"/>
          </a:p>
          <a:p>
            <a:pPr>
              <a:spcBef>
                <a:spcPts val="1200"/>
              </a:spcBef>
            </a:pPr>
            <a:r>
              <a:rPr lang="en-US" sz="2200" dirty="0"/>
              <a:t>Market entry </a:t>
            </a:r>
            <a:r>
              <a:rPr lang="en-US" sz="2200" dirty="0" smtClean="0"/>
              <a:t>strategies</a:t>
            </a:r>
            <a:br>
              <a:rPr lang="en-US" sz="2200" dirty="0" smtClean="0"/>
            </a:br>
            <a:r>
              <a:rPr lang="en-US" sz="2200" dirty="0" smtClean="0"/>
              <a:t>and </a:t>
            </a:r>
            <a:r>
              <a:rPr lang="en-US" sz="2200" dirty="0"/>
              <a:t>modes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648200" y="4031012"/>
            <a:ext cx="3810000" cy="2445988"/>
          </a:xfrm>
        </p:spPr>
        <p:txBody>
          <a:bodyPr/>
          <a:lstStyle/>
          <a:p>
            <a:pPr marL="342900" lvl="0" indent="-342900">
              <a:spcBef>
                <a:spcPts val="1200"/>
              </a:spcBef>
              <a:buClrTx/>
              <a:defRPr/>
            </a:pPr>
            <a:r>
              <a:rPr lang="en-US" sz="3000" dirty="0">
                <a:solidFill>
                  <a:srgbClr val="000000"/>
                </a:solidFill>
              </a:rPr>
              <a:t>Chapter </a:t>
            </a:r>
            <a:r>
              <a:rPr lang="en-US" sz="3000" dirty="0" smtClean="0">
                <a:solidFill>
                  <a:srgbClr val="000000"/>
                </a:solidFill>
              </a:rPr>
              <a:t>11</a:t>
            </a:r>
            <a:endParaRPr lang="en-US" sz="3000" dirty="0">
              <a:solidFill>
                <a:srgbClr val="000000"/>
              </a:solidFill>
            </a:endParaRPr>
          </a:p>
          <a:p>
            <a:pPr lvl="0">
              <a:spcBef>
                <a:spcPts val="120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Intermediate modes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84" y="1554981"/>
            <a:ext cx="3460316" cy="47008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579426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11.1</a:t>
            </a:r>
            <a:br>
              <a:rPr lang="en-US" sz="3200" dirty="0" smtClean="0"/>
            </a:br>
            <a:r>
              <a:rPr lang="en-US" sz="3200" dirty="0" smtClean="0"/>
              <a:t>Intermediate </a:t>
            </a:r>
            <a:r>
              <a:rPr lang="en-US" sz="3200" dirty="0"/>
              <a:t>modes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06" y="1388783"/>
            <a:ext cx="7789789" cy="44024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1952" y="5984079"/>
            <a:ext cx="6324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i="1" dirty="0"/>
              <a:t>Note</a:t>
            </a:r>
            <a:r>
              <a:rPr lang="en-US" sz="800" dirty="0"/>
              <a:t>: A is the manufacturer, B is the partner and C is the </a:t>
            </a:r>
            <a:r>
              <a:rPr lang="en-US" sz="800" dirty="0" smtClean="0"/>
              <a:t>customer.</a:t>
            </a:r>
          </a:p>
          <a:p>
            <a:r>
              <a:rPr lang="en-US" sz="800" dirty="0" err="1" smtClean="0"/>
              <a:t>Svend</a:t>
            </a:r>
            <a:r>
              <a:rPr lang="en-US" sz="800" dirty="0" smtClean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516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11.2</a:t>
            </a:r>
            <a:br>
              <a:rPr lang="en-US" sz="3200" dirty="0" smtClean="0"/>
            </a:br>
            <a:r>
              <a:rPr lang="en-US" sz="3200" dirty="0" smtClean="0"/>
              <a:t>Life </a:t>
            </a:r>
            <a:r>
              <a:rPr lang="en-US" sz="3200" dirty="0"/>
              <a:t>cycle benefits of licensing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88" y="1676400"/>
            <a:ext cx="7557025" cy="447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51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11.3</a:t>
            </a:r>
            <a:br>
              <a:rPr lang="en-US" sz="3200" dirty="0" smtClean="0"/>
            </a:br>
            <a:r>
              <a:rPr lang="en-US" sz="3200" dirty="0" smtClean="0"/>
              <a:t>Direct </a:t>
            </a:r>
            <a:r>
              <a:rPr lang="en-US" sz="3200" dirty="0"/>
              <a:t>and indirect franchising models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96" y="1797628"/>
            <a:ext cx="7188609" cy="394854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1950" y="6108700"/>
            <a:ext cx="82296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i="1" dirty="0"/>
              <a:t>Sources</a:t>
            </a:r>
            <a:r>
              <a:rPr lang="en-US" sz="800" dirty="0"/>
              <a:t>: Based on Google and NASA in a Joint Venture Bruce Clay, </a:t>
            </a:r>
            <a:r>
              <a:rPr lang="en-US" sz="800" dirty="0" err="1"/>
              <a:t>Inc</a:t>
            </a:r>
            <a:r>
              <a:rPr lang="en-US" sz="800" dirty="0"/>
              <a:t> March 1st, 2021 at https://</a:t>
            </a:r>
            <a:r>
              <a:rPr lang="en-US" sz="800" dirty="0" smtClean="0"/>
              <a:t>www.bruceclay.com/blog/google-and-nasa-in-a-joint-venture</a:t>
            </a:r>
            <a:r>
              <a:rPr lang="en-US" sz="800" dirty="0"/>
              <a:t>/.</a:t>
            </a:r>
          </a:p>
        </p:txBody>
      </p:sp>
    </p:spTree>
    <p:extLst>
      <p:ext uri="{BB962C8B-B14F-4D97-AF65-F5344CB8AC3E}">
        <p14:creationId xmlns:p14="http://schemas.microsoft.com/office/powerpoint/2010/main" val="167487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11.4</a:t>
            </a:r>
            <a:br>
              <a:rPr lang="en-US" sz="3200" dirty="0" smtClean="0"/>
            </a:br>
            <a:r>
              <a:rPr lang="en-US" sz="3200" dirty="0" smtClean="0"/>
              <a:t>The </a:t>
            </a:r>
            <a:r>
              <a:rPr lang="en-US" sz="3200" dirty="0"/>
              <a:t>BBW indirect franchising model for Germany, Austria and Switzerland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67" y="2087712"/>
            <a:ext cx="7249067" cy="385588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1950" y="6108700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i="1" dirty="0" smtClean="0"/>
              <a:t>Source</a:t>
            </a:r>
            <a:r>
              <a:rPr lang="en-US" sz="800" dirty="0" smtClean="0"/>
              <a:t>: </a:t>
            </a:r>
            <a:r>
              <a:rPr lang="en-US" sz="800" dirty="0"/>
              <a:t>based on www.buildabear.com and other publicly available sources.</a:t>
            </a:r>
          </a:p>
        </p:txBody>
      </p:sp>
    </p:spTree>
    <p:extLst>
      <p:ext uri="{BB962C8B-B14F-4D97-AF65-F5344CB8AC3E}">
        <p14:creationId xmlns:p14="http://schemas.microsoft.com/office/powerpoint/2010/main" val="443591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Table </a:t>
            </a:r>
            <a:r>
              <a:rPr lang="en-US" sz="3200" dirty="0" smtClean="0"/>
              <a:t>11.1</a:t>
            </a:r>
            <a:br>
              <a:rPr lang="en-US" sz="3200" dirty="0" smtClean="0"/>
            </a:br>
            <a:r>
              <a:rPr lang="en-US" sz="3200" dirty="0" smtClean="0"/>
              <a:t>How </a:t>
            </a:r>
            <a:r>
              <a:rPr lang="en-US" sz="3200" dirty="0"/>
              <a:t>licensing and franchising differ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671" y="1371600"/>
            <a:ext cx="4502659" cy="46841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57190" y="6106775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i="1" dirty="0"/>
              <a:t>Sources</a:t>
            </a:r>
            <a:r>
              <a:rPr lang="en-US" sz="800" dirty="0"/>
              <a:t>: based on Perkins (1987, pp. 22, 157); Young et al. (1989, p. 148).</a:t>
            </a:r>
          </a:p>
        </p:txBody>
      </p:sp>
    </p:spTree>
    <p:extLst>
      <p:ext uri="{BB962C8B-B14F-4D97-AF65-F5344CB8AC3E}">
        <p14:creationId xmlns:p14="http://schemas.microsoft.com/office/powerpoint/2010/main" val="321318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11.5</a:t>
            </a:r>
            <a:br>
              <a:rPr lang="en-US" sz="3200" dirty="0" smtClean="0"/>
            </a:br>
            <a:r>
              <a:rPr lang="en-US" sz="3200" dirty="0" smtClean="0"/>
              <a:t>Joint </a:t>
            </a:r>
            <a:r>
              <a:rPr lang="en-US" sz="3200" dirty="0"/>
              <a:t>ventures and strategic alliances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2133600"/>
            <a:ext cx="6245475" cy="34317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1950" y="6105525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6758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11.6</a:t>
            </a:r>
            <a:br>
              <a:rPr lang="en-US" sz="3200" dirty="0" smtClean="0"/>
            </a:br>
            <a:r>
              <a:rPr lang="en-US" sz="3200" dirty="0" smtClean="0"/>
              <a:t>Collaboration </a:t>
            </a:r>
            <a:r>
              <a:rPr lang="en-US" sz="3200" dirty="0"/>
              <a:t>possibilities for partners A and B in the value chain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48" y="2110108"/>
            <a:ext cx="5677705" cy="36048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57190" y="6107905"/>
            <a:ext cx="78486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i="1" dirty="0"/>
              <a:t>Source</a:t>
            </a:r>
            <a:r>
              <a:rPr lang="en-US" sz="800" dirty="0"/>
              <a:t>: Adapted from </a:t>
            </a:r>
            <a:r>
              <a:rPr lang="en-US" sz="800" dirty="0" err="1"/>
              <a:t>Lorange</a:t>
            </a:r>
            <a:r>
              <a:rPr lang="en-US" sz="800" dirty="0"/>
              <a:t>, P. and </a:t>
            </a:r>
            <a:r>
              <a:rPr lang="en-US" sz="800" dirty="0" err="1"/>
              <a:t>Roos</a:t>
            </a:r>
            <a:r>
              <a:rPr lang="en-US" sz="800" dirty="0"/>
              <a:t>, J. (1995) </a:t>
            </a:r>
            <a:r>
              <a:rPr lang="en-US" sz="800" dirty="0" err="1"/>
              <a:t>Strategiske</a:t>
            </a:r>
            <a:r>
              <a:rPr lang="en-US" sz="800" dirty="0"/>
              <a:t> </a:t>
            </a:r>
            <a:r>
              <a:rPr lang="en-US" sz="800" dirty="0" err="1"/>
              <a:t>allianser</a:t>
            </a:r>
            <a:r>
              <a:rPr lang="en-US" sz="800" dirty="0"/>
              <a:t> </a:t>
            </a:r>
            <a:r>
              <a:rPr lang="en-US" sz="800" dirty="0" err="1"/>
              <a:t>i</a:t>
            </a:r>
            <a:r>
              <a:rPr lang="en-US" sz="800" dirty="0"/>
              <a:t> </a:t>
            </a:r>
            <a:r>
              <a:rPr lang="en-US" sz="800" dirty="0" err="1"/>
              <a:t>globale</a:t>
            </a:r>
            <a:r>
              <a:rPr lang="en-US" sz="800" dirty="0"/>
              <a:t> </a:t>
            </a:r>
            <a:r>
              <a:rPr lang="en-US" sz="800" dirty="0" err="1"/>
              <a:t>strategier</a:t>
            </a:r>
            <a:r>
              <a:rPr lang="en-US" sz="800" dirty="0"/>
              <a:t>. </a:t>
            </a:r>
            <a:r>
              <a:rPr lang="en-US" sz="800" dirty="0" err="1"/>
              <a:t>Norges</a:t>
            </a:r>
            <a:r>
              <a:rPr lang="en-US" sz="800" dirty="0"/>
              <a:t> </a:t>
            </a:r>
            <a:r>
              <a:rPr lang="en-US" sz="800" dirty="0" err="1"/>
              <a:t>Eksportråd</a:t>
            </a:r>
            <a:r>
              <a:rPr lang="en-US" sz="800" dirty="0"/>
              <a:t>, Oslo. (p. 16).</a:t>
            </a:r>
          </a:p>
        </p:txBody>
      </p:sp>
    </p:spTree>
    <p:extLst>
      <p:ext uri="{BB962C8B-B14F-4D97-AF65-F5344CB8AC3E}">
        <p14:creationId xmlns:p14="http://schemas.microsoft.com/office/powerpoint/2010/main" val="130809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202" y="228600"/>
            <a:ext cx="4891596" cy="583182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57185" y="6105526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i="1" dirty="0"/>
              <a:t>Sources</a:t>
            </a:r>
            <a:r>
              <a:rPr lang="en-US" sz="800" dirty="0"/>
              <a:t>: based on </a:t>
            </a:r>
            <a:r>
              <a:rPr lang="en-US" sz="800" dirty="0" err="1"/>
              <a:t>Walmsley</a:t>
            </a:r>
            <a:r>
              <a:rPr lang="en-US" sz="800" dirty="0"/>
              <a:t> (1982) and </a:t>
            </a:r>
            <a:r>
              <a:rPr lang="en-US" sz="800" dirty="0" err="1"/>
              <a:t>Paliwoda</a:t>
            </a:r>
            <a:r>
              <a:rPr lang="en-US" sz="800" dirty="0"/>
              <a:t> (1993).</a:t>
            </a:r>
          </a:p>
        </p:txBody>
      </p:sp>
    </p:spTree>
    <p:extLst>
      <p:ext uri="{BB962C8B-B14F-4D97-AF65-F5344CB8AC3E}">
        <p14:creationId xmlns:p14="http://schemas.microsoft.com/office/powerpoint/2010/main" val="263415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636" y="228600"/>
            <a:ext cx="4314729" cy="58308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7185" y="6105526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757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040" y="228600"/>
            <a:ext cx="4966868" cy="58308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7185" y="6105526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0134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92" y="1541653"/>
            <a:ext cx="8229600" cy="381321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57185" y="6105526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937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2017</TotalTime>
  <Words>231</Words>
  <Application>Microsoft Office PowerPoint</Application>
  <PresentationFormat>On-screen Show (4:3)</PresentationFormat>
  <Paragraphs>35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MS PGothic</vt:lpstr>
      <vt:lpstr>Arial</vt:lpstr>
      <vt:lpstr>Times</vt:lpstr>
      <vt:lpstr>Verdana</vt:lpstr>
      <vt:lpstr>3_Default Design</vt:lpstr>
      <vt:lpstr>Global Marketing Ninth Edition</vt:lpstr>
      <vt:lpstr>Figure 11.1 Intermediate modes</vt:lpstr>
      <vt:lpstr>Figure 11.2 Life cycle benefits of licensing</vt:lpstr>
      <vt:lpstr>Figure 11.3 Direct and indirect franchising models</vt:lpstr>
      <vt:lpstr>Figure 11.4 The BBW indirect franchising model for Germany, Austria and Switzerland</vt:lpstr>
      <vt:lpstr>Table 11.1 How licensing and franchising differ</vt:lpstr>
      <vt:lpstr>Figure 11.5 Joint ventures and strategic alliances</vt:lpstr>
      <vt:lpstr>Figure 11.6 Collaboration possibilities for partners A and B in the value chain</vt:lpstr>
      <vt:lpstr>PowerPoint Presentation</vt:lpstr>
      <vt:lpstr>PowerPoint Presentation</vt:lpstr>
      <vt:lpstr>PowerPoint Presentation</vt:lpstr>
      <vt:lpstr>PowerPoint Presentation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Qualitative Research Methods in Psychology_5e</dc:title>
  <dc:creator>Howitt</dc:creator>
  <cp:keywords>Economics</cp:keywords>
  <cp:lastModifiedBy>Raja Babu</cp:lastModifiedBy>
  <cp:revision>5138</cp:revision>
  <dcterms:created xsi:type="dcterms:W3CDTF">2014-07-14T20:04:21Z</dcterms:created>
  <dcterms:modified xsi:type="dcterms:W3CDTF">2025-08-20T13:16:41Z</dcterms:modified>
</cp:coreProperties>
</file>