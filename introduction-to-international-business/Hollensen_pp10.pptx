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8"/>
  </p:notesMasterIdLst>
  <p:handoutMasterIdLst>
    <p:handoutMasterId r:id="rId9"/>
  </p:handoutMasterIdLst>
  <p:sldIdLst>
    <p:sldId id="1314" r:id="rId2"/>
    <p:sldId id="1316" r:id="rId3"/>
    <p:sldId id="1317" r:id="rId4"/>
    <p:sldId id="1318" r:id="rId5"/>
    <p:sldId id="1319" r:id="rId6"/>
    <p:sldId id="132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936" userDrawn="1">
          <p15:clr>
            <a:srgbClr val="A4A3A4"/>
          </p15:clr>
        </p15:guide>
        <p15:guide id="5" orient="horz" pos="451" userDrawn="1">
          <p15:clr>
            <a:srgbClr val="A4A3A4"/>
          </p15:clr>
        </p15:guide>
        <p15:guide id="8" pos="288">
          <p15:clr>
            <a:srgbClr val="A4A3A4"/>
          </p15:clr>
        </p15:guide>
        <p15:guide id="9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, Mohanapriya" initials="DM" lastIdx="1" clrIdx="0"/>
  <p:cmAuthor id="2" name="Raja B" initials="RB" lastIdx="6" clrIdx="1">
    <p:extLst>
      <p:ext uri="{19B8F6BF-5375-455C-9EA6-DF929625EA0E}">
        <p15:presenceInfo xmlns:p15="http://schemas.microsoft.com/office/powerpoint/2012/main" userId="Raja B" providerId="None"/>
      </p:ext>
    </p:extLst>
  </p:cmAuthor>
  <p:cmAuthor id="3" name="R Sweda" initials="RS" lastIdx="5" clrIdx="2">
    <p:extLst>
      <p:ext uri="{19B8F6BF-5375-455C-9EA6-DF929625EA0E}">
        <p15:presenceInfo xmlns:p15="http://schemas.microsoft.com/office/powerpoint/2012/main" userId="S-1-5-21-2752970185-40930380-1894245210-38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AE4"/>
    <a:srgbClr val="007FA3"/>
    <a:srgbClr val="99008C"/>
    <a:srgbClr val="001581"/>
    <a:srgbClr val="82007C"/>
    <a:srgbClr val="96008F"/>
    <a:srgbClr val="595375"/>
    <a:srgbClr val="6B638B"/>
    <a:srgbClr val="000000"/>
    <a:srgbClr val="FDB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1901" autoAdjust="0"/>
  </p:normalViewPr>
  <p:slideViewPr>
    <p:cSldViewPr>
      <p:cViewPr varScale="1">
        <p:scale>
          <a:sx n="101" d="100"/>
          <a:sy n="101" d="100"/>
        </p:scale>
        <p:origin x="2064" y="108"/>
      </p:cViewPr>
      <p:guideLst>
        <p:guide orient="horz" pos="3936"/>
        <p:guide orient="horz" pos="451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n, Shweta" userId="6693a790-fec2-4f1b-bb02-58718b214df8" providerId="ADAL" clId="{C7E762D7-8014-45DB-8A62-BD4FA3670100}"/>
    <pc:docChg chg="modSld">
      <pc:chgData name="Jain, Shweta" userId="6693a790-fec2-4f1b-bb02-58718b214df8" providerId="ADAL" clId="{C7E762D7-8014-45DB-8A62-BD4FA3670100}" dt="2020-06-02T11:47:36.432" v="1" actId="962"/>
      <pc:docMkLst>
        <pc:docMk/>
      </pc:docMkLst>
      <pc:sldChg chg="modSp">
        <pc:chgData name="Jain, Shweta" userId="6693a790-fec2-4f1b-bb02-58718b214df8" providerId="ADAL" clId="{C7E762D7-8014-45DB-8A62-BD4FA3670100}" dt="2020-06-02T11:47:36.432" v="1" actId="962"/>
        <pc:sldMkLst>
          <pc:docMk/>
          <pc:sldMk cId="2170262415" sldId="1293"/>
        </pc:sldMkLst>
        <pc:picChg chg="mod">
          <ac:chgData name="Jain, Shweta" userId="6693a790-fec2-4f1b-bb02-58718b214df8" providerId="ADAL" clId="{C7E762D7-8014-45DB-8A62-BD4FA3670100}" dt="2020-06-02T11:47:36.432" v="1" actId="962"/>
          <ac:picMkLst>
            <pc:docMk/>
            <pc:sldMk cId="2170262415" sldId="1293"/>
            <ac:picMk id="12" creationId="{4B7C0549-CC8A-406F-AE51-9FCA19C1137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8/8/2025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76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204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b="1" dirty="0" smtClean="0"/>
              <a:t>Figure 10.2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An example of matchmaking between a manufacturer and two potential distribution partners</a:t>
            </a: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983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8409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134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178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3558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18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854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839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844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15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43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454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1367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93663" y="6165850"/>
            <a:ext cx="8596312" cy="234950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7"/>
          </p:nvPr>
        </p:nvSpPr>
        <p:spPr>
          <a:xfrm>
            <a:off x="6335713" y="112713"/>
            <a:ext cx="2133600" cy="182562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54438355-59E1-494D-B673-F943449693EA}" type="datetimeFigureOut">
              <a:rPr lang="en-US"/>
              <a:pPr>
                <a:defRPr/>
              </a:pPr>
              <a:t>8/8/2025</a:t>
            </a:fld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8"/>
          </p:nvPr>
        </p:nvSpPr>
        <p:spPr>
          <a:xfrm>
            <a:off x="8469313" y="112713"/>
            <a:ext cx="552450" cy="1825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>
                <a:solidFill>
                  <a:srgbClr val="000000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F6D5689-2E00-4087-B72F-8F2D0659B6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93633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185738" y="6416675"/>
            <a:ext cx="8642350" cy="188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© </a:t>
            </a:r>
            <a:r>
              <a:rPr lang="en-US" sz="1200" dirty="0" smtClean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2026 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Pearson Education Limited. All Rights Reserved.</a:t>
            </a:r>
            <a:endParaRPr lang="en-GB" sz="1200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Picture 8" descr="Pearson Logo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76988"/>
            <a:ext cx="9175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5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3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931" y="466461"/>
            <a:ext cx="8229600" cy="1613428"/>
          </a:xfrm>
        </p:spPr>
        <p:txBody>
          <a:bodyPr/>
          <a:lstStyle/>
          <a:p>
            <a:pPr lvl="0" algn="l">
              <a:spcBef>
                <a:spcPts val="0"/>
              </a:spcBef>
              <a:defRPr/>
            </a:pPr>
            <a:r>
              <a:rPr lang="en-US" dirty="0" smtClean="0"/>
              <a:t>Global Marketing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b="0" dirty="0" smtClean="0"/>
              <a:t>Ninth Edition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648200" y="1802381"/>
            <a:ext cx="3581400" cy="1600199"/>
          </a:xfrm>
        </p:spPr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III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sz="2200" dirty="0"/>
              <a:t>Market entry </a:t>
            </a:r>
            <a:r>
              <a:rPr lang="en-US" sz="2200" dirty="0" smtClean="0"/>
              <a:t>strategies</a:t>
            </a:r>
            <a:br>
              <a:rPr lang="en-US" sz="2200" dirty="0" smtClean="0"/>
            </a:br>
            <a:r>
              <a:rPr lang="en-US" sz="2200" dirty="0" smtClean="0"/>
              <a:t>and </a:t>
            </a:r>
            <a:r>
              <a:rPr lang="en-US" sz="2200" dirty="0"/>
              <a:t>modes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648200" y="4031012"/>
            <a:ext cx="3810000" cy="2445988"/>
          </a:xfrm>
        </p:spPr>
        <p:txBody>
          <a:bodyPr/>
          <a:lstStyle/>
          <a:p>
            <a:pPr marL="342900" lvl="0" indent="-342900">
              <a:spcBef>
                <a:spcPts val="1200"/>
              </a:spcBef>
              <a:buClrTx/>
              <a:defRPr/>
            </a:pPr>
            <a:r>
              <a:rPr lang="en-US" sz="3000" dirty="0">
                <a:solidFill>
                  <a:srgbClr val="000000"/>
                </a:solidFill>
              </a:rPr>
              <a:t>Chapter </a:t>
            </a:r>
            <a:r>
              <a:rPr lang="en-US" sz="3000" dirty="0" smtClean="0">
                <a:solidFill>
                  <a:srgbClr val="000000"/>
                </a:solidFill>
              </a:rPr>
              <a:t>10</a:t>
            </a:r>
            <a:endParaRPr lang="en-US" sz="3000" dirty="0">
              <a:solidFill>
                <a:srgbClr val="000000"/>
              </a:solidFill>
            </a:endParaRPr>
          </a:p>
          <a:p>
            <a:pPr lvl="0">
              <a:spcBef>
                <a:spcPts val="120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Export </a:t>
            </a:r>
            <a:r>
              <a:rPr lang="en-US" dirty="0">
                <a:solidFill>
                  <a:srgbClr val="000000"/>
                </a:solidFill>
              </a:rPr>
              <a:t>modes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84" y="1554981"/>
            <a:ext cx="3460316" cy="47008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579426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10.1</a:t>
            </a:r>
            <a:br>
              <a:rPr lang="en-US" sz="3200" dirty="0" smtClean="0"/>
            </a:br>
            <a:r>
              <a:rPr lang="en-US" sz="3200" dirty="0" smtClean="0"/>
              <a:t>Export </a:t>
            </a:r>
            <a:r>
              <a:rPr lang="en-US" sz="3200" dirty="0"/>
              <a:t>modes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52" y="1524000"/>
            <a:ext cx="8229979" cy="42922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59571" y="5981700"/>
            <a:ext cx="7848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i="1" dirty="0"/>
              <a:t>Note</a:t>
            </a:r>
            <a:r>
              <a:rPr lang="en-US" sz="800" dirty="0"/>
              <a:t>: A, A</a:t>
            </a:r>
            <a:r>
              <a:rPr lang="en-US" sz="800" baseline="-25000" dirty="0"/>
              <a:t>1</a:t>
            </a:r>
            <a:r>
              <a:rPr lang="en-US" sz="800" dirty="0"/>
              <a:t>, </a:t>
            </a:r>
            <a:r>
              <a:rPr lang="en-US" sz="800" dirty="0" smtClean="0"/>
              <a:t>A</a:t>
            </a:r>
            <a:r>
              <a:rPr lang="en-US" sz="800" baseline="-25000" dirty="0" smtClean="0"/>
              <a:t>2</a:t>
            </a:r>
            <a:r>
              <a:rPr lang="en-US" sz="800" dirty="0" smtClean="0"/>
              <a:t> </a:t>
            </a:r>
            <a:r>
              <a:rPr lang="en-US" sz="800" dirty="0"/>
              <a:t>and </a:t>
            </a:r>
            <a:r>
              <a:rPr lang="en-US" sz="800" dirty="0" smtClean="0"/>
              <a:t>A</a:t>
            </a:r>
            <a:r>
              <a:rPr lang="en-US" sz="800" baseline="-25000" dirty="0" smtClean="0"/>
              <a:t>3</a:t>
            </a:r>
            <a:r>
              <a:rPr lang="en-US" sz="800" dirty="0" smtClean="0"/>
              <a:t> </a:t>
            </a:r>
            <a:r>
              <a:rPr lang="en-US" sz="800" dirty="0"/>
              <a:t>are manufacturers of products/services; B is an independent intermediary (agent); C is the customer</a:t>
            </a:r>
            <a:r>
              <a:rPr lang="en-US" sz="800" dirty="0" smtClean="0"/>
              <a:t>.</a:t>
            </a:r>
          </a:p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516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069" y="322498"/>
            <a:ext cx="6041863" cy="57735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9571" y="6105524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290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10.3</a:t>
            </a:r>
            <a:br>
              <a:rPr lang="en-US" sz="3200" dirty="0" smtClean="0"/>
            </a:br>
            <a:r>
              <a:rPr lang="en-US" sz="3200" dirty="0" smtClean="0"/>
              <a:t>International </a:t>
            </a:r>
            <a:r>
              <a:rPr lang="en-US" sz="3200" dirty="0"/>
              <a:t>distribution system of Fisherman’s Friend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280" y="1837723"/>
            <a:ext cx="5615441" cy="42582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9571" y="6107905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>
                <a:latin typeface="SST-Light"/>
              </a:rPr>
              <a:t>Svend</a:t>
            </a:r>
            <a:r>
              <a:rPr lang="en-US" sz="800" dirty="0">
                <a:latin typeface="SST-Light"/>
              </a:rPr>
              <a:t> </a:t>
            </a:r>
            <a:r>
              <a:rPr lang="en-US" sz="800" dirty="0" err="1">
                <a:latin typeface="SST-Light"/>
              </a:rPr>
              <a:t>Hollensen</a:t>
            </a:r>
            <a:r>
              <a:rPr lang="en-US" sz="800" dirty="0">
                <a:latin typeface="SST-Ligh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77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10.4</a:t>
            </a:r>
            <a:br>
              <a:rPr lang="en-US" sz="3200" dirty="0" smtClean="0"/>
            </a:br>
            <a:r>
              <a:rPr lang="en-US" sz="3200" dirty="0" smtClean="0"/>
              <a:t>International </a:t>
            </a:r>
            <a:r>
              <a:rPr lang="en-US" sz="3200" dirty="0"/>
              <a:t>partner matrix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95" y="1680480"/>
            <a:ext cx="7016411" cy="4186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9571" y="6107905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>
                <a:latin typeface="SST-Light"/>
              </a:rPr>
              <a:t>Svend</a:t>
            </a:r>
            <a:r>
              <a:rPr lang="en-US" sz="800" dirty="0">
                <a:latin typeface="SST-Light"/>
              </a:rPr>
              <a:t> </a:t>
            </a:r>
            <a:r>
              <a:rPr lang="en-US" sz="800" dirty="0" err="1">
                <a:latin typeface="SST-Light"/>
              </a:rPr>
              <a:t>Hollensen</a:t>
            </a:r>
            <a:r>
              <a:rPr lang="en-US" sz="800" dirty="0">
                <a:latin typeface="SST-Ligh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14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543729" cy="1564987"/>
          </a:xfrm>
        </p:spPr>
        <p:txBody>
          <a:bodyPr anchor="t"/>
          <a:lstStyle/>
          <a:p>
            <a:pPr algn="l"/>
            <a:r>
              <a:rPr lang="en-US" sz="3200" dirty="0"/>
              <a:t>Table </a:t>
            </a:r>
            <a:r>
              <a:rPr lang="en-US" sz="3200" dirty="0" smtClean="0"/>
              <a:t>10.1</a:t>
            </a:r>
            <a:br>
              <a:rPr lang="en-US" sz="3200" dirty="0" smtClean="0"/>
            </a:br>
            <a:r>
              <a:rPr lang="en-US" sz="3200" dirty="0" smtClean="0"/>
              <a:t>Advantages </a:t>
            </a:r>
            <a:r>
              <a:rPr lang="en-US" sz="3200" dirty="0"/>
              <a:t>and disadvantages of the different export modes for the manufacturer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43" y="2334139"/>
            <a:ext cx="7490114" cy="391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48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1954</TotalTime>
  <Words>110</Words>
  <Application>Microsoft Office PowerPoint</Application>
  <PresentationFormat>On-screen Show (4:3)</PresentationFormat>
  <Paragraphs>22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MS PGothic</vt:lpstr>
      <vt:lpstr>Arial</vt:lpstr>
      <vt:lpstr>SST-Light</vt:lpstr>
      <vt:lpstr>Times</vt:lpstr>
      <vt:lpstr>Verdana</vt:lpstr>
      <vt:lpstr>3_Default Design</vt:lpstr>
      <vt:lpstr>Global Marketing Ninth Edition</vt:lpstr>
      <vt:lpstr>Figure 10.1 Export modes</vt:lpstr>
      <vt:lpstr>PowerPoint Presentation</vt:lpstr>
      <vt:lpstr>Figure 10.3 International distribution system of Fisherman’s Friend</vt:lpstr>
      <vt:lpstr>Figure 10.4 International partner matrix</vt:lpstr>
      <vt:lpstr>Table 10.1 Advantages and disadvantages of the different export modes for the manufacturer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Qualitative Research Methods in Psychology_5e</dc:title>
  <dc:creator>Howitt</dc:creator>
  <cp:keywords>Economics</cp:keywords>
  <cp:lastModifiedBy>Shakila Rani B</cp:lastModifiedBy>
  <cp:revision>5114</cp:revision>
  <dcterms:created xsi:type="dcterms:W3CDTF">2014-07-14T20:04:21Z</dcterms:created>
  <dcterms:modified xsi:type="dcterms:W3CDTF">2025-08-08T08:11:14Z</dcterms:modified>
</cp:coreProperties>
</file>