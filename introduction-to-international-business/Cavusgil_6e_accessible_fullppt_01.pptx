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4"/>
    <p:sldMasterId id="2147483659" r:id="rId5"/>
  </p:sldMasterIdLst>
  <p:notesMasterIdLst>
    <p:notesMasterId r:id="rId48"/>
  </p:notesMasterIdLst>
  <p:handoutMasterIdLst>
    <p:handoutMasterId r:id="rId49"/>
  </p:handoutMasterIdLst>
  <p:sldIdLst>
    <p:sldId id="330" r:id="rId6"/>
    <p:sldId id="272" r:id="rId7"/>
    <p:sldId id="321" r:id="rId8"/>
    <p:sldId id="468" r:id="rId9"/>
    <p:sldId id="469" r:id="rId10"/>
    <p:sldId id="440" r:id="rId11"/>
    <p:sldId id="470" r:id="rId12"/>
    <p:sldId id="380" r:id="rId13"/>
    <p:sldId id="471" r:id="rId14"/>
    <p:sldId id="472" r:id="rId15"/>
    <p:sldId id="473" r:id="rId16"/>
    <p:sldId id="474" r:id="rId17"/>
    <p:sldId id="475" r:id="rId18"/>
    <p:sldId id="476" r:id="rId19"/>
    <p:sldId id="477" r:id="rId20"/>
    <p:sldId id="364" r:id="rId21"/>
    <p:sldId id="478" r:id="rId22"/>
    <p:sldId id="479" r:id="rId23"/>
    <p:sldId id="480" r:id="rId24"/>
    <p:sldId id="481" r:id="rId25"/>
    <p:sldId id="482" r:id="rId26"/>
    <p:sldId id="483" r:id="rId27"/>
    <p:sldId id="382" r:id="rId28"/>
    <p:sldId id="484" r:id="rId29"/>
    <p:sldId id="485" r:id="rId30"/>
    <p:sldId id="486" r:id="rId31"/>
    <p:sldId id="487" r:id="rId32"/>
    <p:sldId id="488" r:id="rId33"/>
    <p:sldId id="489" r:id="rId34"/>
    <p:sldId id="490" r:id="rId35"/>
    <p:sldId id="503" r:id="rId36"/>
    <p:sldId id="492" r:id="rId37"/>
    <p:sldId id="493" r:id="rId38"/>
    <p:sldId id="494" r:id="rId39"/>
    <p:sldId id="504" r:id="rId40"/>
    <p:sldId id="496" r:id="rId41"/>
    <p:sldId id="385" r:id="rId42"/>
    <p:sldId id="497" r:id="rId43"/>
    <p:sldId id="498" r:id="rId44"/>
    <p:sldId id="499" r:id="rId45"/>
    <p:sldId id="502" r:id="rId46"/>
    <p:sldId id="298" r:id="rId47"/>
  </p:sldIdLst>
  <p:sldSz cx="9144000" cy="6858000" type="screen4x3"/>
  <p:notesSz cx="6858000" cy="9144000"/>
  <p:embeddedFontLst>
    <p:embeddedFont>
      <p:font typeface="Calibri" panose="020F0502020204030204" pitchFamily="34" charset="0"/>
      <p:regular r:id="rId50"/>
      <p:bold r:id="rId51"/>
      <p:italic r:id="rId52"/>
      <p:boldItalic r:id="rId53"/>
    </p:embeddedFont>
    <p:embeddedFont>
      <p:font typeface="ＭＳ Ｐゴシック" panose="020B0600070205080204" pitchFamily="34" charset="-128"/>
      <p:regular r:id="rId54"/>
    </p:embeddedFont>
    <p:embeddedFont>
      <p:font typeface="Verdana" panose="020B0604030504040204" pitchFamily="34"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32" userDrawn="1">
          <p15:clr>
            <a:srgbClr val="A4A3A4"/>
          </p15:clr>
        </p15:guide>
        <p15:guide id="2" pos="226" userDrawn="1">
          <p15:clr>
            <a:srgbClr val="A4A3A4"/>
          </p15:clr>
        </p15:guide>
        <p15:guide id="4" orient="horz" pos="368" userDrawn="1">
          <p15:clr>
            <a:srgbClr val="A4A3A4"/>
          </p15:clr>
        </p15:guide>
        <p15:guide id="5" pos="5488" userDrawn="1">
          <p15:clr>
            <a:srgbClr val="A4A3A4"/>
          </p15:clr>
        </p15:guide>
        <p15:guide id="6" orient="horz" pos="1185" userDrawn="1">
          <p15:clr>
            <a:srgbClr val="A4A3A4"/>
          </p15:clr>
        </p15:guide>
        <p15:guide id="7" orient="horz" pos="75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3"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16" autoAdjust="0"/>
    <p:restoredTop sz="94825" autoAdjust="0"/>
  </p:normalViewPr>
  <p:slideViewPr>
    <p:cSldViewPr snapToGrid="0" snapToObjects="1">
      <p:cViewPr varScale="1">
        <p:scale>
          <a:sx n="72" d="100"/>
          <a:sy n="72" d="100"/>
        </p:scale>
        <p:origin x="1614" y="72"/>
      </p:cViewPr>
      <p:guideLst>
        <p:guide orient="horz" pos="4032"/>
        <p:guide pos="226"/>
        <p:guide orient="horz" pos="368"/>
        <p:guide pos="5488"/>
        <p:guide orient="horz" pos="1185"/>
        <p:guide orient="horz" pos="754"/>
      </p:guideLst>
    </p:cSldViewPr>
  </p:slideViewPr>
  <p:outlineViewPr>
    <p:cViewPr>
      <p:scale>
        <a:sx n="33" d="100"/>
        <a:sy n="33" d="100"/>
      </p:scale>
      <p:origin x="0" y="-17532"/>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8" d="100"/>
          <a:sy n="88" d="100"/>
        </p:scale>
        <p:origin x="304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font" Target="fonts/font5.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handoutMaster" Target="handoutMasters/handoutMaster1.xml"/><Relationship Id="rId57" Type="http://schemas.openxmlformats.org/officeDocument/2006/relationships/font" Target="fonts/font8.fntdata"/><Relationship Id="rId61"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3.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microsoft.com/office/2018/10/relationships/authors" Target="authors.xml"/><Relationship Id="rId8" Type="http://schemas.openxmlformats.org/officeDocument/2006/relationships/slide" Target="slides/slide3.xml"/><Relationship Id="rId51" Type="http://schemas.openxmlformats.org/officeDocument/2006/relationships/font" Target="fonts/font2.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endParaRPr lang="en-US" dirty="0"/>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08528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64528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flow diagram shows the following information: Elements of international business includes foreign market entry strategies, globalization of markets, international trade, international investment, international business risks, and participants: firms, intermediaries, facilitators, governments.</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18281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CA13-2123-F7F7-3C5F-C5483C2E5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C9952-C8B1-3702-C7A0-5F1675BF7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A109F-C01C-8FF4-5131-B76CAC8E0ABE}"/>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dirty="0"/>
              <a:t>International business </a:t>
            </a:r>
            <a:r>
              <a:rPr lang="en-US" sz="1200" dirty="0"/>
              <a:t>refers to the performance of trade and investment activities by firms across national borders. Because it emphasizes crossing national boundaries, we also refer to international business as cross-border business. Firms organize, source, manufacture, market, and conduct other value-adding activities on an international scale. They seek foreign customers and engage in collaborative relationships with foreign business partners. While international business is performed mainly by individual firms, governments and international agencies also undertake international business activities. Firms and nations exchange many physical and intellectual assets, including products, services, capital, technology, know-how, and labor. In this book, we are mainly concerned with the international business activities of the individual firm. The growth of international business activity coincides with the broader phenomenon of globalization of markets. The </a:t>
            </a:r>
            <a:r>
              <a:rPr lang="en-US" sz="1200" b="1" dirty="0"/>
              <a:t>globalization of markets </a:t>
            </a:r>
            <a:r>
              <a:rPr lang="en-US" sz="1200" dirty="0"/>
              <a:t>refers to the ongoing economic integration and growing interdependency of countries worldwide. While internationalization of the firm refers to the tendency of companies to systematically increase the international dimension of their business activities, globalization refers to a macro trend of intense economic interconnectedness between countries. Globalization is associated with the internationalization of countless firms and dramatic growth in the volume and variety of cross-border transactions in goods, services, and capital flows. It has led to widespread diffusion of products, technology, and knowledge worldwide.</a:t>
            </a:r>
            <a:endParaRPr lang="en-US" dirty="0"/>
          </a:p>
          <a:p>
            <a:pPr marL="0" lvl="0" indent="0" algn="l" rtl="0">
              <a:lnSpc>
                <a:spcPct val="80000"/>
              </a:lnSpc>
              <a:spcBef>
                <a:spcPts val="0"/>
              </a:spcBef>
              <a:spcAft>
                <a:spcPts val="0"/>
              </a:spcAft>
              <a:buNone/>
            </a:pPr>
            <a:endParaRPr lang="en-US" sz="1200" dirty="0"/>
          </a:p>
          <a:p>
            <a:pPr marL="0" marR="0" lvl="0" indent="0" algn="l" rtl="0">
              <a:lnSpc>
                <a:spcPct val="80000"/>
              </a:lnSpc>
              <a:spcBef>
                <a:spcPts val="0"/>
              </a:spcBef>
              <a:spcAft>
                <a:spcPts val="0"/>
              </a:spcAft>
              <a:buClr>
                <a:schemeClr val="dk1"/>
              </a:buClr>
              <a:buSzPts val="1110"/>
              <a:buFont typeface="Calibri"/>
              <a:buNone/>
            </a:pPr>
            <a:r>
              <a:rPr lang="en-US" sz="1200" b="1" dirty="0"/>
              <a:t>International trade </a:t>
            </a:r>
            <a:r>
              <a:rPr lang="en-US" sz="1200" dirty="0"/>
              <a:t>refers to an exchange of products and services across national borders. Trade involves both products (merchandise) and services (intangibles). Exchange can be through exporting, an entry strategy involving the sale of products or services to customers located abroad, from a base in the home country or a third country. Exchange can also take the form of importing or global sourcing—the procurement of products or services from suppliers located abroad for consumption in the home country or a third country. While exporting represents the outbound flow of products and services, importing is an inbound activity. Both finished products and intermediate goods, such as raw materials and components, are subject to importing and exporting.</a:t>
            </a:r>
            <a:endParaRPr lang="en-US" dirty="0"/>
          </a:p>
        </p:txBody>
      </p:sp>
      <p:sp>
        <p:nvSpPr>
          <p:cNvPr id="4" name="Slide Number Placeholder 3">
            <a:extLst>
              <a:ext uri="{FF2B5EF4-FFF2-40B4-BE49-F238E27FC236}">
                <a16:creationId xmlns:a16="http://schemas.microsoft.com/office/drawing/2014/main" id="{907341B3-383E-A353-6733-CDCE3C3E889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29781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CA13-2123-F7F7-3C5F-C5483C2E5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C9952-C8B1-3702-C7A0-5F1675BF7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A109F-C01C-8FF4-5131-B76CAC8E0ABE}"/>
              </a:ext>
            </a:extLst>
          </p:cNvPr>
          <p:cNvSpPr>
            <a:spLocks noGrp="1"/>
          </p:cNvSpPr>
          <p:nvPr>
            <p:ph type="body" idx="1"/>
          </p:nvPr>
        </p:nvSpPr>
        <p:spPr/>
        <p:txBody>
          <a:bodyPr/>
          <a:lstStyle/>
          <a:p>
            <a:pPr marL="0" lvl="0" indent="0" algn="l" rtl="0">
              <a:spcBef>
                <a:spcPts val="0"/>
              </a:spcBef>
              <a:spcAft>
                <a:spcPts val="0"/>
              </a:spcAft>
              <a:buClr>
                <a:schemeClr val="dk1"/>
              </a:buClr>
              <a:buSzPts val="1200"/>
              <a:buFont typeface="Arial"/>
              <a:buNone/>
            </a:pPr>
            <a:endParaRPr lang="en-US" dirty="0"/>
          </a:p>
        </p:txBody>
      </p:sp>
      <p:sp>
        <p:nvSpPr>
          <p:cNvPr id="4" name="Slide Number Placeholder 3">
            <a:extLst>
              <a:ext uri="{FF2B5EF4-FFF2-40B4-BE49-F238E27FC236}">
                <a16:creationId xmlns:a16="http://schemas.microsoft.com/office/drawing/2014/main" id="{907341B3-383E-A353-6733-CDCE3C3E889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29936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CF79D-CA74-B113-D995-1F40B6E53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5EA4A-55E3-122D-C299-A6E96C088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EFE9D-41C2-8271-8321-90E03AE19AA8}"/>
              </a:ext>
            </a:extLst>
          </p:cNvPr>
          <p:cNvSpPr>
            <a:spLocks noGrp="1"/>
          </p:cNvSpPr>
          <p:nvPr>
            <p:ph type="body" idx="1"/>
          </p:nvPr>
        </p:nvSpPr>
        <p:spPr/>
        <p:txBody>
          <a:bodyPr/>
          <a:lstStyle/>
          <a:p>
            <a:pPr marL="0" lvl="0" indent="0" algn="l" rtl="0">
              <a:spcBef>
                <a:spcPts val="0"/>
              </a:spcBef>
              <a:spcAft>
                <a:spcPts val="0"/>
              </a:spcAft>
              <a:buNone/>
            </a:pPr>
            <a:r>
              <a:rPr lang="en-US" sz="1200" b="1" dirty="0"/>
              <a:t>International</a:t>
            </a:r>
            <a:r>
              <a:rPr lang="en-US" sz="1200" dirty="0"/>
              <a:t> </a:t>
            </a:r>
            <a:r>
              <a:rPr lang="en-US" sz="1200" b="1" dirty="0"/>
              <a:t>investment</a:t>
            </a:r>
            <a:r>
              <a:rPr lang="en-US" sz="1200" dirty="0"/>
              <a:t> refers to the transfer of assets to another country or the acquisition of assets in that country. These assets include capital, technology, managerial talent, and manufacturing infrastructure. Economists refer to such assets as factors of production. Trade implies that products and services cross national borders. By contrast, investment implies the firm itself crosses borders to secure ownership of assets located abroad. </a:t>
            </a:r>
            <a:endParaRPr lang="en-US" dirty="0"/>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The two essential types of cross-border investment are international portfolio investment and foreign direct investment. </a:t>
            </a:r>
            <a:r>
              <a:rPr lang="en-US" sz="1200" b="1" dirty="0"/>
              <a:t>International portfolio investment </a:t>
            </a:r>
            <a:r>
              <a:rPr lang="en-US" sz="1200" dirty="0"/>
              <a:t>refers to the passive ownership of foreign securities such as stocks and bonds for the purpose of generating financial returns. It does not entail active management or control over these assets. The foreign investor has a relatively short-term interest in the ownership of these assets. </a:t>
            </a:r>
            <a:endParaRPr lang="en-US" dirty="0"/>
          </a:p>
          <a:p>
            <a:pPr marL="0" lvl="0" indent="0" algn="l" rtl="0">
              <a:spcBef>
                <a:spcPts val="0"/>
              </a:spcBef>
              <a:spcAft>
                <a:spcPts val="0"/>
              </a:spcAft>
              <a:buNone/>
            </a:pPr>
            <a:endParaRPr lang="en-US" sz="1200" b="1" dirty="0"/>
          </a:p>
          <a:p>
            <a:pPr marL="0" lvl="0" indent="0" algn="l" rtl="0">
              <a:spcBef>
                <a:spcPts val="0"/>
              </a:spcBef>
              <a:spcAft>
                <a:spcPts val="0"/>
              </a:spcAft>
              <a:buNone/>
            </a:pPr>
            <a:r>
              <a:rPr lang="en-US" sz="1200" b="1" dirty="0"/>
              <a:t>Foreign direct investment (F D I) </a:t>
            </a:r>
            <a:r>
              <a:rPr lang="en-US" sz="1200" dirty="0"/>
              <a:t>is an internationalization strategy in which the firm establishes a physical presence abroad through acquisition of productive assets such as capital, technology, labor, land, plant, and equipment. It is a foreign-market entry strategy that gives investors partial or full ownership of a productive enterprise typically dedicated to manufacturing, marketing, or management activities. Investing such resources abroad is generally for the long term and involves extensive planning.</a:t>
            </a:r>
            <a:endParaRPr lang="en-US" dirty="0"/>
          </a:p>
        </p:txBody>
      </p:sp>
      <p:sp>
        <p:nvSpPr>
          <p:cNvPr id="4" name="Slide Number Placeholder 3">
            <a:extLst>
              <a:ext uri="{FF2B5EF4-FFF2-40B4-BE49-F238E27FC236}">
                <a16:creationId xmlns:a16="http://schemas.microsoft.com/office/drawing/2014/main" id="{E4383E9A-7B57-9B3F-4907-E525867A6FA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90526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The globalization of markets is evident in several related trends. First is the </a:t>
            </a:r>
            <a:r>
              <a:rPr lang="en-US" sz="1200" i="1" dirty="0">
                <a:latin typeface="Arial" panose="020B0604020202020204" pitchFamily="34" charset="0"/>
                <a:ea typeface="Calibri"/>
                <a:cs typeface="Arial" panose="020B0604020202020204" pitchFamily="34" charset="0"/>
                <a:sym typeface="Calibri"/>
              </a:rPr>
              <a:t>unprecedented growth of international trade</a:t>
            </a:r>
            <a:r>
              <a:rPr lang="en-US" sz="1200" dirty="0">
                <a:latin typeface="Arial" panose="020B0604020202020204" pitchFamily="34" charset="0"/>
                <a:ea typeface="Calibri"/>
                <a:cs typeface="Arial" panose="020B0604020202020204" pitchFamily="34" charset="0"/>
                <a:sym typeface="Calibri"/>
              </a:rPr>
              <a:t>. In 1960, cross-border trade was modest. Today, it accounts for a substantial proportion of the world economy, with world exports amounting to some $16 trillion annually—that is, $16,000,000,000,000! Second, trade between nations is accompanied by substantial flows of capital, technology, and knowledge. Third is the development of highly sophisticated global financial systems and mechanisms that facilitate the cross-border flow of products, money, technology, and knowledge. Fourth, globalization has brought about a greater degree of collaboration among nations through multilateral regulatory agencies such as the World Trade Organization and the International Monetary Fund.</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International trade in services accounts for about one-quarter of all international trade and is growing rapidly. In recent years, services trade has been growing faster than products trade. As with products, larger advanced economies account for the greatest proportion of world services trade. This is expected, because services typically comprise more than two-thirds of the G D P s of these countries. Although services trade is growing rapidly, the value of merchandise trade is still much larger. One reason is that services face greater challenges and barriers in cross-border trade than merchandise goods.</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sym typeface="Calibri"/>
              </a:rPr>
              <a:t>https://www.wto.org</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sym typeface="Calibri"/>
              </a:rPr>
              <a:t>http://www.imf.org/</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20708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93159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The exhibit contrasts the growth of total world exports to the growth of total world gross domestic product (G D P). G D P is the total value of products and services produced in a country over the course of a year. Following a 27-year boom, world trade declined in 2009 due to the global recession. The hardest hit imports were consumer goods, cars, and car parts. However, trade revived sharply and returned to normal levels by 2012. Trade was a key factor reducing the impact of the global recession. Overall, however, in the past few decades world exports have grown more than thirty-fold, while world G D P grew only tenfold.</a:t>
            </a: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
            </a:r>
            <a:br>
              <a:rPr lang="en-US" sz="1200" dirty="0">
                <a:latin typeface="Arial" panose="020B0604020202020204" pitchFamily="34" charset="0"/>
                <a:ea typeface="Calibri"/>
                <a:cs typeface="Arial" panose="020B0604020202020204" pitchFamily="34" charset="0"/>
                <a:sym typeface="Calibri"/>
              </a:rPr>
            </a:br>
            <a:r>
              <a:rPr lang="en-US" sz="1200" dirty="0">
                <a:latin typeface="Arial" panose="020B0604020202020204" pitchFamily="34" charset="0"/>
                <a:ea typeface="Calibri"/>
                <a:cs typeface="Arial" panose="020B0604020202020204" pitchFamily="34" charset="0"/>
                <a:sym typeface="Calibri"/>
              </a:rPr>
              <a:t>To illustrate this point, consider the journey of a shirt sold in France. Initially, the cotton to produce the shirt is exported from the United States to China. After the shirt is manufactured in China, it is exported to France. Eventually, after the French owner discards her used shirt, it is exported once again and sold on the used clothing market in Africa. In total, the value generated in exporting the shirt greatly exceeds the cost to produce it. </a:t>
            </a: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Much of the difference in the growth of exports versus G D P is due to advanced (or developed) economies such as Britain and the United States now sourcing many of the products they consume from low-cost manufacturing locations such as China and Mexico. For example, although the United States once produced most of the products it consumed, today it depends much more on imports. Rapid integration of world economies is fueled by such factors as advances in information and transportation technologies, decline of trade barriers, liberalization of markets, and the remarkable growth of emerging market economies.</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latin typeface="Arial" panose="020B0604020202020204" pitchFamily="34" charset="0"/>
                <a:cs typeface="Arial" panose="020B0604020202020204" pitchFamily="34" charset="0"/>
              </a:rPr>
              <a:t>http://www.imf.org/</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latin typeface="Arial" panose="020B060402020202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The horizontal axis represents years ranging from 1980 to 2022 in increments of 2. The vertical axis ranges from 0 to 70 in increments of 10. The graph shows a line from (1980, 37) to (2022, 57). This line has an increasing trend with fluctuations and passes through the points showing peaks at (1986, 34), (1992, 40), (2000, 50.5), (2008, 60.5), (2009, 53), (2011, 60), (2016, 54.4), (2018, 57), and (2020, 52). All values are approximate. </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19960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The exhibit identifies the nations that lead in the exporting and importing of products (but not services)—that is, international merchandise trade. Recently, China surpassed the United States as the world’s leading exporter. China is a leading country in terms of the absolute value of total merchandise trade. Trade accounts for a large proportion of China’s G D P. Some countries depend very heavily on international trade relative to the value of all goods and services they produce domestically. </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www.unctad.org</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www.wto.org</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Long Description:</a:t>
            </a:r>
          </a:p>
          <a:p>
            <a:pPr marL="0" lvl="0" indent="0" algn="l" rtl="0">
              <a:spcBef>
                <a:spcPts val="0"/>
              </a:spcBef>
              <a:spcAft>
                <a:spcPts val="0"/>
              </a:spcAft>
              <a:buNone/>
            </a:pPr>
            <a:r>
              <a:rPr lang="en-US" sz="1200" b="0" i="0" u="none" strike="noStrike" dirty="0">
                <a:solidFill>
                  <a:srgbClr val="000000"/>
                </a:solidFill>
                <a:effectLst/>
                <a:latin typeface="Arial" panose="020B0604020202020204" pitchFamily="34" charset="0"/>
                <a:cs typeface="Arial" panose="020B0604020202020204" pitchFamily="34" charset="0"/>
              </a:rPr>
              <a:t>Graph shows the total annual value of products trade (exports plus imports) in billions of U. S. dollars. Its horizontal axis ranges from 0 to 7000 in increments of 1000. The vertical axis represents the countries. The graph shows the following data: China: 6025. United States: 4800. Germany: 3025. Netherlands: 1550. Japan: 1500. France: 1250. South Korea: 1200. Italy: 1150. United Kingdom: 1150. Mexico: 1000. Canada: 1000. </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37924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The exhibit shows the annual value of products traded as a percentage of each nation’s G D P. While the United States is a leading country in terms of the absolute value of total merchandise trade, trade accounts for a much smaller percentage of its G D P. In contrast, merchandise trade is a much larger component of economic activity in countries such as Belgium, the Netherlands, and Germany. Thus, some economies are very dependent on international trade relative to the value of all goods and services they produce domestically. Indeed, in Singapore, Hong Kong, South Korea, and Malaysia, trade accounts for more than 100 percent of G D P. These countries are known as entrepôt economies. Entrepôt is from the French for ‘intermediate depot’. Such countries import a large volume of products, some of which they process into higher value-added products and some they simply re-export to other destinations. For example, Singapore is a major entrepôt for petroleum products received from the Middle East, which it then exports to China and other destinations in Asia.</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www.unctad.org</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www.wto.org</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a:t>
            </a:r>
          </a:p>
          <a:p>
            <a:pPr marL="0" lvl="0" indent="0" algn="l" rtl="0">
              <a:spcBef>
                <a:spcPts val="0"/>
              </a:spcBef>
              <a:spcAft>
                <a:spcPts val="0"/>
              </a:spcAft>
              <a:buNone/>
            </a:pPr>
            <a:r>
              <a:rPr lang="en-US" sz="1200" b="0" i="0" u="none" strike="noStrike" dirty="0">
                <a:solidFill>
                  <a:srgbClr val="000000"/>
                </a:solidFill>
                <a:effectLst/>
                <a:latin typeface="Arial" panose="020B0604020202020204" pitchFamily="34" charset="0"/>
                <a:cs typeface="Arial" panose="020B0604020202020204" pitchFamily="34" charset="0"/>
              </a:rPr>
              <a:t>Graph shows the total annual value of products trade (exports plus imports) as a percentage of nation’s G D P. Its horizontal axis ranges from 0 to 200 in increments of 50. The vertical axis represents the countries. The graph shows the following data: Netherlands: 157. Mexico: 77. Germany</a:t>
            </a:r>
            <a:r>
              <a:rPr lang="en-US" sz="1200" b="0" i="0" u="none" strike="noStrike">
                <a:solidFill>
                  <a:srgbClr val="000000"/>
                </a:solidFill>
                <a:effectLst/>
                <a:latin typeface="Arial" panose="020B0604020202020204" pitchFamily="34" charset="0"/>
                <a:cs typeface="Arial" panose="020B0604020202020204" pitchFamily="34" charset="0"/>
              </a:rPr>
              <a:t>: 71. </a:t>
            </a:r>
            <a:r>
              <a:rPr lang="en-US" sz="1200" b="0" i="0" u="none" strike="noStrike" dirty="0">
                <a:solidFill>
                  <a:srgbClr val="000000"/>
                </a:solidFill>
                <a:effectLst/>
                <a:latin typeface="Arial" panose="020B0604020202020204" pitchFamily="34" charset="0"/>
                <a:cs typeface="Arial" panose="020B0604020202020204" pitchFamily="34" charset="0"/>
              </a:rPr>
              <a:t>South Korea: 70. Italy: 56. Canada: 48. France: 47. United Kingdom: 35. Japan: 31. China: 30. United States: 19. All values are approximate. </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7503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www.worldbank.org</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www.wto.org</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www.unctad.org</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Long Description:</a:t>
            </a:r>
          </a:p>
          <a:p>
            <a:pPr marL="0" lvl="0" indent="0" algn="l" rtl="0">
              <a:spcBef>
                <a:spcPts val="0"/>
              </a:spcBef>
              <a:spcAft>
                <a:spcPts val="0"/>
              </a:spcAft>
              <a:buNone/>
            </a:pPr>
            <a:r>
              <a:rPr lang="en-US" sz="1200" b="0" i="0" u="none" strike="noStrike" dirty="0">
                <a:solidFill>
                  <a:srgbClr val="000000"/>
                </a:solidFill>
                <a:effectLst/>
                <a:latin typeface="Arial" panose="020B0604020202020204" pitchFamily="34" charset="0"/>
                <a:cs typeface="Arial" panose="020B0604020202020204" pitchFamily="34" charset="0"/>
              </a:rPr>
              <a:t>The illustration depicts the top 25 countries from high to low value, as follows: 1. Rest of the world, 2. China, 3. United States, 4. Germany, 5. Netherlands, 6. Japan, 7. France, 8. South Korea, 9. United Kingdom, 10. Italy, 11. Belgium, 12. Mexico, 13. Canada, 14. India, 15. Singapore, 16. Spain, 17. Russia, 18. United Arab Emirates, 19. Switzerland, 20. Australia, 21. Poland, 22. Vietnam, 23. Thailand, 24. Malaysia, 25. Turkey, 26. Brazil.</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69621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The exhibit illustrates the dramatic growth of F D I into various world regions since the 1980s. The exhibit reveals that the dollar volume of F D I has grown immensely since the 1980s, especially in advanced economies such as Japan, Europe, and North America. F D I inflows were interrupted in 2001 as investors panicked following the September 11 terrorist attacks in the United States, but the trend has remained strong and growing over time. Particularly significant is the growth of F D I into developing economies, which are nations with lower incomes, less-developed industrial bases, and less investment capital than the advanced economies. Most of the developing economies are located in parts of Africa, Asia, and Latin America. Despite lower income levels, developing economies collectively comprise a substantial and growing proportion of international trade and investment. </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https://data.oecd.org/fdi/%20fdi-flows.htm</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http://data.worldbank.org/</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Long Description:</a:t>
            </a:r>
          </a:p>
          <a:p>
            <a:pPr marL="0" lvl="0" indent="0" algn="l" rtl="0">
              <a:spcBef>
                <a:spcPts val="0"/>
              </a:spcBef>
              <a:spcAft>
                <a:spcPts val="0"/>
              </a:spcAft>
              <a:buNone/>
            </a:pPr>
            <a:r>
              <a:rPr lang="en-US" sz="1200" b="0" i="0" u="none" strike="noStrike" dirty="0">
                <a:solidFill>
                  <a:srgbClr val="000000"/>
                </a:solidFill>
                <a:effectLst/>
                <a:latin typeface="Arial" panose="020B0604020202020204" pitchFamily="34" charset="0"/>
                <a:cs typeface="Arial" panose="020B0604020202020204" pitchFamily="34" charset="0"/>
              </a:rPr>
              <a:t>The horizontal axis represents the year ranging from 1980 to 2022 in increments of 2. The vertical axis ranges from 0 to 2,500 in increments of 500. The area for developing economies shows an increasing trend from 0 in 1980 to 800 in 2023 with fluctuations. It passes through (1992, 50), (2000, 250), (2003, 220), (2008, 550), (2016, 750). The area for developed economies shows an increasing trend from 20 in 1980 to 750 in 2020 and through (1997, 300) with high fluctuations and sharp peaks. The peaks after deep drops are at (2000, 620), (2007, 1450), (2012, 990), (2017, 1450). The area for the world shows an increasing trend from 50 in 1980 to 1650 in 2023 and through (1997, 490) with high fluctuations and sharp peaks. The peaks after deep drops are at (2000, 1400), (2007, 1960), (2012, 1600), (2016, 2050). All values are approximate.</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59843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90275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Historically, international trade and investment were mainly the domain of companies that make and sell </a:t>
            </a:r>
            <a:r>
              <a:rPr lang="en-US" sz="1200" i="1" dirty="0">
                <a:latin typeface="Arial" panose="020B0604020202020204" pitchFamily="34" charset="0"/>
                <a:ea typeface="Calibri"/>
                <a:cs typeface="Arial" panose="020B0604020202020204" pitchFamily="34" charset="0"/>
                <a:sym typeface="Calibri"/>
              </a:rPr>
              <a:t>products</a:t>
            </a:r>
            <a:r>
              <a:rPr lang="en-US" sz="1200" dirty="0">
                <a:latin typeface="Arial" panose="020B0604020202020204" pitchFamily="34" charset="0"/>
                <a:ea typeface="Calibri"/>
                <a:cs typeface="Arial" panose="020B0604020202020204" pitchFamily="34" charset="0"/>
                <a:sym typeface="Calibri"/>
              </a:rPr>
              <a:t>—tangible merchandise such as clothing, computers, and cars. Today, firms that produce </a:t>
            </a:r>
            <a:r>
              <a:rPr lang="en-US" sz="1200" i="1" dirty="0">
                <a:latin typeface="Arial" panose="020B0604020202020204" pitchFamily="34" charset="0"/>
                <a:ea typeface="Calibri"/>
                <a:cs typeface="Arial" panose="020B0604020202020204" pitchFamily="34" charset="0"/>
                <a:sym typeface="Calibri"/>
              </a:rPr>
              <a:t>services</a:t>
            </a:r>
            <a:r>
              <a:rPr lang="en-US" sz="1200" dirty="0">
                <a:latin typeface="Arial" panose="020B0604020202020204" pitchFamily="34" charset="0"/>
                <a:ea typeface="Calibri"/>
                <a:cs typeface="Arial" panose="020B0604020202020204" pitchFamily="34" charset="0"/>
                <a:sym typeface="Calibri"/>
              </a:rPr>
              <a:t> (intangibles) are key international business players as well. Services are deeds, performances, or efforts performed directly by people working in banks, consulting firms, hotels, construction companies, retailers, and countless other firms in the services sector. For example, if you own a house, your mortgage may be underwritten by the Dutch bank A B N </a:t>
            </a:r>
            <a:r>
              <a:rPr lang="en-US" sz="1200" dirty="0" err="1">
                <a:latin typeface="Arial" panose="020B0604020202020204" pitchFamily="34" charset="0"/>
                <a:ea typeface="Calibri"/>
                <a:cs typeface="Arial" panose="020B0604020202020204" pitchFamily="34" charset="0"/>
                <a:sym typeface="Calibri"/>
              </a:rPr>
              <a:t>Amro</a:t>
            </a:r>
            <a:r>
              <a:rPr lang="en-US" sz="1200" dirty="0">
                <a:latin typeface="Arial" panose="020B0604020202020204" pitchFamily="34" charset="0"/>
                <a:ea typeface="Calibri"/>
                <a:cs typeface="Arial" panose="020B0604020202020204" pitchFamily="34" charset="0"/>
                <a:sym typeface="Calibri"/>
              </a:rPr>
              <a:t>. Perhaps you eat lunch in a cafeteria owned by the French firm Sodexho, which manages the food and beverage operations on numerous university campuses. </a:t>
            </a: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In the United States and several European countries, travel and tourism are now the number-one source of revenue from foreigners. International trade in services accounts for about one-quarter of all international trade and is growing rapidly. </a:t>
            </a: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In recent years, services trade has been growing faster than products trade. The exhibit identifies the leading countries in total international services trade, including both exports and imports. The exhibit shows the total annual value of services trade in billions of U.S. dollars. </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www.worldbank.org</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http://www.wto.org/</a:t>
            </a: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http://www.unctad.org/</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Long Description:</a:t>
            </a:r>
          </a:p>
          <a:p>
            <a:pPr marL="0" lvl="0" indent="0" algn="l" rtl="0">
              <a:spcBef>
                <a:spcPts val="0"/>
              </a:spcBef>
              <a:spcAft>
                <a:spcPts val="0"/>
              </a:spcAft>
              <a:buNone/>
            </a:pPr>
            <a:r>
              <a:rPr lang="en-US" sz="1200" b="0" i="0" u="none" strike="noStrike" dirty="0">
                <a:solidFill>
                  <a:srgbClr val="000000"/>
                </a:solidFill>
                <a:effectLst/>
                <a:latin typeface="Arial" panose="020B0604020202020204" pitchFamily="34" charset="0"/>
                <a:cs typeface="Arial" panose="020B0604020202020204" pitchFamily="34" charset="0"/>
              </a:rPr>
              <a:t>Graph shows the total annual value of product trade (exports plus imports) in billions of U. S. dollars. Its horizontal axis ranges from 0 to 1400 in increments of 200. The vertical axis represents the countries. The graph shows the following data: United States: 1330. China: 815. Germany: 780. Ireland: 660. United Kingdom: 640. France: 570. Netherlands: 470. Singapore: 440. India: 420. Japan: 390. Belgium: 270.</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07383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Historically, international trade and investment were mainly the domain of companies that make and sell </a:t>
            </a:r>
            <a:r>
              <a:rPr lang="en-US" sz="1200" i="1" dirty="0">
                <a:latin typeface="Arial" panose="020B0604020202020204" pitchFamily="34" charset="0"/>
                <a:ea typeface="Calibri"/>
                <a:cs typeface="Arial" panose="020B0604020202020204" pitchFamily="34" charset="0"/>
                <a:sym typeface="Calibri"/>
              </a:rPr>
              <a:t>products</a:t>
            </a:r>
            <a:r>
              <a:rPr lang="en-US" sz="1200" dirty="0">
                <a:latin typeface="Arial" panose="020B0604020202020204" pitchFamily="34" charset="0"/>
                <a:ea typeface="Calibri"/>
                <a:cs typeface="Arial" panose="020B0604020202020204" pitchFamily="34" charset="0"/>
                <a:sym typeface="Calibri"/>
              </a:rPr>
              <a:t>—tangible merchandise such as clothing, computers, and cars. Today, firms that produce </a:t>
            </a:r>
            <a:r>
              <a:rPr lang="en-US" sz="1200" i="1" dirty="0">
                <a:latin typeface="Arial" panose="020B0604020202020204" pitchFamily="34" charset="0"/>
                <a:ea typeface="Calibri"/>
                <a:cs typeface="Arial" panose="020B0604020202020204" pitchFamily="34" charset="0"/>
                <a:sym typeface="Calibri"/>
              </a:rPr>
              <a:t>services</a:t>
            </a:r>
            <a:r>
              <a:rPr lang="en-US" sz="1200" dirty="0">
                <a:latin typeface="Arial" panose="020B0604020202020204" pitchFamily="34" charset="0"/>
                <a:ea typeface="Calibri"/>
                <a:cs typeface="Arial" panose="020B0604020202020204" pitchFamily="34" charset="0"/>
                <a:sym typeface="Calibri"/>
              </a:rPr>
              <a:t> (intangibles) are key international business players as well. Services are deeds, performances, or efforts performed directly by people working in banks, consulting firms, hotels, construction companies, retailers, and countless other firms in the services sector. For example, if you own a house, your mortgage may be underwritten by the Dutch bank A B N </a:t>
            </a:r>
            <a:r>
              <a:rPr lang="en-US" sz="1200" dirty="0" err="1">
                <a:latin typeface="Arial" panose="020B0604020202020204" pitchFamily="34" charset="0"/>
                <a:ea typeface="Calibri"/>
                <a:cs typeface="Arial" panose="020B0604020202020204" pitchFamily="34" charset="0"/>
                <a:sym typeface="Calibri"/>
              </a:rPr>
              <a:t>Amro</a:t>
            </a:r>
            <a:r>
              <a:rPr lang="en-US" sz="1200" dirty="0">
                <a:latin typeface="Arial" panose="020B0604020202020204" pitchFamily="34" charset="0"/>
                <a:ea typeface="Calibri"/>
                <a:cs typeface="Arial" panose="020B0604020202020204" pitchFamily="34" charset="0"/>
                <a:sym typeface="Calibri"/>
              </a:rPr>
              <a:t>. Perhaps you eat lunch in a cafeteria owned by the French firm Sodexho, which manages the food and beverage operations on numerous university campuses.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In the United States and several European countries, travel and tourism are now the number-one source of revenue from foreigners. International trade in services accounts for about one-quarter of all international trade and is growing rapidly.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In recent years, services trade has been growing faster than products trade. The exhibit identifies the leading countries in total international services trade, including both exports and imports. The exhibit shows the total annual value of services trade in billions of U.S. dollars. </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sym typeface="Calibri"/>
            </a:endParaRPr>
          </a:p>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www.worldbank.org</a:t>
            </a:r>
          </a:p>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http://www.wto.org/</a:t>
            </a:r>
          </a:p>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http://www.unctad.org/</a:t>
            </a:r>
          </a:p>
          <a:p>
            <a:pPr marL="0" lvl="0" indent="0" algn="l" rtl="0">
              <a:spcBef>
                <a:spcPts val="0"/>
              </a:spcBef>
              <a:spcAft>
                <a:spcPts val="0"/>
              </a:spcAft>
              <a:buNone/>
            </a:pP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dirty="0">
                <a:latin typeface="Arial" panose="020B0604020202020204" pitchFamily="34" charset="0"/>
                <a:cs typeface="Arial" panose="020B0604020202020204" pitchFamily="34" charset="0"/>
              </a:rPr>
              <a:t>Long Description:</a:t>
            </a:r>
          </a:p>
          <a:p>
            <a:pPr marL="0" lvl="0" indent="0" algn="l" rtl="0">
              <a:spcBef>
                <a:spcPts val="0"/>
              </a:spcBef>
              <a:spcAft>
                <a:spcPts val="0"/>
              </a:spcAft>
              <a:buNone/>
            </a:pPr>
            <a:r>
              <a:rPr lang="en-US" sz="1200" b="0" i="0" u="none" strike="noStrike" dirty="0">
                <a:solidFill>
                  <a:srgbClr val="000000"/>
                </a:solidFill>
                <a:effectLst/>
                <a:latin typeface="Arial" panose="020B0604020202020204" pitchFamily="34" charset="0"/>
                <a:cs typeface="Arial" panose="020B0604020202020204" pitchFamily="34" charset="0"/>
              </a:rPr>
              <a:t>Graph shows the total annual value of services trade (exports plus imports) as a percentage of the nation’s G D P. Its horizontal axis ranges from 0 to 140 in increments of 20. The vertical axis represents the countries. The graph shows the following data: Ireland: 130. Singapore: 107. Netherlands: 48. Belgium: 43. United Kingdom: 20. France: 19.5. Germany: 19. India: 11. Japan: 8. United States: 5. China: 3. All values are approximate.</a:t>
            </a:r>
            <a:r>
              <a:rPr lang="en-US"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54570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Firms that engage in international business operate in environments characterized by unique economic conditions, national culture, and legal and political systems. For example, the economic environment of Colombia differs sharply from that of Germany. The legal environment of Saudi Arabia does not resemble that of Japan. The cultural environment of China is very distinct from that of Kenya. Not only does the firm find itself in unfamiliar surroundings, it encounters many uncontrollable variables—factors over which management has little control. These factors introduce new or elevated business risks.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747204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CA13-2123-F7F7-3C5F-C5483C2E5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C9952-C8B1-3702-C7A0-5F1675BF7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A109F-C01C-8FF4-5131-B76CAC8E0ABE}"/>
              </a:ext>
            </a:extLst>
          </p:cNvPr>
          <p:cNvSpPr>
            <a:spLocks noGrp="1"/>
          </p:cNvSpPr>
          <p:nvPr>
            <p:ph type="body" idx="1"/>
          </p:nvPr>
        </p:nvSpPr>
        <p:spPr/>
        <p:txBody>
          <a:bodyPr/>
          <a:lstStyle/>
          <a:p>
            <a:pPr marL="0" lvl="0" indent="0" algn="l" rtl="0">
              <a:spcBef>
                <a:spcPts val="0"/>
              </a:spcBef>
              <a:spcAft>
                <a:spcPts val="0"/>
              </a:spcAft>
              <a:buClr>
                <a:schemeClr val="dk1"/>
              </a:buClr>
              <a:buSzPts val="1200"/>
              <a:buFont typeface="Arial"/>
              <a:buNone/>
            </a:pPr>
            <a:r>
              <a:rPr lang="en-US" sz="1200" dirty="0">
                <a:latin typeface="Arial" panose="020B0604020202020204" pitchFamily="34" charset="0"/>
                <a:cs typeface="Arial" panose="020B0604020202020204" pitchFamily="34" charset="0"/>
              </a:rPr>
              <a:t>Long Description:</a:t>
            </a:r>
          </a:p>
          <a:p>
            <a:pPr marL="0" lvl="0" indent="0" algn="l" rtl="0">
              <a:spcBef>
                <a:spcPts val="0"/>
              </a:spcBef>
              <a:spcAft>
                <a:spcPts val="0"/>
              </a:spcAft>
              <a:buClr>
                <a:schemeClr val="dk1"/>
              </a:buClr>
              <a:buSzPts val="1200"/>
              <a:buFont typeface="Arial"/>
              <a:buNone/>
            </a:pPr>
            <a:r>
              <a:rPr lang="en-US" sz="1200" b="0" i="0" u="none" strike="noStrike" dirty="0">
                <a:solidFill>
                  <a:srgbClr val="000000"/>
                </a:solidFill>
                <a:effectLst/>
                <a:latin typeface="Arial" panose="020B0604020202020204" pitchFamily="34" charset="0"/>
                <a:cs typeface="Arial" panose="020B0604020202020204" pitchFamily="34" charset="0"/>
              </a:rPr>
              <a:t>The illustration shows the following. Risks in international business include cross-cultural risks, commercial risks, currency (financial) risks, and country risks. Cross-cultural risk lists cultural differences. negotiation patterns, decision-making styles, and ethical practices. Commercial risk lists weak partner, operational problems, timing of entry, competitive intensity, and poor execution of strategy. Currency (financial) risk lists currency exposure, asset valuation, foreign taxation, and inflationary and transfer pricing. Country risk lists harmful or unstable political system; laws and regulations unfavorable to foreign firms; inadequate or underdeveloped legal system, bureaucracy and red tape; corruption and other ethical blunders; government intervention, protectionism, and barriers to trade and investment; and mismanagement or failure of the national economy.</a:t>
            </a:r>
            <a:r>
              <a:rPr lang="en-US" sz="120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907341B3-383E-A353-6733-CDCE3C3E889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98210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1" dirty="0"/>
              <a:t>Cross-cultural risk</a:t>
            </a:r>
            <a:r>
              <a:rPr lang="en-US" sz="1200" dirty="0"/>
              <a:t> occurs when a cultural misunderstanding puts some human value at stake. Cross-cultural risk arises from differences in language, lifestyles, mindsets, customs, and religion. Values unique to a culture tend to be long-lasting and transmitted from one generation to the next. These values influence the mindset and work style of employees and the shopping patterns of buyers. Foreign customer characteristics differ significantly from those of buyers in the home market. </a:t>
            </a:r>
            <a:endParaRPr lang="en-US" dirty="0"/>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Language is a critical dimension of culture. In addition to facilitating communication, language is a window on people’s value systems and living conditions. For example, Inuit (Eskimo) languages have various words for snow, while the South American Aztecs used the same basic word stem for snow, ice, and cold. When translating from one language to another, it is often difficult to find words that convey the same meanings. For example, a one-word equivalent to aftertaste does not exist in many languages. Such challenges impede effective communication and cause misunderstandings. Miscommunication due to cultural differences gives rise to inappropriate business strategies and ineffective relations with customers. Cross-cultural risk most often occurs in encounters in foreign countries. However, the risk also can occur domestically, as when management meets with customers or business associates who visit company headquarters from abroad.</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39376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Appropriate behavior in one culture may be viewed as unethical behavior elsewhere. In China, counterfeiters frequently publish translated versions of imported books without compensating the original publisher or authors, an illegal practice in most of the world. In parts of Africa, accepting expensive gifts from suppliers is acceptable, even if inappropriate elsewhere. In the United States, some C E O s receive compensation hundreds of times greater than that of their most junior employees, a practice widely considered unacceptable. Ethical standards also change over time. Although slavery is no longer tolerated, some multinational firms today tolerate working conditions that are akin to it.</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80786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218CA-BBE3-9A26-6A7E-947866118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99EEF-BA02-F312-F292-D9B9D7918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33488-C9EA-4040-880C-BFAB8763313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
                <a:schemeClr val="dk1"/>
              </a:buClr>
              <a:buSzPts val="1200"/>
              <a:buFont typeface="Arial"/>
              <a:buNone/>
              <a:tabLst/>
              <a:defRPr/>
            </a:pPr>
            <a:r>
              <a:rPr lang="en-US" sz="1200" b="1" dirty="0"/>
              <a:t>Commercial risk</a:t>
            </a:r>
            <a:r>
              <a:rPr lang="en-US" sz="1200" dirty="0"/>
              <a:t> refers to the firm’s potential loss or failure from poorly developed or executed business strategies, tactics, or procedures. Managers may make poor choices in such areas as the selection of business partners, timing of market entry, pricing, creation of product features, and promotional themes. While such failures also exist in domestic business, the consequences are usually more costly when committed abroad. For example, in domestic business a company may terminate a poorly performing distributor simply with advance notice. In foreign markets, however, terminating business partners can be costly due to regulations that protect local firms. Marketing inferior or harmful products, falling short of customer expectations, or failing to provide adequate customer service may damage the firm’s reputation and profitability. Commercial risk is also often affected by currency risk, because fluctuating exchange rates can affect various types of business deals.</a:t>
            </a:r>
            <a:endParaRPr lang="en-US" dirty="0"/>
          </a:p>
        </p:txBody>
      </p:sp>
      <p:sp>
        <p:nvSpPr>
          <p:cNvPr id="4" name="Slide Number Placeholder 3">
            <a:extLst>
              <a:ext uri="{FF2B5EF4-FFF2-40B4-BE49-F238E27FC236}">
                <a16:creationId xmlns:a16="http://schemas.microsoft.com/office/drawing/2014/main" id="{B7747C44-0BA6-EE6C-24D0-8FD5B4D1B40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76584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latin typeface="Arial" panose="020B0604020202020204" pitchFamily="34" charset="0"/>
                <a:ea typeface="Calibri"/>
                <a:cs typeface="Arial" panose="020B0604020202020204" pitchFamily="34" charset="0"/>
                <a:sym typeface="Calibri"/>
              </a:rPr>
              <a:t>Country risk</a:t>
            </a:r>
            <a:r>
              <a:rPr lang="en-US" dirty="0">
                <a:latin typeface="Arial" panose="020B0604020202020204" pitchFamily="34" charset="0"/>
                <a:ea typeface="Calibri"/>
                <a:cs typeface="Arial" panose="020B0604020202020204" pitchFamily="34" charset="0"/>
                <a:sym typeface="Calibri"/>
              </a:rPr>
              <a:t> (also known as </a:t>
            </a:r>
            <a:r>
              <a:rPr lang="en-US" i="1" dirty="0">
                <a:latin typeface="Arial" panose="020B0604020202020204" pitchFamily="34" charset="0"/>
                <a:ea typeface="Calibri"/>
                <a:cs typeface="Arial" panose="020B0604020202020204" pitchFamily="34" charset="0"/>
                <a:sym typeface="Calibri"/>
              </a:rPr>
              <a:t>political risk</a:t>
            </a:r>
            <a:r>
              <a:rPr lang="en-US" dirty="0">
                <a:latin typeface="Arial" panose="020B0604020202020204" pitchFamily="34" charset="0"/>
                <a:ea typeface="Calibri"/>
                <a:cs typeface="Arial" panose="020B0604020202020204" pitchFamily="34" charset="0"/>
                <a:sym typeface="Calibri"/>
              </a:rPr>
              <a:t>) refers to the potentially adverse effects on company operations and profitability caused by developments in the political, legal, and economic environment in a foreign country. Country risk includes the possibility of foreign government intervention in firms’ business activities. For example, governments may restrict access to markets, impose bureaucratic procedures on business transactions, and limit the amount of income that firms can bring home from foreign operations.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dirty="0">
                <a:latin typeface="Arial" panose="020B0604020202020204" pitchFamily="34" charset="0"/>
                <a:ea typeface="Calibri"/>
                <a:cs typeface="Arial" panose="020B0604020202020204" pitchFamily="34" charset="0"/>
                <a:sym typeface="Calibri"/>
              </a:rPr>
              <a:t>The degree of government intervention in commercial activities varies from country to country. For example, Singapore and Ireland are characterized by substantial economic freedom—that is, a fairly liberal economic environment. By contrast, the Chinese and Russian governments regularly intervene in business affairs.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dirty="0">
                <a:latin typeface="Arial" panose="020B0604020202020204" pitchFamily="34" charset="0"/>
                <a:ea typeface="Calibri"/>
                <a:cs typeface="Arial" panose="020B0604020202020204" pitchFamily="34" charset="0"/>
                <a:sym typeface="Calibri"/>
              </a:rPr>
              <a:t>Country risk also includes laws and regulations that potentially hinder company operations and performance. Critical legal dimensions include property rights, intellectual property protection, product liability, and taxation policies. Nations also experience potentially harmful economic conditions, often due to high inflation, national debt, and unbalanced international trade. Indeed, the global financial crisis plunged many nations into a deep recession in 2009.</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544709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b="1" dirty="0">
                <a:latin typeface="Arial" panose="020B0604020202020204" pitchFamily="34" charset="0"/>
                <a:ea typeface="Calibri"/>
                <a:cs typeface="Arial" panose="020B0604020202020204" pitchFamily="34" charset="0"/>
                <a:sym typeface="Calibri"/>
              </a:rPr>
              <a:t>Country risk</a:t>
            </a:r>
            <a:r>
              <a:rPr lang="en-US" dirty="0">
                <a:latin typeface="Arial" panose="020B0604020202020204" pitchFamily="34" charset="0"/>
                <a:ea typeface="Calibri"/>
                <a:cs typeface="Arial" panose="020B0604020202020204" pitchFamily="34" charset="0"/>
                <a:sym typeface="Calibri"/>
              </a:rPr>
              <a:t> (also known as </a:t>
            </a:r>
            <a:r>
              <a:rPr lang="en-US" i="1" dirty="0">
                <a:latin typeface="Arial" panose="020B0604020202020204" pitchFamily="34" charset="0"/>
                <a:ea typeface="Calibri"/>
                <a:cs typeface="Arial" panose="020B0604020202020204" pitchFamily="34" charset="0"/>
                <a:sym typeface="Calibri"/>
              </a:rPr>
              <a:t>political risk</a:t>
            </a:r>
            <a:r>
              <a:rPr lang="en-US" dirty="0">
                <a:latin typeface="Arial" panose="020B0604020202020204" pitchFamily="34" charset="0"/>
                <a:ea typeface="Calibri"/>
                <a:cs typeface="Arial" panose="020B0604020202020204" pitchFamily="34" charset="0"/>
                <a:sym typeface="Calibri"/>
              </a:rPr>
              <a:t>) refers to the potentially adverse effects on company operations and profitability caused by developments in the political, legal, and economic environment in a foreign country. Country risk includes the possibility of foreign government intervention in firms’ business activities. For example, governments may restrict access to markets, impose bureaucratic procedures on business transactions, and limit the amount of income that firms can bring home from foreign operations.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dirty="0">
                <a:latin typeface="Arial" panose="020B0604020202020204" pitchFamily="34" charset="0"/>
                <a:ea typeface="Calibri"/>
                <a:cs typeface="Arial" panose="020B0604020202020204" pitchFamily="34" charset="0"/>
                <a:sym typeface="Calibri"/>
              </a:rPr>
              <a:t>The degree of government intervention in commercial activities varies from country to country. For example, Singapore and Ireland are characterized by substantial economic freedom—that is, a fairly liberal economic environment. By contrast, the Chinese and Russian governments regularly intervene in business affairs.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dirty="0">
                <a:latin typeface="Arial" panose="020B0604020202020204" pitchFamily="34" charset="0"/>
                <a:ea typeface="Calibri"/>
                <a:cs typeface="Arial" panose="020B0604020202020204" pitchFamily="34" charset="0"/>
                <a:sym typeface="Calibri"/>
              </a:rPr>
              <a:t>Country risk also includes laws and regulations that potentially hinder company operations and performance. Critical legal dimensions include property rights, intellectual property protection, product liability, and taxation policies. Nations also experience potentially harmful economic conditions, often due to high inflation, national debt, and unbalanced international trade. Indeed, the global financial crisis plunged many nations into a deep recession in 2009.</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123810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t>Currency risk</a:t>
            </a:r>
            <a:r>
              <a:rPr lang="en-US" sz="1200" dirty="0"/>
              <a:t> (also known as </a:t>
            </a:r>
            <a:r>
              <a:rPr lang="en-US" sz="1200" i="1" dirty="0"/>
              <a:t>financial risk</a:t>
            </a:r>
            <a:r>
              <a:rPr lang="en-US" sz="1200" dirty="0"/>
              <a:t>) refers to the risk of adverse fluctuations in exchange rates. Fluctuation is common for exchange rates—the value of one currency in terms of another. Currency risk arises because international transactions are often conducted in more than one national currency. For example, when U.S. fruit processor Graceland Fruit Inc. exports dried cherries to Japan, it is normally paid in Japanese yen. When currencies fluctuate significantly, the value of the firm’s earnings can be reduced. The cost of importing parts or components used in manufacturing finished products can increase dramatically if the value of the currency in which the imports are denominated rises sharply. Inflation and other harmful economic conditions experienced in one country may have immediate consequences for exchange rates due to the interconnectedness of national economies.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8633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t>Currency risk</a:t>
            </a:r>
            <a:r>
              <a:rPr lang="en-US" sz="1200" dirty="0"/>
              <a:t> (also known as </a:t>
            </a:r>
            <a:r>
              <a:rPr lang="en-US" sz="1200" i="1" dirty="0"/>
              <a:t>financial risk</a:t>
            </a:r>
            <a:r>
              <a:rPr lang="en-US" sz="1200" dirty="0"/>
              <a:t>) refers to the risk of adverse fluctuations in exchange rates. Fluctuation is common for exchange rates—the value of one currency in terms of another. Currency risk arises because international transactions are often conducted in more than one national currency. For example, when U.S. fruit processor Graceland Fruit Inc. exports dried cherries to Japan, it is normally paid in Japanese yen. When currencies fluctuate significantly, the value of the firm’s earnings can be reduced. The cost of importing parts or components used in manufacturing finished products can increase dramatically if the value of the currency in which the imports are denominated rises sharply. Inflation and other harmful economic conditions experienced in one country may have immediate consequences for exchange rates due to the interconnectedness of national economies.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44638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t>Commercial risk</a:t>
            </a:r>
            <a:r>
              <a:rPr lang="en-US" sz="1200" dirty="0"/>
              <a:t> refers to the firm’s potential loss or failure from poorly developed or executed business strategies, tactics, or procedures. Managers may make poor choices in such areas as the selection of business partners, timing of market entry, pricing, creation of product features, and promotional themes. While such failures also exist in domestic business, the consequences are usually more costly when committed abroad. For example, in domestic business a company may terminate a poorly performing distributor simply with advance notice. In foreign markets, however, terminating business partners can be costly due to regulations that protect local firms. Marketing inferior or harmful products, falling short of customer expectations, or failing to provide adequate customer service may damage the firm’s reputation and profitability. Commercial risk is also often affected by currency risk, because fluctuating exchange rates can affect various types of business deals.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956399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t>Commercial risk</a:t>
            </a:r>
            <a:r>
              <a:rPr lang="en-US" sz="1200" dirty="0"/>
              <a:t> refers to the firm’s potential loss or failure from poorly developed or executed business strategies, tactics, or procedures. Managers may make poor choices in such areas as the selection of business partners, timing of market entry, pricing, creation of product features, and promotional themes. While such failures also exist in domestic business, the consequences are usually more costly when committed abroad. For example, in domestic business a company may terminate a poorly performing distributor simply with advance notice. In foreign markets, however, terminating business partners can be costly due to regulations that protect local firms. Marketing inferior or harmful products, falling short of customer expectations, or failing to provide adequate customer service may damage the firm’s reputation and profitability. Commercial risk is also often affected by currency risk, because fluctuating exchange rates can affect various types of business deals.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036408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Multinational enterprises (also known as multinational corporations) historically have been the most important type of focal firm. A </a:t>
            </a:r>
            <a:r>
              <a:rPr lang="en-US" sz="1200" b="1" dirty="0">
                <a:latin typeface="Arial" panose="020B0604020202020204" pitchFamily="34" charset="0"/>
                <a:ea typeface="Calibri"/>
                <a:cs typeface="Arial" panose="020B0604020202020204" pitchFamily="34" charset="0"/>
                <a:sym typeface="Calibri"/>
              </a:rPr>
              <a:t>multinational enterprise (M N E)</a:t>
            </a:r>
            <a:r>
              <a:rPr lang="en-US" sz="1200" dirty="0">
                <a:latin typeface="Arial" panose="020B0604020202020204" pitchFamily="34" charset="0"/>
                <a:ea typeface="Calibri"/>
                <a:cs typeface="Arial" panose="020B0604020202020204" pitchFamily="34" charset="0"/>
                <a:sym typeface="Calibri"/>
              </a:rPr>
              <a:t> is a large company with substantial resources that performs various business activities through a network of subsidiaries and affiliates located in multiple countries. M N E s carry out research and development (R&amp;D), procurement, manufacturing, and marketing activities wherever in the world the firm can reap the most advantages. </a:t>
            </a:r>
            <a:br>
              <a:rPr lang="en-US" sz="1200" dirty="0">
                <a:latin typeface="Arial" panose="020B0604020202020204" pitchFamily="34" charset="0"/>
                <a:ea typeface="Calibri"/>
                <a:cs typeface="Arial" panose="020B0604020202020204" pitchFamily="34" charset="0"/>
                <a:sym typeface="Calibri"/>
              </a:rPr>
            </a:b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For example, Alcon is a Swiss pharmaceutical firm that established major R&amp;D facilities in the United States to take advantage of the country’s superior know-how in the chemicals sector. Verizon Wireless has located much of its technical support operations in India, to take advantage of high-quality, low-cost customer support personnel located there. Royal Dutch Shell owns several oil refineries and nearly 2,000 gasoline stations in Canada. In addition to a home office or headquarters, the typical M N E owns a worldwide network of subsidiaries. It collaborates with numerous suppliers and independent business partners abroad (sometimes termed affiliates). Typical M N E s include Barclays, Caterpillar, Disney, D H L, Four Seasons Hotels, Samsung, Unilever, Vodafone, and Nippon Life Insurance. In recent years, the largest M N E s have been firms in the oil industry (such as Exxon-Mobil and Royal Dutch Shell) and the automotive industry (General Motors and Honda), as well as retailing (Walmart).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Many </a:t>
            </a:r>
            <a:r>
              <a:rPr lang="en-US" sz="1200" b="1" dirty="0">
                <a:latin typeface="Arial" panose="020B0604020202020204" pitchFamily="34" charset="0"/>
                <a:ea typeface="Calibri"/>
                <a:cs typeface="Arial" panose="020B0604020202020204" pitchFamily="34" charset="0"/>
                <a:sym typeface="Calibri"/>
              </a:rPr>
              <a:t>small and medium-sized enterprises (S M E s)</a:t>
            </a:r>
            <a:r>
              <a:rPr lang="en-US" sz="1200" dirty="0">
                <a:latin typeface="Arial" panose="020B0604020202020204" pitchFamily="34" charset="0"/>
                <a:ea typeface="Calibri"/>
                <a:cs typeface="Arial" panose="020B0604020202020204" pitchFamily="34" charset="0"/>
                <a:sym typeface="Calibri"/>
              </a:rPr>
              <a:t> participate in international business as well. An SME is a company with less than 500 employees, as defined in Canada and the United States. In the European Union, S M E s are defined as firms with less than 250 employees. In addition to accounting for smaller market shares of their respective industries, S M E s tend to have limited managerial and other resources and primarily use exporting to expand internationally. However, in most nations, S M E s constitute the great majority of all firms. With the globalization of markets, advances in various technologies, and other facilitating factors, many more S M E s are pursuing international opportunities. S M E s account for about one third of exports from Asia and about a quarter of exports from the affluent countries in Europe and North America. In some countries—for example, Italy, South Korea, and China—S M E s contribute roughly 50 percent of total national exports. </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One type of contemporary international S M E is the </a:t>
            </a:r>
            <a:r>
              <a:rPr lang="en-US" sz="1200" b="1" dirty="0">
                <a:latin typeface="Arial" panose="020B0604020202020204" pitchFamily="34" charset="0"/>
                <a:ea typeface="Calibri"/>
                <a:cs typeface="Arial" panose="020B0604020202020204" pitchFamily="34" charset="0"/>
                <a:sym typeface="Calibri"/>
              </a:rPr>
              <a:t>born global firm</a:t>
            </a:r>
            <a:r>
              <a:rPr lang="en-US" sz="1200" dirty="0">
                <a:latin typeface="Arial" panose="020B0604020202020204" pitchFamily="34" charset="0"/>
                <a:ea typeface="Calibri"/>
                <a:cs typeface="Arial" panose="020B0604020202020204" pitchFamily="34" charset="0"/>
                <a:sym typeface="Calibri"/>
              </a:rPr>
              <a:t>, a young entrepreneurial company that initiates international business activity very early in its evolution, moving rapidly into foreign markets. Born </a:t>
            </a:r>
            <a:r>
              <a:rPr lang="en-US" sz="1200" dirty="0" err="1">
                <a:latin typeface="Arial" panose="020B0604020202020204" pitchFamily="34" charset="0"/>
                <a:ea typeface="Calibri"/>
                <a:cs typeface="Arial" panose="020B0604020202020204" pitchFamily="34" charset="0"/>
                <a:sym typeface="Calibri"/>
              </a:rPr>
              <a:t>globals</a:t>
            </a:r>
            <a:r>
              <a:rPr lang="en-US" sz="1200" dirty="0">
                <a:latin typeface="Arial" panose="020B0604020202020204" pitchFamily="34" charset="0"/>
                <a:ea typeface="Calibri"/>
                <a:cs typeface="Arial" panose="020B0604020202020204" pitchFamily="34" charset="0"/>
                <a:sym typeface="Calibri"/>
              </a:rPr>
              <a:t> are found in advanced economies, such as Australia and Japan, and in emerging markets, such as China and India. International business requires specialized knowledge, commitment of resources, and considerable time to develop foreign business partnerships. How do S M E s succeed in international business despite resource limitations? First, compared to large M N E s, smaller firms are often more innovative and adaptable and have quicker response times when it comes to implementing new ideas and technologies and meeting customer needs. Second, S M E s are better able to serve niche markets around the world that hold little interest for M N E s. Third, smaller firms are usually avid users of information and communication technologies, including the Internet. Fourth, as they usually lack substantial resources, smaller firms minimize overhead or fixed investments. They rely on external facilitators such as FedEx and D H L, as well as independent distributors in foreign markets. Fifth, smaller firms tend to thrive on private knowledge that they possess or produce. They access and mobilize resources through their cross-border knowledge networks or their international social capital.</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63229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Typical M N E s include Barclays, Caterpillar, Disney, D H L, Four Seasons Hotels, Samsung, Unilever, Vodafone, and Nippon Life Insurance. In recent years, the largest M N E s have been firms in the oil industry (such as Exxon-Mobil and Royal Dutch Shell) and the automotive industry (General Motors and Honda), as well as retailing (Walmart). The Exhibit shows the geographic distribution of the world’s largest M N E s, drawn from </a:t>
            </a:r>
            <a:r>
              <a:rPr lang="en-US" sz="1200" i="1" dirty="0">
                <a:latin typeface="Arial" panose="020B0604020202020204" pitchFamily="34" charset="0"/>
                <a:ea typeface="Calibri"/>
                <a:cs typeface="Arial" panose="020B0604020202020204" pitchFamily="34" charset="0"/>
                <a:sym typeface="Calibri"/>
              </a:rPr>
              <a:t>Fortune</a:t>
            </a:r>
            <a:r>
              <a:rPr lang="en-US" sz="1200" dirty="0">
                <a:latin typeface="Arial" panose="020B0604020202020204" pitchFamily="34" charset="0"/>
                <a:ea typeface="Calibri"/>
                <a:cs typeface="Arial" panose="020B0604020202020204" pitchFamily="34" charset="0"/>
                <a:sym typeface="Calibri"/>
              </a:rPr>
              <a:t>’s Global 500 list. As shown, these firms are concentrated in the advanced economies. The United States is home to a large but falling number of the top 500 M N E s. China now has the second-most M N E s, followed by Germany. Collectively, the European Union countries have more top 500 firms than the United States.</a:t>
            </a: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In recent years, large M N E s have begun to appear in emerging market countries, such as China, Mexico, and Russia. China hosts the second largest number of the top 500 M N E s, a number that has increased dramatically in the past decade. Most of China’s top firms are state enterprises, that is, owned by the Chinese government, which provides them substantial advantages. </a:t>
            </a: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sz="1200" dirty="0">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The “new global challenger” firms from emerging markets are fast becoming key contenders in world markets. For example, the Mexican firm Cemex is one of the world’s largest cement producers. In Russia, Lukoil has big ambitions in the global energy sector. China Mobile dominates the cell phone industry in Asia. The new global challengers make best use of home-country natural resources and low-cost labor to succeed in world markets. Thousands of firms from emerging markets have big global dreams and pose competitive challenges to companies from the advanced economies. </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sym typeface="Calibri"/>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http://fortune.com/</a:t>
            </a:r>
          </a:p>
          <a:p>
            <a:pPr marL="0" lvl="0" indent="0" algn="l" rtl="0">
              <a:spcBef>
                <a:spcPts val="0"/>
              </a:spcBef>
              <a:spcAft>
                <a:spcPts val="0"/>
              </a:spcAft>
              <a:buNone/>
            </a:pPr>
            <a:endParaRPr lang="en-US" sz="12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200" dirty="0">
                <a:latin typeface="Arial" panose="020B0604020202020204" pitchFamily="34" charset="0"/>
                <a:cs typeface="Arial" panose="020B0604020202020204" pitchFamily="34" charset="0"/>
              </a:rPr>
              <a:t>Long Description:</a:t>
            </a:r>
          </a:p>
          <a:p>
            <a:pPr marL="0" lvl="0" indent="0" algn="l" rtl="0">
              <a:spcBef>
                <a:spcPts val="0"/>
              </a:spcBef>
              <a:spcAft>
                <a:spcPts val="0"/>
              </a:spcAft>
              <a:buNone/>
            </a:pPr>
            <a:r>
              <a:rPr lang="en-US" sz="1200" b="0" i="0" u="none" strike="noStrike" dirty="0">
                <a:solidFill>
                  <a:srgbClr val="000000"/>
                </a:solidFill>
                <a:effectLst/>
                <a:latin typeface="Arial" panose="020B0604020202020204" pitchFamily="34" charset="0"/>
                <a:cs typeface="Arial" panose="020B0604020202020204" pitchFamily="34" charset="0"/>
              </a:rPr>
              <a:t>The illustration shows data in the format country name: total revenues of the Global 500 firms in billions of U. S. dollars, total number of Global 500 firms as follows: Thailand: 70,652 dollars, 1; India: 541,571 dollars, 9; China: 11,012,708 dollars, 136; South Korea: 998,173 dollars, 16; Malaysia: 59,874 dollars, 1; Singapore: 332,089 dollars, 3; Japan: 2,998,556 dollars, 47; Indonesia: 57,509 dollars, 1; Taiwan: 532,031 dollars, 9; Australia: 140,083 dollars, 3; Canada: 527,662 dollars, 12; United States: Total revenue: 11,217,289 dollars, Number of firms: 124; Finland: 132,894 dollars, 1; Mexico: 123,463 dollars, 2; Brazil: 344,778 dollars, 7; Norway: 90,924 dollars, 1; Sweden: 74,337 dollars, 2; Ireland: 111,631 dollars, 3; United Kingdom: 1,266,177 dollars, 18; Netherlands: 674,567 dollars, 11; Luxembourg: 76,571 dollars, 1; Spain: 364,573 dollars, 8; Belgium: 82,954 dollars, 2; Switzerland: 810,731 dollars, 14; Austria: 42,038 dollars, 1; Poland: 34,026 dollars, 1; Denmark: 90,775 dollars, 2; Germany: 2,095,871 dollars, 28; France: 1,632,027 dollars, 25; Italy: 397,234 dollars, 5; Russia: 400,976 dollars, 4; Saudi Arabia: 400,399 dollars, 1; Turkey: 39,014; dollars, 1.</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793621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t>Commercial risk</a:t>
            </a:r>
            <a:r>
              <a:rPr lang="en-US" sz="1200" dirty="0"/>
              <a:t> refers to the firm’s potential loss or failure from poorly developed or executed business strategies, tactics, or procedures. Managers may make poor choices in such areas as the selection of business partners, timing of market entry, pricing, creation of product features, and promotional themes. While such failures also exist in domestic business, the consequences are usually more costly when committed abroad. For example, in domestic business a company may terminate a poorly performing distributor simply with advance notice. In foreign markets, however, terminating business partners can be costly due to regulations that protect local firms. Marketing inferior or harmful products, falling short of customer expectations, or failing to provide adequate customer service may damage the firm’s reputation and profitability. Commercial risk is also often affected by currency risk, because fluctuating exchange rates can affect various types of business deals.</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8637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British Welcome Trust funds’ non-governmental organizations (N G O s) and research initiatives work in collaboration with private businesses to develop remedies for diseases in Africa and other less developed areas around the world.</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105174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i="1" dirty="0"/>
              <a:t>Seek opportunities for growth through market diversification</a:t>
            </a:r>
            <a:r>
              <a:rPr lang="en-US" sz="1200" dirty="0"/>
              <a:t>. Many firms—for example, Gillette, Siemens, Sony, Biogen—derive more than half of their sales from international markets. In addition to offering sales opportunities that often cannot be matched at home, foreign markets can extend the marketable life of products or services that have reached maturity in the home market. One example is the internationalization of automatic teller machines (A T M s). The first A T M was installed outside a London branch of Barclays Bank in 1967. The machines were next adopted in the United States and Japan. As growth of A T M s began to slow in these countries, they were marketed throughout the rest of the world. Today there are more than 1.5 million A T M s worldwide; a new one is installed somewhere every few minutes. </a:t>
            </a:r>
            <a:br>
              <a:rPr lang="en-US" sz="1200" dirty="0"/>
            </a:br>
            <a:r>
              <a:rPr lang="en-US" sz="1200" dirty="0"/>
              <a:t/>
            </a:r>
            <a:br>
              <a:rPr lang="en-US" sz="1200" dirty="0"/>
            </a:br>
            <a:r>
              <a:rPr lang="en-US" sz="1200" b="1" i="1" dirty="0"/>
              <a:t>Earn higher margins and profits.</a:t>
            </a:r>
            <a:r>
              <a:rPr lang="en-US" sz="1200" dirty="0"/>
              <a:t> For many types of products and services, market growth in mature economies is sluggish or flat. Competition is often intense, forcing firms to get by on slim profit margins. By contrast, most foreign markets may be underserved (typical of high-growth emerging markets) or not served at all (typical of developing economies). Less intense competition, combined with strong market demand, implies that companies can command higher margins for their offerings. For example, compared to their home markets, bathroom fixture manufacturers American Standard and Toto (of Japan) have found more favorable competitive environments in rapidly industrializing countries such as Indonesia, Mexico, and Vietnam. Just imagine the demand for bathroom fixtures in the thousands of office buildings and residential complexes going up from Shanghai to Singapore! </a:t>
            </a:r>
            <a:endParaRPr lang="en-US" dirty="0"/>
          </a:p>
          <a:p>
            <a:pPr marL="0" lvl="0" indent="0" algn="l" rtl="0">
              <a:lnSpc>
                <a:spcPct val="80000"/>
              </a:lnSpc>
              <a:spcBef>
                <a:spcPts val="0"/>
              </a:spcBef>
              <a:spcAft>
                <a:spcPts val="0"/>
              </a:spcAft>
              <a:buNone/>
            </a:pPr>
            <a:r>
              <a:rPr lang="en-US" sz="1200" dirty="0"/>
              <a:t> </a:t>
            </a:r>
            <a:endParaRPr lang="en-US" dirty="0"/>
          </a:p>
          <a:p>
            <a:pPr marL="0" lvl="0" indent="0" algn="l" rtl="0">
              <a:lnSpc>
                <a:spcPct val="80000"/>
              </a:lnSpc>
              <a:spcBef>
                <a:spcPts val="0"/>
              </a:spcBef>
              <a:spcAft>
                <a:spcPts val="0"/>
              </a:spcAft>
              <a:buNone/>
            </a:pPr>
            <a:r>
              <a:rPr lang="en-US" sz="1200" b="1" i="1" dirty="0"/>
              <a:t>Gain new ideas about products, services, and business methods.</a:t>
            </a:r>
            <a:r>
              <a:rPr lang="en-US" sz="1200" dirty="0"/>
              <a:t> International markets are characterized by tough competitors and demanding customers with various needs. Unique foreign environments expose firms to new ideas for products, processes, and business methods. The experience of doing business abroad helps firms acquire new knowledge for improving organizational effectiveness and efficiency. For example, just-in-time inventory techniques were refined by Toyota in Japan and then adopted by other manufacturers around the world. Numerous foreign suppliers learned about just-in-time from Toyota and then applied the method to manufacturing in their own countries.</a:t>
            </a:r>
            <a:endParaRPr lang="en-US" dirty="0">
              <a:latin typeface="Times New Roman" charset="0"/>
              <a:ea typeface="ＭＳ Ｐゴシック" charset="0"/>
              <a:cs typeface="ＭＳ Ｐゴシック"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226152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1" dirty="0"/>
              <a:t>Better serve key customers that have relocated abroad</a:t>
            </a:r>
            <a:r>
              <a:rPr lang="en-US" sz="1200" dirty="0"/>
              <a:t>. In a global economy, many firms internationalize to better serve clients that have moved into foreign markets. For example, when Nissan opened its first factory in the United Kingdom, many Japanese auto parts suppliers followed, establishing their own operations there.</a:t>
            </a:r>
            <a:endParaRPr lang="en-US" dirty="0"/>
          </a:p>
          <a:p>
            <a:pPr marL="0" lvl="0" indent="0" algn="l" rtl="0">
              <a:spcBef>
                <a:spcPts val="0"/>
              </a:spcBef>
              <a:spcAft>
                <a:spcPts val="0"/>
              </a:spcAft>
              <a:buNone/>
            </a:pPr>
            <a:r>
              <a:rPr lang="en-US" sz="1200" dirty="0"/>
              <a:t> </a:t>
            </a:r>
            <a:endParaRPr lang="en-US" dirty="0"/>
          </a:p>
          <a:p>
            <a:pPr marL="0" lvl="0" indent="0" algn="l" rtl="0">
              <a:spcBef>
                <a:spcPts val="0"/>
              </a:spcBef>
              <a:spcAft>
                <a:spcPts val="0"/>
              </a:spcAft>
              <a:buNone/>
            </a:pPr>
            <a:r>
              <a:rPr lang="en-US" sz="1200" b="1" dirty="0"/>
              <a:t>Be closer to supply sources, benefit from global sourcing advantages, or gain flexibility in product sourcing</a:t>
            </a:r>
            <a:r>
              <a:rPr lang="en-US" sz="1200" dirty="0"/>
              <a:t>. Companies in extractive industries such as petroleum, mining, and forestry establish international operations where these raw materials are located. One example is the aluminum producer Alcoa, which established operations in Brazil, Guinea, Jamaica, and elsewhere to extract aluminum’s base mineral bauxite from local mines. Some firms internationalize to gain flexibility from a greater variety of supply bases. Dell Computer has assembly facilities in Asia, Europe, and the Americas that allow management to quickly shift production from one region to another. This flexibility provides Dell with competitive advantages over less agile rivals—a distinctive capability that allows Dell to outperform competitors and skillfully manage fluctuations in currency exchange rates.</a:t>
            </a:r>
            <a:endParaRPr lang="en-US" dirty="0">
              <a:latin typeface="Times New Roman" charset="0"/>
              <a:ea typeface="ＭＳ Ｐゴシック" charset="0"/>
              <a:cs typeface="ＭＳ Ｐゴシック"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27580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1" dirty="0"/>
              <a:t>Gain access to lower-cost or better-value factors of production</a:t>
            </a:r>
            <a:r>
              <a:rPr lang="en-US" sz="1200" dirty="0"/>
              <a:t>. Internationalization enables the firm to access capital, technology, managerial talent, and labor at lower costs, higher quality, or better value. For example, some Taiwanese computer manufacturers established subsidiaries in the United States to access low-cost capital. The United States is home to numerous capital sources in the high-tech sector, such as stock exchanges and venture capitalists, which have attracted countless firms from abroad seeking funds. More commonly, firms venture abroad in search of skilled or low-cost labor. For example, the Japanese firm Canon relocated much of its production to China to profit from that country’s inexpensive and productive workforce. </a:t>
            </a:r>
            <a:endParaRPr lang="en-US" dirty="0"/>
          </a:p>
          <a:p>
            <a:pPr marL="0" lvl="0" indent="0" algn="l" rtl="0">
              <a:spcBef>
                <a:spcPts val="0"/>
              </a:spcBef>
              <a:spcAft>
                <a:spcPts val="0"/>
              </a:spcAft>
              <a:buNone/>
            </a:pPr>
            <a:r>
              <a:rPr lang="en-US" sz="1200" dirty="0"/>
              <a:t> </a:t>
            </a:r>
            <a:endParaRPr lang="en-US" dirty="0"/>
          </a:p>
          <a:p>
            <a:pPr marL="0" lvl="0" indent="0" algn="l" rtl="0">
              <a:spcBef>
                <a:spcPts val="0"/>
              </a:spcBef>
              <a:spcAft>
                <a:spcPts val="0"/>
              </a:spcAft>
              <a:buNone/>
            </a:pPr>
            <a:r>
              <a:rPr lang="en-US" sz="1200" b="1" dirty="0"/>
              <a:t>Develop economies of scale in sourcing, production, marketing, and R&amp;D</a:t>
            </a:r>
            <a:r>
              <a:rPr lang="en-US" sz="1200" dirty="0"/>
              <a:t>. Economies of scale reduce the per-unit cost of manufacturing due to operating at high volume. For example, the per-unit cost of manufacturing 100,000 cameras is much cheaper than the per-unit cost of making just 100 cameras. By expanding internationally, the firm greatly increases the size of its customer base, thereby increasing the volume of products it manufactures. On a per-unit-of-output basis, the greater the volume of production, the lower the total cost. Economies of scale are also present in R&amp;D, sourcing, marketing, distribution, and after-sales service.</a:t>
            </a:r>
            <a:endParaRPr lang="en-US" dirty="0">
              <a:latin typeface="Times New Roman" charset="0"/>
              <a:ea typeface="ＭＳ Ｐゴシック" charset="0"/>
              <a:cs typeface="ＭＳ Ｐゴシック"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054518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1934E-3B4A-B901-F2D2-E5116EC0F7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7CB88-0C11-C919-9AA6-0FF5E20CD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E8392-3F38-0819-81D3-B73C29564649}"/>
              </a:ext>
            </a:extLst>
          </p:cNvPr>
          <p:cNvSpPr>
            <a:spLocks noGrp="1"/>
          </p:cNvSpPr>
          <p:nvPr>
            <p:ph type="body" idx="1"/>
          </p:nvPr>
        </p:nvSpPr>
        <p:spPr/>
        <p:txBody>
          <a:bodyPr/>
          <a:lstStyle/>
          <a:p>
            <a:pPr marL="0" lvl="0" indent="0" algn="l" rtl="0">
              <a:lnSpc>
                <a:spcPct val="70000"/>
              </a:lnSpc>
              <a:spcBef>
                <a:spcPts val="0"/>
              </a:spcBef>
              <a:spcAft>
                <a:spcPts val="0"/>
              </a:spcAft>
              <a:buNone/>
            </a:pPr>
            <a:r>
              <a:rPr lang="en-US" sz="1200" b="1" dirty="0">
                <a:latin typeface="Arial" panose="020B0604020202020204" pitchFamily="34" charset="0"/>
                <a:ea typeface="Calibri"/>
                <a:cs typeface="Arial" panose="020B0604020202020204" pitchFamily="34" charset="0"/>
                <a:sym typeface="Calibri"/>
              </a:rPr>
              <a:t>Facilitator of the Global Economy and Interconnectedness</a:t>
            </a:r>
            <a:r>
              <a:rPr lang="en-US" sz="1200" dirty="0">
                <a:latin typeface="Arial" panose="020B0604020202020204" pitchFamily="34" charset="0"/>
                <a:ea typeface="Calibri"/>
                <a:cs typeface="Arial" panose="020B0604020202020204" pitchFamily="34" charset="0"/>
                <a:sym typeface="Calibri"/>
              </a:rPr>
              <a:t>. Since the 1980s, emerging markets have provided new impetus to worldwide economic interconnectedness. These fast-growth developing economies—some thirty countries, including Brazil, Russia, India, and China, the so-called B R I C s—are experiencing substantial market liberalization, privatization, and industrialization, which are fueling global economic transformation. Located on every continent, they are gradually breaking away from the stagnation typical of developing economies. The emerging markets are home to the largest proportion of world population and participate increasingly in foreign trade. The rise of information and communication technologies, as well as production and process technologies, has dramatically reduced the cost of conducting business with customers around the world. E-commerce makes international business increasingly imperative for firms of all sizes and resource levels.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b="1" dirty="0">
                <a:latin typeface="Arial" panose="020B0604020202020204" pitchFamily="34" charset="0"/>
                <a:ea typeface="Calibri"/>
                <a:cs typeface="Arial" panose="020B0604020202020204" pitchFamily="34" charset="0"/>
                <a:sym typeface="Calibri"/>
              </a:rPr>
              <a:t>Contributor to National Economic Well-Being</a:t>
            </a:r>
            <a:r>
              <a:rPr lang="en-US" sz="1200" dirty="0">
                <a:latin typeface="Arial" panose="020B0604020202020204" pitchFamily="34" charset="0"/>
                <a:ea typeface="Calibri"/>
                <a:cs typeface="Arial" panose="020B0604020202020204" pitchFamily="34" charset="0"/>
                <a:sym typeface="Calibri"/>
              </a:rPr>
              <a:t>. International business contributes to economic prosperity, helps countries use their resources more efficiently, and provides interconnectedness to the world economy and access to a range of products and services. It is estimated that every $1 billion increase in exports creates more than 20,000 new jobs. In the United States, cross-border trade directly supports at least twelve million jobs. One of every seven dollars of U.S. sales is made abroad. One of every three U.S. farm acres and one of every six U.S. jobs is producing for export markets. On average, exporting firms create jobs faster and provide better pay than non-exporting firms. There is a strong relationship between national prosperity and participation in international trade and investment. Nations once suffering from economic stagnation are now increasingly prosperous. For example, China, India, and Eastern European nations are active international traders. The proportion of affluent citizens in these countries is growing rapidly.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b="1" dirty="0">
                <a:latin typeface="Arial" panose="020B0604020202020204" pitchFamily="34" charset="0"/>
                <a:ea typeface="Calibri"/>
                <a:cs typeface="Arial" panose="020B0604020202020204" pitchFamily="34" charset="0"/>
                <a:sym typeface="Calibri"/>
              </a:rPr>
              <a:t>A Competitive Advantage for the Firm. </a:t>
            </a:r>
            <a:r>
              <a:rPr lang="en-US" sz="1200" dirty="0">
                <a:latin typeface="Arial" panose="020B0604020202020204" pitchFamily="34" charset="0"/>
                <a:ea typeface="Calibri"/>
                <a:cs typeface="Arial" panose="020B0604020202020204" pitchFamily="34" charset="0"/>
                <a:sym typeface="Calibri"/>
              </a:rPr>
              <a:t>To sustain a competitive advantage in the global economy, firms</a:t>
            </a:r>
            <a:r>
              <a:rPr lang="en-US" sz="1200" b="1" dirty="0">
                <a:latin typeface="Arial" panose="020B0604020202020204" pitchFamily="34" charset="0"/>
                <a:ea typeface="Calibri"/>
                <a:cs typeface="Arial" panose="020B0604020202020204" pitchFamily="34" charset="0"/>
                <a:sym typeface="Calibri"/>
              </a:rPr>
              <a:t> </a:t>
            </a:r>
            <a:r>
              <a:rPr lang="en-US" sz="1200" dirty="0">
                <a:latin typeface="Arial" panose="020B0604020202020204" pitchFamily="34" charset="0"/>
                <a:ea typeface="Calibri"/>
                <a:cs typeface="Arial" panose="020B0604020202020204" pitchFamily="34" charset="0"/>
                <a:sym typeface="Calibri"/>
              </a:rPr>
              <a:t>must readily participate in cross-border business and acquire the necessary skills, knowledge, and competence. Procter &amp; Gamble sells shampoo, disposable diapers, and other consumer products in more than 150 countries. M T V broadcasts its programming in some 140 countries. Nestlé sells its food and beverage products worldwide, obtaining nearly all its revenue from foreign operations. In addition, international business allows firms to maximize the efficiency of their operations. Companies secure cost-effective factor inputs by establishing manufacturing in emerging markets. For example, Microsoft cuts the costs of its operations by having much of its software written in India. Renault achieves efficiency by assembling cars at low-cost factories in Romania. International business helps firms reduce the costs of new product development, after-sales service, and other critical business activities. Companies access foreign sources of information and knowledge that provide the basis for future R&amp;D, improved production and administrative processes, and other innovations. Finally, internationalization broadens the firm’s options for dealing with competitors. </a:t>
            </a: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424FCB6-31D2-C589-C7E7-64AC2DDBBE1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77679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70000"/>
              </a:lnSpc>
              <a:spcBef>
                <a:spcPts val="0"/>
              </a:spcBef>
              <a:spcAft>
                <a:spcPts val="0"/>
              </a:spcAft>
              <a:buNone/>
            </a:pPr>
            <a:r>
              <a:rPr lang="en-US" sz="1200" b="1" dirty="0">
                <a:latin typeface="Arial" panose="020B0604020202020204" pitchFamily="34" charset="0"/>
                <a:ea typeface="Calibri"/>
                <a:cs typeface="Arial" panose="020B0604020202020204" pitchFamily="34" charset="0"/>
                <a:sym typeface="Calibri"/>
              </a:rPr>
              <a:t>Facilitator of the Global Economy and Interconnectedness</a:t>
            </a:r>
            <a:r>
              <a:rPr lang="en-US" sz="1200" dirty="0">
                <a:latin typeface="Arial" panose="020B0604020202020204" pitchFamily="34" charset="0"/>
                <a:ea typeface="Calibri"/>
                <a:cs typeface="Arial" panose="020B0604020202020204" pitchFamily="34" charset="0"/>
                <a:sym typeface="Calibri"/>
              </a:rPr>
              <a:t>. Since the 1980s, emerging markets have provided new impetus to worldwide economic interconnectedness. These fast-growth developing economies—some thirty countries, including Brazil, Russia, India, and China, the so-called BRICs—are experiencing substantial market liberalization, privatization, and industrialization, which are fueling global economic transformation. Located on every continent, they are gradually breaking away from the stagnation typical of developing economies. The emerging markets are home to the largest proportion of world population and participate increasingly in foreign trade. The rise of information and communication technologies, as well as production and process technologies, has dramatically reduced the cost of conducting business with customers around the world. E-commerce makes international business increasingly imperative for firms of all sizes and resource levels.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b="1" dirty="0">
                <a:latin typeface="Arial" panose="020B0604020202020204" pitchFamily="34" charset="0"/>
                <a:ea typeface="Calibri"/>
                <a:cs typeface="Arial" panose="020B0604020202020204" pitchFamily="34" charset="0"/>
                <a:sym typeface="Calibri"/>
              </a:rPr>
              <a:t>Contributor to National Economic Well-Being</a:t>
            </a:r>
            <a:r>
              <a:rPr lang="en-US" sz="1200" dirty="0">
                <a:latin typeface="Arial" panose="020B0604020202020204" pitchFamily="34" charset="0"/>
                <a:ea typeface="Calibri"/>
                <a:cs typeface="Arial" panose="020B0604020202020204" pitchFamily="34" charset="0"/>
                <a:sym typeface="Calibri"/>
              </a:rPr>
              <a:t>. International business contributes to economic prosperity, helps countries use their resources more efficiently, and provides interconnectedness to the world economy and access to a range of products and services. It is estimated that every $1 billion increase in exports creates more than 20,000 new jobs. In the United States, cross-border trade directly supports at least twelve million jobs. One of every seven dollars of U.S. sales is made abroad. One of every three U.S. farm acres and one of every six U.S. jobs is producing for export markets. On average, exporting firms create jobs faster and provide better pay than non-exporting firms. There is a strong relationship between national prosperity and participation in international trade and investment. Nations once suffering from economic stagnation are now increasingly prosperous. For example, China, India, and Eastern European nations are active international traders. The proportion of affluent citizens in these countries is growing rapidly.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dirty="0">
                <a:latin typeface="Arial" panose="020B0604020202020204" pitchFamily="34" charset="0"/>
                <a:ea typeface="Calibri"/>
                <a:cs typeface="Arial" panose="020B0604020202020204" pitchFamily="34" charset="0"/>
                <a:sym typeface="Calibri"/>
              </a:rPr>
              <a:t> </a:t>
            </a:r>
            <a:endParaRPr lang="en-US" dirty="0">
              <a:latin typeface="Arial" panose="020B0604020202020204" pitchFamily="34" charset="0"/>
              <a:cs typeface="Arial" panose="020B0604020202020204" pitchFamily="34" charset="0"/>
            </a:endParaRPr>
          </a:p>
          <a:p>
            <a:pPr marL="0" lvl="0" indent="0" algn="l" rtl="0">
              <a:lnSpc>
                <a:spcPct val="70000"/>
              </a:lnSpc>
              <a:spcBef>
                <a:spcPts val="0"/>
              </a:spcBef>
              <a:spcAft>
                <a:spcPts val="0"/>
              </a:spcAft>
              <a:buNone/>
            </a:pPr>
            <a:r>
              <a:rPr lang="en-US" sz="1200" b="1" dirty="0">
                <a:latin typeface="Arial" panose="020B0604020202020204" pitchFamily="34" charset="0"/>
                <a:ea typeface="Calibri"/>
                <a:cs typeface="Arial" panose="020B0604020202020204" pitchFamily="34" charset="0"/>
                <a:sym typeface="Calibri"/>
              </a:rPr>
              <a:t>A Competitive Advantage for the Firm. </a:t>
            </a:r>
            <a:r>
              <a:rPr lang="en-US" sz="1200" dirty="0">
                <a:latin typeface="Arial" panose="020B0604020202020204" pitchFamily="34" charset="0"/>
                <a:ea typeface="Calibri"/>
                <a:cs typeface="Arial" panose="020B0604020202020204" pitchFamily="34" charset="0"/>
                <a:sym typeface="Calibri"/>
              </a:rPr>
              <a:t>To sustain a competitive advantage in the global economy, firms</a:t>
            </a:r>
            <a:r>
              <a:rPr lang="en-US" sz="1200" b="1" dirty="0">
                <a:latin typeface="Arial" panose="020B0604020202020204" pitchFamily="34" charset="0"/>
                <a:ea typeface="Calibri"/>
                <a:cs typeface="Arial" panose="020B0604020202020204" pitchFamily="34" charset="0"/>
                <a:sym typeface="Calibri"/>
              </a:rPr>
              <a:t> </a:t>
            </a:r>
            <a:r>
              <a:rPr lang="en-US" sz="1200" dirty="0">
                <a:latin typeface="Arial" panose="020B0604020202020204" pitchFamily="34" charset="0"/>
                <a:ea typeface="Calibri"/>
                <a:cs typeface="Arial" panose="020B0604020202020204" pitchFamily="34" charset="0"/>
                <a:sym typeface="Calibri"/>
              </a:rPr>
              <a:t>must readily participate in cross-border business and acquire the necessary skills, knowledge, and competence. Procter &amp; Gamble sells shampoo, disposable diapers, and other consumer products in more than 150 countries. M T V broadcasts its programming in some 140 countries. Nestlé sells its food and beverage products worldwide, obtaining nearly all its revenue from foreign operations. In addition, international business allows firms to maximize the efficiency of their operations. Companies secure cost-effective factor inputs by establishing manufacturing in emerging markets. For example, Microsoft cuts the costs of its operations by having much of its software written in India. Renault achieves efficiency by assembling cars at low-cost factories in Romania. International business helps firms reduce the costs of new product development, after-sales service, and other critical business activities. Companies access foreign sources of information and knowledge that provide the basis for future R&amp;D, improved production and administrative processes, and other innovations. Finally, internationalization broadens the firm’s options for dealing with competitors. </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56953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677481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8849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530108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b="0"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vl1pPr>
          </a:lstStyle>
          <a:p>
            <a:pPr algn="r">
              <a:buSzPct val="25000"/>
              <a:defRPr/>
            </a:pPr>
            <a:r>
              <a:rPr lang="en-US" sz="900" dirty="0">
                <a:solidFill>
                  <a:srgbClr val="FFFFFF"/>
                </a:solidFill>
              </a:rPr>
              <a:t>1-3</a:t>
            </a: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151536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151536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151536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151536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3429000"/>
            <a:ext cx="1773238"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3338" y="3429000"/>
            <a:ext cx="1773237" cy="187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794250" y="3429000"/>
            <a:ext cx="1779588"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04025" y="3308350"/>
            <a:ext cx="1882775" cy="249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7452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28800" cy="763905"/>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28800" cy="687705"/>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28800" cy="687705"/>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28800" cy="619125"/>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AD19FA98-5D9F-6EC8-112E-FD2FE15D19C5}"/>
              </a:ext>
            </a:extLst>
          </p:cNvPr>
          <p:cNvSpPr>
            <a:spLocks noGrp="1"/>
          </p:cNvSpPr>
          <p:nvPr>
            <p:ph sz="quarter" idx="17"/>
          </p:nvPr>
        </p:nvSpPr>
        <p:spPr>
          <a:xfrm>
            <a:off x="457200" y="2461261"/>
            <a:ext cx="1773237" cy="6324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a:extLst>
              <a:ext uri="{FF2B5EF4-FFF2-40B4-BE49-F238E27FC236}">
                <a16:creationId xmlns:a16="http://schemas.microsoft.com/office/drawing/2014/main" id="{E4E12C76-6770-8928-20FC-7F4AC5E12D87}"/>
              </a:ext>
            </a:extLst>
          </p:cNvPr>
          <p:cNvSpPr>
            <a:spLocks noGrp="1"/>
          </p:cNvSpPr>
          <p:nvPr>
            <p:ph sz="quarter" idx="18"/>
          </p:nvPr>
        </p:nvSpPr>
        <p:spPr>
          <a:xfrm>
            <a:off x="2572593" y="2461261"/>
            <a:ext cx="1749377" cy="563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E0D5824A-D726-2965-9D32-37E2C5579D52}"/>
              </a:ext>
            </a:extLst>
          </p:cNvPr>
          <p:cNvSpPr>
            <a:spLocks noGrp="1"/>
          </p:cNvSpPr>
          <p:nvPr>
            <p:ph sz="quarter" idx="19"/>
          </p:nvPr>
        </p:nvSpPr>
        <p:spPr>
          <a:xfrm>
            <a:off x="4664126" y="2369821"/>
            <a:ext cx="1852660" cy="6877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F6C5988-742D-DB64-A67B-D4B60FCDA128}"/>
              </a:ext>
            </a:extLst>
          </p:cNvPr>
          <p:cNvSpPr>
            <a:spLocks noGrp="1"/>
          </p:cNvSpPr>
          <p:nvPr>
            <p:ph sz="quarter" idx="20"/>
          </p:nvPr>
        </p:nvSpPr>
        <p:spPr>
          <a:xfrm>
            <a:off x="6858647" y="2316480"/>
            <a:ext cx="1828153" cy="6191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E52047A-34B0-B956-AD76-DABE165D0777}"/>
              </a:ext>
            </a:extLst>
          </p:cNvPr>
          <p:cNvSpPr>
            <a:spLocks noGrp="1"/>
          </p:cNvSpPr>
          <p:nvPr>
            <p:ph sz="quarter" idx="21"/>
          </p:nvPr>
        </p:nvSpPr>
        <p:spPr>
          <a:xfrm>
            <a:off x="457200" y="3314700"/>
            <a:ext cx="1773238" cy="754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91E79D87-C71A-80C2-8558-006A71964F6A}"/>
              </a:ext>
            </a:extLst>
          </p:cNvPr>
          <p:cNvSpPr>
            <a:spLocks noGrp="1"/>
          </p:cNvSpPr>
          <p:nvPr>
            <p:ph sz="quarter" idx="22"/>
          </p:nvPr>
        </p:nvSpPr>
        <p:spPr>
          <a:xfrm>
            <a:off x="2573338" y="3375025"/>
            <a:ext cx="1749425"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1C0C8765-95C2-0DB5-D607-849AFFBA8C51}"/>
              </a:ext>
            </a:extLst>
          </p:cNvPr>
          <p:cNvSpPr>
            <a:spLocks noGrp="1"/>
          </p:cNvSpPr>
          <p:nvPr>
            <p:ph sz="quarter" idx="23"/>
          </p:nvPr>
        </p:nvSpPr>
        <p:spPr>
          <a:xfrm>
            <a:off x="4687888" y="3268663"/>
            <a:ext cx="1828800" cy="563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46CE01F6-0743-38E9-AF87-DAA5777F8F4F}"/>
              </a:ext>
            </a:extLst>
          </p:cNvPr>
          <p:cNvSpPr>
            <a:spLocks noGrp="1"/>
          </p:cNvSpPr>
          <p:nvPr>
            <p:ph sz="quarter" idx="24"/>
          </p:nvPr>
        </p:nvSpPr>
        <p:spPr>
          <a:xfrm>
            <a:off x="6881813" y="3187700"/>
            <a:ext cx="1773237" cy="752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a:extLst>
              <a:ext uri="{FF2B5EF4-FFF2-40B4-BE49-F238E27FC236}">
                <a16:creationId xmlns:a16="http://schemas.microsoft.com/office/drawing/2014/main" id="{6FA160C5-C2B6-646A-24C2-497BDD85C78E}"/>
              </a:ext>
            </a:extLst>
          </p:cNvPr>
          <p:cNvSpPr>
            <a:spLocks noGrp="1"/>
          </p:cNvSpPr>
          <p:nvPr>
            <p:ph sz="quarter" idx="25"/>
          </p:nvPr>
        </p:nvSpPr>
        <p:spPr>
          <a:xfrm>
            <a:off x="488950" y="4192588"/>
            <a:ext cx="1741488" cy="126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a:extLst>
              <a:ext uri="{FF2B5EF4-FFF2-40B4-BE49-F238E27FC236}">
                <a16:creationId xmlns:a16="http://schemas.microsoft.com/office/drawing/2014/main" id="{354DFDB5-A5D7-D3C2-9EF8-F8AE304C5236}"/>
              </a:ext>
            </a:extLst>
          </p:cNvPr>
          <p:cNvSpPr>
            <a:spLocks noGrp="1"/>
          </p:cNvSpPr>
          <p:nvPr>
            <p:ph sz="quarter" idx="26"/>
          </p:nvPr>
        </p:nvSpPr>
        <p:spPr>
          <a:xfrm>
            <a:off x="2735263" y="4192588"/>
            <a:ext cx="16668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2">
            <a:extLst>
              <a:ext uri="{FF2B5EF4-FFF2-40B4-BE49-F238E27FC236}">
                <a16:creationId xmlns:a16="http://schemas.microsoft.com/office/drawing/2014/main" id="{1A7D73FA-E2BD-CDFE-F443-0BF08320DEB5}"/>
              </a:ext>
            </a:extLst>
          </p:cNvPr>
          <p:cNvSpPr>
            <a:spLocks noGrp="1"/>
          </p:cNvSpPr>
          <p:nvPr>
            <p:ph sz="quarter" idx="27"/>
          </p:nvPr>
        </p:nvSpPr>
        <p:spPr>
          <a:xfrm>
            <a:off x="4770438" y="4297363"/>
            <a:ext cx="1565275" cy="12017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2DE9E79D-3862-0315-17F8-2EE3AE3C8C5B}"/>
              </a:ext>
            </a:extLst>
          </p:cNvPr>
          <p:cNvSpPr>
            <a:spLocks noGrp="1"/>
          </p:cNvSpPr>
          <p:nvPr>
            <p:ph type="body" sz="quarter" idx="28"/>
          </p:nvPr>
        </p:nvSpPr>
        <p:spPr>
          <a:xfrm>
            <a:off x="7086600" y="4297363"/>
            <a:ext cx="1600200" cy="1158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4153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jp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1-1</a:t>
            </a:r>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Placeholder 21" descr="Pearson Logo">
            <a:extLst>
              <a:ext uri="{FF2B5EF4-FFF2-40B4-BE49-F238E27FC236}">
                <a16:creationId xmlns:a16="http://schemas.microsoft.com/office/drawing/2014/main" id="{70404F1E-C5CF-2FE6-8AE4-FD92A0B2DB16}"/>
              </a:ext>
            </a:extLst>
          </p:cNvPr>
          <p:cNvPicPr>
            <a:picLocks noChangeAspect="1"/>
          </p:cNvPicPr>
          <p:nvPr userDrawn="1"/>
        </p:nvPicPr>
        <p:blipFill>
          <a:blip r:embed="rId15"/>
          <a:srcRect t="22152" b="22152"/>
          <a:stretch>
            <a:fillRect/>
          </a:stretch>
        </p:blipFill>
        <p:spPr>
          <a:xfrm>
            <a:off x="332508" y="6431973"/>
            <a:ext cx="1153391" cy="290602"/>
          </a:xfrm>
          <a:prstGeom prst="rect">
            <a:avLst/>
          </a:prstGeom>
        </p:spPr>
      </p:pic>
      <p:sp>
        <p:nvSpPr>
          <p:cNvPr id="3" name="Content Placeholder 7">
            <a:extLst>
              <a:ext uri="{FF2B5EF4-FFF2-40B4-BE49-F238E27FC236}">
                <a16:creationId xmlns:a16="http://schemas.microsoft.com/office/drawing/2014/main" id="{BB5CE15C-340A-7A6B-8F07-DA5245C3AD6C}"/>
              </a:ext>
            </a:extLst>
          </p:cNvPr>
          <p:cNvSpPr txBox="1">
            <a:spLocks/>
          </p:cNvSpPr>
          <p:nvPr userDrawn="1"/>
        </p:nvSpPr>
        <p:spPr>
          <a:xfrm>
            <a:off x="3717421" y="6425373"/>
            <a:ext cx="5042116" cy="221018"/>
          </a:xfrm>
          <a:prstGeom prst="rect">
            <a:avLst/>
          </a:prstGeom>
        </p:spPr>
        <p:txBody>
          <a:bodyPr wrap="square" lIns="0" tIns="18000" rIns="0" bIns="180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smtClean="0">
                <a:latin typeface="Verdana"/>
                <a:ea typeface="Verdana" panose="020B0604030504040204" pitchFamily="34" charset="0"/>
                <a:cs typeface="Verdana" panose="020B0604030504040204" pitchFamily="34" charset="0"/>
              </a:rPr>
              <a:t>© 2025 Pearson Education Ltd. All Rights Reserved.</a:t>
            </a:r>
            <a:endParaRPr lang="en-US" altLang="en-US" sz="1200" dirty="0">
              <a:latin typeface="Verdana"/>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76" r:id="rId3"/>
    <p:sldLayoutId id="2147483677" r:id="rId4"/>
    <p:sldLayoutId id="2147483678" r:id="rId5"/>
    <p:sldLayoutId id="2147483679" r:id="rId6"/>
    <p:sldLayoutId id="2147483680" r:id="rId7"/>
    <p:sldLayoutId id="2147483681" r:id="rId8"/>
    <p:sldLayoutId id="2147483671" r:id="rId9"/>
    <p:sldLayoutId id="2147483673" r:id="rId10"/>
    <p:sldLayoutId id="2147483670" r:id="rId11"/>
    <p:sldLayoutId id="2147483669" r:id="rId12"/>
    <p:sldLayoutId id="214748365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4.wmf"/><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hyperlink" Target="http://www.unctad.org/" TargetMode="External"/><Relationship Id="rId5" Type="http://schemas.openxmlformats.org/officeDocument/2006/relationships/hyperlink" Target="http://www.wto.org/" TargetMode="External"/><Relationship Id="rId4" Type="http://schemas.openxmlformats.org/officeDocument/2006/relationships/hyperlink" Target="http://www.worldbank.or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hyperlink" Target="http://data.worldbank.org/" TargetMode="External"/><Relationship Id="rId4" Type="http://schemas.openxmlformats.org/officeDocument/2006/relationships/hyperlink" Target="https://data.oecd.org/fdi/fdi-flows.htm"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hyperlink" Target="http://www.unctad.org/" TargetMode="External"/><Relationship Id="rId5" Type="http://schemas.openxmlformats.org/officeDocument/2006/relationships/hyperlink" Target="http://www.wto.org/" TargetMode="External"/><Relationship Id="rId4" Type="http://schemas.openxmlformats.org/officeDocument/2006/relationships/hyperlink" Target="http://www.worldbank.or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hyperlink" Target="http://www.unctad.org/" TargetMode="External"/><Relationship Id="rId5" Type="http://schemas.openxmlformats.org/officeDocument/2006/relationships/hyperlink" Target="http://www.wto.org/" TargetMode="External"/><Relationship Id="rId4" Type="http://schemas.openxmlformats.org/officeDocument/2006/relationships/hyperlink" Target="http://www.worldbank.org/"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1.xml"/><Relationship Id="rId1" Type="http://schemas.openxmlformats.org/officeDocument/2006/relationships/slideLayout" Target="../slideLayouts/slideLayout10.xml"/><Relationship Id="rId4" Type="http://schemas.openxmlformats.org/officeDocument/2006/relationships/hyperlink" Target="http://fortune.com/"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70560" y="116345"/>
            <a:ext cx="8341640" cy="1144347"/>
          </a:xfrm>
        </p:spPr>
        <p:txBody>
          <a:bodyPr wrap="square" lIns="0" tIns="18000" rIns="0" bIns="18000" anchor="ctr" anchorCtr="0">
            <a:spAutoFit/>
          </a:bodyPr>
          <a:lstStyle/>
          <a:p>
            <a:r>
              <a:rPr lang="en-US" dirty="0"/>
              <a:t>International Business: The New Realities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73269" y="1381497"/>
            <a:ext cx="3496366" cy="344128"/>
          </a:xfrm>
        </p:spPr>
        <p:txBody>
          <a:bodyPr wrap="square" lIns="0" tIns="18000" rIns="0" bIns="18000" anchor="ctr" anchorCtr="0">
            <a:spAutoFit/>
          </a:bodyPr>
          <a:lstStyle/>
          <a:p>
            <a:r>
              <a:rPr lang="en-US" dirty="0">
                <a:latin typeface="Arial" panose="020B0604020202020204" pitchFamily="34" charset="0"/>
                <a:cs typeface="Arial" panose="020B0604020202020204" pitchFamily="34" charset="0"/>
              </a:rPr>
              <a:t>Sixth </a:t>
            </a:r>
            <a:r>
              <a:rPr lang="en-US" dirty="0" smtClean="0">
                <a:latin typeface="Arial" panose="020B0604020202020204" pitchFamily="34" charset="0"/>
                <a:cs typeface="Arial" panose="020B0604020202020204" pitchFamily="34" charset="0"/>
              </a:rPr>
              <a:t>Edition, Global Edition</a:t>
            </a:r>
            <a:endParaRPr lang="en-US"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B297A484-CED4-47B7-9C47-4EB69D30DE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053" y="1928815"/>
            <a:ext cx="3297277" cy="4217822"/>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80626" y="2430301"/>
            <a:ext cx="1874982" cy="498016"/>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Chapter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0626" y="3155469"/>
            <a:ext cx="4140200" cy="713460"/>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Introduction: </a:t>
            </a:r>
            <a:r>
              <a:rPr lang="en-US">
                <a:latin typeface="Arial" panose="020B0604020202020204" pitchFamily="34" charset="0"/>
                <a:cs typeface="Arial" panose="020B0604020202020204" pitchFamily="34" charset="0"/>
              </a:rPr>
              <a:t>What Is </a:t>
            </a:r>
            <a:r>
              <a:rPr lang="en-US" dirty="0">
                <a:latin typeface="Arial" panose="020B0604020202020204" pitchFamily="34" charset="0"/>
                <a:cs typeface="Arial" panose="020B0604020202020204" pitchFamily="34" charset="0"/>
              </a:rPr>
              <a:t>International Business?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3692105" y="6425373"/>
            <a:ext cx="5067431" cy="221018"/>
          </a:xfrm>
        </p:spPr>
        <p:txBody>
          <a:bodyPr wrap="square" lIns="0" tIns="18000" rIns="0" bIns="18000" anchor="ctr" anchorCtr="0">
            <a:spAutoFit/>
          </a:bodyPr>
          <a:lstStyle/>
          <a:p>
            <a:r>
              <a:rPr lang="en-US" altLang="en-US" sz="1200" b="0" dirty="0" smtClean="0">
                <a:latin typeface="Verdana"/>
                <a:ea typeface="Verdana" panose="020B0604030504040204" pitchFamily="34" charset="0"/>
                <a:cs typeface="Verdana" panose="020B0604030504040204" pitchFamily="34" charset="0"/>
              </a:rPr>
              <a:t>© 2025 Pearson Education Ltd. All Rights Reserved.</a:t>
            </a:r>
            <a:endParaRPr lang="en-US" altLang="en-US" sz="1200" b="0" dirty="0">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id="{505B9C9C-5222-44C2-83C7-063C297830B8}"/>
              </a:ext>
            </a:extLst>
          </p:cNvPr>
          <p:cNvSpPr>
            <a:spLocks noGrp="1"/>
          </p:cNvSpPr>
          <p:nvPr>
            <p:ph type="title"/>
          </p:nvPr>
        </p:nvSpPr>
        <p:spPr>
          <a:xfrm>
            <a:off x="367401" y="115154"/>
            <a:ext cx="8344799" cy="590349"/>
          </a:xfrm>
        </p:spPr>
        <p:txBody>
          <a:bodyPr wrap="square" lIns="0" tIns="18000" rIns="0" bIns="18000" anchor="ctr" anchorCtr="0">
            <a:spAutoFit/>
          </a:bodyPr>
          <a:lstStyle/>
          <a:p>
            <a:r>
              <a:rPr lang="en-US" noProof="0" dirty="0"/>
              <a:t>Learning Objectives</a:t>
            </a:r>
            <a:endParaRPr lang="en-US" sz="1800" b="0" noProof="0" dirty="0"/>
          </a:p>
        </p:txBody>
      </p:sp>
      <p:sp>
        <p:nvSpPr>
          <p:cNvPr id="3" name="Text Placeholder 2">
            <a:extLst>
              <a:ext uri="{FF2B5EF4-FFF2-40B4-BE49-F238E27FC236}">
                <a16:creationId xmlns:a16="http://schemas.microsoft.com/office/drawing/2014/main" id="{BCE5B0A6-16C1-4125-9AA8-71EF020B405F}"/>
              </a:ext>
            </a:extLst>
          </p:cNvPr>
          <p:cNvSpPr>
            <a:spLocks noGrp="1"/>
          </p:cNvSpPr>
          <p:nvPr>
            <p:ph sz="quarter" idx="13"/>
          </p:nvPr>
        </p:nvSpPr>
        <p:spPr>
          <a:xfrm>
            <a:off x="370936" y="877002"/>
            <a:ext cx="8341263" cy="3021784"/>
          </a:xfrm>
        </p:spPr>
        <p:txBody>
          <a:bodyPr wrap="square" lIns="0" tIns="18000" rIns="0" bIns="18000" anchor="ctr" anchorCtr="0">
            <a:spAutoFit/>
          </a:bodyPr>
          <a:lstStyle/>
          <a:p>
            <a:pPr marL="512763" lvl="0" indent="-512763">
              <a:buClr>
                <a:schemeClr val="lt1"/>
              </a:buClr>
              <a:buSzPct val="25000"/>
              <a:buNone/>
            </a:pPr>
            <a:r>
              <a:rPr lang="en-US" sz="2400" b="1" noProof="0" dirty="0">
                <a:solidFill>
                  <a:srgbClr val="007FA3"/>
                </a:solidFill>
                <a:latin typeface="Arial" panose="020B0604020202020204" pitchFamily="34" charset="0"/>
                <a:cs typeface="Arial" panose="020B0604020202020204" pitchFamily="34" charset="0"/>
              </a:rPr>
              <a:t>1.1</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Describe the key concepts in international business.</a:t>
            </a:r>
            <a:endParaRPr lang="en-US" sz="2400" noProof="0" dirty="0">
              <a:latin typeface="Arial" panose="020B0604020202020204" pitchFamily="34" charset="0"/>
              <a:cs typeface="Arial" panose="020B0604020202020204" pitchFamily="34" charset="0"/>
            </a:endParaRPr>
          </a:p>
          <a:p>
            <a:pPr marL="512763" lvl="0" indent="-512763">
              <a:buClr>
                <a:schemeClr val="lt1"/>
              </a:buClr>
              <a:buSzPct val="25000"/>
              <a:buNone/>
            </a:pPr>
            <a:r>
              <a:rPr lang="en-US" sz="2400" b="1" noProof="0" dirty="0">
                <a:solidFill>
                  <a:srgbClr val="007FA3"/>
                </a:solidFill>
                <a:latin typeface="Arial" panose="020B0604020202020204" pitchFamily="34" charset="0"/>
                <a:cs typeface="Arial" panose="020B0604020202020204" pitchFamily="34" charset="0"/>
              </a:rPr>
              <a:t>1.2</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Understand how international business differs from domestic business.</a:t>
            </a:r>
            <a:endParaRPr lang="en-US" sz="2400" noProof="0" dirty="0">
              <a:latin typeface="Arial" panose="020B0604020202020204" pitchFamily="34" charset="0"/>
              <a:cs typeface="Arial" panose="020B0604020202020204" pitchFamily="34" charset="0"/>
            </a:endParaRPr>
          </a:p>
          <a:p>
            <a:pPr marL="512763" lvl="0" indent="-512763">
              <a:buClr>
                <a:schemeClr val="lt1"/>
              </a:buClr>
              <a:buSzPct val="25000"/>
              <a:buNone/>
            </a:pPr>
            <a:r>
              <a:rPr lang="en-US" sz="2400" b="1" noProof="0" dirty="0">
                <a:solidFill>
                  <a:srgbClr val="007FA3"/>
                </a:solidFill>
                <a:latin typeface="Arial" panose="020B0604020202020204" pitchFamily="34" charset="0"/>
                <a:cs typeface="Arial" panose="020B0604020202020204" pitchFamily="34" charset="0"/>
              </a:rPr>
              <a:t>1.3</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Identify major participants in international business.</a:t>
            </a:r>
          </a:p>
          <a:p>
            <a:pPr marL="512763" lvl="0" indent="-5127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1.4</a:t>
            </a:r>
            <a:r>
              <a:rPr lang="en-US" sz="2400" noProof="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Explain why firms internationalize.</a:t>
            </a:r>
          </a:p>
          <a:p>
            <a:pPr marL="512763" lvl="0" indent="-5127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rPr>
              <a:t>1.5</a:t>
            </a:r>
            <a:r>
              <a:rPr lang="en-US" sz="2400" dirty="0">
                <a:latin typeface="Arial" panose="020B0604020202020204" pitchFamily="34" charset="0"/>
                <a:cs typeface="Arial" panose="020B0604020202020204" pitchFamily="34" charset="0"/>
              </a:rPr>
              <a:t> Appreciate why you should study international business.</a:t>
            </a:r>
          </a:p>
        </p:txBody>
      </p:sp>
      <p:sp>
        <p:nvSpPr>
          <p:cNvPr id="4" name="Content Placeholder 3">
            <a:extLst>
              <a:ext uri="{FF2B5EF4-FFF2-40B4-BE49-F238E27FC236}">
                <a16:creationId xmlns:a16="http://schemas.microsoft.com/office/drawing/2014/main" id="{E7E47091-D3EF-437B-AE64-48D6046EA9B9}"/>
              </a:ext>
            </a:extLst>
          </p:cNvPr>
          <p:cNvSpPr>
            <a:spLocks noGrp="1"/>
          </p:cNvSpPr>
          <p:nvPr>
            <p:ph sz="quarter" idx="14"/>
          </p:nvPr>
        </p:nvSpPr>
        <p:spPr>
          <a:xfrm>
            <a:off x="371364" y="4001300"/>
            <a:ext cx="5080529" cy="405683"/>
          </a:xfrm>
        </p:spPr>
        <p:txBody>
          <a:bodyPr wrap="square" lIns="0" tIns="18000" rIns="0" bIns="18000" anchor="ctr" anchorCtr="0">
            <a:spAutoFit/>
          </a:bodyPr>
          <a:lstStyle/>
          <a:p>
            <a:pPr marL="512763" indent="-512763">
              <a:buClr>
                <a:schemeClr val="lt1"/>
              </a:buClr>
              <a:buSzPct val="25000"/>
              <a:buNone/>
            </a:pPr>
            <a:r>
              <a:rPr lang="en-US" sz="2400" b="1" dirty="0">
                <a:solidFill>
                  <a:srgbClr val="007FA3"/>
                </a:solidFill>
                <a:latin typeface="Arial" panose="020B0604020202020204" pitchFamily="34" charset="0"/>
                <a:cs typeface="Arial" panose="020B0604020202020204" pitchFamily="34" charset="0"/>
                <a:sym typeface="Calibri"/>
              </a:rPr>
              <a:t>1.6</a:t>
            </a:r>
            <a:r>
              <a:rPr lang="en-US" sz="2400" dirty="0">
                <a:latin typeface="Arial" panose="020B0604020202020204" pitchFamily="34" charset="0"/>
                <a:cs typeface="Arial" panose="020B0604020202020204" pitchFamily="34" charset="0"/>
                <a:sym typeface="Calibri"/>
              </a:rPr>
              <a:t> Learn the </a:t>
            </a:r>
            <a:r>
              <a:rPr lang="en-US" sz="2400" spc="-300" dirty="0">
                <a:latin typeface="Arial" panose="020B0604020202020204" pitchFamily="34" charset="0"/>
                <a:cs typeface="Arial" panose="020B0604020202020204" pitchFamily="34" charset="0"/>
                <a:sym typeface="Calibri"/>
              </a:rPr>
              <a:t>C K </a:t>
            </a:r>
            <a:r>
              <a:rPr lang="en-US" sz="2400" dirty="0">
                <a:latin typeface="Arial" panose="020B0604020202020204" pitchFamily="34" charset="0"/>
                <a:cs typeface="Arial" panose="020B0604020202020204" pitchFamily="34" charset="0"/>
                <a:sym typeface="Calibri"/>
              </a:rPr>
              <a:t>R Intangible Human</a:t>
            </a:r>
            <a:endParaRPr lang="en-US" sz="2400" dirty="0">
              <a:latin typeface="Arial" panose="020B0604020202020204" pitchFamily="34" charset="0"/>
              <a:cs typeface="Arial" panose="020B0604020202020204" pitchFamily="34" charset="0"/>
            </a:endParaRPr>
          </a:p>
        </p:txBody>
      </p:sp>
      <p:graphicFrame>
        <p:nvGraphicFramePr>
          <p:cNvPr id="13" name="Object 12" descr="Skills Superscript Trademark symbol">
            <a:extLst>
              <a:ext uri="{FF2B5EF4-FFF2-40B4-BE49-F238E27FC236}">
                <a16:creationId xmlns:a16="http://schemas.microsoft.com/office/drawing/2014/main" id="{D11DA045-8383-4B12-B600-8EC0D5D62F3D}"/>
              </a:ext>
              <a:ext uri="{C183D7F6-B498-43B3-948B-1728B52AA6E4}">
                <adec:decorative xmlns:adec="http://schemas.microsoft.com/office/drawing/2017/decorative" xmlns="" val="0"/>
              </a:ext>
            </a:extLst>
          </p:cNvPr>
          <p:cNvGraphicFramePr>
            <a:graphicFrameLocks noChangeAspect="1"/>
          </p:cNvGraphicFramePr>
          <p:nvPr>
            <p:extLst>
              <p:ext uri="{D42A27DB-BD31-4B8C-83A1-F6EECF244321}">
                <p14:modId xmlns:p14="http://schemas.microsoft.com/office/powerpoint/2010/main" val="3433817714"/>
              </p:ext>
            </p:extLst>
          </p:nvPr>
        </p:nvGraphicFramePr>
        <p:xfrm>
          <a:off x="5498476" y="3976228"/>
          <a:ext cx="1122795" cy="425738"/>
        </p:xfrm>
        <a:graphic>
          <a:graphicData uri="http://schemas.openxmlformats.org/presentationml/2006/ole">
            <mc:AlternateContent xmlns:mc="http://schemas.openxmlformats.org/markup-compatibility/2006">
              <mc:Choice xmlns:v="urn:schemas-microsoft-com:vml" Requires="v">
                <p:oleObj spid="_x0000_s1070" name="Equation" r:id="rId4" imgW="533160" imgH="203040" progId="Equation.DSMT4">
                  <p:embed/>
                </p:oleObj>
              </mc:Choice>
              <mc:Fallback>
                <p:oleObj name="Equation" r:id="rId4" imgW="533160" imgH="203040" progId="Equation.DSMT4">
                  <p:embed/>
                  <p:pic>
                    <p:nvPicPr>
                      <p:cNvPr id="11" name="Object 10" descr="Right Arrow">
                        <a:extLst>
                          <a:ext uri="{FF2B5EF4-FFF2-40B4-BE49-F238E27FC236}">
                            <a16:creationId xmlns:a16="http://schemas.microsoft.com/office/drawing/2014/main" id="{C0B36F2C-36B0-4D9F-8936-DEB49A908B29}"/>
                          </a:ext>
                          <a:ext uri="{C183D7F6-B498-43B3-948B-1728B52AA6E4}">
                            <adec:decorative xmlns:adec="http://schemas.microsoft.com/office/drawing/2017/decorative" xmlns="" val="0"/>
                          </a:ext>
                        </a:extLst>
                      </p:cNvPr>
                      <p:cNvPicPr/>
                      <p:nvPr/>
                    </p:nvPicPr>
                    <p:blipFill>
                      <a:blip r:embed="rId5"/>
                      <a:stretch>
                        <a:fillRect/>
                      </a:stretch>
                    </p:blipFill>
                    <p:spPr>
                      <a:xfrm>
                        <a:off x="5498476" y="3976228"/>
                        <a:ext cx="1122795" cy="425738"/>
                      </a:xfrm>
                      <a:prstGeom prst="rect">
                        <a:avLst/>
                      </a:prstGeom>
                      <a:noFill/>
                    </p:spPr>
                  </p:pic>
                </p:oleObj>
              </mc:Fallback>
            </mc:AlternateContent>
          </a:graphicData>
        </a:graphic>
      </p:graphicFrame>
      <p:sp>
        <p:nvSpPr>
          <p:cNvPr id="5" name="Content Placeholder 4">
            <a:extLst>
              <a:ext uri="{FF2B5EF4-FFF2-40B4-BE49-F238E27FC236}">
                <a16:creationId xmlns:a16="http://schemas.microsoft.com/office/drawing/2014/main" id="{2BF1C293-A34C-4802-B81B-06920F6F6D9E}"/>
              </a:ext>
            </a:extLst>
          </p:cNvPr>
          <p:cNvSpPr>
            <a:spLocks noGrp="1"/>
          </p:cNvSpPr>
          <p:nvPr>
            <p:ph sz="quarter" idx="15"/>
          </p:nvPr>
        </p:nvSpPr>
        <p:spPr>
          <a:xfrm>
            <a:off x="6688791" y="4003814"/>
            <a:ext cx="1782350" cy="405683"/>
          </a:xfrm>
        </p:spPr>
        <p:txBody>
          <a:bodyPr wrap="square" lIns="0" tIns="18000" rIns="0" bIns="18000" anchor="ctr" anchorCtr="0">
            <a:spAutoFit/>
          </a:bodyPr>
          <a:lstStyle/>
          <a:p>
            <a:pPr marL="512763" indent="-512763">
              <a:buClr>
                <a:schemeClr val="lt1"/>
              </a:buClr>
              <a:buSzPct val="25000"/>
              <a:buNone/>
            </a:pPr>
            <a:r>
              <a:rPr lang="en-US" sz="2400" dirty="0">
                <a:latin typeface="Arial" panose="020B0604020202020204" pitchFamily="34" charset="0"/>
                <a:cs typeface="Arial" panose="020B0604020202020204" pitchFamily="34" charset="0"/>
                <a:sym typeface="Calibri"/>
              </a:rPr>
              <a:t>and the </a:t>
            </a:r>
            <a:r>
              <a:rPr lang="en-US" sz="2400" spc="-300" dirty="0">
                <a:latin typeface="Arial" panose="020B0604020202020204" pitchFamily="34" charset="0"/>
                <a:cs typeface="Arial" panose="020B0604020202020204" pitchFamily="34" charset="0"/>
                <a:sym typeface="Calibri"/>
              </a:rPr>
              <a:t>C K </a:t>
            </a:r>
            <a:r>
              <a:rPr lang="en-US" sz="2400" dirty="0">
                <a:latin typeface="Arial" panose="020B0604020202020204" pitchFamily="34" charset="0"/>
                <a:cs typeface="Arial" panose="020B0604020202020204" pitchFamily="34" charset="0"/>
                <a:sym typeface="Calibri"/>
              </a:rPr>
              <a:t>R</a:t>
            </a:r>
            <a:endParaRPr lang="en-US" sz="2400"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5C000A04-000C-4D7D-9E7F-4F20724A4219}"/>
              </a:ext>
            </a:extLst>
          </p:cNvPr>
          <p:cNvSpPr>
            <a:spLocks noGrp="1"/>
          </p:cNvSpPr>
          <p:nvPr>
            <p:ph sz="quarter" idx="16"/>
          </p:nvPr>
        </p:nvSpPr>
        <p:spPr>
          <a:xfrm>
            <a:off x="880679" y="4483619"/>
            <a:ext cx="2363681" cy="405683"/>
          </a:xfrm>
        </p:spPr>
        <p:txBody>
          <a:bodyPr wrap="square" lIns="0" tIns="18000" rIns="0" bIns="18000" anchor="ctr" anchorCtr="0">
            <a:spAutoFit/>
          </a:bodyPr>
          <a:lstStyle/>
          <a:p>
            <a:pPr marL="0" indent="0">
              <a:buNone/>
            </a:pPr>
            <a:r>
              <a:rPr lang="en-US" sz="2400" dirty="0">
                <a:latin typeface="Arial" panose="020B0604020202020204" pitchFamily="34" charset="0"/>
                <a:cs typeface="Arial" panose="020B0604020202020204" pitchFamily="34" charset="0"/>
                <a:sym typeface="Calibri"/>
              </a:rPr>
              <a:t>Tangible Process</a:t>
            </a:r>
            <a:endParaRPr lang="en-US" sz="2400" dirty="0">
              <a:latin typeface="Arial" panose="020B0604020202020204" pitchFamily="34" charset="0"/>
              <a:cs typeface="Arial" panose="020B0604020202020204" pitchFamily="34" charset="0"/>
            </a:endParaRPr>
          </a:p>
        </p:txBody>
      </p:sp>
      <p:graphicFrame>
        <p:nvGraphicFramePr>
          <p:cNvPr id="14" name="Object 13" descr="Tools Superscript Trademark symbol">
            <a:extLst>
              <a:ext uri="{FF2B5EF4-FFF2-40B4-BE49-F238E27FC236}">
                <a16:creationId xmlns:a16="http://schemas.microsoft.com/office/drawing/2014/main" id="{62303AB6-6AD4-4089-8D04-64CF40736F0A}"/>
              </a:ext>
              <a:ext uri="{C183D7F6-B498-43B3-948B-1728B52AA6E4}">
                <adec:decorative xmlns:adec="http://schemas.microsoft.com/office/drawing/2017/decorative" xmlns="" val="0"/>
              </a:ext>
            </a:extLst>
          </p:cNvPr>
          <p:cNvGraphicFramePr>
            <a:graphicFrameLocks noChangeAspect="1"/>
          </p:cNvGraphicFramePr>
          <p:nvPr>
            <p:extLst>
              <p:ext uri="{D42A27DB-BD31-4B8C-83A1-F6EECF244321}">
                <p14:modId xmlns:p14="http://schemas.microsoft.com/office/powerpoint/2010/main" val="1078771735"/>
              </p:ext>
            </p:extLst>
          </p:nvPr>
        </p:nvGraphicFramePr>
        <p:xfrm>
          <a:off x="3317405" y="4455123"/>
          <a:ext cx="1149350" cy="425450"/>
        </p:xfrm>
        <a:graphic>
          <a:graphicData uri="http://schemas.openxmlformats.org/presentationml/2006/ole">
            <mc:AlternateContent xmlns:mc="http://schemas.openxmlformats.org/markup-compatibility/2006">
              <mc:Choice xmlns:v="urn:schemas-microsoft-com:vml" Requires="v">
                <p:oleObj spid="_x0000_s1071" name="Equation" r:id="rId6" imgW="545760" imgH="203040" progId="Equation.DSMT4">
                  <p:embed/>
                </p:oleObj>
              </mc:Choice>
              <mc:Fallback>
                <p:oleObj name="Equation" r:id="rId6" imgW="545760" imgH="203040" progId="Equation.DSMT4">
                  <p:embed/>
                  <p:pic>
                    <p:nvPicPr>
                      <p:cNvPr id="13" name="Object 12" descr="Right Arrow">
                        <a:extLst>
                          <a:ext uri="{FF2B5EF4-FFF2-40B4-BE49-F238E27FC236}">
                            <a16:creationId xmlns:a16="http://schemas.microsoft.com/office/drawing/2014/main" id="{D11DA045-8383-4B12-B600-8EC0D5D62F3D}"/>
                          </a:ext>
                          <a:ext uri="{C183D7F6-B498-43B3-948B-1728B52AA6E4}">
                            <adec:decorative xmlns:adec="http://schemas.microsoft.com/office/drawing/2017/decorative" xmlns="" val="0"/>
                          </a:ext>
                        </a:extLst>
                      </p:cNvPr>
                      <p:cNvPicPr/>
                      <p:nvPr/>
                    </p:nvPicPr>
                    <p:blipFill>
                      <a:blip r:embed="rId7"/>
                      <a:stretch>
                        <a:fillRect/>
                      </a:stretch>
                    </p:blipFill>
                    <p:spPr>
                      <a:xfrm>
                        <a:off x="3317405" y="4455123"/>
                        <a:ext cx="1149350" cy="425450"/>
                      </a:xfrm>
                      <a:prstGeom prst="rect">
                        <a:avLst/>
                      </a:prstGeom>
                      <a:noFill/>
                    </p:spPr>
                  </p:pic>
                </p:oleObj>
              </mc:Fallback>
            </mc:AlternateContent>
          </a:graphicData>
        </a:graphic>
      </p:graphicFrame>
      <p:sp>
        <p:nvSpPr>
          <p:cNvPr id="7" name="Content Placeholder 6">
            <a:extLst>
              <a:ext uri="{FF2B5EF4-FFF2-40B4-BE49-F238E27FC236}">
                <a16:creationId xmlns:a16="http://schemas.microsoft.com/office/drawing/2014/main" id="{9C3CD4F5-5738-4DBF-8D13-AFD8B8E8846D}"/>
              </a:ext>
            </a:extLst>
          </p:cNvPr>
          <p:cNvSpPr>
            <a:spLocks noGrp="1"/>
          </p:cNvSpPr>
          <p:nvPr>
            <p:ph sz="quarter" idx="17"/>
          </p:nvPr>
        </p:nvSpPr>
        <p:spPr>
          <a:xfrm>
            <a:off x="4539800" y="4492245"/>
            <a:ext cx="3965165" cy="405683"/>
          </a:xfrm>
        </p:spPr>
        <p:txBody>
          <a:bodyPr wrap="square" lIns="0" tIns="18000" rIns="0" bIns="18000" anchor="ctr" anchorCtr="0">
            <a:spAutoFit/>
          </a:bodyPr>
          <a:lstStyle/>
          <a:p>
            <a:pPr marL="0" indent="0">
              <a:buNone/>
            </a:pPr>
            <a:r>
              <a:rPr lang="en-US" sz="2400" dirty="0">
                <a:latin typeface="Arial" panose="020B0604020202020204" pitchFamily="34" charset="0"/>
                <a:cs typeface="Arial" panose="020B0604020202020204" pitchFamily="34" charset="0"/>
                <a:sym typeface="Calibri"/>
              </a:rPr>
              <a:t>to improve your employability</a:t>
            </a:r>
            <a:endParaRPr lang="en-US"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2380C1CE-8C36-4A0A-B34F-242C231A10A1}"/>
              </a:ext>
            </a:extLst>
          </p:cNvPr>
          <p:cNvSpPr>
            <a:spLocks noGrp="1"/>
          </p:cNvSpPr>
          <p:nvPr>
            <p:ph sz="quarter" idx="18"/>
          </p:nvPr>
        </p:nvSpPr>
        <p:spPr>
          <a:xfrm>
            <a:off x="897931" y="4971201"/>
            <a:ext cx="4079510" cy="405683"/>
          </a:xfrm>
        </p:spPr>
        <p:txBody>
          <a:bodyPr wrap="square" lIns="0" tIns="18000" rIns="0" bIns="18000" anchor="ctr" anchorCtr="0">
            <a:spAutoFit/>
          </a:bodyPr>
          <a:lstStyle/>
          <a:p>
            <a:pPr marL="0" indent="0">
              <a:buNone/>
            </a:pPr>
            <a:r>
              <a:rPr lang="en-US" sz="2400" dirty="0">
                <a:latin typeface="Arial" panose="020B0604020202020204" pitchFamily="34" charset="0"/>
                <a:cs typeface="Arial" panose="020B0604020202020204" pitchFamily="34" charset="0"/>
                <a:sym typeface="Calibri"/>
              </a:rPr>
              <a:t>and success in the workplace.</a:t>
            </a: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5159"/>
            <a:ext cx="8349310" cy="590349"/>
          </a:xfrm>
        </p:spPr>
        <p:txBody>
          <a:bodyPr wrap="square" lIns="0" tIns="18000" rIns="0" bIns="18000" anchor="ctr" anchorCtr="0">
            <a:spAutoFit/>
          </a:bodyPr>
          <a:lstStyle/>
          <a:p>
            <a:r>
              <a:rPr lang="en-US" dirty="0"/>
              <a:t>Instagram: A Global Phenomenon</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4542" y="865986"/>
            <a:ext cx="8347658" cy="4406779"/>
          </a:xfrm>
        </p:spPr>
        <p:txBody>
          <a:bodyPr wrap="square" lIns="0" tIns="18000" rIns="0" bIns="18000" anchor="ctr" anchorCtr="0">
            <a:spAutoFit/>
          </a:bodyPr>
          <a:lstStyle/>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Instagram exemplifies the globalization of business and converging lifestyles worldwide. </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Instagram has more than 2 billion active monthly users. </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Instagram is available in 32 languages and enjoys a massive following worldwide. Some 90 percent of users live outside the firm’s home country, the United States. </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Instagram uses foreign direct investment to establish offices around the world.</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Instagram illustrates how converging lifestyles, modern communications technologies, and entrepreneurship are facilitating the emergence of global enterprises.</a:t>
            </a:r>
          </a:p>
        </p:txBody>
      </p:sp>
    </p:spTree>
    <p:extLst>
      <p:ext uri="{BB962C8B-B14F-4D97-AF65-F5344CB8AC3E}">
        <p14:creationId xmlns:p14="http://schemas.microsoft.com/office/powerpoint/2010/main" val="1506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5159"/>
            <a:ext cx="8349310" cy="590349"/>
          </a:xfrm>
        </p:spPr>
        <p:txBody>
          <a:bodyPr wrap="square" lIns="0" tIns="18000" rIns="0" bIns="18000" anchor="ctr" anchorCtr="0">
            <a:spAutoFit/>
          </a:bodyPr>
          <a:lstStyle/>
          <a:p>
            <a:r>
              <a:rPr lang="en-US" dirty="0"/>
              <a:t>The Nature of International Business</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4542" y="868348"/>
            <a:ext cx="8347658" cy="3591171"/>
          </a:xfrm>
        </p:spPr>
        <p:txBody>
          <a:bodyPr wrap="square" lIns="0" tIns="18000" rIns="0" bIns="18000" anchor="ctr" anchorCtr="0">
            <a:spAutoFit/>
          </a:bodyPr>
          <a:lstStyle/>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All value-adding activities-including sourcing, manufacturing, and marketing-can be performed in international locations.</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International trade can involve products, services, capital, technology, know-how, and labor.</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Firms internationalize through various entry strategies, such as exporting and foreign direct investment.</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Globalization both compels and facilitates firms to expand abroad.</a:t>
            </a:r>
          </a:p>
        </p:txBody>
      </p:sp>
    </p:spTree>
    <p:extLst>
      <p:ext uri="{BB962C8B-B14F-4D97-AF65-F5344CB8AC3E}">
        <p14:creationId xmlns:p14="http://schemas.microsoft.com/office/powerpoint/2010/main" val="4084368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5159"/>
            <a:ext cx="8349310" cy="590349"/>
          </a:xfrm>
        </p:spPr>
        <p:txBody>
          <a:bodyPr wrap="square" lIns="0" tIns="18000" rIns="0" bIns="18000" anchor="ctr" anchorCtr="0">
            <a:spAutoFit/>
          </a:bodyPr>
          <a:lstStyle/>
          <a:p>
            <a:r>
              <a:rPr lang="en-US"/>
              <a:t>Dimensions of International Business</a:t>
            </a:r>
            <a:endParaRPr lang="en-US" sz="1800" b="0"/>
          </a:p>
        </p:txBody>
      </p:sp>
      <p:pic>
        <p:nvPicPr>
          <p:cNvPr id="4" name="Picture 3" descr="A flow diagram showing the important elements of international business.&#10;Long description is available in notes, press F6.">
            <a:extLst>
              <a:ext uri="{FF2B5EF4-FFF2-40B4-BE49-F238E27FC236}">
                <a16:creationId xmlns:a16="http://schemas.microsoft.com/office/drawing/2014/main" id="{CB0B027F-5541-85FD-0BFD-E34E8F641590}"/>
              </a:ext>
            </a:extLst>
          </p:cNvPr>
          <p:cNvPicPr>
            <a:picLocks noChangeAspect="1"/>
          </p:cNvPicPr>
          <p:nvPr/>
        </p:nvPicPr>
        <p:blipFill>
          <a:blip r:embed="rId3"/>
          <a:stretch>
            <a:fillRect/>
          </a:stretch>
        </p:blipFill>
        <p:spPr>
          <a:xfrm>
            <a:off x="627506" y="861961"/>
            <a:ext cx="7888989" cy="5151331"/>
          </a:xfrm>
          <a:prstGeom prst="rect">
            <a:avLst/>
          </a:prstGeom>
        </p:spPr>
      </p:pic>
    </p:spTree>
    <p:extLst>
      <p:ext uri="{BB962C8B-B14F-4D97-AF65-F5344CB8AC3E}">
        <p14:creationId xmlns:p14="http://schemas.microsoft.com/office/powerpoint/2010/main" val="320688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78BCA-7840-4F9E-1A71-217DB3336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D0638-3C42-A2BD-5069-0E5CB64E2003}"/>
              </a:ext>
            </a:extLst>
          </p:cNvPr>
          <p:cNvSpPr>
            <a:spLocks noGrp="1"/>
          </p:cNvSpPr>
          <p:nvPr>
            <p:ph type="title"/>
          </p:nvPr>
        </p:nvSpPr>
        <p:spPr>
          <a:xfrm>
            <a:off x="371516" y="114203"/>
            <a:ext cx="8340684" cy="1144347"/>
          </a:xfrm>
        </p:spPr>
        <p:txBody>
          <a:bodyPr wrap="square" lIns="0" tIns="18000" rIns="0" bIns="18000" anchor="ctr" anchorCtr="0">
            <a:spAutoFit/>
          </a:bodyPr>
          <a:lstStyle/>
          <a:p>
            <a:r>
              <a:rPr lang="en-US" dirty="0"/>
              <a:t>Key Concepts in International Business </a:t>
            </a:r>
            <a:r>
              <a:rPr lang="en-US" sz="2800" dirty="0"/>
              <a:t>(1 of 3)</a:t>
            </a:r>
            <a:endParaRPr lang="en-US" sz="2800" b="0" dirty="0"/>
          </a:p>
        </p:txBody>
      </p:sp>
      <p:sp>
        <p:nvSpPr>
          <p:cNvPr id="5" name="Content Placeholder 4">
            <a:extLst>
              <a:ext uri="{FF2B5EF4-FFF2-40B4-BE49-F238E27FC236}">
                <a16:creationId xmlns:a16="http://schemas.microsoft.com/office/drawing/2014/main" id="{5CA3CCAD-2B12-E854-6F6F-D1658E0E5161}"/>
              </a:ext>
            </a:extLst>
          </p:cNvPr>
          <p:cNvSpPr>
            <a:spLocks noGrp="1"/>
          </p:cNvSpPr>
          <p:nvPr>
            <p:ph sz="quarter" idx="13"/>
          </p:nvPr>
        </p:nvSpPr>
        <p:spPr>
          <a:xfrm>
            <a:off x="371374" y="1552201"/>
            <a:ext cx="8340825" cy="2775563"/>
          </a:xfrm>
        </p:spPr>
        <p:txBody>
          <a:bodyPr wrap="square" lIns="0" tIns="18000" rIns="0" bIns="18000" anchor="ctr" anchorCtr="0">
            <a:spAutoFit/>
          </a:bodyPr>
          <a:lstStyle/>
          <a:p>
            <a:pPr marL="342900" indent="-342900">
              <a:spcBef>
                <a:spcPts val="600"/>
              </a:spcBef>
            </a:pPr>
            <a:r>
              <a:rPr lang="en-US" sz="2400" b="1" dirty="0">
                <a:solidFill>
                  <a:schemeClr val="tx1"/>
                </a:solidFill>
                <a:latin typeface="Arial" panose="020B0604020202020204" pitchFamily="34" charset="0"/>
                <a:cs typeface="Arial" panose="020B0604020202020204" pitchFamily="34" charset="0"/>
              </a:rPr>
              <a:t>International business</a:t>
            </a:r>
            <a:r>
              <a:rPr lang="en-US" sz="2400" dirty="0">
                <a:solidFill>
                  <a:schemeClr val="tx1"/>
                </a:solidFill>
                <a:latin typeface="Arial" panose="020B0604020202020204" pitchFamily="34" charset="0"/>
                <a:cs typeface="Arial" panose="020B0604020202020204" pitchFamily="34" charset="0"/>
              </a:rPr>
              <a:t>: Performance of trade and investment activities by firms across national borders. </a:t>
            </a:r>
          </a:p>
          <a:p>
            <a:pPr marL="342900" indent="-342900">
              <a:spcBef>
                <a:spcPts val="600"/>
              </a:spcBef>
            </a:pPr>
            <a:r>
              <a:rPr lang="en-US" sz="2400" b="1" dirty="0">
                <a:solidFill>
                  <a:schemeClr val="tx1"/>
                </a:solidFill>
                <a:latin typeface="Arial" panose="020B0604020202020204" pitchFamily="34" charset="0"/>
                <a:cs typeface="Arial" panose="020B0604020202020204" pitchFamily="34" charset="0"/>
              </a:rPr>
              <a:t>Globalization of markets</a:t>
            </a:r>
            <a:r>
              <a:rPr lang="en-US" sz="2400" dirty="0">
                <a:solidFill>
                  <a:schemeClr val="tx1"/>
                </a:solidFill>
                <a:latin typeface="Arial" panose="020B0604020202020204" pitchFamily="34" charset="0"/>
                <a:cs typeface="Arial" panose="020B0604020202020204" pitchFamily="34" charset="0"/>
              </a:rPr>
              <a:t>: Ongoing economic integration and growing interdependency of countries worldwide.</a:t>
            </a:r>
          </a:p>
          <a:p>
            <a:pPr marL="342900" indent="-342900">
              <a:spcBef>
                <a:spcPts val="600"/>
              </a:spcBef>
            </a:pPr>
            <a:r>
              <a:rPr lang="en-US" sz="2400" b="1" dirty="0">
                <a:solidFill>
                  <a:schemeClr val="tx1"/>
                </a:solidFill>
                <a:latin typeface="Arial" panose="020B0604020202020204" pitchFamily="34" charset="0"/>
                <a:cs typeface="Arial" panose="020B0604020202020204" pitchFamily="34" charset="0"/>
              </a:rPr>
              <a:t>International trade</a:t>
            </a:r>
            <a:r>
              <a:rPr lang="en-US" sz="2400" dirty="0">
                <a:solidFill>
                  <a:schemeClr val="tx1"/>
                </a:solidFill>
                <a:latin typeface="Arial" panose="020B0604020202020204" pitchFamily="34" charset="0"/>
                <a:cs typeface="Arial" panose="020B0604020202020204" pitchFamily="34" charset="0"/>
              </a:rPr>
              <a:t>: Exchange of products and services across national borders; typically through exporting and importing.</a:t>
            </a:r>
          </a:p>
        </p:txBody>
      </p:sp>
    </p:spTree>
    <p:extLst>
      <p:ext uri="{BB962C8B-B14F-4D97-AF65-F5344CB8AC3E}">
        <p14:creationId xmlns:p14="http://schemas.microsoft.com/office/powerpoint/2010/main" val="3266468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78BCA-7840-4F9E-1A71-217DB3336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D0638-3C42-A2BD-5069-0E5CB64E2003}"/>
              </a:ext>
            </a:extLst>
          </p:cNvPr>
          <p:cNvSpPr>
            <a:spLocks noGrp="1"/>
          </p:cNvSpPr>
          <p:nvPr>
            <p:ph type="title"/>
          </p:nvPr>
        </p:nvSpPr>
        <p:spPr>
          <a:xfrm>
            <a:off x="371516" y="114203"/>
            <a:ext cx="8340684" cy="1144347"/>
          </a:xfrm>
        </p:spPr>
        <p:txBody>
          <a:bodyPr wrap="square" lIns="0" tIns="18000" rIns="0" bIns="18000" anchor="ctr" anchorCtr="0">
            <a:spAutoFit/>
          </a:bodyPr>
          <a:lstStyle/>
          <a:p>
            <a:r>
              <a:rPr lang="en-US" dirty="0"/>
              <a:t>Key Concepts in International Business </a:t>
            </a:r>
            <a:r>
              <a:rPr lang="en-US" sz="2800" dirty="0"/>
              <a:t>(2 of 3)</a:t>
            </a:r>
            <a:endParaRPr lang="en-US" sz="2800" b="0" dirty="0"/>
          </a:p>
        </p:txBody>
      </p:sp>
      <p:sp>
        <p:nvSpPr>
          <p:cNvPr id="5" name="Content Placeholder 4">
            <a:extLst>
              <a:ext uri="{FF2B5EF4-FFF2-40B4-BE49-F238E27FC236}">
                <a16:creationId xmlns:a16="http://schemas.microsoft.com/office/drawing/2014/main" id="{5CA3CCAD-2B12-E854-6F6F-D1658E0E5161}"/>
              </a:ext>
            </a:extLst>
          </p:cNvPr>
          <p:cNvSpPr>
            <a:spLocks noGrp="1"/>
          </p:cNvSpPr>
          <p:nvPr>
            <p:ph sz="quarter" idx="13"/>
          </p:nvPr>
        </p:nvSpPr>
        <p:spPr>
          <a:xfrm>
            <a:off x="371374" y="1549138"/>
            <a:ext cx="8340825" cy="3437283"/>
          </a:xfrm>
        </p:spPr>
        <p:txBody>
          <a:bodyPr wrap="square" lIns="0" tIns="18000" rIns="0" bIns="18000" anchor="ctr" anchorCtr="0">
            <a:spAutoFit/>
          </a:bodyPr>
          <a:lstStyle/>
          <a:p>
            <a:pPr marL="342900" indent="-342900">
              <a:spcBef>
                <a:spcPts val="600"/>
              </a:spcBef>
            </a:pPr>
            <a:r>
              <a:rPr lang="en-US" sz="2400" b="1" dirty="0">
                <a:solidFill>
                  <a:schemeClr val="tx1"/>
                </a:solidFill>
                <a:latin typeface="Arial" panose="020B0604020202020204" pitchFamily="34" charset="0"/>
                <a:cs typeface="Arial" panose="020B0604020202020204" pitchFamily="34" charset="0"/>
              </a:rPr>
              <a:t>Exporting</a:t>
            </a:r>
            <a:r>
              <a:rPr lang="en-US" sz="2400" dirty="0">
                <a:solidFill>
                  <a:schemeClr val="tx1"/>
                </a:solidFill>
                <a:latin typeface="Arial" panose="020B0604020202020204" pitchFamily="34" charset="0"/>
                <a:cs typeface="Arial" panose="020B0604020202020204" pitchFamily="34" charset="0"/>
              </a:rPr>
              <a:t>: Sale of products or services to customers located abroad, from a base in the home country or a third country. Boeing and Airbus export billions in commercial aircraft every year.</a:t>
            </a:r>
          </a:p>
          <a:p>
            <a:pPr marL="342900" indent="-342900">
              <a:spcBef>
                <a:spcPts val="600"/>
              </a:spcBef>
            </a:pPr>
            <a:r>
              <a:rPr lang="en-US" sz="2400" b="1" dirty="0">
                <a:solidFill>
                  <a:schemeClr val="tx1"/>
                </a:solidFill>
                <a:latin typeface="Arial" panose="020B0604020202020204" pitchFamily="34" charset="0"/>
                <a:cs typeface="Arial" panose="020B0604020202020204" pitchFamily="34" charset="0"/>
              </a:rPr>
              <a:t>Importing or global sourcing</a:t>
            </a:r>
            <a:r>
              <a:rPr lang="en-US" sz="2400" dirty="0">
                <a:solidFill>
                  <a:schemeClr val="tx1"/>
                </a:solidFill>
                <a:latin typeface="Arial" panose="020B0604020202020204" pitchFamily="34" charset="0"/>
                <a:cs typeface="Arial" panose="020B0604020202020204" pitchFamily="34" charset="0"/>
              </a:rPr>
              <a:t>: Procurement of products or services from suppliers located abroad for consumption in the home country or a third country. Toyota imports many parts from China when it manufactures cars in Japan.</a:t>
            </a:r>
          </a:p>
        </p:txBody>
      </p:sp>
    </p:spTree>
    <p:extLst>
      <p:ext uri="{BB962C8B-B14F-4D97-AF65-F5344CB8AC3E}">
        <p14:creationId xmlns:p14="http://schemas.microsoft.com/office/powerpoint/2010/main" val="2365127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4613E-9780-6707-BDB8-13A1BAB1A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5843B-E6D9-A8A1-16EF-B45780508A5D}"/>
              </a:ext>
            </a:extLst>
          </p:cNvPr>
          <p:cNvSpPr>
            <a:spLocks noGrp="1"/>
          </p:cNvSpPr>
          <p:nvPr>
            <p:ph type="title"/>
          </p:nvPr>
        </p:nvSpPr>
        <p:spPr>
          <a:xfrm>
            <a:off x="370160" y="114198"/>
            <a:ext cx="8342040" cy="1144347"/>
          </a:xfrm>
        </p:spPr>
        <p:txBody>
          <a:bodyPr wrap="square" lIns="0" tIns="18000" rIns="0" bIns="18000" anchor="ctr" anchorCtr="0">
            <a:spAutoFit/>
          </a:bodyPr>
          <a:lstStyle/>
          <a:p>
            <a:r>
              <a:rPr lang="en-US" dirty="0"/>
              <a:t>Key Concepts in International Business </a:t>
            </a:r>
            <a:r>
              <a:rPr lang="en-US" sz="2800" dirty="0"/>
              <a:t>(3 of 3)</a:t>
            </a:r>
            <a:endParaRPr lang="en-US" sz="2800" b="0" dirty="0"/>
          </a:p>
        </p:txBody>
      </p:sp>
      <p:sp>
        <p:nvSpPr>
          <p:cNvPr id="5" name="Content Placeholder 4">
            <a:extLst>
              <a:ext uri="{FF2B5EF4-FFF2-40B4-BE49-F238E27FC236}">
                <a16:creationId xmlns:a16="http://schemas.microsoft.com/office/drawing/2014/main" id="{6185D199-2E47-92DB-16C0-BCA8B71188FF}"/>
              </a:ext>
            </a:extLst>
          </p:cNvPr>
          <p:cNvSpPr>
            <a:spLocks noGrp="1"/>
          </p:cNvSpPr>
          <p:nvPr>
            <p:ph sz="quarter" idx="13"/>
          </p:nvPr>
        </p:nvSpPr>
        <p:spPr>
          <a:xfrm>
            <a:off x="369682" y="1561533"/>
            <a:ext cx="8342040" cy="1513679"/>
          </a:xfrm>
        </p:spPr>
        <p:txBody>
          <a:bodyPr wrap="square" lIns="0" tIns="18000" rIns="0" bIns="18000" anchor="ctr" anchorCtr="0">
            <a:spAutoFit/>
          </a:bodyPr>
          <a:lstStyle/>
          <a:p>
            <a:pPr marL="0" indent="0">
              <a:spcBef>
                <a:spcPts val="600"/>
              </a:spcBef>
              <a:buNone/>
            </a:pPr>
            <a:r>
              <a:rPr lang="en-US" sz="2400" b="1" dirty="0">
                <a:solidFill>
                  <a:schemeClr val="tx1"/>
                </a:solidFill>
                <a:latin typeface="Arial" panose="020B0604020202020204" pitchFamily="34" charset="0"/>
                <a:cs typeface="Arial" panose="020B0604020202020204" pitchFamily="34" charset="0"/>
              </a:rPr>
              <a:t>International investment</a:t>
            </a:r>
            <a:r>
              <a:rPr lang="en-US" sz="2400" dirty="0">
                <a:solidFill>
                  <a:schemeClr val="tx1"/>
                </a:solidFill>
                <a:latin typeface="Arial" panose="020B0604020202020204" pitchFamily="34" charset="0"/>
                <a:cs typeface="Arial" panose="020B0604020202020204" pitchFamily="34" charset="0"/>
              </a:rPr>
              <a:t>: Transfer of assets to another country or the acquisition of assets in that country. Also known as “foreign direct investment” (</a:t>
            </a:r>
            <a:r>
              <a:rPr lang="en-US" sz="2400" spc="-300" dirty="0">
                <a:solidFill>
                  <a:schemeClr val="tx1"/>
                </a:solidFill>
                <a:latin typeface="Arial" panose="020B0604020202020204" pitchFamily="34" charset="0"/>
                <a:cs typeface="Arial" panose="020B0604020202020204" pitchFamily="34" charset="0"/>
              </a:rPr>
              <a:t>F D </a:t>
            </a:r>
            <a:r>
              <a:rPr lang="en-US" sz="2400" dirty="0">
                <a:solidFill>
                  <a:schemeClr val="tx1"/>
                </a:solidFill>
                <a:latin typeface="Arial" panose="020B0604020202020204" pitchFamily="34" charset="0"/>
                <a:cs typeface="Arial" panose="020B0604020202020204" pitchFamily="34" charset="0"/>
              </a:rPr>
              <a:t>I), we will focus on this type of investment.	</a:t>
            </a:r>
          </a:p>
        </p:txBody>
      </p:sp>
      <p:pic>
        <p:nvPicPr>
          <p:cNvPr id="6" name="Picture 5" descr="Two government certificates. One certificate states, &quot;GENERICORP, STOCK CERTIFICATE&quot; and the other says, &quot;THE GOVERNMENT OF THE FRENCH REPUBLIC TWENTY YEAR GOLD BOND.&quot;">
            <a:extLst>
              <a:ext uri="{FF2B5EF4-FFF2-40B4-BE49-F238E27FC236}">
                <a16:creationId xmlns:a16="http://schemas.microsoft.com/office/drawing/2014/main" id="{22EF450A-B2FB-4006-A7D0-5F0D6FBD612F}"/>
              </a:ext>
            </a:extLst>
          </p:cNvPr>
          <p:cNvPicPr>
            <a:picLocks noChangeAspect="1"/>
          </p:cNvPicPr>
          <p:nvPr/>
        </p:nvPicPr>
        <p:blipFill>
          <a:blip r:embed="rId3"/>
          <a:stretch>
            <a:fillRect/>
          </a:stretch>
        </p:blipFill>
        <p:spPr>
          <a:xfrm>
            <a:off x="560832" y="3438525"/>
            <a:ext cx="3602736" cy="2426208"/>
          </a:xfrm>
          <a:prstGeom prst="rect">
            <a:avLst/>
          </a:prstGeom>
        </p:spPr>
      </p:pic>
      <p:sp>
        <p:nvSpPr>
          <p:cNvPr id="3" name="Content Placeholder 2">
            <a:extLst>
              <a:ext uri="{FF2B5EF4-FFF2-40B4-BE49-F238E27FC236}">
                <a16:creationId xmlns:a16="http://schemas.microsoft.com/office/drawing/2014/main" id="{64686612-A31D-A7A6-9C69-651FBF4BE922}"/>
              </a:ext>
            </a:extLst>
          </p:cNvPr>
          <p:cNvSpPr>
            <a:spLocks noGrp="1"/>
          </p:cNvSpPr>
          <p:nvPr>
            <p:ph sz="quarter" idx="14"/>
          </p:nvPr>
        </p:nvSpPr>
        <p:spPr>
          <a:xfrm>
            <a:off x="4580626" y="3433823"/>
            <a:ext cx="4140200" cy="2252343"/>
          </a:xfrm>
        </p:spPr>
        <p:txBody>
          <a:bodyPr wrap="square" lIns="0" tIns="18000" rIns="0" bIns="18000" anchor="ctr" anchorCtr="0">
            <a:spAutoFit/>
          </a:bodyPr>
          <a:lstStyle/>
          <a:p>
            <a:pPr marL="0" indent="0">
              <a:spcBef>
                <a:spcPts val="600"/>
              </a:spcBef>
              <a:buNone/>
            </a:pPr>
            <a:r>
              <a:rPr lang="en-US" sz="2400" b="1" dirty="0">
                <a:solidFill>
                  <a:schemeClr val="tx1"/>
                </a:solidFill>
                <a:latin typeface="Arial" panose="020B0604020202020204" pitchFamily="34" charset="0"/>
                <a:cs typeface="Arial" panose="020B0604020202020204" pitchFamily="34" charset="0"/>
              </a:rPr>
              <a:t>International portfolio investment</a:t>
            </a:r>
            <a:r>
              <a:rPr lang="en-US" sz="2400" dirty="0">
                <a:solidFill>
                  <a:schemeClr val="tx1"/>
                </a:solidFill>
                <a:latin typeface="Arial" panose="020B0604020202020204" pitchFamily="34" charset="0"/>
                <a:cs typeface="Arial" panose="020B0604020202020204" pitchFamily="34" charset="0"/>
              </a:rPr>
              <a:t>: Passive ownership of foreign securities such as stocks and bonds, in order to generate financial returns.</a:t>
            </a:r>
          </a:p>
        </p:txBody>
      </p:sp>
    </p:spTree>
    <p:extLst>
      <p:ext uri="{BB962C8B-B14F-4D97-AF65-F5344CB8AC3E}">
        <p14:creationId xmlns:p14="http://schemas.microsoft.com/office/powerpoint/2010/main" val="969576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5159"/>
            <a:ext cx="8349310" cy="590349"/>
          </a:xfrm>
        </p:spPr>
        <p:txBody>
          <a:bodyPr wrap="square" lIns="0" tIns="18000" rIns="0" bIns="18000" anchor="ctr" anchorCtr="0">
            <a:spAutoFit/>
          </a:bodyPr>
          <a:lstStyle/>
          <a:p>
            <a:r>
              <a:rPr lang="en-US" dirty="0"/>
              <a:t>Globalization of Markets</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4542" y="869949"/>
            <a:ext cx="8347658" cy="4329835"/>
          </a:xfrm>
        </p:spPr>
        <p:txBody>
          <a:bodyPr wrap="square" lIns="0" tIns="18000" rIns="0" bIns="18000" anchor="ctr" anchorCtr="0">
            <a:spAutoFit/>
          </a:bodyPr>
          <a:lstStyle/>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Unprecedented growth of international trade. In 1960, global trade was $300 billion per year. Today, world exports amount to some $22 trillion annually!</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Trade between nations, accompanied by substantial flows of capital, technology, and knowledge.</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Development of sophisticated global financial systems and mechanisms that facilitate the cross-border flow of products, money, technology, and knowledge.</a:t>
            </a:r>
          </a:p>
          <a:p>
            <a:pPr marL="342900" indent="-342900">
              <a:spcBef>
                <a:spcPts val="600"/>
              </a:spcBef>
            </a:pPr>
            <a:r>
              <a:rPr lang="en-US" sz="2400" dirty="0">
                <a:solidFill>
                  <a:schemeClr val="tx1"/>
                </a:solidFill>
                <a:latin typeface="Arial" panose="020B0604020202020204" pitchFamily="34" charset="0"/>
                <a:cs typeface="Arial" panose="020B0604020202020204" pitchFamily="34" charset="0"/>
              </a:rPr>
              <a:t>Greater collaboration among nations through multilateral regulatory agencies such as the World Trade Organization and the International Monetary Fund.</a:t>
            </a:r>
          </a:p>
        </p:txBody>
      </p:sp>
    </p:spTree>
    <p:extLst>
      <p:ext uri="{BB962C8B-B14F-4D97-AF65-F5344CB8AC3E}">
        <p14:creationId xmlns:p14="http://schemas.microsoft.com/office/powerpoint/2010/main" val="668673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5159"/>
            <a:ext cx="8349310" cy="590349"/>
          </a:xfrm>
        </p:spPr>
        <p:txBody>
          <a:bodyPr wrap="square" lIns="0" tIns="18000" rIns="0" bIns="18000" anchor="ctr" anchorCtr="0">
            <a:spAutoFit/>
          </a:bodyPr>
          <a:lstStyle/>
          <a:p>
            <a:r>
              <a:rPr lang="en-US" dirty="0"/>
              <a:t>The “Flows” of International Business</a:t>
            </a:r>
            <a:endParaRPr lang="en-US" sz="1800" b="0" dirty="0"/>
          </a:p>
        </p:txBody>
      </p:sp>
      <p:pic>
        <p:nvPicPr>
          <p:cNvPr id="4" name="Picture 3" descr="A world map showing the flow of services like knowledge, trade in products, trade in services, and direct investments between the east and the west. ">
            <a:extLst>
              <a:ext uri="{FF2B5EF4-FFF2-40B4-BE49-F238E27FC236}">
                <a16:creationId xmlns:a16="http://schemas.microsoft.com/office/drawing/2014/main" id="{97CDC732-0ED8-4524-AC90-D58DEBAF5DCA}"/>
              </a:ext>
            </a:extLst>
          </p:cNvPr>
          <p:cNvPicPr>
            <a:picLocks noChangeAspect="1"/>
          </p:cNvPicPr>
          <p:nvPr/>
        </p:nvPicPr>
        <p:blipFill>
          <a:blip r:embed="rId3"/>
          <a:stretch>
            <a:fillRect/>
          </a:stretch>
        </p:blipFill>
        <p:spPr>
          <a:xfrm>
            <a:off x="631825" y="1067373"/>
            <a:ext cx="7880350" cy="4723254"/>
          </a:xfrm>
          <a:prstGeom prst="rect">
            <a:avLst/>
          </a:prstGeom>
        </p:spPr>
      </p:pic>
    </p:spTree>
    <p:extLst>
      <p:ext uri="{BB962C8B-B14F-4D97-AF65-F5344CB8AC3E}">
        <p14:creationId xmlns:p14="http://schemas.microsoft.com/office/powerpoint/2010/main" val="909181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5159"/>
            <a:ext cx="8349310" cy="590349"/>
          </a:xfrm>
        </p:spPr>
        <p:txBody>
          <a:bodyPr wrap="square" lIns="0" tIns="18000" rIns="0" bIns="18000" anchor="ctr" anchorCtr="0">
            <a:spAutoFit/>
          </a:bodyPr>
          <a:lstStyle/>
          <a:p>
            <a:r>
              <a:rPr lang="en-US" dirty="0"/>
              <a:t>World Trade and </a:t>
            </a:r>
            <a:r>
              <a:rPr lang="en-US" spc="-500" dirty="0"/>
              <a:t>G D </a:t>
            </a:r>
            <a:r>
              <a:rPr lang="en-US" dirty="0"/>
              <a:t>P</a:t>
            </a:r>
            <a:endParaRPr lang="en-US" sz="1800" b="0" dirty="0"/>
          </a:p>
        </p:txBody>
      </p:sp>
      <p:pic>
        <p:nvPicPr>
          <p:cNvPr id="6" name="Picture 5" descr="A line graph showing the comparison between world trade and world G D P.&#10;Long description is available in notes, press F6.">
            <a:extLst>
              <a:ext uri="{FF2B5EF4-FFF2-40B4-BE49-F238E27FC236}">
                <a16:creationId xmlns:a16="http://schemas.microsoft.com/office/drawing/2014/main" id="{E4C17C3D-260B-7CA4-144D-9F04083FF3F0}"/>
              </a:ext>
            </a:extLst>
          </p:cNvPr>
          <p:cNvPicPr>
            <a:picLocks noChangeAspect="1"/>
          </p:cNvPicPr>
          <p:nvPr/>
        </p:nvPicPr>
        <p:blipFill>
          <a:blip r:embed="rId3"/>
          <a:stretch>
            <a:fillRect/>
          </a:stretch>
        </p:blipFill>
        <p:spPr>
          <a:xfrm>
            <a:off x="1093421" y="933982"/>
            <a:ext cx="6957158" cy="4886522"/>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3168" y="5997911"/>
            <a:ext cx="8347658" cy="405683"/>
          </a:xfrm>
        </p:spPr>
        <p:txBody>
          <a:bodyPr wrap="square" lIns="0" tIns="18000" rIns="0" bIns="18000" anchor="ctr" anchorCtr="0">
            <a:spAutoFit/>
          </a:bodyPr>
          <a:lstStyle/>
          <a:p>
            <a:pPr marL="0" indent="0">
              <a:spcBef>
                <a:spcPts val="600"/>
              </a:spcBef>
              <a:buNone/>
            </a:pPr>
            <a:r>
              <a:rPr lang="en-US" sz="1200" b="1" dirty="0">
                <a:solidFill>
                  <a:schemeClr val="tx1"/>
                </a:solidFill>
                <a:latin typeface="Arial" panose="020B0604020202020204" pitchFamily="34" charset="0"/>
                <a:cs typeface="Arial" panose="020B0604020202020204" pitchFamily="34" charset="0"/>
              </a:rPr>
              <a:t>Source:</a:t>
            </a:r>
            <a:r>
              <a:rPr lang="en-US" sz="1200" dirty="0">
                <a:solidFill>
                  <a:schemeClr val="tx1"/>
                </a:solidFill>
                <a:latin typeface="Arial" panose="020B0604020202020204" pitchFamily="34" charset="0"/>
                <a:cs typeface="Arial" panose="020B0604020202020204" pitchFamily="34" charset="0"/>
              </a:rPr>
              <a:t> Based on data from the International Monetary Fund, World Economic Outlook Database, April, 2023. Exhibit shows the volume of world trade (the sum of world exports and imports) as a percentage of world </a:t>
            </a:r>
            <a:r>
              <a:rPr lang="en-US" sz="1200" spc="-150" dirty="0">
                <a:solidFill>
                  <a:schemeClr val="tx1"/>
                </a:solidFill>
                <a:latin typeface="Arial" panose="020B0604020202020204" pitchFamily="34" charset="0"/>
                <a:cs typeface="Arial" panose="020B0604020202020204" pitchFamily="34" charset="0"/>
              </a:rPr>
              <a:t>G D </a:t>
            </a:r>
            <a:r>
              <a:rPr lang="en-US" sz="1200" dirty="0">
                <a:solidFill>
                  <a:schemeClr val="tx1"/>
                </a:solidFill>
                <a:latin typeface="Arial" panose="020B0604020202020204" pitchFamily="34" charset="0"/>
                <a:cs typeface="Arial" panose="020B0604020202020204" pitchFamily="34" charset="0"/>
              </a:rPr>
              <a:t>P</a:t>
            </a:r>
          </a:p>
        </p:txBody>
      </p:sp>
    </p:spTree>
    <p:extLst>
      <p:ext uri="{BB962C8B-B14F-4D97-AF65-F5344CB8AC3E}">
        <p14:creationId xmlns:p14="http://schemas.microsoft.com/office/powerpoint/2010/main" val="1013413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3251"/>
            <a:ext cx="8349310" cy="1698345"/>
          </a:xfrm>
        </p:spPr>
        <p:txBody>
          <a:bodyPr wrap="square" lIns="0" tIns="18000" rIns="0" bIns="18000" anchor="ctr" anchorCtr="0">
            <a:spAutoFit/>
          </a:bodyPr>
          <a:lstStyle/>
          <a:p>
            <a:r>
              <a:rPr lang="en-US" dirty="0"/>
              <a:t>Leading Countries in International Merchandise Trade, by Total Annual Value, </a:t>
            </a:r>
            <a:r>
              <a:rPr lang="en-US" spc="-500" dirty="0"/>
              <a:t>U </a:t>
            </a:r>
            <a:r>
              <a:rPr lang="en-US" dirty="0"/>
              <a:t>S$ Billions</a:t>
            </a:r>
            <a:endParaRPr lang="en-US" sz="1800" b="0" dirty="0"/>
          </a:p>
        </p:txBody>
      </p:sp>
      <p:pic>
        <p:nvPicPr>
          <p:cNvPr id="8" name="Picture 7" descr="Horizontal bar graphs showing the total annual value of products trade in billions of U. S dollars.&#10;Long description is available in notes, press F6.&#10;">
            <a:extLst>
              <a:ext uri="{FF2B5EF4-FFF2-40B4-BE49-F238E27FC236}">
                <a16:creationId xmlns:a16="http://schemas.microsoft.com/office/drawing/2014/main" id="{3B1686AD-838C-BCC3-2F44-FAF8FE09AECD}"/>
              </a:ext>
            </a:extLst>
          </p:cNvPr>
          <p:cNvPicPr>
            <a:picLocks noChangeAspect="1"/>
          </p:cNvPicPr>
          <p:nvPr/>
        </p:nvPicPr>
        <p:blipFill rotWithShape="1">
          <a:blip r:embed="rId3"/>
          <a:srcRect r="50914"/>
          <a:stretch/>
        </p:blipFill>
        <p:spPr>
          <a:xfrm>
            <a:off x="2612900" y="1916882"/>
            <a:ext cx="3921125" cy="3835603"/>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3168" y="5997911"/>
            <a:ext cx="8347658" cy="405683"/>
          </a:xfrm>
        </p:spPr>
        <p:txBody>
          <a:bodyPr wrap="square" lIns="0" tIns="18000" rIns="0" bIns="18000" anchor="ctr" anchorCtr="0">
            <a:spAutoFit/>
          </a:bodyPr>
          <a:lstStyle/>
          <a:p>
            <a:pPr marL="0" indent="0">
              <a:spcBef>
                <a:spcPts val="600"/>
              </a:spcBef>
              <a:buNone/>
            </a:pPr>
            <a:r>
              <a:rPr lang="en-US" sz="1200" b="1" dirty="0">
                <a:solidFill>
                  <a:schemeClr val="tx1"/>
                </a:solidFill>
                <a:latin typeface="Arial" panose="020B0604020202020204" pitchFamily="34" charset="0"/>
                <a:cs typeface="Arial" panose="020B0604020202020204" pitchFamily="34" charset="0"/>
              </a:rPr>
              <a:t>Sources:</a:t>
            </a:r>
            <a:r>
              <a:rPr lang="en-US" sz="1200" dirty="0">
                <a:solidFill>
                  <a:schemeClr val="tx1"/>
                </a:solidFill>
                <a:latin typeface="Arial" panose="020B0604020202020204" pitchFamily="34" charset="0"/>
                <a:cs typeface="Arial" panose="020B0604020202020204" pitchFamily="34" charset="0"/>
              </a:rPr>
              <a:t> Based on data from the World Bank, World Development Indicators, World Bank, Washington, World Trade Based on data from the World Trade Organization, Statistics Database, Geneva: World Trade Organization (2023),</a:t>
            </a:r>
          </a:p>
        </p:txBody>
      </p:sp>
    </p:spTree>
    <p:extLst>
      <p:ext uri="{BB962C8B-B14F-4D97-AF65-F5344CB8AC3E}">
        <p14:creationId xmlns:p14="http://schemas.microsoft.com/office/powerpoint/2010/main" val="286338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1516" y="113251"/>
            <a:ext cx="8349310" cy="1698345"/>
          </a:xfrm>
        </p:spPr>
        <p:txBody>
          <a:bodyPr wrap="square" lIns="0" tIns="18000" rIns="0" bIns="18000" anchor="ctr" anchorCtr="0">
            <a:spAutoFit/>
          </a:bodyPr>
          <a:lstStyle/>
          <a:p>
            <a:r>
              <a:rPr lang="en-US" dirty="0"/>
              <a:t>Leading Countries in International Merchandise Trade, Total Value as a % of </a:t>
            </a:r>
            <a:r>
              <a:rPr lang="en-US" spc="-500" dirty="0"/>
              <a:t>G D </a:t>
            </a:r>
            <a:r>
              <a:rPr lang="en-US" dirty="0"/>
              <a:t>P</a:t>
            </a:r>
            <a:endParaRPr lang="en-US" sz="1800" b="0" dirty="0"/>
          </a:p>
        </p:txBody>
      </p:sp>
      <p:pic>
        <p:nvPicPr>
          <p:cNvPr id="6" name="Picture 5" descr="Horizontal bar graphs showing the percentage of nation’s G D P, respectively. &#10;Long description is available in notes, press F6.">
            <a:extLst>
              <a:ext uri="{FF2B5EF4-FFF2-40B4-BE49-F238E27FC236}">
                <a16:creationId xmlns:a16="http://schemas.microsoft.com/office/drawing/2014/main" id="{8AC89924-7532-B583-91A2-529B6EF4043D}"/>
              </a:ext>
            </a:extLst>
          </p:cNvPr>
          <p:cNvPicPr>
            <a:picLocks noChangeAspect="1"/>
          </p:cNvPicPr>
          <p:nvPr/>
        </p:nvPicPr>
        <p:blipFill rotWithShape="1">
          <a:blip r:embed="rId3"/>
          <a:srcRect l="48955"/>
          <a:stretch/>
        </p:blipFill>
        <p:spPr>
          <a:xfrm>
            <a:off x="2536002" y="1959771"/>
            <a:ext cx="4077695" cy="3835603"/>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3168" y="5997911"/>
            <a:ext cx="8347658" cy="405683"/>
          </a:xfrm>
        </p:spPr>
        <p:txBody>
          <a:bodyPr wrap="square" lIns="0" tIns="18000" rIns="0" bIns="18000" anchor="ctr" anchorCtr="0">
            <a:spAutoFit/>
          </a:bodyPr>
          <a:lstStyle/>
          <a:p>
            <a:pPr marL="0" indent="0">
              <a:spcBef>
                <a:spcPts val="600"/>
              </a:spcBef>
              <a:buNone/>
            </a:pPr>
            <a:r>
              <a:rPr lang="en-US" sz="1200" b="1" dirty="0">
                <a:solidFill>
                  <a:schemeClr val="tx1"/>
                </a:solidFill>
                <a:latin typeface="Arial" panose="020B0604020202020204" pitchFamily="34" charset="0"/>
                <a:cs typeface="Arial" panose="020B0604020202020204" pitchFamily="34" charset="0"/>
              </a:rPr>
              <a:t>Sources:</a:t>
            </a:r>
            <a:r>
              <a:rPr lang="en-US" sz="1200" dirty="0">
                <a:solidFill>
                  <a:schemeClr val="tx1"/>
                </a:solidFill>
                <a:latin typeface="Arial" panose="020B0604020202020204" pitchFamily="34" charset="0"/>
                <a:cs typeface="Arial" panose="020B0604020202020204" pitchFamily="34" charset="0"/>
              </a:rPr>
              <a:t> Based on data from the World Bank, World Development Indicators, World Bank, Washington, World Trade Based on data from the World Trade Organization, Statistics Database, Geneva: World Trade Organization (2023),</a:t>
            </a:r>
          </a:p>
        </p:txBody>
      </p:sp>
    </p:spTree>
    <p:extLst>
      <p:ext uri="{BB962C8B-B14F-4D97-AF65-F5344CB8AC3E}">
        <p14:creationId xmlns:p14="http://schemas.microsoft.com/office/powerpoint/2010/main" val="747733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dirty="0"/>
              <a:t>Top 25 Countries in International Merchandise Trade</a:t>
            </a:r>
            <a:endParaRPr lang="en-US" sz="1800" b="0" dirty="0"/>
          </a:p>
        </p:txBody>
      </p:sp>
      <p:pic>
        <p:nvPicPr>
          <p:cNvPr id="12" name="Picture 11" descr="An illustration listing the top 25 countries in international merchandise trade based on the value of each country’s combined exports and imports as a percentage of total world trade.&#10;Long description is available in notes, press F6.">
            <a:extLst>
              <a:ext uri="{FF2B5EF4-FFF2-40B4-BE49-F238E27FC236}">
                <a16:creationId xmlns:a16="http://schemas.microsoft.com/office/drawing/2014/main" id="{40D63C03-1515-F9B4-227D-F1351D283868}"/>
              </a:ext>
            </a:extLst>
          </p:cNvPr>
          <p:cNvPicPr>
            <a:picLocks noChangeAspect="1"/>
          </p:cNvPicPr>
          <p:nvPr/>
        </p:nvPicPr>
        <p:blipFill>
          <a:blip r:embed="rId3"/>
          <a:stretch>
            <a:fillRect/>
          </a:stretch>
        </p:blipFill>
        <p:spPr>
          <a:xfrm>
            <a:off x="1313170" y="1648049"/>
            <a:ext cx="6534912" cy="3389376"/>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2313" y="5298739"/>
            <a:ext cx="7867288" cy="221018"/>
          </a:xfrm>
        </p:spPr>
        <p:txBody>
          <a:bodyPr wrap="square" lIns="0" tIns="18000" rIns="0" bIns="18000" anchor="ctr" anchorCtr="0">
            <a:spAutoFit/>
          </a:bodyPr>
          <a:lstStyle/>
          <a:p>
            <a:pPr marL="0" indent="0">
              <a:spcBef>
                <a:spcPts val="600"/>
              </a:spcBef>
              <a:buNone/>
            </a:pPr>
            <a:r>
              <a:rPr lang="en-US" sz="1200" b="1" dirty="0"/>
              <a:t>Sources:</a:t>
            </a:r>
            <a:r>
              <a:rPr lang="en-US" sz="1200" dirty="0"/>
              <a:t> Based on data from the World Bank, World Development Indicators, Washington, </a:t>
            </a:r>
            <a:r>
              <a:rPr lang="en-US" sz="1200" spc="-150" dirty="0"/>
              <a:t>D </a:t>
            </a:r>
            <a:r>
              <a:rPr lang="en-US" sz="1200" dirty="0"/>
              <a:t>C: World Bank (2023),</a:t>
            </a:r>
            <a:endParaRPr lang="en-US" sz="12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1333" y="5570056"/>
            <a:ext cx="1329356" cy="221018"/>
          </a:xfrm>
        </p:spPr>
        <p:txBody>
          <a:bodyPr wrap="square" lIns="0" tIns="18000" rIns="0" bIns="18000" anchor="ctr" anchorCtr="0">
            <a:spAutoFit/>
          </a:bodyPr>
          <a:lstStyle/>
          <a:p>
            <a:pPr marL="0" indent="0">
              <a:buNone/>
            </a:pPr>
            <a:r>
              <a:rPr lang="en-US" sz="1200" dirty="0">
                <a:hlinkClick r:id="rId4" tooltip="www.worldbank.org"/>
              </a:rPr>
              <a:t>www.worldbank.org</a:t>
            </a:r>
            <a:endParaRPr lang="en-US" sz="1200" dirty="0"/>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1746375" y="5570056"/>
            <a:ext cx="6220332" cy="221018"/>
          </a:xfrm>
        </p:spPr>
        <p:txBody>
          <a:bodyPr wrap="square" lIns="0" tIns="18000" rIns="0" bIns="18000" anchor="ctr" anchorCtr="0">
            <a:spAutoFit/>
          </a:bodyPr>
          <a:lstStyle/>
          <a:p>
            <a:pPr marL="0" indent="0">
              <a:buNone/>
            </a:pPr>
            <a:r>
              <a:rPr lang="en-US" sz="1200" dirty="0"/>
              <a:t>; World Trade Organization, Statistics Database, Geneva: World Trade Organization (2023),</a:t>
            </a:r>
          </a:p>
        </p:txBody>
      </p:sp>
      <p:sp>
        <p:nvSpPr>
          <p:cNvPr id="6" name="Content Placeholder 5">
            <a:extLst>
              <a:ext uri="{FF2B5EF4-FFF2-40B4-BE49-F238E27FC236}">
                <a16:creationId xmlns:a16="http://schemas.microsoft.com/office/drawing/2014/main" id="{0AA6AEC4-36E5-45F7-8460-45A3FD401A95}"/>
              </a:ext>
            </a:extLst>
          </p:cNvPr>
          <p:cNvSpPr>
            <a:spLocks noGrp="1"/>
          </p:cNvSpPr>
          <p:nvPr>
            <p:ph sz="quarter" idx="16"/>
          </p:nvPr>
        </p:nvSpPr>
        <p:spPr>
          <a:xfrm>
            <a:off x="362413" y="5829821"/>
            <a:ext cx="886619" cy="221018"/>
          </a:xfrm>
        </p:spPr>
        <p:txBody>
          <a:bodyPr wrap="square" lIns="0" tIns="18000" rIns="0" bIns="18000" anchor="ctr" anchorCtr="0">
            <a:spAutoFit/>
          </a:bodyPr>
          <a:lstStyle/>
          <a:p>
            <a:pPr marL="0" indent="0">
              <a:buNone/>
            </a:pPr>
            <a:r>
              <a:rPr lang="en-US" sz="1200" dirty="0">
                <a:hlinkClick r:id="rId5" tooltip="www.wto.org"/>
              </a:rPr>
              <a:t>www.wto.org</a:t>
            </a:r>
            <a:endParaRPr lang="en-US" sz="1200" dirty="0"/>
          </a:p>
        </p:txBody>
      </p:sp>
      <p:sp>
        <p:nvSpPr>
          <p:cNvPr id="7" name="Content Placeholder 6">
            <a:extLst>
              <a:ext uri="{FF2B5EF4-FFF2-40B4-BE49-F238E27FC236}">
                <a16:creationId xmlns:a16="http://schemas.microsoft.com/office/drawing/2014/main" id="{3F1BE0C5-B8E5-442F-A64A-DBDABFCF2D30}"/>
              </a:ext>
            </a:extLst>
          </p:cNvPr>
          <p:cNvSpPr>
            <a:spLocks noGrp="1"/>
          </p:cNvSpPr>
          <p:nvPr>
            <p:ph sz="quarter" idx="17"/>
          </p:nvPr>
        </p:nvSpPr>
        <p:spPr>
          <a:xfrm>
            <a:off x="1310628" y="5843913"/>
            <a:ext cx="4804422" cy="221018"/>
          </a:xfrm>
        </p:spPr>
        <p:txBody>
          <a:bodyPr wrap="square" lIns="0" tIns="18000" rIns="0" bIns="18000" anchor="ctr" anchorCtr="0">
            <a:spAutoFit/>
          </a:bodyPr>
          <a:lstStyle/>
          <a:p>
            <a:pPr marL="0" indent="0">
              <a:buNone/>
            </a:pPr>
            <a:r>
              <a:rPr lang="en-US" sz="1200" dirty="0"/>
              <a:t>; </a:t>
            </a:r>
            <a:r>
              <a:rPr lang="en-US" sz="1200" spc="-150" dirty="0"/>
              <a:t>U N C T A </a:t>
            </a:r>
            <a:r>
              <a:rPr lang="en-US" sz="1200" dirty="0"/>
              <a:t>D, World Investment Report, New York: United Nation (2023),</a:t>
            </a:r>
          </a:p>
        </p:txBody>
      </p:sp>
      <p:sp>
        <p:nvSpPr>
          <p:cNvPr id="8" name="Content Placeholder 7">
            <a:extLst>
              <a:ext uri="{FF2B5EF4-FFF2-40B4-BE49-F238E27FC236}">
                <a16:creationId xmlns:a16="http://schemas.microsoft.com/office/drawing/2014/main" id="{09C3AC84-79A8-41AE-B80F-D0CCDECD708C}"/>
              </a:ext>
            </a:extLst>
          </p:cNvPr>
          <p:cNvSpPr>
            <a:spLocks noGrp="1"/>
          </p:cNvSpPr>
          <p:nvPr>
            <p:ph sz="quarter" idx="18"/>
          </p:nvPr>
        </p:nvSpPr>
        <p:spPr>
          <a:xfrm>
            <a:off x="6176646" y="5838031"/>
            <a:ext cx="1125172" cy="221018"/>
          </a:xfrm>
        </p:spPr>
        <p:txBody>
          <a:bodyPr wrap="square" lIns="0" tIns="18000" rIns="0" bIns="18000" anchor="ctr" anchorCtr="0">
            <a:spAutoFit/>
          </a:bodyPr>
          <a:lstStyle/>
          <a:p>
            <a:pPr marL="0" indent="0">
              <a:buNone/>
            </a:pPr>
            <a:r>
              <a:rPr lang="en-US" sz="1200" dirty="0">
                <a:hlinkClick r:id="rId6" tooltip="www.unctad.org"/>
              </a:rPr>
              <a:t>www.unctad.org</a:t>
            </a:r>
            <a:endParaRPr lang="en-US" sz="1200" dirty="0"/>
          </a:p>
        </p:txBody>
      </p:sp>
      <p:sp>
        <p:nvSpPr>
          <p:cNvPr id="9" name="Content Placeholder 8">
            <a:extLst>
              <a:ext uri="{FF2B5EF4-FFF2-40B4-BE49-F238E27FC236}">
                <a16:creationId xmlns:a16="http://schemas.microsoft.com/office/drawing/2014/main" id="{B53E7685-B691-4640-9AEB-508719305F2B}"/>
              </a:ext>
            </a:extLst>
          </p:cNvPr>
          <p:cNvSpPr>
            <a:spLocks noGrp="1"/>
          </p:cNvSpPr>
          <p:nvPr>
            <p:ph sz="quarter" idx="19"/>
          </p:nvPr>
        </p:nvSpPr>
        <p:spPr>
          <a:xfrm>
            <a:off x="7363414" y="5833926"/>
            <a:ext cx="770936" cy="221018"/>
          </a:xfrm>
        </p:spPr>
        <p:txBody>
          <a:bodyPr wrap="square" lIns="0" tIns="18000" rIns="0" bIns="18000" anchor="ctr" anchorCtr="0">
            <a:spAutoFit/>
          </a:bodyPr>
          <a:lstStyle/>
          <a:p>
            <a:pPr marL="0" indent="0">
              <a:buNone/>
            </a:pPr>
            <a:r>
              <a:rPr lang="en-US" sz="1200" dirty="0"/>
              <a:t>. Note: The</a:t>
            </a:r>
          </a:p>
        </p:txBody>
      </p:sp>
      <p:sp>
        <p:nvSpPr>
          <p:cNvPr id="10" name="Content Placeholder 9">
            <a:extLst>
              <a:ext uri="{FF2B5EF4-FFF2-40B4-BE49-F238E27FC236}">
                <a16:creationId xmlns:a16="http://schemas.microsoft.com/office/drawing/2014/main" id="{9DFE0758-11BA-459D-98CF-350268972755}"/>
              </a:ext>
            </a:extLst>
          </p:cNvPr>
          <p:cNvSpPr>
            <a:spLocks noGrp="1"/>
          </p:cNvSpPr>
          <p:nvPr>
            <p:ph sz="quarter" idx="20"/>
          </p:nvPr>
        </p:nvSpPr>
        <p:spPr>
          <a:xfrm>
            <a:off x="358775" y="6109995"/>
            <a:ext cx="7360920" cy="221018"/>
          </a:xfrm>
        </p:spPr>
        <p:txBody>
          <a:bodyPr wrap="square" lIns="0" tIns="18000" rIns="0" bIns="18000" anchor="ctr" anchorCtr="0">
            <a:spAutoFit/>
          </a:bodyPr>
          <a:lstStyle/>
          <a:p>
            <a:pPr marL="0" indent="0">
              <a:buNone/>
            </a:pPr>
            <a:r>
              <a:rPr lang="en-US" sz="1200" dirty="0"/>
              <a:t>exhibit reflects the value of each country’s combined exports and imports as a percentage of total world trade</a:t>
            </a:r>
          </a:p>
        </p:txBody>
      </p:sp>
    </p:spTree>
    <p:extLst>
      <p:ext uri="{BB962C8B-B14F-4D97-AF65-F5344CB8AC3E}">
        <p14:creationId xmlns:p14="http://schemas.microsoft.com/office/powerpoint/2010/main" val="479297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9"/>
            <a:ext cx="8341260" cy="1144347"/>
          </a:xfrm>
        </p:spPr>
        <p:txBody>
          <a:bodyPr wrap="square" lIns="0" tIns="18000" rIns="0" bIns="18000" anchor="ctr" anchorCtr="0">
            <a:spAutoFit/>
          </a:bodyPr>
          <a:lstStyle/>
          <a:p>
            <a:r>
              <a:rPr lang="en-US" spc="-500" dirty="0"/>
              <a:t>F D </a:t>
            </a:r>
            <a:r>
              <a:rPr lang="en-US" dirty="0"/>
              <a:t>I Inflows into World Regions (in Billions of U.S. Dollars per Year)</a:t>
            </a:r>
            <a:endParaRPr lang="en-US" sz="1800" b="0" dirty="0"/>
          </a:p>
        </p:txBody>
      </p:sp>
      <p:pic>
        <p:nvPicPr>
          <p:cNvPr id="9" name="Picture 8" descr="An area graph depicting the foreign direct investment inflows into world regions in billions of U. S. dollars per year.&#10;Long description is available in notes, press F6.">
            <a:extLst>
              <a:ext uri="{FF2B5EF4-FFF2-40B4-BE49-F238E27FC236}">
                <a16:creationId xmlns:a16="http://schemas.microsoft.com/office/drawing/2014/main" id="{85C2100A-CDD6-1901-0454-BF3A2E25E0FD}"/>
              </a:ext>
            </a:extLst>
          </p:cNvPr>
          <p:cNvPicPr>
            <a:picLocks noChangeAspect="1"/>
          </p:cNvPicPr>
          <p:nvPr/>
        </p:nvPicPr>
        <p:blipFill>
          <a:blip r:embed="rId3"/>
          <a:stretch>
            <a:fillRect/>
          </a:stretch>
        </p:blipFill>
        <p:spPr>
          <a:xfrm>
            <a:off x="1324461" y="1464974"/>
            <a:ext cx="6495078" cy="3979808"/>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2313" y="5628761"/>
            <a:ext cx="7438662" cy="221018"/>
          </a:xfrm>
        </p:spPr>
        <p:txBody>
          <a:bodyPr wrap="square" lIns="0" tIns="18000" rIns="0" bIns="18000" anchor="ctr" anchorCtr="0">
            <a:spAutoFit/>
          </a:bodyPr>
          <a:lstStyle/>
          <a:p>
            <a:pPr marL="0" indent="0">
              <a:spcBef>
                <a:spcPts val="600"/>
              </a:spcBef>
              <a:buNone/>
            </a:pPr>
            <a:r>
              <a:rPr lang="en-US" sz="1200" b="1" dirty="0"/>
              <a:t>Sources:</a:t>
            </a:r>
            <a:r>
              <a:rPr lang="en-US" sz="1200" dirty="0"/>
              <a:t> </a:t>
            </a:r>
            <a:r>
              <a:rPr lang="en-US" sz="1200" spc="-150" dirty="0"/>
              <a:t>U N C T A </a:t>
            </a:r>
            <a:r>
              <a:rPr lang="en-US" sz="1200" dirty="0"/>
              <a:t>D, </a:t>
            </a:r>
            <a:r>
              <a:rPr lang="en-US" sz="1200" spc="-150" dirty="0"/>
              <a:t>U N C T A D S T A </a:t>
            </a:r>
            <a:r>
              <a:rPr lang="en-US" sz="1200" dirty="0"/>
              <a:t>T Database, Inward </a:t>
            </a:r>
            <a:r>
              <a:rPr lang="en-US" sz="1200" spc="-150" dirty="0"/>
              <a:t>F D </a:t>
            </a:r>
            <a:r>
              <a:rPr lang="en-US" sz="1200" dirty="0"/>
              <a:t>I Flows, Annual (2023); </a:t>
            </a:r>
            <a:r>
              <a:rPr lang="en-US" sz="1200" spc="-150" dirty="0"/>
              <a:t>O E C </a:t>
            </a:r>
            <a:r>
              <a:rPr lang="en-US" sz="1200" dirty="0"/>
              <a:t>D, </a:t>
            </a:r>
            <a:r>
              <a:rPr lang="en-US" sz="1200" spc="-150" dirty="0"/>
              <a:t>F D </a:t>
            </a:r>
            <a:r>
              <a:rPr lang="en-US" sz="1200" dirty="0"/>
              <a:t>I Flows (2023),</a:t>
            </a:r>
            <a:endParaRPr lang="en-US" sz="12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1332" y="5882378"/>
            <a:ext cx="2505693" cy="221018"/>
          </a:xfrm>
        </p:spPr>
        <p:txBody>
          <a:bodyPr wrap="square" lIns="0" tIns="18000" rIns="0" bIns="18000" anchor="ctr" anchorCtr="0">
            <a:spAutoFit/>
          </a:bodyPr>
          <a:lstStyle/>
          <a:p>
            <a:pPr marL="0" indent="0">
              <a:buNone/>
            </a:pPr>
            <a:r>
              <a:rPr lang="en-US" sz="1200" dirty="0">
                <a:hlinkClick r:id="rId4" tooltip="https://data.oecd.org/fdi/fdi-flows.htm"/>
              </a:rPr>
              <a:t>https://data.oecd.org/fdi/fdi-flows.htm</a:t>
            </a:r>
            <a:endParaRPr lang="en-US" sz="1200" dirty="0"/>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2935095" y="5891489"/>
            <a:ext cx="5469765" cy="221018"/>
          </a:xfrm>
        </p:spPr>
        <p:txBody>
          <a:bodyPr wrap="square" lIns="0" tIns="18000" rIns="0" bIns="18000" anchor="ctr" anchorCtr="0">
            <a:spAutoFit/>
          </a:bodyPr>
          <a:lstStyle/>
          <a:p>
            <a:pPr marL="0" indent="0">
              <a:buNone/>
            </a:pPr>
            <a:r>
              <a:rPr lang="en-US" sz="1200" dirty="0"/>
              <a:t>; World Bank, Foreign Direct Investment, Net Inflows (</a:t>
            </a:r>
            <a:r>
              <a:rPr lang="en-US" sz="1200" dirty="0" err="1"/>
              <a:t>BoP</a:t>
            </a:r>
            <a:r>
              <a:rPr lang="en-US" sz="1200" dirty="0"/>
              <a:t>, Current </a:t>
            </a:r>
            <a:r>
              <a:rPr lang="en-US" sz="1200" spc="-150" dirty="0"/>
              <a:t>U </a:t>
            </a:r>
            <a:r>
              <a:rPr lang="en-US" sz="1200" dirty="0"/>
              <a:t>S$) (2023),</a:t>
            </a:r>
          </a:p>
        </p:txBody>
      </p:sp>
      <p:sp>
        <p:nvSpPr>
          <p:cNvPr id="6" name="Content Placeholder 5">
            <a:extLst>
              <a:ext uri="{FF2B5EF4-FFF2-40B4-BE49-F238E27FC236}">
                <a16:creationId xmlns:a16="http://schemas.microsoft.com/office/drawing/2014/main" id="{0AA6AEC4-36E5-45F7-8460-45A3FD401A95}"/>
              </a:ext>
            </a:extLst>
          </p:cNvPr>
          <p:cNvSpPr>
            <a:spLocks noGrp="1"/>
          </p:cNvSpPr>
          <p:nvPr>
            <p:ph sz="quarter" idx="16"/>
          </p:nvPr>
        </p:nvSpPr>
        <p:spPr>
          <a:xfrm>
            <a:off x="362413" y="6183314"/>
            <a:ext cx="1702607" cy="221018"/>
          </a:xfrm>
        </p:spPr>
        <p:txBody>
          <a:bodyPr wrap="square" lIns="0" tIns="18000" rIns="0" bIns="18000" anchor="ctr" anchorCtr="0">
            <a:spAutoFit/>
          </a:bodyPr>
          <a:lstStyle/>
          <a:p>
            <a:pPr marL="0" indent="0">
              <a:buNone/>
            </a:pPr>
            <a:r>
              <a:rPr lang="en-US" sz="1200" dirty="0">
                <a:hlinkClick r:id="rId5" tooltip="http://data.worldbank.org"/>
              </a:rPr>
              <a:t>http://data.worldbank.org</a:t>
            </a:r>
            <a:endParaRPr lang="en-US" sz="1200" dirty="0"/>
          </a:p>
        </p:txBody>
      </p:sp>
      <p:sp>
        <p:nvSpPr>
          <p:cNvPr id="7" name="Content Placeholder 6">
            <a:extLst>
              <a:ext uri="{FF2B5EF4-FFF2-40B4-BE49-F238E27FC236}">
                <a16:creationId xmlns:a16="http://schemas.microsoft.com/office/drawing/2014/main" id="{3F1BE0C5-B8E5-442F-A64A-DBDABFCF2D30}"/>
              </a:ext>
            </a:extLst>
          </p:cNvPr>
          <p:cNvSpPr>
            <a:spLocks noGrp="1"/>
          </p:cNvSpPr>
          <p:nvPr>
            <p:ph sz="quarter" idx="17"/>
          </p:nvPr>
        </p:nvSpPr>
        <p:spPr>
          <a:xfrm>
            <a:off x="2086610" y="6183314"/>
            <a:ext cx="91452" cy="221018"/>
          </a:xfrm>
        </p:spPr>
        <p:txBody>
          <a:bodyPr wrap="square" lIns="0" tIns="18000" rIns="0" bIns="18000" anchor="ctr" anchorCtr="0">
            <a:spAutoFit/>
          </a:bodyPr>
          <a:lstStyle/>
          <a:p>
            <a:pPr marL="0" indent="0">
              <a:buNone/>
            </a:pPr>
            <a:r>
              <a:rPr lang="en-US" sz="1200" dirty="0"/>
              <a:t>.</a:t>
            </a:r>
          </a:p>
        </p:txBody>
      </p:sp>
    </p:spTree>
    <p:extLst>
      <p:ext uri="{BB962C8B-B14F-4D97-AF65-F5344CB8AC3E}">
        <p14:creationId xmlns:p14="http://schemas.microsoft.com/office/powerpoint/2010/main" val="3613722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9682" y="114200"/>
            <a:ext cx="8351144" cy="1144347"/>
          </a:xfrm>
        </p:spPr>
        <p:txBody>
          <a:bodyPr wrap="square" lIns="0" tIns="18000" rIns="0" bIns="18000" anchor="ctr" anchorCtr="0">
            <a:spAutoFit/>
          </a:bodyPr>
          <a:lstStyle/>
          <a:p>
            <a:r>
              <a:rPr lang="en-US" dirty="0"/>
              <a:t>Service Industries That Are Rapidly Internationalizing</a:t>
            </a:r>
            <a:endParaRPr lang="en-US" sz="1800" b="0" dirty="0"/>
          </a:p>
        </p:txBody>
      </p:sp>
      <p:graphicFrame>
        <p:nvGraphicFramePr>
          <p:cNvPr id="16" name="Table 15">
            <a:extLst>
              <a:ext uri="{FF2B5EF4-FFF2-40B4-BE49-F238E27FC236}">
                <a16:creationId xmlns:a16="http://schemas.microsoft.com/office/drawing/2014/main" id="{74951BD2-A92D-4E60-B7EA-495FC8FCB6B2}"/>
              </a:ext>
            </a:extLst>
          </p:cNvPr>
          <p:cNvGraphicFramePr>
            <a:graphicFrameLocks noGrp="1"/>
          </p:cNvGraphicFramePr>
          <p:nvPr>
            <p:extLst>
              <p:ext uri="{D42A27DB-BD31-4B8C-83A1-F6EECF244321}">
                <p14:modId xmlns:p14="http://schemas.microsoft.com/office/powerpoint/2010/main" val="758098979"/>
              </p:ext>
            </p:extLst>
          </p:nvPr>
        </p:nvGraphicFramePr>
        <p:xfrm>
          <a:off x="595324" y="1523764"/>
          <a:ext cx="7973323" cy="4497962"/>
        </p:xfrm>
        <a:graphic>
          <a:graphicData uri="http://schemas.openxmlformats.org/drawingml/2006/table">
            <a:tbl>
              <a:tblPr firstRow="1" bandRow="1">
                <a:tableStyleId>{2D5ABB26-0587-4C30-8999-92F81FD0307C}</a:tableStyleId>
              </a:tblPr>
              <a:tblGrid>
                <a:gridCol w="1914963">
                  <a:extLst>
                    <a:ext uri="{9D8B030D-6E8A-4147-A177-3AD203B41FA5}">
                      <a16:colId xmlns:a16="http://schemas.microsoft.com/office/drawing/2014/main" val="20000"/>
                    </a:ext>
                  </a:extLst>
                </a:gridCol>
                <a:gridCol w="2527539">
                  <a:extLst>
                    <a:ext uri="{9D8B030D-6E8A-4147-A177-3AD203B41FA5}">
                      <a16:colId xmlns:a16="http://schemas.microsoft.com/office/drawing/2014/main" val="20001"/>
                    </a:ext>
                  </a:extLst>
                </a:gridCol>
                <a:gridCol w="3530821">
                  <a:extLst>
                    <a:ext uri="{9D8B030D-6E8A-4147-A177-3AD203B41FA5}">
                      <a16:colId xmlns:a16="http://schemas.microsoft.com/office/drawing/2014/main" val="20003"/>
                    </a:ext>
                  </a:extLst>
                </a:gridCol>
              </a:tblGrid>
              <a:tr h="204057">
                <a:tc>
                  <a:txBody>
                    <a:bodyPr/>
                    <a:lstStyle/>
                    <a:p>
                      <a:r>
                        <a:rPr lang="en-US" sz="1200" b="1" u="none" strike="noStrike" kern="1200" baseline="0" dirty="0">
                          <a:solidFill>
                            <a:schemeClr val="bg1"/>
                          </a:solidFill>
                          <a:latin typeface="Arial" panose="020B0604020202020204" pitchFamily="34" charset="0"/>
                          <a:cs typeface="Arial" panose="020B0604020202020204" pitchFamily="34" charset="0"/>
                        </a:rPr>
                        <a:t>Industry </a:t>
                      </a:r>
                    </a:p>
                  </a:txBody>
                  <a:tcPr marL="92354" marR="92354" marT="30403" marB="30403">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r>
                        <a:rPr lang="en-US" sz="1200" b="1" u="none" strike="noStrike" kern="1200" baseline="0" dirty="0">
                          <a:solidFill>
                            <a:schemeClr val="bg1"/>
                          </a:solidFill>
                          <a:latin typeface="Arial" panose="020B0604020202020204" pitchFamily="34" charset="0"/>
                          <a:cs typeface="Arial" panose="020B0604020202020204" pitchFamily="34" charset="0"/>
                        </a:rPr>
                        <a:t>Representative Activities </a:t>
                      </a:r>
                    </a:p>
                  </a:txBody>
                  <a:tcPr marL="92354" marR="92354" marT="30403" marB="30403">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r>
                        <a:rPr lang="en-US" sz="1200" b="1" u="none" strike="noStrike" kern="1200" baseline="0" dirty="0">
                          <a:solidFill>
                            <a:schemeClr val="bg1"/>
                          </a:solidFill>
                          <a:latin typeface="Arial" panose="020B0604020202020204" pitchFamily="34" charset="0"/>
                          <a:cs typeface="Arial" panose="020B0604020202020204" pitchFamily="34" charset="0"/>
                        </a:rPr>
                        <a:t>Representative Companies </a:t>
                      </a:r>
                    </a:p>
                  </a:txBody>
                  <a:tcPr marL="92354" marR="92354" marT="30403" marB="30403">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506973">
                <a:tc>
                  <a:txBody>
                    <a:bodyPr/>
                    <a:lstStyle/>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Architectural, construction, </a:t>
                      </a:r>
                      <a:endParaRPr sz="1200" dirty="0">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and engineering </a:t>
                      </a:r>
                      <a:endParaRPr sz="1200"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Construction, power utilities, design, engineering services, </a:t>
                      </a:r>
                      <a:endParaRPr sz="1200" dirty="0">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for airports, hospitals, dams </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A</a:t>
                      </a:r>
                      <a:r>
                        <a:rPr lang="en-US" sz="1200" b="0" i="0" u="none" strike="noStrike" cap="none" spc="-150" dirty="0">
                          <a:solidFill>
                            <a:schemeClr val="dk1"/>
                          </a:solidFill>
                          <a:latin typeface="Arial" panose="020B0604020202020204" pitchFamily="34" charset="0"/>
                          <a:ea typeface="Arial"/>
                          <a:cs typeface="Arial" panose="020B0604020202020204" pitchFamily="34" charset="0"/>
                          <a:sym typeface="Arial"/>
                        </a:rPr>
                        <a:t> </a:t>
                      </a:r>
                      <a:r>
                        <a:rPr lang="en-US" sz="1200" b="0" i="0" u="none" strike="noStrike" cap="none" spc="0" dirty="0">
                          <a:solidFill>
                            <a:schemeClr val="dk1"/>
                          </a:solidFill>
                          <a:latin typeface="Arial" panose="020B0604020202020204" pitchFamily="34" charset="0"/>
                          <a:ea typeface="Arial"/>
                          <a:cs typeface="Arial" panose="020B0604020202020204" pitchFamily="34" charset="0"/>
                          <a:sym typeface="Arial"/>
                        </a:rPr>
                        <a:t>B</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 , Bechtel Group, Halliburton, Kajima, Philip Holzman, Skanska </a:t>
                      </a: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A </a:t>
                      </a:r>
                      <a:r>
                        <a:rPr lang="en-US" sz="1200" b="0" i="0" u="none" strike="noStrike" cap="none" spc="0" dirty="0">
                          <a:solidFill>
                            <a:schemeClr val="dk1"/>
                          </a:solidFill>
                          <a:latin typeface="Arial" panose="020B0604020202020204" pitchFamily="34" charset="0"/>
                          <a:ea typeface="Arial"/>
                          <a:cs typeface="Arial" panose="020B0604020202020204" pitchFamily="34" charset="0"/>
                          <a:sym typeface="Arial"/>
                        </a:rPr>
                        <a:t>B</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52645">
                <a:tc>
                  <a:txBody>
                    <a:bodyPr/>
                    <a:lstStyle/>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Banking, finance, and insurance </a:t>
                      </a:r>
                      <a:endParaRPr sz="1200" u="none" strike="noStrike" cap="none"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Banks, insurance, risk evaluation, management </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Bank of America, </a:t>
                      </a: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C I G N </a:t>
                      </a:r>
                      <a:r>
                        <a:rPr lang="en-US" sz="1200" b="0" i="0" u="none" strike="noStrike" cap="none" spc="0" dirty="0">
                          <a:solidFill>
                            <a:schemeClr val="dk1"/>
                          </a:solidFill>
                          <a:latin typeface="Arial" panose="020B0604020202020204" pitchFamily="34" charset="0"/>
                          <a:ea typeface="Arial"/>
                          <a:cs typeface="Arial" panose="020B0604020202020204" pitchFamily="34" charset="0"/>
                          <a:sym typeface="Arial"/>
                        </a:rPr>
                        <a:t>A</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 Barclays, </a:t>
                      </a: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H S B </a:t>
                      </a:r>
                      <a:r>
                        <a:rPr lang="en-US" sz="1200" b="0" i="0" u="none" strike="noStrike" cap="none" spc="100" dirty="0">
                          <a:solidFill>
                            <a:schemeClr val="dk1"/>
                          </a:solidFill>
                          <a:latin typeface="Arial" panose="020B0604020202020204" pitchFamily="34" charset="0"/>
                          <a:ea typeface="Arial"/>
                          <a:cs typeface="Arial" panose="020B0604020202020204" pitchFamily="34" charset="0"/>
                          <a:sym typeface="Arial"/>
                        </a:rPr>
                        <a:t>C</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 Ernst &amp; young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506973">
                <a:tc>
                  <a:txBody>
                    <a:bodyPr/>
                    <a:lstStyle/>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Education, training, and publishing </a:t>
                      </a:r>
                      <a:endParaRPr sz="1200"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Management training, technical training, language training </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Berlitz, Kumon Math &amp; Reading Centers, </a:t>
                      </a: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N O V </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A, Pearson, Elsevier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52645">
                <a:tc>
                  <a:txBody>
                    <a:bodyPr/>
                    <a:lstStyle/>
                    <a:p>
                      <a:pPr marL="0" marR="0" lvl="0" indent="0" algn="l" rtl="0">
                        <a:lnSpc>
                          <a:spcPct val="100000"/>
                        </a:lnSpc>
                        <a:spcBef>
                          <a:spcPts val="0"/>
                        </a:spcBef>
                        <a:spcAft>
                          <a:spcPts val="0"/>
                        </a:spcAft>
                        <a:buClr>
                          <a:srgbClr val="3C1581"/>
                        </a:buClr>
                        <a:buSzPts val="35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Entertainment </a:t>
                      </a:r>
                      <a:endParaRPr sz="1200"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Movies, recorded music, Internet- based entertainment</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Time Warner, Sony, Virgin, </a:t>
                      </a: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M G </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M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46192135"/>
                  </a:ext>
                </a:extLst>
              </a:tr>
              <a:tr h="661301">
                <a:tc>
                  <a:txBody>
                    <a:bodyPr/>
                    <a:lstStyle/>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Information services </a:t>
                      </a:r>
                      <a:endParaRPr sz="1200"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E-commerce, e-mail, funds transfer, data interchange, data processing, computer services </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Infosys, </a:t>
                      </a: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E D </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I, Hitachi, Qualcomm, Cisco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25350966"/>
                  </a:ext>
                </a:extLst>
              </a:tr>
              <a:tr h="506973">
                <a:tc>
                  <a:txBody>
                    <a:bodyPr/>
                    <a:lstStyle/>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Professional business </a:t>
                      </a:r>
                      <a:endParaRPr sz="1200" dirty="0">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services </a:t>
                      </a:r>
                      <a:endParaRPr sz="1200"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Accounting, advertising, legal, management consulting </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Leo Burnett, EYLaw, McKinsey, A.T. Kearney, Booz Allen Hamilton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666407661"/>
                  </a:ext>
                </a:extLst>
              </a:tr>
              <a:tr h="506973">
                <a:tc>
                  <a:txBody>
                    <a:bodyPr/>
                    <a:lstStyle/>
                    <a:p>
                      <a:pPr marL="0" marR="0" lvl="0" indent="0" algn="l" rtl="0">
                        <a:lnSpc>
                          <a:spcPct val="100000"/>
                        </a:lnSpc>
                        <a:spcBef>
                          <a:spcPts val="0"/>
                        </a:spcBef>
                        <a:spcAft>
                          <a:spcPts val="0"/>
                        </a:spcAft>
                        <a:buClr>
                          <a:srgbClr val="3C1581"/>
                        </a:buClr>
                        <a:buSzPts val="35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Transportation </a:t>
                      </a:r>
                      <a:endParaRPr sz="1200"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Aviation, ocean shipping, railroads, trucking, airports </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Maersk, Santa Fe, Port Authority of New Jersey, </a:t>
                      </a:r>
                      <a:r>
                        <a:rPr lang="en-US" sz="1200" b="0" i="0" u="none" strike="noStrike" cap="none" spc="-150" baseline="0" dirty="0">
                          <a:solidFill>
                            <a:schemeClr val="dk1"/>
                          </a:solidFill>
                          <a:latin typeface="Arial" panose="020B0604020202020204" pitchFamily="34" charset="0"/>
                          <a:ea typeface="Arial"/>
                          <a:cs typeface="Arial" panose="020B0604020202020204" pitchFamily="34" charset="0"/>
                          <a:sym typeface="Arial"/>
                        </a:rPr>
                        <a:t>S N C </a:t>
                      </a: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F (French railroads)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182584166"/>
                  </a:ext>
                </a:extLst>
              </a:tr>
              <a:tr h="506973">
                <a:tc>
                  <a:txBody>
                    <a:bodyPr/>
                    <a:lstStyle/>
                    <a:p>
                      <a:pPr marL="0" marR="0" lvl="0" indent="0" algn="l" rtl="0">
                        <a:lnSpc>
                          <a:spcPct val="100000"/>
                        </a:lnSpc>
                        <a:spcBef>
                          <a:spcPts val="0"/>
                        </a:spcBef>
                        <a:spcAft>
                          <a:spcPts val="0"/>
                        </a:spcAft>
                        <a:buClr>
                          <a:schemeClr val="dk1"/>
                        </a:buClr>
                        <a:buSzPts val="14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Travel and tourism </a:t>
                      </a:r>
                      <a:endParaRPr sz="1200" dirty="0">
                        <a:latin typeface="Arial" panose="020B0604020202020204" pitchFamily="34" charset="0"/>
                        <a:cs typeface="Arial" panose="020B0604020202020204" pitchFamily="34" charset="0"/>
                      </a:endParaRPr>
                    </a:p>
                  </a:txBody>
                  <a:tcPr marL="91450" marR="91450" marT="30407" marB="30407">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Transportation, lodging, food and beverage, aircraft travel, ocean carriers, railways </a:t>
                      </a:r>
                      <a:endParaRPr sz="1200" dirty="0">
                        <a:latin typeface="Arial" panose="020B0604020202020204" pitchFamily="34" charset="0"/>
                        <a:cs typeface="Arial" panose="020B0604020202020204" pitchFamily="34" charset="0"/>
                      </a:endParaRPr>
                    </a:p>
                  </a:txBody>
                  <a:tcPr marL="91450" marR="91450" marT="30407" marB="3040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0"/>
                        </a:spcBef>
                        <a:spcAft>
                          <a:spcPts val="0"/>
                        </a:spcAft>
                        <a:buClr>
                          <a:schemeClr val="dk1"/>
                        </a:buClr>
                        <a:buSzPts val="1200"/>
                        <a:buFont typeface="Arial"/>
                        <a:buNone/>
                      </a:pPr>
                      <a:r>
                        <a:rPr lang="en-US" sz="1200" b="0" i="0" u="none" strike="noStrike" cap="none" dirty="0">
                          <a:solidFill>
                            <a:schemeClr val="dk1"/>
                          </a:solidFill>
                          <a:latin typeface="Arial" panose="020B0604020202020204" pitchFamily="34" charset="0"/>
                          <a:ea typeface="Arial"/>
                          <a:cs typeface="Arial" panose="020B0604020202020204" pitchFamily="34" charset="0"/>
                          <a:sym typeface="Arial"/>
                        </a:rPr>
                        <a:t>Carlson Wagonlit, Marriott, British Airways </a:t>
                      </a:r>
                      <a:endParaRPr sz="1200" dirty="0">
                        <a:latin typeface="Arial" panose="020B0604020202020204" pitchFamily="34" charset="0"/>
                        <a:cs typeface="Arial" panose="020B0604020202020204" pitchFamily="34" charset="0"/>
                      </a:endParaRPr>
                    </a:p>
                  </a:txBody>
                  <a:tcPr marL="91450" marR="91450" marT="30407" marB="30407">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865048409"/>
                  </a:ext>
                </a:extLst>
              </a:tr>
            </a:tbl>
          </a:graphicData>
        </a:graphic>
      </p:graphicFrame>
    </p:spTree>
    <p:extLst>
      <p:ext uri="{BB962C8B-B14F-4D97-AF65-F5344CB8AC3E}">
        <p14:creationId xmlns:p14="http://schemas.microsoft.com/office/powerpoint/2010/main" val="4129235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87301"/>
            <a:ext cx="8341260" cy="959681"/>
          </a:xfrm>
        </p:spPr>
        <p:txBody>
          <a:bodyPr wrap="square" lIns="0" tIns="18000" rIns="0" bIns="18000" anchor="ctr" anchorCtr="0">
            <a:spAutoFit/>
          </a:bodyPr>
          <a:lstStyle/>
          <a:p>
            <a:r>
              <a:rPr lang="en-US" sz="3000" dirty="0"/>
              <a:t>Leading Countries in International Services Trade, by Total Annual Value, $Billions</a:t>
            </a:r>
            <a:endParaRPr lang="en-US" sz="3000" b="0" dirty="0"/>
          </a:p>
        </p:txBody>
      </p:sp>
      <p:pic>
        <p:nvPicPr>
          <p:cNvPr id="11" name="Picture 10" descr="Horizontal bar graphs showing the total annual value of services trade in billions of U. S dollars.&#10;Long description is available in notes, press F6.">
            <a:extLst>
              <a:ext uri="{FF2B5EF4-FFF2-40B4-BE49-F238E27FC236}">
                <a16:creationId xmlns:a16="http://schemas.microsoft.com/office/drawing/2014/main" id="{A7756795-23F0-CA94-E07D-D99E06928E59}"/>
              </a:ext>
            </a:extLst>
          </p:cNvPr>
          <p:cNvPicPr>
            <a:picLocks noChangeAspect="1"/>
          </p:cNvPicPr>
          <p:nvPr/>
        </p:nvPicPr>
        <p:blipFill rotWithShape="1">
          <a:blip r:embed="rId3"/>
          <a:srcRect r="52243"/>
          <a:stretch/>
        </p:blipFill>
        <p:spPr>
          <a:xfrm>
            <a:off x="2502714" y="1369719"/>
            <a:ext cx="4155822" cy="4008205"/>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2313" y="5617913"/>
            <a:ext cx="7134042" cy="221018"/>
          </a:xfrm>
        </p:spPr>
        <p:txBody>
          <a:bodyPr wrap="square" lIns="0" tIns="18000" rIns="0" bIns="18000" anchor="ctr" anchorCtr="0">
            <a:spAutoFit/>
          </a:bodyPr>
          <a:lstStyle/>
          <a:p>
            <a:pPr marL="0" indent="0">
              <a:spcBef>
                <a:spcPts val="600"/>
              </a:spcBef>
              <a:buNone/>
            </a:pPr>
            <a:r>
              <a:rPr lang="en-US" sz="1200" dirty="0"/>
              <a:t>Based on data from the World Bank, World Development Indicators, Washington, </a:t>
            </a:r>
            <a:r>
              <a:rPr lang="en-US" sz="1200" spc="-150" dirty="0"/>
              <a:t>D </a:t>
            </a:r>
            <a:r>
              <a:rPr lang="en-US" sz="1200" dirty="0"/>
              <a:t>C: World Bank (2023),</a:t>
            </a:r>
            <a:endParaRPr lang="en-US" sz="12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1333" y="5889229"/>
            <a:ext cx="1329356" cy="221018"/>
          </a:xfrm>
        </p:spPr>
        <p:txBody>
          <a:bodyPr wrap="square" lIns="0" tIns="18000" rIns="0" bIns="18000" anchor="ctr" anchorCtr="0">
            <a:spAutoFit/>
          </a:bodyPr>
          <a:lstStyle/>
          <a:p>
            <a:pPr marL="0" indent="0">
              <a:buNone/>
            </a:pPr>
            <a:r>
              <a:rPr lang="en-US" sz="1200" dirty="0">
                <a:hlinkClick r:id="rId4" tooltip="www.worldbank.org"/>
              </a:rPr>
              <a:t>www.worldbank.org</a:t>
            </a:r>
            <a:endParaRPr lang="en-US" sz="1200" dirty="0"/>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1746375" y="5889229"/>
            <a:ext cx="6220332" cy="221018"/>
          </a:xfrm>
        </p:spPr>
        <p:txBody>
          <a:bodyPr wrap="square" lIns="0" tIns="18000" rIns="0" bIns="18000" anchor="ctr" anchorCtr="0">
            <a:spAutoFit/>
          </a:bodyPr>
          <a:lstStyle/>
          <a:p>
            <a:pPr marL="0" indent="0">
              <a:buNone/>
            </a:pPr>
            <a:r>
              <a:rPr lang="en-US" sz="1200" dirty="0"/>
              <a:t>; World Trade Organization, Statistics Database, Geneva: World Trade Organization (2023),</a:t>
            </a:r>
          </a:p>
        </p:txBody>
      </p:sp>
      <p:sp>
        <p:nvSpPr>
          <p:cNvPr id="6" name="Content Placeholder 5">
            <a:extLst>
              <a:ext uri="{FF2B5EF4-FFF2-40B4-BE49-F238E27FC236}">
                <a16:creationId xmlns:a16="http://schemas.microsoft.com/office/drawing/2014/main" id="{0AA6AEC4-36E5-45F7-8460-45A3FD401A95}"/>
              </a:ext>
            </a:extLst>
          </p:cNvPr>
          <p:cNvSpPr>
            <a:spLocks noGrp="1"/>
          </p:cNvSpPr>
          <p:nvPr>
            <p:ph sz="quarter" idx="16"/>
          </p:nvPr>
        </p:nvSpPr>
        <p:spPr>
          <a:xfrm>
            <a:off x="362413" y="6148994"/>
            <a:ext cx="886619" cy="221018"/>
          </a:xfrm>
        </p:spPr>
        <p:txBody>
          <a:bodyPr wrap="square" lIns="0" tIns="18000" rIns="0" bIns="18000" anchor="ctr" anchorCtr="0">
            <a:spAutoFit/>
          </a:bodyPr>
          <a:lstStyle/>
          <a:p>
            <a:pPr marL="0" indent="0">
              <a:buNone/>
            </a:pPr>
            <a:r>
              <a:rPr lang="en-US" sz="1200" dirty="0">
                <a:hlinkClick r:id="rId5" tooltip="www.wto.org"/>
              </a:rPr>
              <a:t>www.wto.org</a:t>
            </a:r>
            <a:endParaRPr lang="en-US" sz="1200" dirty="0"/>
          </a:p>
        </p:txBody>
      </p:sp>
      <p:sp>
        <p:nvSpPr>
          <p:cNvPr id="7" name="Content Placeholder 6">
            <a:extLst>
              <a:ext uri="{FF2B5EF4-FFF2-40B4-BE49-F238E27FC236}">
                <a16:creationId xmlns:a16="http://schemas.microsoft.com/office/drawing/2014/main" id="{3F1BE0C5-B8E5-442F-A64A-DBDABFCF2D30}"/>
              </a:ext>
            </a:extLst>
          </p:cNvPr>
          <p:cNvSpPr>
            <a:spLocks noGrp="1"/>
          </p:cNvSpPr>
          <p:nvPr>
            <p:ph sz="quarter" idx="17"/>
          </p:nvPr>
        </p:nvSpPr>
        <p:spPr>
          <a:xfrm>
            <a:off x="1310627" y="6163090"/>
            <a:ext cx="5454396" cy="221018"/>
          </a:xfrm>
        </p:spPr>
        <p:txBody>
          <a:bodyPr wrap="square" lIns="0" tIns="18000" rIns="0" bIns="18000" anchor="ctr" anchorCtr="0">
            <a:spAutoFit/>
          </a:bodyPr>
          <a:lstStyle/>
          <a:p>
            <a:pPr marL="0" indent="0">
              <a:buNone/>
            </a:pPr>
            <a:r>
              <a:rPr lang="en-US" sz="1200" spc="-150" dirty="0"/>
              <a:t>; U N C T A </a:t>
            </a:r>
            <a:r>
              <a:rPr lang="en-US" sz="1200" dirty="0"/>
              <a:t>D, “International Trade in Goods and Services,” U</a:t>
            </a:r>
            <a:r>
              <a:rPr lang="en-US" sz="1200" spc="-150" dirty="0"/>
              <a:t> N C T A D S T A </a:t>
            </a:r>
            <a:r>
              <a:rPr lang="en-US" sz="1200" dirty="0"/>
              <a:t>T (2023),</a:t>
            </a:r>
          </a:p>
        </p:txBody>
      </p:sp>
      <p:sp>
        <p:nvSpPr>
          <p:cNvPr id="8" name="Content Placeholder 7">
            <a:extLst>
              <a:ext uri="{FF2B5EF4-FFF2-40B4-BE49-F238E27FC236}">
                <a16:creationId xmlns:a16="http://schemas.microsoft.com/office/drawing/2014/main" id="{09C3AC84-79A8-41AE-B80F-D0CCDECD708C}"/>
              </a:ext>
            </a:extLst>
          </p:cNvPr>
          <p:cNvSpPr>
            <a:spLocks noGrp="1"/>
          </p:cNvSpPr>
          <p:nvPr>
            <p:ph sz="quarter" idx="18"/>
          </p:nvPr>
        </p:nvSpPr>
        <p:spPr>
          <a:xfrm>
            <a:off x="6828523" y="6157204"/>
            <a:ext cx="1102627" cy="221018"/>
          </a:xfrm>
        </p:spPr>
        <p:txBody>
          <a:bodyPr wrap="square" lIns="0" tIns="18000" rIns="0" bIns="18000" anchor="ctr" anchorCtr="0">
            <a:spAutoFit/>
          </a:bodyPr>
          <a:lstStyle/>
          <a:p>
            <a:pPr marL="0" indent="0">
              <a:buNone/>
            </a:pPr>
            <a:r>
              <a:rPr lang="en-US" sz="1200" dirty="0">
                <a:hlinkClick r:id="rId6" tooltip="www.unctad.org"/>
              </a:rPr>
              <a:t>www.unctad.org</a:t>
            </a:r>
            <a:endParaRPr lang="en-US" sz="1200" dirty="0"/>
          </a:p>
        </p:txBody>
      </p:sp>
      <p:sp>
        <p:nvSpPr>
          <p:cNvPr id="9" name="Content Placeholder 8">
            <a:extLst>
              <a:ext uri="{FF2B5EF4-FFF2-40B4-BE49-F238E27FC236}">
                <a16:creationId xmlns:a16="http://schemas.microsoft.com/office/drawing/2014/main" id="{B53E7685-B691-4640-9AEB-508719305F2B}"/>
              </a:ext>
            </a:extLst>
          </p:cNvPr>
          <p:cNvSpPr>
            <a:spLocks noGrp="1"/>
          </p:cNvSpPr>
          <p:nvPr>
            <p:ph sz="quarter" idx="19"/>
          </p:nvPr>
        </p:nvSpPr>
        <p:spPr>
          <a:xfrm>
            <a:off x="7965089" y="6153099"/>
            <a:ext cx="85905" cy="221018"/>
          </a:xfrm>
        </p:spPr>
        <p:txBody>
          <a:bodyPr wrap="square" lIns="0" tIns="18000" rIns="0" bIns="18000" anchor="ctr" anchorCtr="0">
            <a:spAutoFit/>
          </a:bodyPr>
          <a:lstStyle/>
          <a:p>
            <a:pPr marL="0" indent="0">
              <a:buNone/>
            </a:pPr>
            <a:r>
              <a:rPr lang="en-US" sz="1200" dirty="0"/>
              <a:t>. </a:t>
            </a:r>
          </a:p>
        </p:txBody>
      </p:sp>
    </p:spTree>
    <p:extLst>
      <p:ext uri="{BB962C8B-B14F-4D97-AF65-F5344CB8AC3E}">
        <p14:creationId xmlns:p14="http://schemas.microsoft.com/office/powerpoint/2010/main" val="3506141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66047"/>
            <a:ext cx="8341260" cy="1021237"/>
          </a:xfrm>
        </p:spPr>
        <p:txBody>
          <a:bodyPr wrap="square" lIns="0" tIns="18000" rIns="0" bIns="18000" anchor="ctr" anchorCtr="0">
            <a:spAutoFit/>
          </a:bodyPr>
          <a:lstStyle/>
          <a:p>
            <a:r>
              <a:rPr lang="en-US" sz="3200" dirty="0"/>
              <a:t>Leading Countries in International Services Trade, Total Value as a % of </a:t>
            </a:r>
            <a:r>
              <a:rPr lang="en-US" sz="3200" spc="-500" dirty="0"/>
              <a:t>G D </a:t>
            </a:r>
            <a:r>
              <a:rPr lang="en-US" sz="3200" dirty="0"/>
              <a:t>P</a:t>
            </a:r>
            <a:endParaRPr lang="en-US" sz="3200" b="0" dirty="0"/>
          </a:p>
        </p:txBody>
      </p:sp>
      <p:pic>
        <p:nvPicPr>
          <p:cNvPr id="12" name="Picture 11" descr="Horizontal bar graphs showing the percentage of the nation’s G D P, respectively.&#10;Long description is available in notes, press F6.">
            <a:extLst>
              <a:ext uri="{FF2B5EF4-FFF2-40B4-BE49-F238E27FC236}">
                <a16:creationId xmlns:a16="http://schemas.microsoft.com/office/drawing/2014/main" id="{0A513544-4AE9-F52D-93E1-F7DE4DA8FD27}"/>
              </a:ext>
            </a:extLst>
          </p:cNvPr>
          <p:cNvPicPr>
            <a:picLocks noChangeAspect="1"/>
          </p:cNvPicPr>
          <p:nvPr/>
        </p:nvPicPr>
        <p:blipFill rotWithShape="1">
          <a:blip r:embed="rId3"/>
          <a:srcRect l="47097"/>
          <a:stretch/>
        </p:blipFill>
        <p:spPr>
          <a:xfrm>
            <a:off x="2274290" y="1413387"/>
            <a:ext cx="4603611" cy="4008205"/>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2313" y="5617913"/>
            <a:ext cx="7134042" cy="221018"/>
          </a:xfrm>
        </p:spPr>
        <p:txBody>
          <a:bodyPr wrap="square" lIns="0" tIns="18000" rIns="0" bIns="18000" anchor="ctr" anchorCtr="0">
            <a:spAutoFit/>
          </a:bodyPr>
          <a:lstStyle/>
          <a:p>
            <a:pPr marL="0" indent="0">
              <a:spcBef>
                <a:spcPts val="600"/>
              </a:spcBef>
              <a:buNone/>
            </a:pPr>
            <a:r>
              <a:rPr lang="en-US" sz="1200" dirty="0"/>
              <a:t>Based on data from the World Bank, World Development Indicators, Washington, </a:t>
            </a:r>
            <a:r>
              <a:rPr lang="en-US" sz="1200" spc="-150" dirty="0"/>
              <a:t>D </a:t>
            </a:r>
            <a:r>
              <a:rPr lang="en-US" sz="1200" dirty="0"/>
              <a:t>C: World Bank (2023),</a:t>
            </a:r>
            <a:endParaRPr lang="en-US" sz="12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1333" y="5889229"/>
            <a:ext cx="1329356" cy="221018"/>
          </a:xfrm>
        </p:spPr>
        <p:txBody>
          <a:bodyPr wrap="square" lIns="0" tIns="18000" rIns="0" bIns="18000" anchor="ctr" anchorCtr="0">
            <a:spAutoFit/>
          </a:bodyPr>
          <a:lstStyle/>
          <a:p>
            <a:pPr marL="0" indent="0">
              <a:buNone/>
            </a:pPr>
            <a:r>
              <a:rPr lang="en-US" sz="1200" dirty="0">
                <a:hlinkClick r:id="rId4" tooltip="www.worldbank.org"/>
              </a:rPr>
              <a:t>www.worldbank.org</a:t>
            </a:r>
            <a:endParaRPr lang="en-US" sz="1200" dirty="0"/>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1746375" y="5889229"/>
            <a:ext cx="6220332" cy="221018"/>
          </a:xfrm>
        </p:spPr>
        <p:txBody>
          <a:bodyPr wrap="square" lIns="0" tIns="18000" rIns="0" bIns="18000" anchor="ctr" anchorCtr="0">
            <a:spAutoFit/>
          </a:bodyPr>
          <a:lstStyle/>
          <a:p>
            <a:pPr marL="0" indent="0">
              <a:buNone/>
            </a:pPr>
            <a:r>
              <a:rPr lang="en-US" sz="1200" dirty="0"/>
              <a:t>; World Trade Organization, Statistics Database, Geneva: World Trade Organization (2023),</a:t>
            </a:r>
          </a:p>
        </p:txBody>
      </p:sp>
      <p:sp>
        <p:nvSpPr>
          <p:cNvPr id="6" name="Content Placeholder 5">
            <a:extLst>
              <a:ext uri="{FF2B5EF4-FFF2-40B4-BE49-F238E27FC236}">
                <a16:creationId xmlns:a16="http://schemas.microsoft.com/office/drawing/2014/main" id="{0AA6AEC4-36E5-45F7-8460-45A3FD401A95}"/>
              </a:ext>
            </a:extLst>
          </p:cNvPr>
          <p:cNvSpPr>
            <a:spLocks noGrp="1"/>
          </p:cNvSpPr>
          <p:nvPr>
            <p:ph sz="quarter" idx="16"/>
          </p:nvPr>
        </p:nvSpPr>
        <p:spPr>
          <a:xfrm>
            <a:off x="362413" y="6148994"/>
            <a:ext cx="886619" cy="221018"/>
          </a:xfrm>
        </p:spPr>
        <p:txBody>
          <a:bodyPr wrap="square" lIns="0" tIns="18000" rIns="0" bIns="18000" anchor="ctr" anchorCtr="0">
            <a:spAutoFit/>
          </a:bodyPr>
          <a:lstStyle/>
          <a:p>
            <a:pPr marL="0" indent="0">
              <a:buNone/>
            </a:pPr>
            <a:r>
              <a:rPr lang="en-US" sz="1200" dirty="0">
                <a:hlinkClick r:id="rId5" tooltip="www.wto.org"/>
              </a:rPr>
              <a:t>www.wto.org</a:t>
            </a:r>
            <a:endParaRPr lang="en-US" sz="1200" dirty="0"/>
          </a:p>
        </p:txBody>
      </p:sp>
      <p:sp>
        <p:nvSpPr>
          <p:cNvPr id="7" name="Content Placeholder 6">
            <a:extLst>
              <a:ext uri="{FF2B5EF4-FFF2-40B4-BE49-F238E27FC236}">
                <a16:creationId xmlns:a16="http://schemas.microsoft.com/office/drawing/2014/main" id="{3F1BE0C5-B8E5-442F-A64A-DBDABFCF2D30}"/>
              </a:ext>
            </a:extLst>
          </p:cNvPr>
          <p:cNvSpPr>
            <a:spLocks noGrp="1"/>
          </p:cNvSpPr>
          <p:nvPr>
            <p:ph sz="quarter" idx="17"/>
          </p:nvPr>
        </p:nvSpPr>
        <p:spPr>
          <a:xfrm>
            <a:off x="1310627" y="6163089"/>
            <a:ext cx="5447482" cy="221018"/>
          </a:xfrm>
        </p:spPr>
        <p:txBody>
          <a:bodyPr wrap="square" lIns="0" tIns="18000" rIns="0" bIns="18000" anchor="ctr" anchorCtr="0">
            <a:spAutoFit/>
          </a:bodyPr>
          <a:lstStyle/>
          <a:p>
            <a:pPr marL="0" indent="0">
              <a:buNone/>
            </a:pPr>
            <a:r>
              <a:rPr lang="en-US" sz="1200" spc="-150" dirty="0"/>
              <a:t>;U N C T A </a:t>
            </a:r>
            <a:r>
              <a:rPr lang="en-US" sz="1200" dirty="0"/>
              <a:t>D, “International Trade in Goods and Services,” U</a:t>
            </a:r>
            <a:r>
              <a:rPr lang="en-US" sz="1200" spc="-150" dirty="0"/>
              <a:t> N C T A D S T A </a:t>
            </a:r>
            <a:r>
              <a:rPr lang="en-US" sz="1200" dirty="0"/>
              <a:t>T (2023),</a:t>
            </a:r>
          </a:p>
        </p:txBody>
      </p:sp>
      <p:sp>
        <p:nvSpPr>
          <p:cNvPr id="8" name="Content Placeholder 7">
            <a:extLst>
              <a:ext uri="{FF2B5EF4-FFF2-40B4-BE49-F238E27FC236}">
                <a16:creationId xmlns:a16="http://schemas.microsoft.com/office/drawing/2014/main" id="{09C3AC84-79A8-41AE-B80F-D0CCDECD708C}"/>
              </a:ext>
            </a:extLst>
          </p:cNvPr>
          <p:cNvSpPr>
            <a:spLocks noGrp="1"/>
          </p:cNvSpPr>
          <p:nvPr>
            <p:ph sz="quarter" idx="18"/>
          </p:nvPr>
        </p:nvSpPr>
        <p:spPr>
          <a:xfrm>
            <a:off x="6805760" y="6157204"/>
            <a:ext cx="1125172" cy="221018"/>
          </a:xfrm>
        </p:spPr>
        <p:txBody>
          <a:bodyPr wrap="square" lIns="0" tIns="18000" rIns="0" bIns="18000" anchor="ctr" anchorCtr="0">
            <a:spAutoFit/>
          </a:bodyPr>
          <a:lstStyle/>
          <a:p>
            <a:pPr marL="0" indent="0">
              <a:buNone/>
            </a:pPr>
            <a:r>
              <a:rPr lang="en-US" sz="1200" dirty="0">
                <a:hlinkClick r:id="rId6" tooltip="www.unctad.org"/>
              </a:rPr>
              <a:t>www.unctad.org</a:t>
            </a:r>
            <a:endParaRPr lang="en-US" sz="1200" dirty="0"/>
          </a:p>
        </p:txBody>
      </p:sp>
      <p:sp>
        <p:nvSpPr>
          <p:cNvPr id="9" name="Content Placeholder 8">
            <a:extLst>
              <a:ext uri="{FF2B5EF4-FFF2-40B4-BE49-F238E27FC236}">
                <a16:creationId xmlns:a16="http://schemas.microsoft.com/office/drawing/2014/main" id="{B53E7685-B691-4640-9AEB-508719305F2B}"/>
              </a:ext>
            </a:extLst>
          </p:cNvPr>
          <p:cNvSpPr>
            <a:spLocks noGrp="1"/>
          </p:cNvSpPr>
          <p:nvPr>
            <p:ph sz="quarter" idx="19"/>
          </p:nvPr>
        </p:nvSpPr>
        <p:spPr>
          <a:xfrm>
            <a:off x="7978583" y="6153099"/>
            <a:ext cx="85905" cy="221018"/>
          </a:xfrm>
        </p:spPr>
        <p:txBody>
          <a:bodyPr wrap="square" lIns="0" tIns="18000" rIns="0" bIns="18000" anchor="ctr" anchorCtr="0">
            <a:spAutoFit/>
          </a:bodyPr>
          <a:lstStyle/>
          <a:p>
            <a:pPr marL="0" indent="0">
              <a:buNone/>
            </a:pPr>
            <a:r>
              <a:rPr lang="en-US" sz="1200" dirty="0"/>
              <a:t>. </a:t>
            </a:r>
          </a:p>
        </p:txBody>
      </p:sp>
    </p:spTree>
    <p:extLst>
      <p:ext uri="{BB962C8B-B14F-4D97-AF65-F5344CB8AC3E}">
        <p14:creationId xmlns:p14="http://schemas.microsoft.com/office/powerpoint/2010/main" val="3401566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5"/>
            <a:ext cx="8341260" cy="1144347"/>
          </a:xfrm>
        </p:spPr>
        <p:txBody>
          <a:bodyPr wrap="square" lIns="0" tIns="18000" rIns="0" bIns="18000" anchor="ctr" anchorCtr="0">
            <a:spAutoFit/>
          </a:bodyPr>
          <a:lstStyle/>
          <a:p>
            <a:r>
              <a:rPr lang="en-US" dirty="0"/>
              <a:t>International and Domestic Business: How They Differ</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1568966"/>
            <a:ext cx="3890509" cy="405683"/>
          </a:xfrm>
        </p:spPr>
        <p:txBody>
          <a:bodyPr wrap="square" lIns="0" tIns="18000" rIns="0" bIns="18000" anchor="ctr" anchorCtr="0">
            <a:spAutoFit/>
          </a:bodyPr>
          <a:lstStyle/>
          <a:p>
            <a:pPr marL="342900" indent="-342900">
              <a:spcBef>
                <a:spcPts val="600"/>
              </a:spcBef>
            </a:pPr>
            <a:r>
              <a:rPr lang="en-US" sz="2400" dirty="0"/>
              <a:t>International business ….</a:t>
            </a:r>
            <a:endParaRPr lang="en-US" sz="24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70941" y="2069301"/>
            <a:ext cx="8341259" cy="2036899"/>
          </a:xfrm>
        </p:spPr>
        <p:txBody>
          <a:bodyPr wrap="square" lIns="0" tIns="18000" rIns="0" bIns="18000" anchor="ctr" anchorCtr="0">
            <a:spAutoFit/>
          </a:bodyPr>
          <a:lstStyle/>
          <a:p>
            <a:pPr marL="829818" lvl="1" indent="-342900"/>
            <a:r>
              <a:rPr lang="en-US" sz="2400" dirty="0"/>
              <a:t>is conducted across national borders.</a:t>
            </a:r>
          </a:p>
          <a:p>
            <a:pPr marL="829818" lvl="1" indent="-342900"/>
            <a:r>
              <a:rPr lang="en-US" sz="2400" dirty="0"/>
              <a:t>uses distinctive business methods.</a:t>
            </a:r>
          </a:p>
          <a:p>
            <a:pPr marL="829818" lvl="1" indent="-342900"/>
            <a:r>
              <a:rPr lang="en-US" sz="2400" dirty="0"/>
              <a:t>is in contact with countries that differ in terms of culture, language, political system, legal system, economic situation, infrastructure, and other factors.</a:t>
            </a:r>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367400" y="4170838"/>
            <a:ext cx="8353425" cy="775015"/>
          </a:xfrm>
        </p:spPr>
        <p:txBody>
          <a:bodyPr wrap="square" lIns="0" tIns="18000" rIns="0" bIns="18000" anchor="ctr" anchorCtr="0">
            <a:spAutoFit/>
          </a:bodyPr>
          <a:lstStyle/>
          <a:p>
            <a:pPr marL="342900" indent="-342900">
              <a:spcBef>
                <a:spcPts val="600"/>
              </a:spcBef>
            </a:pPr>
            <a:r>
              <a:rPr lang="en-US" sz="2400" dirty="0"/>
              <a:t>Stated differently, when they venture abroad, firms encounter four major types of risk.</a:t>
            </a:r>
          </a:p>
        </p:txBody>
      </p:sp>
    </p:spTree>
    <p:extLst>
      <p:ext uri="{BB962C8B-B14F-4D97-AF65-F5344CB8AC3E}">
        <p14:creationId xmlns:p14="http://schemas.microsoft.com/office/powerpoint/2010/main" val="778629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78BCA-7840-4F9E-1A71-217DB3336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D0638-3C42-A2BD-5069-0E5CB64E2003}"/>
              </a:ext>
            </a:extLst>
          </p:cNvPr>
          <p:cNvSpPr>
            <a:spLocks noGrp="1"/>
          </p:cNvSpPr>
          <p:nvPr>
            <p:ph type="title"/>
          </p:nvPr>
        </p:nvSpPr>
        <p:spPr>
          <a:xfrm>
            <a:off x="371516" y="114203"/>
            <a:ext cx="8340684" cy="1144347"/>
          </a:xfrm>
        </p:spPr>
        <p:txBody>
          <a:bodyPr wrap="square" lIns="0" tIns="18000" rIns="0" bIns="18000" anchor="ctr" anchorCtr="0">
            <a:spAutoFit/>
          </a:bodyPr>
          <a:lstStyle/>
          <a:p>
            <a:r>
              <a:rPr lang="en-US"/>
              <a:t>The Four Risks of International Business</a:t>
            </a:r>
            <a:endParaRPr lang="en-US" sz="2800" b="0"/>
          </a:p>
        </p:txBody>
      </p:sp>
      <p:pic>
        <p:nvPicPr>
          <p:cNvPr id="4" name="Picture 3" descr="A flow diagram shows four major risks of international business. &#10;Long description is available in notes, press F6.">
            <a:extLst>
              <a:ext uri="{FF2B5EF4-FFF2-40B4-BE49-F238E27FC236}">
                <a16:creationId xmlns:a16="http://schemas.microsoft.com/office/drawing/2014/main" id="{F58AAE4F-94EE-0408-2659-5F4C7A360D49}"/>
              </a:ext>
            </a:extLst>
          </p:cNvPr>
          <p:cNvPicPr>
            <a:picLocks noChangeAspect="1"/>
          </p:cNvPicPr>
          <p:nvPr/>
        </p:nvPicPr>
        <p:blipFill>
          <a:blip r:embed="rId3"/>
          <a:stretch>
            <a:fillRect/>
          </a:stretch>
        </p:blipFill>
        <p:spPr>
          <a:xfrm>
            <a:off x="1595720" y="1364425"/>
            <a:ext cx="5952561" cy="4750247"/>
          </a:xfrm>
          <a:prstGeom prst="rect">
            <a:avLst/>
          </a:prstGeom>
        </p:spPr>
      </p:pic>
    </p:spTree>
    <p:extLst>
      <p:ext uri="{BB962C8B-B14F-4D97-AF65-F5344CB8AC3E}">
        <p14:creationId xmlns:p14="http://schemas.microsoft.com/office/powerpoint/2010/main" val="4138017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48"/>
            <a:ext cx="8341260" cy="590349"/>
          </a:xfrm>
        </p:spPr>
        <p:txBody>
          <a:bodyPr wrap="square" lIns="0" tIns="18000" rIns="0" bIns="18000" anchor="ctr" anchorCtr="0">
            <a:spAutoFit/>
          </a:bodyPr>
          <a:lstStyle/>
          <a:p>
            <a:r>
              <a:rPr lang="en-US" dirty="0"/>
              <a:t>Cross-Cultural Risk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76183"/>
            <a:ext cx="8341260" cy="3067951"/>
          </a:xfrm>
        </p:spPr>
        <p:txBody>
          <a:bodyPr wrap="square" lIns="0" tIns="18000" rIns="0" bIns="18000" anchor="ctr" anchorCtr="0">
            <a:spAutoFit/>
          </a:bodyPr>
          <a:lstStyle/>
          <a:p>
            <a:pPr marL="342900" indent="-342900">
              <a:spcBef>
                <a:spcPts val="600"/>
              </a:spcBef>
            </a:pPr>
            <a:r>
              <a:rPr lang="en-US" sz="2400" b="1" dirty="0"/>
              <a:t>Cultural Differences</a:t>
            </a:r>
            <a:r>
              <a:rPr lang="en-US" sz="2400" dirty="0"/>
              <a:t>. Risk arising from differences in language, lifestyle, attitudes, customs, and religion, where a cultural miscommunication jeopardizes a culturally-valued mindset or behavior.</a:t>
            </a:r>
          </a:p>
          <a:p>
            <a:pPr marL="342900" indent="-342900">
              <a:spcBef>
                <a:spcPts val="600"/>
              </a:spcBef>
            </a:pPr>
            <a:r>
              <a:rPr lang="en-US" sz="2400" b="1" dirty="0"/>
              <a:t>Negotiation Patterns</a:t>
            </a:r>
            <a:r>
              <a:rPr lang="en-US" sz="2400" dirty="0"/>
              <a:t>. Negotiations are required in many types of business transactions. For example, where Mexicans are friendly and emphasize social relations, Americans are assertive and get down to business quickly. </a:t>
            </a:r>
          </a:p>
        </p:txBody>
      </p:sp>
    </p:spTree>
    <p:extLst>
      <p:ext uri="{BB962C8B-B14F-4D97-AF65-F5344CB8AC3E}">
        <p14:creationId xmlns:p14="http://schemas.microsoft.com/office/powerpoint/2010/main" val="2026266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48"/>
            <a:ext cx="8341260" cy="590349"/>
          </a:xfrm>
        </p:spPr>
        <p:txBody>
          <a:bodyPr wrap="square" lIns="0" tIns="18000" rIns="0" bIns="18000" anchor="ctr" anchorCtr="0">
            <a:spAutoFit/>
          </a:bodyPr>
          <a:lstStyle/>
          <a:p>
            <a:r>
              <a:rPr lang="en-US" dirty="0"/>
              <a:t>Cross-Cultural Risk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72667"/>
            <a:ext cx="8341260" cy="3437283"/>
          </a:xfrm>
        </p:spPr>
        <p:txBody>
          <a:bodyPr wrap="square" lIns="0" tIns="18000" rIns="0" bIns="18000" anchor="ctr" anchorCtr="0">
            <a:spAutoFit/>
          </a:bodyPr>
          <a:lstStyle/>
          <a:p>
            <a:pPr marL="342900" indent="-342900">
              <a:spcBef>
                <a:spcPts val="600"/>
              </a:spcBef>
            </a:pPr>
            <a:r>
              <a:rPr lang="en-US" sz="2400" b="1" dirty="0"/>
              <a:t>Decision-Making Styles</a:t>
            </a:r>
            <a:r>
              <a:rPr lang="en-US" sz="2400" dirty="0"/>
              <a:t>. Managers make decisions continually on the operations and future direction of the firm. For example, Japanese take considerable time to make important decisions. Canadians tend to be decisive, and “shoot from the hip”.</a:t>
            </a:r>
          </a:p>
          <a:p>
            <a:pPr marL="342900" indent="-342900">
              <a:spcBef>
                <a:spcPts val="600"/>
              </a:spcBef>
            </a:pPr>
            <a:r>
              <a:rPr lang="en-US" sz="2400" b="1" dirty="0"/>
              <a:t>Ethical Practices</a:t>
            </a:r>
            <a:r>
              <a:rPr lang="en-US" sz="2400" dirty="0"/>
              <a:t>. Standards of right and wrong vary considerably around the world. For example, bribery is relatively accepted in some countries in Africa, but is generally unacceptable in Sweden.</a:t>
            </a:r>
          </a:p>
        </p:txBody>
      </p:sp>
    </p:spTree>
    <p:extLst>
      <p:ext uri="{BB962C8B-B14F-4D97-AF65-F5344CB8AC3E}">
        <p14:creationId xmlns:p14="http://schemas.microsoft.com/office/powerpoint/2010/main" val="3047131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C3CB-E105-145C-FB9D-3D8318FAB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7776E-4110-1C4C-2C86-62C67AC70FC6}"/>
              </a:ext>
            </a:extLst>
          </p:cNvPr>
          <p:cNvSpPr>
            <a:spLocks noGrp="1"/>
          </p:cNvSpPr>
          <p:nvPr>
            <p:ph type="title"/>
          </p:nvPr>
        </p:nvSpPr>
        <p:spPr>
          <a:xfrm>
            <a:off x="369682" y="112957"/>
            <a:ext cx="8342518" cy="590349"/>
          </a:xfrm>
        </p:spPr>
        <p:txBody>
          <a:bodyPr wrap="square" lIns="0" tIns="18000" rIns="0" bIns="18000" anchor="ctr" anchorCtr="0">
            <a:spAutoFit/>
          </a:bodyPr>
          <a:lstStyle/>
          <a:p>
            <a:r>
              <a:rPr lang="en-US" dirty="0">
                <a:ea typeface="Arial"/>
                <a:cs typeface="Arial"/>
                <a:sym typeface="Arial"/>
              </a:rPr>
              <a:t>Ethical Connections</a:t>
            </a:r>
            <a:endParaRPr lang="en-US" sz="2800" b="0" dirty="0"/>
          </a:p>
        </p:txBody>
      </p:sp>
      <p:sp>
        <p:nvSpPr>
          <p:cNvPr id="5" name="Content Placeholder 4">
            <a:extLst>
              <a:ext uri="{FF2B5EF4-FFF2-40B4-BE49-F238E27FC236}">
                <a16:creationId xmlns:a16="http://schemas.microsoft.com/office/drawing/2014/main" id="{BBB55C84-2A54-B794-E068-8C89373E5D2B}"/>
              </a:ext>
            </a:extLst>
          </p:cNvPr>
          <p:cNvSpPr>
            <a:spLocks noGrp="1"/>
          </p:cNvSpPr>
          <p:nvPr>
            <p:ph sz="quarter" idx="13"/>
          </p:nvPr>
        </p:nvSpPr>
        <p:spPr>
          <a:xfrm>
            <a:off x="371950" y="873209"/>
            <a:ext cx="8269984" cy="3883559"/>
          </a:xfrm>
        </p:spPr>
        <p:txBody>
          <a:bodyPr wrap="square" lIns="0" tIns="18000" rIns="0" bIns="18000" anchor="ctr" anchorCtr="0">
            <a:spAutoFit/>
          </a:bodyPr>
          <a:lstStyle/>
          <a:p>
            <a:pPr marL="342900" indent="-342900">
              <a:spcBef>
                <a:spcPts val="600"/>
              </a:spcBef>
            </a:pPr>
            <a:r>
              <a:rPr lang="en-US" sz="2400" dirty="0">
                <a:latin typeface="Arial" panose="020B0604020202020204" pitchFamily="34" charset="0"/>
                <a:cs typeface="Arial" panose="020B0604020202020204" pitchFamily="34" charset="0"/>
              </a:rPr>
              <a:t>In the fashion industry, hundreds of factory workers die annually from dangerous working conditions. </a:t>
            </a:r>
          </a:p>
          <a:p>
            <a:pPr marL="342900" indent="-342900">
              <a:spcBef>
                <a:spcPts val="600"/>
              </a:spcBef>
            </a:pPr>
            <a:r>
              <a:rPr lang="en-US" sz="2400" dirty="0">
                <a:latin typeface="Arial" panose="020B0604020202020204" pitchFamily="34" charset="0"/>
                <a:cs typeface="Arial" panose="020B0604020202020204" pitchFamily="34" charset="0"/>
              </a:rPr>
              <a:t>In the production of faded denim jeans, thousands of garment workers develop deadly lung diseases from constant exposure to crystalline silica used to sandblast jeans to give them the worn, vintage look. </a:t>
            </a:r>
          </a:p>
          <a:p>
            <a:pPr marL="342900" indent="-342900">
              <a:spcBef>
                <a:spcPts val="600"/>
              </a:spcBef>
            </a:pPr>
            <a:r>
              <a:rPr lang="en-US" sz="2400" dirty="0">
                <a:latin typeface="Arial" panose="020B0604020202020204" pitchFamily="34" charset="0"/>
                <a:cs typeface="Arial" panose="020B0604020202020204" pitchFamily="34" charset="0"/>
              </a:rPr>
              <a:t>Illegal in Europe and the United States, such production methods are still widely used in low-income countries, from where the jeans are then distributed to affluent consumers worldwide. </a:t>
            </a:r>
          </a:p>
        </p:txBody>
      </p:sp>
      <p:sp>
        <p:nvSpPr>
          <p:cNvPr id="3" name="Content Placeholder 2">
            <a:extLst>
              <a:ext uri="{FF2B5EF4-FFF2-40B4-BE49-F238E27FC236}">
                <a16:creationId xmlns:a16="http://schemas.microsoft.com/office/drawing/2014/main" id="{882929B6-281E-A3B5-2D77-583AC1BA8CC8}"/>
              </a:ext>
            </a:extLst>
          </p:cNvPr>
          <p:cNvSpPr>
            <a:spLocks noGrp="1"/>
          </p:cNvSpPr>
          <p:nvPr>
            <p:ph sz="quarter" idx="14"/>
          </p:nvPr>
        </p:nvSpPr>
        <p:spPr>
          <a:xfrm>
            <a:off x="361872" y="5998101"/>
            <a:ext cx="8350328" cy="405683"/>
          </a:xfrm>
        </p:spPr>
        <p:txBody>
          <a:bodyPr wrap="square" lIns="0" tIns="18000" rIns="0" bIns="18000" anchor="ctr" anchorCtr="0">
            <a:spAutoFit/>
          </a:bodyPr>
          <a:lstStyle/>
          <a:p>
            <a:pPr marL="0" indent="0">
              <a:spcBef>
                <a:spcPts val="600"/>
              </a:spcBef>
              <a:buNone/>
            </a:pPr>
            <a:r>
              <a:rPr lang="en-US" sz="1200" b="1" dirty="0">
                <a:solidFill>
                  <a:schemeClr val="tx1"/>
                </a:solidFill>
                <a:latin typeface="Arial" panose="020B0604020202020204" pitchFamily="34" charset="0"/>
                <a:cs typeface="Arial" panose="020B0604020202020204" pitchFamily="34" charset="0"/>
              </a:rPr>
              <a:t>Source:</a:t>
            </a:r>
            <a:r>
              <a:rPr lang="en-US" sz="1200" dirty="0">
                <a:solidFill>
                  <a:schemeClr val="tx1"/>
                </a:solidFill>
                <a:latin typeface="Arial" panose="020B0604020202020204" pitchFamily="34" charset="0"/>
                <a:cs typeface="Arial" panose="020B0604020202020204" pitchFamily="34" charset="0"/>
              </a:rPr>
              <a:t> G. Brown, “Fashion Kills: Industrial Manslaughter in the Global Supply Chain,” E H S Today, September 2010, p. 59. </a:t>
            </a:r>
          </a:p>
        </p:txBody>
      </p:sp>
    </p:spTree>
    <p:extLst>
      <p:ext uri="{BB962C8B-B14F-4D97-AF65-F5344CB8AC3E}">
        <p14:creationId xmlns:p14="http://schemas.microsoft.com/office/powerpoint/2010/main" val="2842036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48"/>
            <a:ext cx="8341260" cy="590349"/>
          </a:xfrm>
        </p:spPr>
        <p:txBody>
          <a:bodyPr wrap="square" lIns="0" tIns="18000" rIns="0" bIns="18000" anchor="ctr" anchorCtr="0">
            <a:spAutoFit/>
          </a:bodyPr>
          <a:lstStyle/>
          <a:p>
            <a:r>
              <a:rPr lang="en-US" dirty="0"/>
              <a:t>Country Risk (Political Risk)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68938"/>
            <a:ext cx="8341260" cy="3375727"/>
          </a:xfrm>
        </p:spPr>
        <p:txBody>
          <a:bodyPr wrap="square" lIns="0" tIns="18000" rIns="0" bIns="18000" anchor="ctr" anchorCtr="0">
            <a:spAutoFit/>
          </a:bodyPr>
          <a:lstStyle/>
          <a:p>
            <a:pPr marL="342900" indent="-342900">
              <a:spcBef>
                <a:spcPts val="600"/>
              </a:spcBef>
            </a:pPr>
            <a:r>
              <a:rPr lang="en-US" sz="2400" dirty="0"/>
              <a:t>Government intervention, protectionism, and barriers to trade and investment. </a:t>
            </a:r>
          </a:p>
          <a:p>
            <a:pPr marL="342900" indent="-342900">
              <a:spcBef>
                <a:spcPts val="600"/>
              </a:spcBef>
            </a:pPr>
            <a:r>
              <a:rPr lang="en-US" sz="2400" dirty="0"/>
              <a:t>Bureaucracy, red tape, administrative delays, and corruption.</a:t>
            </a:r>
          </a:p>
          <a:p>
            <a:pPr marL="342900" indent="-342900">
              <a:spcBef>
                <a:spcPts val="600"/>
              </a:spcBef>
            </a:pPr>
            <a:r>
              <a:rPr lang="en-US" sz="2400" dirty="0"/>
              <a:t>Lack of legal safeguards for intellectual property rights.</a:t>
            </a:r>
          </a:p>
          <a:p>
            <a:pPr marL="342900" indent="-342900">
              <a:spcBef>
                <a:spcPts val="600"/>
              </a:spcBef>
            </a:pPr>
            <a:r>
              <a:rPr lang="en-US" sz="2400" dirty="0"/>
              <a:t>Legislation unfavorable to foreign firms.</a:t>
            </a:r>
          </a:p>
          <a:p>
            <a:pPr marL="342900" indent="-342900">
              <a:spcBef>
                <a:spcPts val="600"/>
              </a:spcBef>
            </a:pPr>
            <a:r>
              <a:rPr lang="en-US" sz="2400" dirty="0"/>
              <a:t>Economic failures and mismanagement.</a:t>
            </a:r>
          </a:p>
          <a:p>
            <a:pPr marL="342900" indent="-342900">
              <a:spcBef>
                <a:spcPts val="600"/>
              </a:spcBef>
            </a:pPr>
            <a:r>
              <a:rPr lang="en-US" sz="2400" dirty="0"/>
              <a:t>Social and political unrest and instability.</a:t>
            </a:r>
          </a:p>
        </p:txBody>
      </p:sp>
    </p:spTree>
    <p:extLst>
      <p:ext uri="{BB962C8B-B14F-4D97-AF65-F5344CB8AC3E}">
        <p14:creationId xmlns:p14="http://schemas.microsoft.com/office/powerpoint/2010/main" val="797505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48"/>
            <a:ext cx="8341260" cy="590349"/>
          </a:xfrm>
        </p:spPr>
        <p:txBody>
          <a:bodyPr wrap="square" lIns="0" tIns="18000" rIns="0" bIns="18000" anchor="ctr" anchorCtr="0">
            <a:spAutoFit/>
          </a:bodyPr>
          <a:lstStyle/>
          <a:p>
            <a:r>
              <a:rPr lang="en-US" dirty="0"/>
              <a:t>Country Risk (Political Risk)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1" y="887479"/>
            <a:ext cx="1457860" cy="405683"/>
          </a:xfrm>
        </p:spPr>
        <p:txBody>
          <a:bodyPr wrap="square" lIns="0" tIns="18000" rIns="0" bIns="18000" anchor="ctr" anchorCtr="0">
            <a:spAutoFit/>
          </a:bodyPr>
          <a:lstStyle/>
          <a:p>
            <a:pPr marL="0" indent="0">
              <a:spcBef>
                <a:spcPts val="600"/>
              </a:spcBef>
              <a:buNone/>
            </a:pPr>
            <a:r>
              <a:rPr lang="en-US" sz="2400" b="1" dirty="0"/>
              <a:t>Examples</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70941" y="1381943"/>
            <a:ext cx="8341259" cy="3221839"/>
          </a:xfrm>
        </p:spPr>
        <p:txBody>
          <a:bodyPr wrap="square" lIns="0" tIns="18000" rIns="0" bIns="18000" anchor="ctr" anchorCtr="0">
            <a:spAutoFit/>
          </a:bodyPr>
          <a:lstStyle/>
          <a:p>
            <a:pPr marL="342900" indent="-342900">
              <a:spcBef>
                <a:spcPts val="600"/>
              </a:spcBef>
            </a:pPr>
            <a:r>
              <a:rPr lang="en-US" sz="2400" dirty="0"/>
              <a:t>The United States imposes tariffs on imports of sugar and other agricultural products.</a:t>
            </a:r>
          </a:p>
          <a:p>
            <a:pPr marL="342900" indent="-342900">
              <a:spcBef>
                <a:spcPts val="600"/>
              </a:spcBef>
            </a:pPr>
            <a:r>
              <a:rPr lang="en-US" sz="2400" dirty="0"/>
              <a:t>Doing business in Russia often requires paying bribes to government officials.</a:t>
            </a:r>
          </a:p>
          <a:p>
            <a:pPr marL="342900" indent="-342900">
              <a:spcBef>
                <a:spcPts val="600"/>
              </a:spcBef>
            </a:pPr>
            <a:r>
              <a:rPr lang="en-US" sz="2400" dirty="0"/>
              <a:t>Venezuela’s government has interfered much with the operations of foreign firms.</a:t>
            </a:r>
          </a:p>
          <a:p>
            <a:pPr marL="342900" indent="-342900">
              <a:spcBef>
                <a:spcPts val="600"/>
              </a:spcBef>
            </a:pPr>
            <a:r>
              <a:rPr lang="en-US" sz="2400" dirty="0"/>
              <a:t>Argentina has suffered high inflation and other economic turmoil.</a:t>
            </a:r>
          </a:p>
        </p:txBody>
      </p:sp>
    </p:spTree>
    <p:extLst>
      <p:ext uri="{BB962C8B-B14F-4D97-AF65-F5344CB8AC3E}">
        <p14:creationId xmlns:p14="http://schemas.microsoft.com/office/powerpoint/2010/main" val="290202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48"/>
            <a:ext cx="8341260" cy="590349"/>
          </a:xfrm>
        </p:spPr>
        <p:txBody>
          <a:bodyPr wrap="square" lIns="0" tIns="18000" rIns="0" bIns="18000" anchor="ctr" anchorCtr="0">
            <a:spAutoFit/>
          </a:bodyPr>
          <a:lstStyle/>
          <a:p>
            <a:r>
              <a:rPr lang="en-US" dirty="0"/>
              <a:t>Currency Risk (Financial Risk)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66337"/>
            <a:ext cx="8341260" cy="4329835"/>
          </a:xfrm>
        </p:spPr>
        <p:txBody>
          <a:bodyPr wrap="square" lIns="0" tIns="18000" rIns="0" bIns="18000" anchor="ctr" anchorCtr="0">
            <a:spAutoFit/>
          </a:bodyPr>
          <a:lstStyle/>
          <a:p>
            <a:pPr marL="342900" indent="-342900">
              <a:spcBef>
                <a:spcPts val="600"/>
              </a:spcBef>
            </a:pPr>
            <a:r>
              <a:rPr lang="en-US" sz="2400" dirty="0"/>
              <a:t>Currency exposure. General risk of unfavorable exchange rate fluctuations.</a:t>
            </a:r>
          </a:p>
          <a:p>
            <a:pPr marL="342900" indent="-342900">
              <a:spcBef>
                <a:spcPts val="600"/>
              </a:spcBef>
            </a:pPr>
            <a:r>
              <a:rPr lang="en-US" sz="2400" dirty="0"/>
              <a:t>Asset valuation. Risk that exchange rate fluctuations will adversely affect the value of the firm’s assets and liabilities.</a:t>
            </a:r>
          </a:p>
          <a:p>
            <a:pPr marL="342900" indent="-342900">
              <a:spcBef>
                <a:spcPts val="600"/>
              </a:spcBef>
            </a:pPr>
            <a:r>
              <a:rPr lang="en-US" sz="2400" dirty="0"/>
              <a:t>Foreign taxation. Income, sales, and other taxes vary widely worldwide, with implications for company performance and profitability.</a:t>
            </a:r>
          </a:p>
          <a:p>
            <a:pPr marL="342900" indent="-342900">
              <a:spcBef>
                <a:spcPts val="600"/>
              </a:spcBef>
            </a:pPr>
            <a:r>
              <a:rPr lang="en-US" sz="2400" dirty="0"/>
              <a:t>Inflationary pricing. High inflation, common to many countries, complicates business planning, and the pricing of inputs and finished goods.</a:t>
            </a:r>
          </a:p>
        </p:txBody>
      </p:sp>
    </p:spTree>
    <p:extLst>
      <p:ext uri="{BB962C8B-B14F-4D97-AF65-F5344CB8AC3E}">
        <p14:creationId xmlns:p14="http://schemas.microsoft.com/office/powerpoint/2010/main" val="3115956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48"/>
            <a:ext cx="8341260" cy="590349"/>
          </a:xfrm>
        </p:spPr>
        <p:txBody>
          <a:bodyPr wrap="square" lIns="0" tIns="18000" rIns="0" bIns="18000" anchor="ctr" anchorCtr="0">
            <a:spAutoFit/>
          </a:bodyPr>
          <a:lstStyle/>
          <a:p>
            <a:r>
              <a:rPr lang="en-US" dirty="0"/>
              <a:t>Currency Risk (Financial Risk)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1" y="887479"/>
            <a:ext cx="1457860" cy="405683"/>
          </a:xfrm>
        </p:spPr>
        <p:txBody>
          <a:bodyPr wrap="square" lIns="0" tIns="18000" rIns="0" bIns="18000" anchor="ctr" anchorCtr="0">
            <a:spAutoFit/>
          </a:bodyPr>
          <a:lstStyle/>
          <a:p>
            <a:pPr marL="0" indent="0">
              <a:spcBef>
                <a:spcPts val="600"/>
              </a:spcBef>
              <a:buNone/>
            </a:pPr>
            <a:r>
              <a:rPr lang="en-US" sz="2400" b="1" dirty="0"/>
              <a:t>Examples</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70941" y="1434972"/>
            <a:ext cx="8341259" cy="1667567"/>
          </a:xfrm>
        </p:spPr>
        <p:txBody>
          <a:bodyPr wrap="square" lIns="0" tIns="18000" rIns="0" bIns="18000" anchor="ctr" anchorCtr="0">
            <a:spAutoFit/>
          </a:bodyPr>
          <a:lstStyle/>
          <a:p>
            <a:pPr marL="342900" indent="-342900">
              <a:spcBef>
                <a:spcPts val="600"/>
              </a:spcBef>
            </a:pPr>
            <a:r>
              <a:rPr lang="en-US" sz="2400" dirty="0"/>
              <a:t>The Japanese yen has fluctuated a lot in recent years.</a:t>
            </a:r>
          </a:p>
          <a:p>
            <a:pPr marL="342900" indent="-342900">
              <a:spcBef>
                <a:spcPts val="600"/>
              </a:spcBef>
            </a:pPr>
            <a:r>
              <a:rPr lang="en-US" sz="2400" dirty="0"/>
              <a:t>The United States has relatively high corporate income taxes.</a:t>
            </a:r>
          </a:p>
          <a:p>
            <a:pPr marL="342900" indent="-342900">
              <a:spcBef>
                <a:spcPts val="600"/>
              </a:spcBef>
            </a:pPr>
            <a:r>
              <a:rPr lang="en-US" sz="2400" dirty="0"/>
              <a:t>Argentina and Turkey have experienced very high inflation.</a:t>
            </a:r>
          </a:p>
        </p:txBody>
      </p:sp>
    </p:spTree>
    <p:extLst>
      <p:ext uri="{BB962C8B-B14F-4D97-AF65-F5344CB8AC3E}">
        <p14:creationId xmlns:p14="http://schemas.microsoft.com/office/powerpoint/2010/main" val="166325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5148"/>
            <a:ext cx="8341260" cy="590349"/>
          </a:xfrm>
        </p:spPr>
        <p:txBody>
          <a:bodyPr wrap="square" lIns="0" tIns="18000" rIns="0" bIns="18000" anchor="ctr" anchorCtr="0">
            <a:spAutoFit/>
          </a:bodyPr>
          <a:lstStyle/>
          <a:p>
            <a:r>
              <a:rPr lang="en-US" dirty="0"/>
              <a:t>Commercial Risk</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74820"/>
            <a:ext cx="8341259" cy="2190788"/>
          </a:xfrm>
        </p:spPr>
        <p:txBody>
          <a:bodyPr wrap="square" lIns="0" tIns="18000" rIns="0" bIns="18000" anchor="ctr" anchorCtr="0">
            <a:spAutoFit/>
          </a:bodyPr>
          <a:lstStyle/>
          <a:p>
            <a:pPr marL="342900" indent="-342900">
              <a:spcBef>
                <a:spcPts val="600"/>
              </a:spcBef>
            </a:pPr>
            <a:r>
              <a:rPr lang="en-US" sz="2400" dirty="0"/>
              <a:t>Weak partner</a:t>
            </a:r>
          </a:p>
          <a:p>
            <a:pPr marL="342900" indent="-342900">
              <a:spcBef>
                <a:spcPts val="600"/>
              </a:spcBef>
            </a:pPr>
            <a:r>
              <a:rPr lang="en-US" sz="2400" dirty="0"/>
              <a:t>Operational problems</a:t>
            </a:r>
          </a:p>
          <a:p>
            <a:pPr marL="342900" indent="-342900">
              <a:spcBef>
                <a:spcPts val="600"/>
              </a:spcBef>
            </a:pPr>
            <a:r>
              <a:rPr lang="en-US" sz="2400" dirty="0"/>
              <a:t>Timing of entry</a:t>
            </a:r>
          </a:p>
          <a:p>
            <a:pPr marL="342900" indent="-342900">
              <a:spcBef>
                <a:spcPts val="600"/>
              </a:spcBef>
            </a:pPr>
            <a:r>
              <a:rPr lang="en-US" sz="2400" dirty="0"/>
              <a:t>Competitive intensity</a:t>
            </a:r>
          </a:p>
          <a:p>
            <a:pPr marL="342900" indent="-342900">
              <a:spcBef>
                <a:spcPts val="600"/>
              </a:spcBef>
            </a:pPr>
            <a:r>
              <a:rPr lang="en-US" sz="2400" dirty="0"/>
              <a:t>Poor execution of strategy</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70936" y="3160932"/>
            <a:ext cx="8341259" cy="1144347"/>
          </a:xfrm>
        </p:spPr>
        <p:txBody>
          <a:bodyPr wrap="square" lIns="0" tIns="18000" rIns="0" bIns="18000" anchor="ctr" anchorCtr="0">
            <a:spAutoFit/>
          </a:bodyPr>
          <a:lstStyle/>
          <a:p>
            <a:pPr marL="0" indent="0">
              <a:spcBef>
                <a:spcPts val="600"/>
              </a:spcBef>
              <a:buNone/>
            </a:pPr>
            <a:r>
              <a:rPr lang="en-US" sz="2400" dirty="0"/>
              <a:t>General commercial risks such as these lead to sub-optimal formulation and implementation of the firm’s international value-chain activities. </a:t>
            </a:r>
          </a:p>
        </p:txBody>
      </p:sp>
    </p:spTree>
    <p:extLst>
      <p:ext uri="{BB962C8B-B14F-4D97-AF65-F5344CB8AC3E}">
        <p14:creationId xmlns:p14="http://schemas.microsoft.com/office/powerpoint/2010/main" val="2076125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5"/>
            <a:ext cx="8341260" cy="1144347"/>
          </a:xfrm>
        </p:spPr>
        <p:txBody>
          <a:bodyPr wrap="square" lIns="0" tIns="18000" rIns="0" bIns="18000" anchor="ctr" anchorCtr="0">
            <a:spAutoFit/>
          </a:bodyPr>
          <a:lstStyle/>
          <a:p>
            <a:r>
              <a:rPr lang="en-US" dirty="0"/>
              <a:t>The Four Risks of International Business: Conclusion </a:t>
            </a:r>
            <a:endParaRPr lang="en-US" sz="1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1559120"/>
            <a:ext cx="8341260" cy="1667567"/>
          </a:xfrm>
        </p:spPr>
        <p:txBody>
          <a:bodyPr wrap="square" lIns="0" tIns="18000" rIns="0" bIns="18000" anchor="ctr" anchorCtr="0">
            <a:spAutoFit/>
          </a:bodyPr>
          <a:lstStyle/>
          <a:p>
            <a:pPr marL="342900" indent="-342900">
              <a:spcBef>
                <a:spcPts val="600"/>
              </a:spcBef>
            </a:pPr>
            <a:r>
              <a:rPr lang="en-US" sz="2400" dirty="0"/>
              <a:t>Always present but manageable.</a:t>
            </a:r>
          </a:p>
          <a:p>
            <a:pPr marL="342900" indent="-342900">
              <a:spcBef>
                <a:spcPts val="600"/>
              </a:spcBef>
            </a:pPr>
            <a:r>
              <a:rPr lang="en-US" sz="2400" dirty="0"/>
              <a:t>Managers need to understand, anticipate, and take proactive action to reduce their effects. </a:t>
            </a:r>
          </a:p>
          <a:p>
            <a:pPr marL="342900" indent="-342900">
              <a:spcBef>
                <a:spcPts val="600"/>
              </a:spcBef>
            </a:pPr>
            <a:r>
              <a:rPr lang="en-US" sz="2400" dirty="0"/>
              <a:t>Some risks are extremely challenging. </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7401" y="3441438"/>
            <a:ext cx="1268078" cy="405683"/>
          </a:xfrm>
        </p:spPr>
        <p:txBody>
          <a:bodyPr wrap="square" lIns="0" tIns="18000" rIns="0" bIns="18000" anchor="ctr" anchorCtr="0">
            <a:spAutoFit/>
          </a:bodyPr>
          <a:lstStyle/>
          <a:p>
            <a:pPr marL="0" indent="0">
              <a:buNone/>
            </a:pPr>
            <a:r>
              <a:rPr lang="en-US" sz="2400" b="1" dirty="0"/>
              <a:t>Example</a:t>
            </a:r>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369409" y="3938219"/>
            <a:ext cx="8353425" cy="1513679"/>
          </a:xfrm>
        </p:spPr>
        <p:txBody>
          <a:bodyPr wrap="square" lIns="0" tIns="18000" rIns="0" bIns="18000" anchor="ctr" anchorCtr="0">
            <a:spAutoFit/>
          </a:bodyPr>
          <a:lstStyle/>
          <a:p>
            <a:pPr marL="342900" indent="-342900">
              <a:spcBef>
                <a:spcPts val="600"/>
              </a:spcBef>
            </a:pPr>
            <a:r>
              <a:rPr lang="en-US" sz="2400" dirty="0"/>
              <a:t>The Covid-19 pandemic generated many commercial, currency, and country risks, affecting companies worldwide. This led to large declines in national stock markets and normal business activity.</a:t>
            </a:r>
          </a:p>
        </p:txBody>
      </p:sp>
    </p:spTree>
    <p:extLst>
      <p:ext uri="{BB962C8B-B14F-4D97-AF65-F5344CB8AC3E}">
        <p14:creationId xmlns:p14="http://schemas.microsoft.com/office/powerpoint/2010/main" val="12753957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1"/>
            <a:ext cx="8341260" cy="1144347"/>
          </a:xfrm>
        </p:spPr>
        <p:txBody>
          <a:bodyPr wrap="square" lIns="0" tIns="18000" rIns="0" bIns="18000" anchor="ctr" anchorCtr="0">
            <a:spAutoFit/>
          </a:bodyPr>
          <a:lstStyle/>
          <a:p>
            <a:r>
              <a:rPr lang="en-US" dirty="0"/>
              <a:t>Who Participates in International Business?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1548275"/>
            <a:ext cx="8341260" cy="4622222"/>
          </a:xfrm>
        </p:spPr>
        <p:txBody>
          <a:bodyPr wrap="square" lIns="0" tIns="18000" rIns="0" bIns="18000" anchor="ctr" anchorCtr="0">
            <a:spAutoFit/>
          </a:bodyPr>
          <a:lstStyle/>
          <a:p>
            <a:pPr marL="342900" indent="-342900">
              <a:spcBef>
                <a:spcPts val="600"/>
              </a:spcBef>
            </a:pPr>
            <a:r>
              <a:rPr lang="en-US" sz="2400" b="1" dirty="0"/>
              <a:t>Multinational enterprise (</a:t>
            </a:r>
            <a:r>
              <a:rPr lang="en-US" sz="2400" b="1" spc="-300" dirty="0"/>
              <a:t>M N </a:t>
            </a:r>
            <a:r>
              <a:rPr lang="en-US" sz="2400" b="1" dirty="0"/>
              <a:t>E)</a:t>
            </a:r>
            <a:r>
              <a:rPr lang="en-US" sz="2400" dirty="0"/>
              <a:t>: A large company with substantial resources that performs various business activities through a network of subsidiaries and affiliates located in multiple countries (e.g., Disney, Microsoft, Samsung, Unilever, Vodafone). </a:t>
            </a:r>
          </a:p>
          <a:p>
            <a:pPr marL="342900" indent="-342900">
              <a:spcBef>
                <a:spcPts val="600"/>
              </a:spcBef>
            </a:pPr>
            <a:r>
              <a:rPr lang="en-US" sz="2400" b="1" dirty="0"/>
              <a:t>Small and medium-sized enterprise (</a:t>
            </a:r>
            <a:r>
              <a:rPr lang="en-US" sz="2400" b="1" spc="-300" dirty="0"/>
              <a:t>S M </a:t>
            </a:r>
            <a:r>
              <a:rPr lang="en-US" sz="2400" b="1" dirty="0"/>
              <a:t>E)</a:t>
            </a:r>
            <a:r>
              <a:rPr lang="en-US" sz="2400" dirty="0"/>
              <a:t>: Typically, companies with 500 or fewer employees, comprising over 90% of all firms in most countries. </a:t>
            </a:r>
            <a:r>
              <a:rPr lang="en-US" sz="2400" kern="1200" spc="-300" dirty="0"/>
              <a:t>S M E </a:t>
            </a:r>
            <a:r>
              <a:rPr lang="en-US" sz="2400" dirty="0"/>
              <a:t>s increasingly engage in international business.</a:t>
            </a:r>
          </a:p>
          <a:p>
            <a:pPr marL="342900" indent="-342900">
              <a:spcBef>
                <a:spcPts val="600"/>
              </a:spcBef>
            </a:pPr>
            <a:r>
              <a:rPr lang="en-US" sz="2400" b="1" dirty="0"/>
              <a:t>Born global firm</a:t>
            </a:r>
            <a:r>
              <a:rPr lang="en-US" sz="2400" dirty="0"/>
              <a:t>: A young, entrepreneurial </a:t>
            </a:r>
            <a:r>
              <a:rPr lang="en-US" sz="2400" spc="-300" dirty="0"/>
              <a:t>S M </a:t>
            </a:r>
            <a:r>
              <a:rPr lang="en-US" sz="2400" dirty="0"/>
              <a:t>E that undertakes substantial international business at or near its founding.</a:t>
            </a:r>
          </a:p>
        </p:txBody>
      </p:sp>
    </p:spTree>
    <p:extLst>
      <p:ext uri="{BB962C8B-B14F-4D97-AF65-F5344CB8AC3E}">
        <p14:creationId xmlns:p14="http://schemas.microsoft.com/office/powerpoint/2010/main" val="2829218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2220"/>
            <a:ext cx="8341260" cy="1144347"/>
          </a:xfrm>
        </p:spPr>
        <p:txBody>
          <a:bodyPr wrap="square" lIns="0" tIns="18000" rIns="0" bIns="18000" anchor="ctr" anchorCtr="0">
            <a:spAutoFit/>
          </a:bodyPr>
          <a:lstStyle/>
          <a:p>
            <a:r>
              <a:rPr lang="en-US" dirty="0"/>
              <a:t>Geographic Locations of the 500 Largest Multinational Enterprises</a:t>
            </a:r>
            <a:endParaRPr lang="en-US" b="0" dirty="0"/>
          </a:p>
        </p:txBody>
      </p:sp>
      <p:pic>
        <p:nvPicPr>
          <p:cNvPr id="9" name="Picture 8" descr="An illustration showing the geographic distribution of the headquarters of the world’s 500 largest M N Es.&#10;Long description is available in notes, press F6.">
            <a:extLst>
              <a:ext uri="{FF2B5EF4-FFF2-40B4-BE49-F238E27FC236}">
                <a16:creationId xmlns:a16="http://schemas.microsoft.com/office/drawing/2014/main" id="{0BFF84DD-7DAA-B92C-78B4-B81CFB89278E}"/>
              </a:ext>
            </a:extLst>
          </p:cNvPr>
          <p:cNvPicPr>
            <a:picLocks noChangeAspect="1"/>
          </p:cNvPicPr>
          <p:nvPr/>
        </p:nvPicPr>
        <p:blipFill>
          <a:blip r:embed="rId3"/>
          <a:stretch>
            <a:fillRect/>
          </a:stretch>
        </p:blipFill>
        <p:spPr>
          <a:xfrm>
            <a:off x="1602971" y="1724541"/>
            <a:ext cx="5938058" cy="4026131"/>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2313" y="5893959"/>
            <a:ext cx="2527998" cy="221018"/>
          </a:xfrm>
        </p:spPr>
        <p:txBody>
          <a:bodyPr wrap="square" lIns="0" tIns="18000" rIns="0" bIns="18000" anchor="ctr" anchorCtr="0">
            <a:spAutoFit/>
          </a:bodyPr>
          <a:lstStyle/>
          <a:p>
            <a:pPr marL="0" indent="0">
              <a:spcBef>
                <a:spcPts val="600"/>
              </a:spcBef>
              <a:buNone/>
            </a:pPr>
            <a:r>
              <a:rPr lang="en-US" sz="1200" b="1" dirty="0"/>
              <a:t>Source:</a:t>
            </a:r>
            <a:r>
              <a:rPr lang="en-US" sz="1200" dirty="0"/>
              <a:t> </a:t>
            </a:r>
            <a:r>
              <a:rPr lang="en-US" sz="1200" i="1" dirty="0"/>
              <a:t>Fortune</a:t>
            </a:r>
            <a:r>
              <a:rPr lang="en-US" sz="1200" dirty="0"/>
              <a:t>, “Global 500,” 2022,</a:t>
            </a:r>
            <a:endParaRPr lang="en-US" sz="12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2951271" y="5888693"/>
            <a:ext cx="1200678" cy="221018"/>
          </a:xfrm>
        </p:spPr>
        <p:txBody>
          <a:bodyPr wrap="square" lIns="0" tIns="18000" rIns="0" bIns="18000" anchor="ctr" anchorCtr="0">
            <a:spAutoFit/>
          </a:bodyPr>
          <a:lstStyle/>
          <a:p>
            <a:pPr marL="0" indent="0">
              <a:buNone/>
            </a:pPr>
            <a:r>
              <a:rPr lang="en-US" sz="1200" dirty="0">
                <a:hlinkClick r:id="rId4" tooltip="http://fortune.com"/>
              </a:rPr>
              <a:t>http://fortune.com</a:t>
            </a:r>
            <a:endParaRPr lang="en-US" sz="1200" dirty="0"/>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4188790" y="5893919"/>
            <a:ext cx="2909445" cy="221018"/>
          </a:xfrm>
        </p:spPr>
        <p:txBody>
          <a:bodyPr wrap="square" lIns="0" tIns="18000" rIns="0" bIns="18000" anchor="ctr" anchorCtr="0">
            <a:spAutoFit/>
          </a:bodyPr>
          <a:lstStyle/>
          <a:p>
            <a:pPr marL="0" indent="0">
              <a:buNone/>
            </a:pPr>
            <a:r>
              <a:rPr lang="en-US" sz="1200" dirty="0"/>
              <a:t>; Fortune, “Visualize the Global 500,” 2023,</a:t>
            </a:r>
          </a:p>
        </p:txBody>
      </p:sp>
      <p:sp>
        <p:nvSpPr>
          <p:cNvPr id="6" name="Content Placeholder 5">
            <a:extLst>
              <a:ext uri="{FF2B5EF4-FFF2-40B4-BE49-F238E27FC236}">
                <a16:creationId xmlns:a16="http://schemas.microsoft.com/office/drawing/2014/main" id="{0AA6AEC4-36E5-45F7-8460-45A3FD401A95}"/>
              </a:ext>
            </a:extLst>
          </p:cNvPr>
          <p:cNvSpPr>
            <a:spLocks noGrp="1"/>
          </p:cNvSpPr>
          <p:nvPr>
            <p:ph sz="quarter" idx="16"/>
          </p:nvPr>
        </p:nvSpPr>
        <p:spPr>
          <a:xfrm>
            <a:off x="7134884" y="5897499"/>
            <a:ext cx="1200678" cy="221018"/>
          </a:xfrm>
        </p:spPr>
        <p:txBody>
          <a:bodyPr wrap="square" lIns="0" tIns="18000" rIns="0" bIns="18000" anchor="ctr" anchorCtr="0">
            <a:spAutoFit/>
          </a:bodyPr>
          <a:lstStyle/>
          <a:p>
            <a:pPr marL="0" indent="0">
              <a:buNone/>
            </a:pPr>
            <a:r>
              <a:rPr lang="en-US" sz="1200" dirty="0">
                <a:hlinkClick r:id="rId4"/>
              </a:rPr>
              <a:t>http://fortune.com</a:t>
            </a:r>
            <a:endParaRPr lang="en-US" sz="1200" dirty="0"/>
          </a:p>
        </p:txBody>
      </p:sp>
      <p:sp>
        <p:nvSpPr>
          <p:cNvPr id="7" name="Content Placeholder 6">
            <a:extLst>
              <a:ext uri="{FF2B5EF4-FFF2-40B4-BE49-F238E27FC236}">
                <a16:creationId xmlns:a16="http://schemas.microsoft.com/office/drawing/2014/main" id="{3F1BE0C5-B8E5-442F-A64A-DBDABFCF2D30}"/>
              </a:ext>
            </a:extLst>
          </p:cNvPr>
          <p:cNvSpPr>
            <a:spLocks noGrp="1"/>
          </p:cNvSpPr>
          <p:nvPr>
            <p:ph sz="quarter" idx="17"/>
          </p:nvPr>
        </p:nvSpPr>
        <p:spPr>
          <a:xfrm>
            <a:off x="362313" y="6163089"/>
            <a:ext cx="8134706" cy="221018"/>
          </a:xfrm>
        </p:spPr>
        <p:txBody>
          <a:bodyPr wrap="square" lIns="0" tIns="18000" rIns="0" bIns="18000" anchor="ctr" anchorCtr="0">
            <a:spAutoFit/>
          </a:bodyPr>
          <a:lstStyle/>
          <a:p>
            <a:pPr marL="0" indent="0">
              <a:buNone/>
            </a:pPr>
            <a:r>
              <a:rPr lang="en-US" sz="1200" dirty="0"/>
              <a:t>The exhibit shows country name, total revenues of Global 500 firms in U.S. dollars, and total number of Global 500 firms.</a:t>
            </a:r>
          </a:p>
        </p:txBody>
      </p:sp>
    </p:spTree>
    <p:extLst>
      <p:ext uri="{BB962C8B-B14F-4D97-AF65-F5344CB8AC3E}">
        <p14:creationId xmlns:p14="http://schemas.microsoft.com/office/powerpoint/2010/main" val="1214009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195"/>
            <a:ext cx="8341260" cy="1144347"/>
          </a:xfrm>
        </p:spPr>
        <p:txBody>
          <a:bodyPr wrap="square" lIns="0" tIns="18000" rIns="0" bIns="18000" anchor="ctr" anchorCtr="0">
            <a:spAutoFit/>
          </a:bodyPr>
          <a:lstStyle/>
          <a:p>
            <a:r>
              <a:rPr lang="en-US" dirty="0"/>
              <a:t>Who Participates in International Business?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1561635"/>
            <a:ext cx="8341260" cy="2329287"/>
          </a:xfrm>
        </p:spPr>
        <p:txBody>
          <a:bodyPr wrap="square" lIns="0" tIns="18000" rIns="0" bIns="18000" anchor="ctr" anchorCtr="0">
            <a:spAutoFit/>
          </a:bodyPr>
          <a:lstStyle/>
          <a:p>
            <a:pPr marL="342900" indent="-342900">
              <a:spcBef>
                <a:spcPts val="600"/>
              </a:spcBef>
            </a:pPr>
            <a:r>
              <a:rPr lang="en-US" sz="2400" b="1" dirty="0"/>
              <a:t>Governments</a:t>
            </a:r>
            <a:r>
              <a:rPr lang="en-US" sz="2400" dirty="0"/>
              <a:t>: Associated with government intervention and specific political systems</a:t>
            </a:r>
          </a:p>
          <a:p>
            <a:pPr marL="342900" indent="-342900">
              <a:spcBef>
                <a:spcPts val="600"/>
              </a:spcBef>
            </a:pPr>
            <a:r>
              <a:rPr lang="en-US" sz="2400" b="1" dirty="0"/>
              <a:t>Non-governmental organizations(</a:t>
            </a:r>
            <a:r>
              <a:rPr lang="en-US" sz="2400" b="1" spc="-300" dirty="0"/>
              <a:t>N G O </a:t>
            </a:r>
            <a:r>
              <a:rPr lang="en-US" sz="2400" b="1" dirty="0"/>
              <a:t>s)</a:t>
            </a:r>
            <a:r>
              <a:rPr lang="en-US" sz="2400" dirty="0"/>
              <a:t>: Many such non-profit organizations conduct cross-border activities. They pursue special causes and serve as advocates for social issues, education, politics, and research.</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8300" y="3955788"/>
            <a:ext cx="1480449" cy="405683"/>
          </a:xfrm>
        </p:spPr>
        <p:txBody>
          <a:bodyPr wrap="square" lIns="0" tIns="18000" rIns="0" bIns="18000" anchor="ctr" anchorCtr="0">
            <a:spAutoFit/>
          </a:bodyPr>
          <a:lstStyle/>
          <a:p>
            <a:pPr marL="0" indent="0">
              <a:buNone/>
            </a:pPr>
            <a:r>
              <a:rPr lang="en-US" sz="2400" b="1" dirty="0"/>
              <a:t>Examples</a:t>
            </a:r>
          </a:p>
        </p:txBody>
      </p:sp>
      <p:sp>
        <p:nvSpPr>
          <p:cNvPr id="4" name="Content Placeholder 3">
            <a:extLst>
              <a:ext uri="{FF2B5EF4-FFF2-40B4-BE49-F238E27FC236}">
                <a16:creationId xmlns:a16="http://schemas.microsoft.com/office/drawing/2014/main" id="{B7725C11-BE5E-40D0-B957-14E39B1ABE91}"/>
              </a:ext>
            </a:extLst>
          </p:cNvPr>
          <p:cNvSpPr>
            <a:spLocks noGrp="1"/>
          </p:cNvSpPr>
          <p:nvPr>
            <p:ph sz="quarter" idx="15"/>
          </p:nvPr>
        </p:nvSpPr>
        <p:spPr>
          <a:xfrm>
            <a:off x="369410" y="4438981"/>
            <a:ext cx="8341260" cy="1959955"/>
          </a:xfrm>
        </p:spPr>
        <p:txBody>
          <a:bodyPr wrap="square" lIns="0" tIns="18000" rIns="0" bIns="18000" anchor="ctr" anchorCtr="0">
            <a:spAutoFit/>
          </a:bodyPr>
          <a:lstStyle/>
          <a:p>
            <a:pPr marL="342900" indent="-342900">
              <a:spcBef>
                <a:spcPts val="600"/>
              </a:spcBef>
            </a:pPr>
            <a:r>
              <a:rPr lang="en-US" sz="2400" dirty="0"/>
              <a:t>The Bill and Melinda Gates Foundation and the British Welcome Trust both support health and educational initiatives. </a:t>
            </a:r>
          </a:p>
          <a:p>
            <a:pPr marL="342900" indent="-342900">
              <a:spcBef>
                <a:spcPts val="600"/>
              </a:spcBef>
            </a:pPr>
            <a:r>
              <a:rPr lang="en-US" sz="2400" spc="-300" dirty="0"/>
              <a:t>C A R </a:t>
            </a:r>
            <a:r>
              <a:rPr lang="en-US" sz="2400" dirty="0"/>
              <a:t>E is an international non-profit organization dedicated to reducing poverty.</a:t>
            </a:r>
          </a:p>
        </p:txBody>
      </p:sp>
    </p:spTree>
    <p:extLst>
      <p:ext uri="{BB962C8B-B14F-4D97-AF65-F5344CB8AC3E}">
        <p14:creationId xmlns:p14="http://schemas.microsoft.com/office/powerpoint/2010/main" val="3175907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965"/>
            <a:ext cx="8341260" cy="590349"/>
          </a:xfrm>
        </p:spPr>
        <p:txBody>
          <a:bodyPr wrap="square" lIns="0" tIns="18000" rIns="0" bIns="18000" anchor="ctr" anchorCtr="0">
            <a:spAutoFit/>
          </a:bodyPr>
          <a:lstStyle/>
          <a:p>
            <a:r>
              <a:rPr lang="en-US"/>
              <a:t>Nongovernmental Organizations</a:t>
            </a:r>
            <a:endParaRPr lang="en-US" sz="2800" b="0"/>
          </a:p>
        </p:txBody>
      </p:sp>
      <p:pic>
        <p:nvPicPr>
          <p:cNvPr id="6" name="Picture 5" descr="A physician swabbing a toddler’s arm with cotton before administering an injection.">
            <a:extLst>
              <a:ext uri="{FF2B5EF4-FFF2-40B4-BE49-F238E27FC236}">
                <a16:creationId xmlns:a16="http://schemas.microsoft.com/office/drawing/2014/main" id="{798B949A-6DCB-59AC-828B-6E9D36EA5872}"/>
              </a:ext>
            </a:extLst>
          </p:cNvPr>
          <p:cNvPicPr>
            <a:picLocks noChangeAspect="1"/>
          </p:cNvPicPr>
          <p:nvPr/>
        </p:nvPicPr>
        <p:blipFill>
          <a:blip r:embed="rId3"/>
          <a:stretch>
            <a:fillRect/>
          </a:stretch>
        </p:blipFill>
        <p:spPr>
          <a:xfrm>
            <a:off x="2044471" y="1059781"/>
            <a:ext cx="5063206" cy="3622334"/>
          </a:xfrm>
          <a:prstGeom prst="rect">
            <a:avLst/>
          </a:prstGeom>
        </p:spPr>
      </p:pic>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4883721"/>
            <a:ext cx="8341260" cy="1513679"/>
          </a:xfrm>
        </p:spPr>
        <p:txBody>
          <a:bodyPr wrap="square" lIns="0" tIns="18000" rIns="0" bIns="18000" anchor="ctr" anchorCtr="0">
            <a:spAutoFit/>
          </a:bodyPr>
          <a:lstStyle/>
          <a:p>
            <a:pPr marL="0" indent="0">
              <a:spcBef>
                <a:spcPts val="600"/>
              </a:spcBef>
              <a:buNone/>
            </a:pPr>
            <a:r>
              <a:rPr lang="en-US" sz="2400"/>
              <a:t>The British Welcome Trust funds nongovernmental organizations (</a:t>
            </a:r>
            <a:r>
              <a:rPr lang="en-US" sz="2400" spc="-300"/>
              <a:t>N G O </a:t>
            </a:r>
            <a:r>
              <a:rPr lang="en-US" sz="2400"/>
              <a:t>s)and research initiatives to work in collaboration with private businesses to develop remedies for diseases in Africa and other less-developed areas.</a:t>
            </a:r>
          </a:p>
        </p:txBody>
      </p:sp>
    </p:spTree>
    <p:extLst>
      <p:ext uri="{BB962C8B-B14F-4D97-AF65-F5344CB8AC3E}">
        <p14:creationId xmlns:p14="http://schemas.microsoft.com/office/powerpoint/2010/main" val="3971765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969"/>
            <a:ext cx="8341260" cy="590349"/>
          </a:xfrm>
        </p:spPr>
        <p:txBody>
          <a:bodyPr wrap="square" lIns="0" tIns="18000" rIns="0" bIns="18000" anchor="ctr" anchorCtr="0">
            <a:spAutoFit/>
          </a:bodyPr>
          <a:lstStyle/>
          <a:p>
            <a:r>
              <a:rPr lang="en-US" dirty="0"/>
              <a:t>Why Do Firms Internationalize?</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83217"/>
            <a:ext cx="8341260" cy="1590623"/>
          </a:xfrm>
        </p:spPr>
        <p:txBody>
          <a:bodyPr wrap="square" lIns="0" tIns="18000" rIns="0" bIns="18000" anchor="ctr" anchorCtr="0">
            <a:spAutoFit/>
          </a:bodyPr>
          <a:lstStyle/>
          <a:p>
            <a:pPr marL="342900" indent="-342900">
              <a:spcBef>
                <a:spcPts val="600"/>
              </a:spcBef>
            </a:pPr>
            <a:r>
              <a:rPr lang="en-US" sz="2400" i="1" dirty="0"/>
              <a:t>Seek opportunities for growth through market diversification</a:t>
            </a:r>
            <a:r>
              <a:rPr lang="en-US" sz="2400" dirty="0"/>
              <a:t>. For example, Harley-Davidson, </a:t>
            </a:r>
            <a:r>
              <a:rPr lang="en-US" sz="2400" spc="-300" dirty="0"/>
              <a:t>I K E </a:t>
            </a:r>
            <a:r>
              <a:rPr lang="en-US" sz="2400" dirty="0"/>
              <a:t>A, H&amp;M.</a:t>
            </a:r>
          </a:p>
          <a:p>
            <a:pPr marL="342900" indent="-342900">
              <a:spcBef>
                <a:spcPts val="600"/>
              </a:spcBef>
            </a:pPr>
            <a:r>
              <a:rPr lang="en-US" sz="2400" i="1" dirty="0"/>
              <a:t>Earn higher margins and profits</a:t>
            </a:r>
            <a:r>
              <a:rPr lang="en-US" sz="2400" dirty="0"/>
              <a:t>. Often, foreign markets are more profitable.</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70940" y="2539868"/>
            <a:ext cx="4344495" cy="3729670"/>
          </a:xfrm>
        </p:spPr>
        <p:txBody>
          <a:bodyPr wrap="square" lIns="0" tIns="18000" rIns="0" bIns="18000" anchor="ctr" anchorCtr="0">
            <a:spAutoFit/>
          </a:bodyPr>
          <a:lstStyle/>
          <a:p>
            <a:pPr marL="342900" indent="-342900"/>
            <a:r>
              <a:rPr lang="en-US" sz="2400" i="1" dirty="0"/>
              <a:t>Gain new ideas about products, services, and business methods</a:t>
            </a:r>
            <a:r>
              <a:rPr lang="en-US" sz="2400" dirty="0"/>
              <a:t>. For example, </a:t>
            </a:r>
            <a:r>
              <a:rPr lang="en-US" sz="2400" spc="-300" dirty="0"/>
              <a:t>G </a:t>
            </a:r>
            <a:r>
              <a:rPr lang="en-US" sz="2400" dirty="0"/>
              <a:t>M refined its knowledge for making small, fuel-efficient cars in Europe. Retailer H&amp;M gains new product ideas by following fashion trends around the world.</a:t>
            </a:r>
          </a:p>
        </p:txBody>
      </p:sp>
      <p:pic>
        <p:nvPicPr>
          <p:cNvPr id="6" name="Picture 5" descr="A view of fashionable clothing and accessories displayed in a showroom. A small board showing the discount rates is placed amidst them.">
            <a:extLst>
              <a:ext uri="{FF2B5EF4-FFF2-40B4-BE49-F238E27FC236}">
                <a16:creationId xmlns:a16="http://schemas.microsoft.com/office/drawing/2014/main" id="{824C2C89-0102-AC54-8BB5-AE42CAC44358}"/>
              </a:ext>
            </a:extLst>
          </p:cNvPr>
          <p:cNvPicPr>
            <a:picLocks noChangeAspect="1"/>
          </p:cNvPicPr>
          <p:nvPr/>
        </p:nvPicPr>
        <p:blipFill>
          <a:blip r:embed="rId3"/>
          <a:stretch>
            <a:fillRect/>
          </a:stretch>
        </p:blipFill>
        <p:spPr>
          <a:xfrm>
            <a:off x="4904210" y="3010743"/>
            <a:ext cx="3804062" cy="2541719"/>
          </a:xfrm>
          <a:prstGeom prst="rect">
            <a:avLst/>
          </a:prstGeom>
        </p:spPr>
      </p:pic>
    </p:spTree>
    <p:extLst>
      <p:ext uri="{BB962C8B-B14F-4D97-AF65-F5344CB8AC3E}">
        <p14:creationId xmlns:p14="http://schemas.microsoft.com/office/powerpoint/2010/main" val="2900631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6670" y="115752"/>
            <a:ext cx="8345530" cy="590349"/>
          </a:xfrm>
        </p:spPr>
        <p:txBody>
          <a:bodyPr wrap="square" lIns="0" tIns="18000" rIns="0" bIns="18000" anchor="ctr" anchorCtr="0">
            <a:spAutoFit/>
          </a:bodyPr>
          <a:lstStyle/>
          <a:p>
            <a:r>
              <a:rPr lang="en-US" dirty="0"/>
              <a:t>Why Do Firms Participate in </a:t>
            </a:r>
            <a:r>
              <a:rPr lang="en-US" spc="-500" dirty="0"/>
              <a:t>I </a:t>
            </a:r>
            <a:r>
              <a:rPr lang="en-US" dirty="0"/>
              <a:t>B?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6670" y="876692"/>
            <a:ext cx="8345530" cy="1144347"/>
          </a:xfrm>
        </p:spPr>
        <p:txBody>
          <a:bodyPr wrap="square" lIns="0" tIns="18000" rIns="0" bIns="18000" anchor="ctr" anchorCtr="0">
            <a:spAutoFit/>
          </a:bodyPr>
          <a:lstStyle/>
          <a:p>
            <a:pPr marL="342900" indent="-342900">
              <a:spcBef>
                <a:spcPts val="600"/>
              </a:spcBef>
            </a:pPr>
            <a:r>
              <a:rPr lang="en-US" sz="2400" i="1" dirty="0"/>
              <a:t>Serve key customers that have relocated abroad</a:t>
            </a:r>
            <a:r>
              <a:rPr lang="en-US" sz="2400" dirty="0"/>
              <a:t>. For example, when Toyota launched its operations in Britain, many of its suppliers followed suit.</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6669" y="2106669"/>
            <a:ext cx="4943885" cy="4175946"/>
          </a:xfrm>
        </p:spPr>
        <p:txBody>
          <a:bodyPr wrap="square" lIns="0" tIns="18000" rIns="0" bIns="18000" anchor="ctr" anchorCtr="0">
            <a:spAutoFit/>
          </a:bodyPr>
          <a:lstStyle/>
          <a:p>
            <a:pPr marL="342900" indent="-342900">
              <a:spcBef>
                <a:spcPts val="600"/>
              </a:spcBef>
            </a:pPr>
            <a:r>
              <a:rPr lang="en-US" sz="2400" i="1" dirty="0"/>
              <a:t>Be closer to supply sources, benefit from global sourcing advantages, or gain flexibility in the sourcing of products</a:t>
            </a:r>
            <a:r>
              <a:rPr lang="en-US" sz="2400" dirty="0"/>
              <a:t>. For example, Apple sources parts and components from the best suppliers worldwide.</a:t>
            </a:r>
          </a:p>
          <a:p>
            <a:pPr marL="342900" indent="-342900">
              <a:spcBef>
                <a:spcPts val="600"/>
              </a:spcBef>
            </a:pPr>
            <a:r>
              <a:rPr lang="en-US" sz="2400" i="1" dirty="0"/>
              <a:t>Gain access to lower-cost or better-value factors of production</a:t>
            </a:r>
            <a:r>
              <a:rPr lang="en-US" sz="2400" dirty="0"/>
              <a:t>. For example, Sony does much manufacturing in China.</a:t>
            </a:r>
          </a:p>
        </p:txBody>
      </p:sp>
      <p:pic>
        <p:nvPicPr>
          <p:cNvPr id="8" name="Picture 7" descr="A couple of women in a factory">
            <a:extLst>
              <a:ext uri="{FF2B5EF4-FFF2-40B4-BE49-F238E27FC236}">
                <a16:creationId xmlns:a16="http://schemas.microsoft.com/office/drawing/2014/main" id="{8438C4C8-9E21-4FBB-9584-0B2F5DEB14A1}"/>
              </a:ext>
            </a:extLst>
          </p:cNvPr>
          <p:cNvPicPr>
            <a:picLocks noChangeAspect="1"/>
          </p:cNvPicPr>
          <p:nvPr/>
        </p:nvPicPr>
        <p:blipFill rotWithShape="1">
          <a:blip r:embed="rId3"/>
          <a:srcRect b="3341"/>
          <a:stretch/>
        </p:blipFill>
        <p:spPr>
          <a:xfrm>
            <a:off x="5451803" y="3050992"/>
            <a:ext cx="3249637" cy="2930316"/>
          </a:xfrm>
          <a:prstGeom prst="rect">
            <a:avLst/>
          </a:prstGeom>
        </p:spPr>
      </p:pic>
    </p:spTree>
    <p:extLst>
      <p:ext uri="{BB962C8B-B14F-4D97-AF65-F5344CB8AC3E}">
        <p14:creationId xmlns:p14="http://schemas.microsoft.com/office/powerpoint/2010/main" val="3230711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969"/>
            <a:ext cx="8341260" cy="590349"/>
          </a:xfrm>
        </p:spPr>
        <p:txBody>
          <a:bodyPr wrap="square" lIns="0" tIns="18000" rIns="0" bIns="18000" anchor="ctr" anchorCtr="0">
            <a:spAutoFit/>
          </a:bodyPr>
          <a:lstStyle/>
          <a:p>
            <a:r>
              <a:rPr lang="en-US" dirty="0"/>
              <a:t>Why Do Firms Participate in </a:t>
            </a:r>
            <a:r>
              <a:rPr lang="en-US" kern="1200" spc="-500" dirty="0"/>
              <a:t>I </a:t>
            </a:r>
            <a:r>
              <a:rPr lang="en-US" dirty="0"/>
              <a:t>B?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67192"/>
            <a:ext cx="8341260" cy="4991554"/>
          </a:xfrm>
        </p:spPr>
        <p:txBody>
          <a:bodyPr wrap="square" lIns="0" tIns="18000" rIns="0" bIns="18000" anchor="ctr" anchorCtr="0">
            <a:spAutoFit/>
          </a:bodyPr>
          <a:lstStyle/>
          <a:p>
            <a:pPr marL="342900" indent="-342900">
              <a:spcBef>
                <a:spcPts val="600"/>
              </a:spcBef>
            </a:pPr>
            <a:r>
              <a:rPr lang="en-US" sz="2400" i="1" dirty="0"/>
              <a:t>Develop economies of scale in sourcing, production, marketing, and R &amp; D</a:t>
            </a:r>
            <a:r>
              <a:rPr lang="en-US" sz="2400" dirty="0"/>
              <a:t>. For example, Airbus lowers its overall costs by sourcing, manufacturing, and selling aircraft worldwide.</a:t>
            </a:r>
          </a:p>
          <a:p>
            <a:pPr marL="342900" indent="-342900">
              <a:spcBef>
                <a:spcPts val="600"/>
              </a:spcBef>
            </a:pPr>
            <a:r>
              <a:rPr lang="en-US" sz="2400" i="1" dirty="0"/>
              <a:t>Confront international competitors more effectively or thwart the growth of competition in the home market.</a:t>
            </a:r>
            <a:r>
              <a:rPr lang="en-US" sz="2400" dirty="0"/>
              <a:t> Chinese appliance maker Haier established operations in the United States, partly to gain competitive knowledge about Whirlpool, its chief </a:t>
            </a:r>
            <a:r>
              <a:rPr lang="en-US" sz="2400" spc="-300" dirty="0"/>
              <a:t>U </a:t>
            </a:r>
            <a:r>
              <a:rPr lang="en-US" sz="2400" dirty="0"/>
              <a:t>S rivals.</a:t>
            </a:r>
          </a:p>
          <a:p>
            <a:pPr marL="342900" indent="-342900">
              <a:spcBef>
                <a:spcPts val="600"/>
              </a:spcBef>
            </a:pPr>
            <a:r>
              <a:rPr lang="en-US" sz="2400" i="1" dirty="0"/>
              <a:t>Invest in a potentially rewarding relationship with a foreign partner</a:t>
            </a:r>
            <a:r>
              <a:rPr lang="en-US" sz="2400" dirty="0"/>
              <a:t>. French computer firm Groupe Bull partnered with Toshiba in Japan to gain insights for developing information technology.</a:t>
            </a:r>
          </a:p>
        </p:txBody>
      </p:sp>
    </p:spTree>
    <p:extLst>
      <p:ext uri="{BB962C8B-B14F-4D97-AF65-F5344CB8AC3E}">
        <p14:creationId xmlns:p14="http://schemas.microsoft.com/office/powerpoint/2010/main" val="2889007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3C0EB-1710-0DC1-0794-D1E93BD33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03B42-524C-3782-BF4E-EAEEB605D3E5}"/>
              </a:ext>
            </a:extLst>
          </p:cNvPr>
          <p:cNvSpPr>
            <a:spLocks noGrp="1"/>
          </p:cNvSpPr>
          <p:nvPr>
            <p:ph type="title"/>
          </p:nvPr>
        </p:nvSpPr>
        <p:spPr>
          <a:xfrm>
            <a:off x="370580" y="105235"/>
            <a:ext cx="8341619" cy="1144347"/>
          </a:xfrm>
        </p:spPr>
        <p:txBody>
          <a:bodyPr wrap="square" lIns="0" tIns="18000" rIns="0" bIns="18000" anchor="ctr" anchorCtr="0">
            <a:spAutoFit/>
          </a:bodyPr>
          <a:lstStyle/>
          <a:p>
            <a:r>
              <a:rPr lang="en-US" spc="-500" dirty="0"/>
              <a:t>I </a:t>
            </a:r>
            <a:r>
              <a:rPr lang="en-US" dirty="0"/>
              <a:t>B Contributes to National Economic Well-Being</a:t>
            </a:r>
            <a:endParaRPr lang="en-US" sz="1800" b="0" dirty="0"/>
          </a:p>
        </p:txBody>
      </p:sp>
      <p:pic>
        <p:nvPicPr>
          <p:cNvPr id="6" name="Picture 5" descr="A view of a busy commercial street in Beijing, China.">
            <a:extLst>
              <a:ext uri="{FF2B5EF4-FFF2-40B4-BE49-F238E27FC236}">
                <a16:creationId xmlns:a16="http://schemas.microsoft.com/office/drawing/2014/main" id="{9CFFAAA6-F168-B765-E02B-1C294466F40E}"/>
              </a:ext>
            </a:extLst>
          </p:cNvPr>
          <p:cNvPicPr>
            <a:picLocks noChangeAspect="1"/>
          </p:cNvPicPr>
          <p:nvPr/>
        </p:nvPicPr>
        <p:blipFill>
          <a:blip r:embed="rId3"/>
          <a:stretch>
            <a:fillRect/>
          </a:stretch>
        </p:blipFill>
        <p:spPr>
          <a:xfrm>
            <a:off x="1202436" y="1341495"/>
            <a:ext cx="6739128" cy="4502810"/>
          </a:xfrm>
          <a:prstGeom prst="rect">
            <a:avLst/>
          </a:prstGeom>
        </p:spPr>
      </p:pic>
      <p:sp>
        <p:nvSpPr>
          <p:cNvPr id="3" name="Content Placeholder 2">
            <a:extLst>
              <a:ext uri="{FF2B5EF4-FFF2-40B4-BE49-F238E27FC236}">
                <a16:creationId xmlns:a16="http://schemas.microsoft.com/office/drawing/2014/main" id="{0F552320-FE57-4D83-C34F-C4C4F9C7AB28}"/>
              </a:ext>
            </a:extLst>
          </p:cNvPr>
          <p:cNvSpPr>
            <a:spLocks noGrp="1"/>
          </p:cNvSpPr>
          <p:nvPr>
            <p:ph sz="quarter" idx="14"/>
          </p:nvPr>
        </p:nvSpPr>
        <p:spPr>
          <a:xfrm>
            <a:off x="369488" y="5962812"/>
            <a:ext cx="8281670" cy="405683"/>
          </a:xfrm>
        </p:spPr>
        <p:txBody>
          <a:bodyPr wrap="square" lIns="0" tIns="18000" rIns="0" bIns="18000" anchor="ctr" anchorCtr="0">
            <a:spAutoFit/>
          </a:bodyPr>
          <a:lstStyle/>
          <a:p>
            <a:pPr marL="0" indent="0">
              <a:spcBef>
                <a:spcPts val="600"/>
              </a:spcBef>
              <a:buNone/>
            </a:pPr>
            <a:r>
              <a:rPr lang="en-US" sz="2400" dirty="0">
                <a:solidFill>
                  <a:schemeClr val="tx1"/>
                </a:solidFill>
                <a:latin typeface="Arial" panose="020B0604020202020204" pitchFamily="34" charset="0"/>
                <a:cs typeface="Arial" panose="020B0604020202020204" pitchFamily="34" charset="0"/>
              </a:rPr>
              <a:t>A popular shopping street in Beijing, China</a:t>
            </a:r>
          </a:p>
        </p:txBody>
      </p:sp>
    </p:spTree>
    <p:extLst>
      <p:ext uri="{BB962C8B-B14F-4D97-AF65-F5344CB8AC3E}">
        <p14:creationId xmlns:p14="http://schemas.microsoft.com/office/powerpoint/2010/main" val="3603117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969"/>
            <a:ext cx="8341260" cy="590349"/>
          </a:xfrm>
        </p:spPr>
        <p:txBody>
          <a:bodyPr wrap="square" lIns="0" tIns="18000" rIns="0" bIns="18000" anchor="ctr" anchorCtr="0">
            <a:spAutoFit/>
          </a:bodyPr>
          <a:lstStyle/>
          <a:p>
            <a:r>
              <a:rPr lang="en-US" dirty="0"/>
              <a:t>Why Study International Business? </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55474"/>
            <a:ext cx="8249185" cy="5514774"/>
          </a:xfrm>
        </p:spPr>
        <p:txBody>
          <a:bodyPr wrap="square" lIns="0" tIns="18000" rIns="0" bIns="18000" anchor="ctr" anchorCtr="0">
            <a:spAutoFit/>
          </a:bodyPr>
          <a:lstStyle/>
          <a:p>
            <a:pPr marL="342900" indent="-342900">
              <a:spcBef>
                <a:spcPts val="600"/>
              </a:spcBef>
            </a:pPr>
            <a:r>
              <a:rPr lang="en-US" sz="2400" i="1" dirty="0"/>
              <a:t>Facilitator of the global economy and interconnectedness</a:t>
            </a:r>
            <a:r>
              <a:rPr lang="en-US" sz="2400" dirty="0"/>
              <a:t>. </a:t>
            </a:r>
            <a:r>
              <a:rPr lang="en-US" sz="2400" spc="-300" dirty="0"/>
              <a:t>I </a:t>
            </a:r>
            <a:r>
              <a:rPr lang="en-US" sz="2400" dirty="0"/>
              <a:t>B brings nations closer together.</a:t>
            </a:r>
          </a:p>
          <a:p>
            <a:pPr marL="342900" indent="-342900">
              <a:spcBef>
                <a:spcPts val="600"/>
              </a:spcBef>
            </a:pPr>
            <a:r>
              <a:rPr lang="en-US" sz="2400" i="1" dirty="0"/>
              <a:t>Contributor to national economic well-being</a:t>
            </a:r>
            <a:r>
              <a:rPr lang="en-US" sz="2400" dirty="0"/>
              <a:t>. </a:t>
            </a:r>
            <a:r>
              <a:rPr lang="en-US" sz="2400" kern="1200" spc="-300" dirty="0"/>
              <a:t>I </a:t>
            </a:r>
            <a:r>
              <a:rPr lang="en-US" sz="2400" dirty="0"/>
              <a:t>B fuels economic growth and rising living standards.</a:t>
            </a:r>
          </a:p>
          <a:p>
            <a:pPr marL="342900" indent="-342900">
              <a:spcBef>
                <a:spcPts val="600"/>
              </a:spcBef>
            </a:pPr>
            <a:r>
              <a:rPr lang="en-US" sz="2400" i="1" dirty="0"/>
              <a:t>A competitive advantage for the firm</a:t>
            </a:r>
            <a:r>
              <a:rPr lang="en-US" sz="2400" dirty="0"/>
              <a:t>. </a:t>
            </a:r>
            <a:r>
              <a:rPr lang="en-US" sz="2400" spc="-300" dirty="0"/>
              <a:t>I </a:t>
            </a:r>
            <a:r>
              <a:rPr lang="en-US" sz="2400" dirty="0"/>
              <a:t>B provides companies with many benefits, leading to profitability and competitive advantages.</a:t>
            </a:r>
          </a:p>
          <a:p>
            <a:pPr marL="342900" indent="-342900">
              <a:spcBef>
                <a:spcPts val="600"/>
              </a:spcBef>
            </a:pPr>
            <a:r>
              <a:rPr lang="en-US" sz="2400" dirty="0"/>
              <a:t>A competitive advantage for you. Working internationally offers a range of enlightening experiences, new knowledge, and other benefits that enhance careers….and it’s exciting!</a:t>
            </a:r>
          </a:p>
          <a:p>
            <a:pPr marL="342900" indent="-342900">
              <a:spcBef>
                <a:spcPts val="600"/>
              </a:spcBef>
            </a:pPr>
            <a:r>
              <a:rPr lang="en-US" sz="2400" dirty="0"/>
              <a:t>An opportunity to support ethics, sustainability and corporate citizenship. Firms must be responsible in their dealings because </a:t>
            </a:r>
            <a:r>
              <a:rPr lang="en-US" sz="2400" spc="-300" dirty="0"/>
              <a:t>I </a:t>
            </a:r>
            <a:r>
              <a:rPr lang="en-US" sz="2400" dirty="0"/>
              <a:t>B affects numerous constituents</a:t>
            </a:r>
          </a:p>
        </p:txBody>
      </p:sp>
    </p:spTree>
    <p:extLst>
      <p:ext uri="{BB962C8B-B14F-4D97-AF65-F5344CB8AC3E}">
        <p14:creationId xmlns:p14="http://schemas.microsoft.com/office/powerpoint/2010/main" val="316076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66670" y="124805"/>
            <a:ext cx="8345530" cy="590349"/>
          </a:xfrm>
        </p:spPr>
        <p:txBody>
          <a:bodyPr wrap="square" lIns="0" tIns="18000" rIns="0" bIns="18000" anchor="ctr" anchorCtr="0">
            <a:spAutoFit/>
          </a:bodyPr>
          <a:lstStyle/>
          <a:p>
            <a:r>
              <a:rPr lang="en-US" dirty="0"/>
              <a:t>You Can Do It: Mary Lyles </a:t>
            </a:r>
            <a:r>
              <a:rPr lang="en-US" sz="2800" dirty="0"/>
              <a:t>(1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66670" y="870573"/>
            <a:ext cx="8345530" cy="1590623"/>
          </a:xfrm>
        </p:spPr>
        <p:txBody>
          <a:bodyPr wrap="square" lIns="0" tIns="18000" rIns="0" bIns="18000" anchor="ctr" anchorCtr="0">
            <a:spAutoFit/>
          </a:bodyPr>
          <a:lstStyle/>
          <a:p>
            <a:pPr marL="342900" indent="-342900">
              <a:spcBef>
                <a:spcPts val="600"/>
              </a:spcBef>
            </a:pPr>
            <a:r>
              <a:rPr lang="en-US" sz="2400" dirty="0"/>
              <a:t>Mary is a real person, who got her undergraduate degree from a state university a few years ago. Read her profile in Chapter 1.</a:t>
            </a:r>
          </a:p>
          <a:p>
            <a:pPr marL="342900" indent="-342900">
              <a:spcBef>
                <a:spcPts val="600"/>
              </a:spcBef>
            </a:pPr>
            <a:r>
              <a:rPr lang="en-US" sz="2400" dirty="0"/>
              <a:t>Mary’s majors: International business and Spanish.</a:t>
            </a:r>
          </a:p>
        </p:txBody>
      </p:sp>
      <p:sp>
        <p:nvSpPr>
          <p:cNvPr id="3" name="Content Placeholder 2">
            <a:extLst>
              <a:ext uri="{FF2B5EF4-FFF2-40B4-BE49-F238E27FC236}">
                <a16:creationId xmlns:a16="http://schemas.microsoft.com/office/drawing/2014/main" id="{82DFC2AE-9484-4895-8DEE-3E698981163B}"/>
              </a:ext>
            </a:extLst>
          </p:cNvPr>
          <p:cNvSpPr>
            <a:spLocks noGrp="1"/>
          </p:cNvSpPr>
          <p:nvPr>
            <p:ph sz="quarter" idx="14"/>
          </p:nvPr>
        </p:nvSpPr>
        <p:spPr>
          <a:xfrm>
            <a:off x="366670" y="2553123"/>
            <a:ext cx="4368292" cy="1144347"/>
          </a:xfrm>
        </p:spPr>
        <p:txBody>
          <a:bodyPr wrap="square" lIns="0" tIns="18000" rIns="0" bIns="18000" anchor="ctr" anchorCtr="0">
            <a:spAutoFit/>
          </a:bodyPr>
          <a:lstStyle/>
          <a:p>
            <a:pPr marL="342900" indent="-342900"/>
            <a:r>
              <a:rPr lang="en-US" sz="2400" dirty="0"/>
              <a:t>Success factors: Networking, setting goals, developing a global mindset.</a:t>
            </a:r>
          </a:p>
        </p:txBody>
      </p:sp>
      <p:pic>
        <p:nvPicPr>
          <p:cNvPr id="6" name="Picture 5" descr="Mary Lyles.">
            <a:extLst>
              <a:ext uri="{FF2B5EF4-FFF2-40B4-BE49-F238E27FC236}">
                <a16:creationId xmlns:a16="http://schemas.microsoft.com/office/drawing/2014/main" id="{8F03C772-5CC6-45A6-B465-1FF3E4156288}"/>
              </a:ext>
            </a:extLst>
          </p:cNvPr>
          <p:cNvPicPr>
            <a:picLocks noChangeAspect="1"/>
          </p:cNvPicPr>
          <p:nvPr/>
        </p:nvPicPr>
        <p:blipFill rotWithShape="1">
          <a:blip r:embed="rId3"/>
          <a:srcRect b="4264"/>
          <a:stretch/>
        </p:blipFill>
        <p:spPr>
          <a:xfrm>
            <a:off x="5289905" y="2754739"/>
            <a:ext cx="3120470" cy="3134346"/>
          </a:xfrm>
          <a:prstGeom prst="rect">
            <a:avLst/>
          </a:prstGeom>
        </p:spPr>
      </p:pic>
      <p:sp>
        <p:nvSpPr>
          <p:cNvPr id="7" name="Content Placeholder 6">
            <a:extLst>
              <a:ext uri="{FF2B5EF4-FFF2-40B4-BE49-F238E27FC236}">
                <a16:creationId xmlns:a16="http://schemas.microsoft.com/office/drawing/2014/main" id="{D78735ED-62D6-4B7E-87DC-54AFBD0A2039}"/>
              </a:ext>
            </a:extLst>
          </p:cNvPr>
          <p:cNvSpPr>
            <a:spLocks noGrp="1"/>
          </p:cNvSpPr>
          <p:nvPr>
            <p:ph sz="quarter" idx="15"/>
          </p:nvPr>
        </p:nvSpPr>
        <p:spPr>
          <a:xfrm>
            <a:off x="5289905" y="5988769"/>
            <a:ext cx="2251632" cy="221018"/>
          </a:xfrm>
        </p:spPr>
        <p:txBody>
          <a:bodyPr wrap="square" lIns="0" tIns="18000" rIns="0" bIns="18000" anchor="ctr" anchorCtr="0">
            <a:spAutoFit/>
          </a:bodyPr>
          <a:lstStyle/>
          <a:p>
            <a:pPr marL="0" indent="0">
              <a:buNone/>
            </a:pPr>
            <a:r>
              <a:rPr lang="en-US" sz="1200" b="1" dirty="0"/>
              <a:t>Source: </a:t>
            </a:r>
            <a:r>
              <a:rPr lang="en-US" sz="1200" dirty="0"/>
              <a:t>Courtesy of Mary Lyles</a:t>
            </a:r>
          </a:p>
        </p:txBody>
      </p:sp>
    </p:spTree>
    <p:extLst>
      <p:ext uri="{BB962C8B-B14F-4D97-AF65-F5344CB8AC3E}">
        <p14:creationId xmlns:p14="http://schemas.microsoft.com/office/powerpoint/2010/main" val="30198606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969"/>
            <a:ext cx="8341260" cy="590349"/>
          </a:xfrm>
        </p:spPr>
        <p:txBody>
          <a:bodyPr wrap="square" lIns="0" tIns="18000" rIns="0" bIns="18000" anchor="ctr" anchorCtr="0">
            <a:spAutoFit/>
          </a:bodyPr>
          <a:lstStyle/>
          <a:p>
            <a:r>
              <a:rPr lang="en-US" dirty="0"/>
              <a:t>You Can Do It: Mary Lyles </a:t>
            </a:r>
            <a:r>
              <a:rPr lang="en-US" sz="2800" dirty="0"/>
              <a:t>(2 of 2)</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74347"/>
            <a:ext cx="8341260" cy="2637064"/>
          </a:xfrm>
        </p:spPr>
        <p:txBody>
          <a:bodyPr wrap="square" lIns="0" tIns="18000" rIns="0" bIns="18000" anchor="ctr" anchorCtr="0">
            <a:spAutoFit/>
          </a:bodyPr>
          <a:lstStyle/>
          <a:p>
            <a:pPr marL="342900" indent="-342900">
              <a:spcBef>
                <a:spcPts val="600"/>
              </a:spcBef>
            </a:pPr>
            <a:r>
              <a:rPr lang="en-US" sz="2400" dirty="0"/>
              <a:t>Mary’s jobs since college:</a:t>
            </a:r>
          </a:p>
          <a:p>
            <a:pPr marL="829818" lvl="1" indent="-342900"/>
            <a:r>
              <a:rPr lang="en-US" sz="2400" dirty="0"/>
              <a:t>Buyer and private label project manager	</a:t>
            </a:r>
          </a:p>
          <a:p>
            <a:pPr marL="829818" lvl="1" indent="-342900"/>
            <a:r>
              <a:rPr lang="en-US" sz="2400" dirty="0"/>
              <a:t>Sourcing analyst for Starbucks</a:t>
            </a:r>
          </a:p>
          <a:p>
            <a:pPr marL="829818" lvl="1" indent="-342900"/>
            <a:r>
              <a:rPr lang="en-US" sz="2400" dirty="0"/>
              <a:t>Senior sourcing analyst for Starbucks</a:t>
            </a:r>
          </a:p>
          <a:p>
            <a:pPr marL="342900" indent="-342900">
              <a:spcBef>
                <a:spcPts val="600"/>
              </a:spcBef>
            </a:pPr>
            <a:r>
              <a:rPr lang="en-US" sz="2400" dirty="0"/>
              <a:t>Dealing with cultural differences is challenging.</a:t>
            </a:r>
          </a:p>
          <a:p>
            <a:pPr marL="342900" indent="-342900">
              <a:spcBef>
                <a:spcPts val="600"/>
              </a:spcBef>
            </a:pPr>
            <a:r>
              <a:rPr lang="en-US" sz="2400" dirty="0"/>
              <a:t>Mary’s passion for international business is paying off.</a:t>
            </a:r>
          </a:p>
        </p:txBody>
      </p:sp>
    </p:spTree>
    <p:extLst>
      <p:ext uri="{BB962C8B-B14F-4D97-AF65-F5344CB8AC3E}">
        <p14:creationId xmlns:p14="http://schemas.microsoft.com/office/powerpoint/2010/main" val="4027696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370940" y="114969"/>
            <a:ext cx="8341260" cy="590349"/>
          </a:xfrm>
        </p:spPr>
        <p:txBody>
          <a:bodyPr wrap="square" lIns="0" tIns="18000" rIns="0" bIns="18000" anchor="ctr" anchorCtr="0">
            <a:spAutoFit/>
          </a:bodyPr>
          <a:lstStyle/>
          <a:p>
            <a:r>
              <a:rPr lang="en-US" dirty="0"/>
              <a:t>Career Preparation: Travel Abroad</a:t>
            </a:r>
            <a:endParaRPr lang="en-US" sz="2800" b="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370940" y="873172"/>
            <a:ext cx="8341260" cy="3668115"/>
          </a:xfrm>
        </p:spPr>
        <p:txBody>
          <a:bodyPr wrap="square" lIns="0" tIns="18000" rIns="0" bIns="18000" anchor="ctr" anchorCtr="0">
            <a:spAutoFit/>
          </a:bodyPr>
          <a:lstStyle/>
          <a:p>
            <a:pPr marL="342900" indent="-342900">
              <a:spcBef>
                <a:spcPts val="600"/>
              </a:spcBef>
            </a:pPr>
            <a:r>
              <a:rPr lang="en-US" sz="2400" dirty="0"/>
              <a:t>Traveling internationally requires thorough preparation.</a:t>
            </a:r>
          </a:p>
          <a:p>
            <a:pPr marL="342900" indent="-342900">
              <a:spcBef>
                <a:spcPts val="600"/>
              </a:spcBef>
            </a:pPr>
            <a:r>
              <a:rPr lang="en-US" sz="2400" dirty="0"/>
              <a:t>Documents required for international travel include a passport and a visa.</a:t>
            </a:r>
          </a:p>
          <a:p>
            <a:pPr marL="342900" indent="-342900">
              <a:spcBef>
                <a:spcPts val="600"/>
              </a:spcBef>
            </a:pPr>
            <a:r>
              <a:rPr lang="en-US" sz="2400" dirty="0"/>
              <a:t>It is best to comply with security, safety, and health care requirements of countries that your visit.</a:t>
            </a:r>
          </a:p>
          <a:p>
            <a:pPr marL="342900" indent="-342900">
              <a:spcBef>
                <a:spcPts val="600"/>
              </a:spcBef>
            </a:pPr>
            <a:r>
              <a:rPr lang="en-US" sz="2400" dirty="0"/>
              <a:t>Adapt to differences in currency and electricity standards in the countries your visit.</a:t>
            </a:r>
          </a:p>
          <a:p>
            <a:pPr marL="342900" indent="-342900">
              <a:spcBef>
                <a:spcPts val="600"/>
              </a:spcBef>
            </a:pPr>
            <a:r>
              <a:rPr lang="en-US" sz="2400" dirty="0"/>
              <a:t>Understand local laws and obtain an international driving permit if you intend to drive a car abroad.</a:t>
            </a:r>
          </a:p>
        </p:txBody>
      </p:sp>
    </p:spTree>
    <p:extLst>
      <p:ext uri="{BB962C8B-B14F-4D97-AF65-F5344CB8AC3E}">
        <p14:creationId xmlns:p14="http://schemas.microsoft.com/office/powerpoint/2010/main" val="39218166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374166" y="113325"/>
            <a:ext cx="8338033" cy="590349"/>
          </a:xfrm>
        </p:spPr>
        <p:txBody>
          <a:bodyPr wrap="square" lIns="0" tIns="18000" rIns="0" bIns="18000" anchor="ctr"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38400"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973"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marR="0" lvl="0" indent="0" algn="l" rtl="0">
              <a:spcBef>
                <a:spcPts val="0"/>
              </a:spcBef>
              <a:spcAft>
                <a:spcPts val="0"/>
              </a:spcAft>
              <a:buClr>
                <a:srgbClr val="007FA3"/>
              </a:buClr>
              <a:buSzPts val="1600"/>
              <a:buFont typeface="Arial"/>
              <a:buNone/>
            </a:pPr>
            <a:r>
              <a:rPr lang="en-US" sz="1600" b="1" i="0" u="none" strike="noStrike" cap="none" dirty="0">
                <a:solidFill>
                  <a:schemeClr val="dk1"/>
                </a:solidFill>
                <a:latin typeface="Arial"/>
                <a:ea typeface="Arial"/>
                <a:cs typeface="Arial"/>
                <a:sym typeface="Arial"/>
              </a:rPr>
              <a:t>This work is protected by United </a:t>
            </a:r>
            <a:r>
              <a:rPr lang="en-US" sz="1600" b="1" i="0" u="none" strike="noStrike" cap="none" dirty="0" smtClean="0">
                <a:solidFill>
                  <a:schemeClr val="dk1"/>
                </a:solidFill>
                <a:latin typeface="Arial"/>
                <a:ea typeface="Arial"/>
                <a:cs typeface="Arial"/>
                <a:sym typeface="Arial"/>
              </a:rPr>
              <a:t>Kingdom </a:t>
            </a:r>
            <a:r>
              <a:rPr lang="en-US" sz="1600" b="1" i="0" u="none" strike="noStrike" cap="none" dirty="0">
                <a:solidFill>
                  <a:schemeClr val="dk1"/>
                </a:solidFill>
                <a:latin typeface="Arial"/>
                <a:ea typeface="Arial"/>
                <a:cs typeface="Arial"/>
                <a:sym typeface="Arial"/>
              </a:rPr>
              <a:t>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49FD3D70555741B2521125A23ABE2B" ma:contentTypeVersion="20" ma:contentTypeDescription="Create a new document." ma:contentTypeScope="" ma:versionID="280eea5736409678759210edfb098e78">
  <xsd:schema xmlns:xsd="http://www.w3.org/2001/XMLSchema" xmlns:xs="http://www.w3.org/2001/XMLSchema" xmlns:p="http://schemas.microsoft.com/office/2006/metadata/properties" xmlns:ns1="http://schemas.microsoft.com/sharepoint/v3" xmlns:ns2="bed142bf-6b27-4f0a-a631-c747a1b49db8" xmlns:ns3="4b9fadcb-af02-401b-be33-537ac692cec8" targetNamespace="http://schemas.microsoft.com/office/2006/metadata/properties" ma:root="true" ma:fieldsID="8e0c0cd053b838f15d11a45110f9682a" ns1:_="" ns2:_="" ns3:_="">
    <xsd:import namespace="http://schemas.microsoft.com/sharepoint/v3"/>
    <xsd:import namespace="bed142bf-6b27-4f0a-a631-c747a1b49db8"/>
    <xsd:import namespace="4b9fadcb-af02-401b-be33-537ac692cec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_Flow_SignoffStatus"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ed142bf-6b27-4f0a-a631-c747a1b49d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Flow_SignoffStatus" ma:index="19" nillable="true" ma:displayName="Sign-off status" ma:internalName="Sign_x002d_off_x0020_status">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b9fadcb-af02-401b-be33-537ac692cec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109ad215-34d7-45f7-beab-6da1fa27942d}" ma:internalName="TaxCatchAll" ma:showField="CatchAllData" ma:web="4b9fadcb-af02-401b-be33-537ac692cec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4b9fadcb-af02-401b-be33-537ac692cec8" xsi:nil="true"/>
    <_Flow_SignoffStatus xmlns="bed142bf-6b27-4f0a-a631-c747a1b49db8" xsi:nil="true"/>
    <_ip_UnifiedCompliancePolicyProperties xmlns="http://schemas.microsoft.com/sharepoint/v3" xsi:nil="true"/>
    <lcf76f155ced4ddcb4097134ff3c332f xmlns="bed142bf-6b27-4f0a-a631-c747a1b49db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F1B5E40-5A21-427E-9166-C3BF54D5364D}">
  <ds:schemaRefs>
    <ds:schemaRef ds:uri="http://schemas.microsoft.com/sharepoint/v3/contenttype/forms"/>
  </ds:schemaRefs>
</ds:datastoreItem>
</file>

<file path=customXml/itemProps2.xml><?xml version="1.0" encoding="utf-8"?>
<ds:datastoreItem xmlns:ds="http://schemas.openxmlformats.org/officeDocument/2006/customXml" ds:itemID="{5CD783C8-0F8B-4E30-93C3-71AE94F00C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ed142bf-6b27-4f0a-a631-c747a1b49db8"/>
    <ds:schemaRef ds:uri="4b9fadcb-af02-401b-be33-537ac692ce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D84FF8D-AE69-4548-9BA7-A8EE3AF7BF06}">
  <ds:schemaRefs>
    <ds:schemaRef ds:uri="http://www.w3.org/XML/1998/namespace"/>
    <ds:schemaRef ds:uri="http://schemas.microsoft.com/office/2006/documentManagement/types"/>
    <ds:schemaRef ds:uri="http://purl.org/dc/elements/1.1/"/>
    <ds:schemaRef ds:uri="bed142bf-6b27-4f0a-a631-c747a1b49db8"/>
    <ds:schemaRef ds:uri="http://schemas.microsoft.com/sharepoint/v3"/>
    <ds:schemaRef ds:uri="http://schemas.microsoft.com/office/infopath/2007/PartnerControls"/>
    <ds:schemaRef ds:uri="http://purl.org/dc/dcmitype/"/>
    <ds:schemaRef ds:uri="http://schemas.openxmlformats.org/package/2006/metadata/core-properties"/>
    <ds:schemaRef ds:uri="4b9fadcb-af02-401b-be33-537ac692cec8"/>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985</TotalTime>
  <Words>9041</Words>
  <Application>Microsoft Office PowerPoint</Application>
  <PresentationFormat>On-screen Show (4:3)</PresentationFormat>
  <Paragraphs>405</Paragraphs>
  <Slides>42</Slides>
  <Notes>42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42</vt:i4>
      </vt:variant>
    </vt:vector>
  </HeadingPairs>
  <TitlesOfParts>
    <vt:vector size="50" baseType="lpstr">
      <vt:lpstr>Times New Roman</vt:lpstr>
      <vt:lpstr>Calibri</vt:lpstr>
      <vt:lpstr>Arial</vt:lpstr>
      <vt:lpstr>ＭＳ Ｐゴシック</vt:lpstr>
      <vt:lpstr>Verdana</vt:lpstr>
      <vt:lpstr>USHE</vt:lpstr>
      <vt:lpstr>USHE_slide options</vt:lpstr>
      <vt:lpstr>Equation</vt:lpstr>
      <vt:lpstr>International Business: The New Realities</vt:lpstr>
      <vt:lpstr>Learning Objectives</vt:lpstr>
      <vt:lpstr>Instagram: A Global Phenomenon</vt:lpstr>
      <vt:lpstr>The Nature of International Business</vt:lpstr>
      <vt:lpstr>Dimensions of International Business</vt:lpstr>
      <vt:lpstr>Key Concepts in International Business (1 of 3)</vt:lpstr>
      <vt:lpstr>Key Concepts in International Business (2 of 3)</vt:lpstr>
      <vt:lpstr>Key Concepts in International Business (3 of 3)</vt:lpstr>
      <vt:lpstr>Globalization of Markets</vt:lpstr>
      <vt:lpstr>The “Flows” of International Business</vt:lpstr>
      <vt:lpstr>World Trade and G D P</vt:lpstr>
      <vt:lpstr>Leading Countries in International Merchandise Trade, by Total Annual Value, U S$ Billions</vt:lpstr>
      <vt:lpstr>Leading Countries in International Merchandise Trade, Total Value as a % of G D P</vt:lpstr>
      <vt:lpstr>Top 25 Countries in International Merchandise Trade</vt:lpstr>
      <vt:lpstr>F D I Inflows into World Regions (in Billions of U.S. Dollars per Year)</vt:lpstr>
      <vt:lpstr>Service Industries That Are Rapidly Internationalizing</vt:lpstr>
      <vt:lpstr>Leading Countries in International Services Trade, by Total Annual Value, $Billions</vt:lpstr>
      <vt:lpstr>Leading Countries in International Services Trade, Total Value as a % of G D P</vt:lpstr>
      <vt:lpstr>International and Domestic Business: How They Differ</vt:lpstr>
      <vt:lpstr>The Four Risks of International Business</vt:lpstr>
      <vt:lpstr>Cross-Cultural Risk (1 of 2)</vt:lpstr>
      <vt:lpstr>Cross-Cultural Risk (2 of 2)</vt:lpstr>
      <vt:lpstr>Ethical Connections</vt:lpstr>
      <vt:lpstr>Country Risk (Political Risk) (1 of 2)</vt:lpstr>
      <vt:lpstr>Country Risk (Political Risk) (2 of 2)</vt:lpstr>
      <vt:lpstr>Currency Risk (Financial Risk) (1 of 2)</vt:lpstr>
      <vt:lpstr>Currency Risk (Financial Risk) (2 of 2)</vt:lpstr>
      <vt:lpstr>Commercial Risk</vt:lpstr>
      <vt:lpstr>The Four Risks of International Business: Conclusion </vt:lpstr>
      <vt:lpstr>Who Participates in International Business? (1 of 2)</vt:lpstr>
      <vt:lpstr>Geographic Locations of the 500 Largest Multinational Enterprises</vt:lpstr>
      <vt:lpstr>Who Participates in International Business? (2 of 2)</vt:lpstr>
      <vt:lpstr>Nongovernmental Organizations</vt:lpstr>
      <vt:lpstr>Why Do Firms Internationalize?</vt:lpstr>
      <vt:lpstr>Why Do Firms Participate in I B? (1 of 2)</vt:lpstr>
      <vt:lpstr>Why Do Firms Participate in I B? (2 of 2)</vt:lpstr>
      <vt:lpstr>I B Contributes to National Economic Well-Being</vt:lpstr>
      <vt:lpstr>Why Study International Business? </vt:lpstr>
      <vt:lpstr>You Can Do It: Mary Lyles (1 of 2)</vt:lpstr>
      <vt:lpstr>You Can Do It: Mary Lyles (2 of 2)</vt:lpstr>
      <vt:lpstr>Career Preparation: Travel Abroad</vt:lpstr>
      <vt:lpstr>Copyright</vt:lpstr>
    </vt:vector>
  </TitlesOfParts>
  <Manager/>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Business: The New Realities, Sixth Edition, Chapter 1</dc:title>
  <dc:subject>Business</dc:subject>
  <dc:creator>Cavusgil/Knight/Riesenberger</dc:creator>
  <cp:keywords>International Business: The New Realities</cp:keywords>
  <dc:description>Additional information may be found in the Notes Pane of each slide by pressing F6.</dc:description>
  <cp:lastModifiedBy>Ashok</cp:lastModifiedBy>
  <cp:revision>396</cp:revision>
  <dcterms:modified xsi:type="dcterms:W3CDTF">2024-09-01T18:30:11Z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0x010100E149FD3D70555741B2521125A23ABE2B</vt:lpwstr>
  </property>
</Properties>
</file>